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23444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12B5B0"/>
                </a:solidFill>
                <a:latin typeface="微软雅黑"/>
              </a:rPr>
              <a:t>创客训练营 · 项目汇报　|　面向创客竞赛的老师们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4241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4200" b="1">
                <a:solidFill>
                  <a:srgbClr val="FFFFFF"/>
                </a:solidFill>
                <a:latin typeface="微软雅黑"/>
              </a:rPr>
              <a:t>不是一台灯，</a:t>
            </a:r>
          </a:p>
          <a:p>
            <a:pPr algn="l">
              <a:lnSpc>
                <a:spcPct val="118000"/>
              </a:lnSpc>
            </a:pPr>
            <a:r>
              <a:rPr sz="4200" b="1">
                <a:solidFill>
                  <a:srgbClr val="FFFFFF"/>
                </a:solidFill>
                <a:latin typeface="微软雅黑"/>
              </a:rPr>
              <a:t>是一套可复制的创业逻辑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4128" y="3794760"/>
            <a:ext cx="2011680" cy="41148"/>
          </a:xfrm>
          <a:prstGeom prst="rect">
            <a:avLst/>
          </a:prstGeom>
          <a:solidFill>
            <a:srgbClr val="D9A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114800"/>
            <a:ext cx="104241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CDD8E8"/>
                </a:solidFill>
                <a:latin typeface="微软雅黑"/>
              </a:rPr>
              <a:t>磁吸焊接辅助手电 · 从用户洞察到盈利链条的完整闭环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CDD8E8"/>
                </a:solidFill>
                <a:latin typeface="微软雅黑"/>
              </a:rPr>
              <a:t>方法可复制 · 数据可核验 · 成果可教学——手电只是它的载体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2356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B2C0D4"/>
                </a:solidFill>
                <a:latin typeface="微软雅黑"/>
              </a:rPr>
              <a:t>1 班 C 组 · 仿真跑不队：邵子中 / 李昊桐 / 姜亚楷　|　指导老师提供 CW32L010 开发板与工程框架</a:t>
            </a:r>
          </a:p>
        </p:txBody>
      </p:sp>
      <p:sp>
        <p:nvSpPr>
          <p:cNvPr id="9" name="Oval 8"/>
          <p:cNvSpPr/>
          <p:nvPr/>
        </p:nvSpPr>
        <p:spPr>
          <a:xfrm>
            <a:off x="10332720" y="3566160"/>
            <a:ext cx="2651760" cy="2651760"/>
          </a:xfrm>
          <a:prstGeom prst="ellipse">
            <a:avLst/>
          </a:prstGeom>
          <a:noFill/>
          <a:ln w="20320">
            <a:solidFill>
              <a:srgbClr val="1A34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629900" y="3863339"/>
            <a:ext cx="2057400" cy="2057400"/>
          </a:xfrm>
          <a:prstGeom prst="ellipse">
            <a:avLst/>
          </a:prstGeom>
          <a:noFill/>
          <a:ln w="20320">
            <a:solidFill>
              <a:srgbClr val="1E3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27080" y="4160520"/>
            <a:ext cx="1463040" cy="1463040"/>
          </a:xfrm>
          <a:prstGeom prst="ellipse">
            <a:avLst/>
          </a:prstGeom>
          <a:noFill/>
          <a:ln w="20320">
            <a:solidFill>
              <a:srgbClr val="224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292840" y="4892040"/>
            <a:ext cx="566928" cy="56692"/>
          </a:xfrm>
          <a:prstGeom prst="rect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292840" y="5047488"/>
            <a:ext cx="347472" cy="56692"/>
          </a:xfrm>
          <a:prstGeom prst="rect">
            <a:avLst/>
          </a:prstGeom>
          <a:solidFill>
            <a:srgbClr val="D9A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292840" y="5202936"/>
            <a:ext cx="457200" cy="56692"/>
          </a:xfrm>
          <a:prstGeom prst="rect">
            <a:avLst/>
          </a:prstGeom>
          <a:solidFill>
            <a:srgbClr val="466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" cy="6858000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84048"/>
            <a:ext cx="50292" cy="384048"/>
          </a:xfrm>
          <a:prstGeom prst="rect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12294A"/>
                </a:solidFill>
                <a:latin typeface="微软雅黑"/>
              </a:rPr>
              <a:t>一页看懂：我们做了什么、学到什么、留下什么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85039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C788A"/>
                </a:solidFill>
                <a:latin typeface="微软雅黑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1064240" cy="18288"/>
          </a:xfrm>
          <a:prstGeom prst="rect">
            <a:avLst/>
          </a:prstGeom>
          <a:solidFill>
            <a:srgbClr val="DE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48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A8B0BC"/>
                </a:solidFill>
                <a:latin typeface="微软雅黑"/>
              </a:rPr>
              <a:t>摘要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382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A8B0BC"/>
                </a:solidFill>
                <a:latin typeface="微软雅黑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63040"/>
            <a:ext cx="3657600" cy="224028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12B5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463040"/>
            <a:ext cx="3657600" cy="50292"/>
          </a:xfrm>
          <a:prstGeom prst="rect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6459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>
                <a:solidFill>
                  <a:srgbClr val="12B5B0"/>
                </a:solidFill>
                <a:latin typeface="微软雅黑"/>
              </a:rPr>
              <a:t>做了什么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084832"/>
            <a:ext cx="329184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• 从 126 份问卷与 60 人实景观察，做出一台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　能用的小批量产品（¥43 级 BOM）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• 拿到 22 台 B 端首单、312 条验证数据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• 完成从原型到定价、渠道、保本的完整商业闭环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463040"/>
            <a:ext cx="3657600" cy="224028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122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463040"/>
            <a:ext cx="3657600" cy="50292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6459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>
                <a:solidFill>
                  <a:srgbClr val="12294A"/>
                </a:solidFill>
                <a:latin typeface="微软雅黑"/>
              </a:rPr>
              <a:t>学到什么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084832"/>
            <a:ext cx="329184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• 一套「洞察 → 假设 → 验证 → 迭代」的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　可复制流程（每一步都有判据）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• 用行为数据做决策（态度 71.3% ≠ 行为 37.3%）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• 用实测推翻预测（毛利 40% → 11.2%）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1463040"/>
            <a:ext cx="3520440" cy="224028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D9A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19872" y="1463040"/>
            <a:ext cx="3520440" cy="50292"/>
          </a:xfrm>
          <a:prstGeom prst="rect">
            <a:avLst/>
          </a:prstGeom>
          <a:solidFill>
            <a:srgbClr val="D9A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164592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>
                <a:solidFill>
                  <a:srgbClr val="D9A438"/>
                </a:solidFill>
                <a:latin typeface="微软雅黑"/>
              </a:rPr>
              <a:t>留下什么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2084832"/>
            <a:ext cx="315468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• 开源学习包：9 模块课程 + 12 模块固件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　+ 14 项验收判据 + 完整踩坑实录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• 全部硬件/固件/结构/文档公开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• 让下一个团队不必从零开始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977639"/>
            <a:ext cx="2103120" cy="1828800"/>
          </a:xfrm>
          <a:prstGeom prst="roundRect">
            <a:avLst/>
          </a:prstGeom>
          <a:solidFill>
            <a:srgbClr val="F7F9FC"/>
          </a:solidFill>
          <a:ln w="17780">
            <a:solidFill>
              <a:srgbClr val="12B5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197096"/>
            <a:ext cx="19202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>
                <a:solidFill>
                  <a:srgbClr val="12B5B0"/>
                </a:solidFill>
                <a:latin typeface="微软雅黑"/>
              </a:rPr>
              <a:t>312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818888"/>
            <a:ext cx="19568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6C788A"/>
                </a:solidFill>
                <a:latin typeface="微软雅黑"/>
              </a:rPr>
              <a:t>条验证数据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129783"/>
            <a:ext cx="19568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2D3748"/>
                </a:solidFill>
                <a:latin typeface="微软雅黑"/>
              </a:rPr>
              <a:t>中期 157 → 312，翻倍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71216" y="3977639"/>
            <a:ext cx="2103120" cy="1828800"/>
          </a:xfrm>
          <a:prstGeom prst="roundRect">
            <a:avLst/>
          </a:prstGeom>
          <a:solidFill>
            <a:srgbClr val="F7F9FC"/>
          </a:solidFill>
          <a:ln w="17780">
            <a:solidFill>
              <a:srgbClr val="122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62656" y="4197096"/>
            <a:ext cx="19202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>
                <a:solidFill>
                  <a:srgbClr val="12294A"/>
                </a:solidFill>
                <a:latin typeface="微软雅黑"/>
              </a:rPr>
              <a:t>37.3%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44368" y="4818888"/>
            <a:ext cx="19568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6C788A"/>
                </a:solidFill>
                <a:latin typeface="微软雅黑"/>
              </a:rPr>
              <a:t>意向金支付率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44368" y="5129783"/>
            <a:ext cx="19568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2D3748"/>
                </a:solidFill>
                <a:latin typeface="微软雅黑"/>
              </a:rPr>
              <a:t>行为口径（22/59 真付费）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75504" y="3977639"/>
            <a:ext cx="2103120" cy="1828800"/>
          </a:xfrm>
          <a:prstGeom prst="roundRect">
            <a:avLst/>
          </a:prstGeom>
          <a:solidFill>
            <a:srgbClr val="F7F9FC"/>
          </a:solidFill>
          <a:ln w="17780">
            <a:solidFill>
              <a:srgbClr val="2496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66944" y="4197096"/>
            <a:ext cx="19202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>
                <a:solidFill>
                  <a:srgbClr val="249660"/>
                </a:solidFill>
                <a:latin typeface="微软雅黑"/>
              </a:rPr>
              <a:t>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48656" y="4818888"/>
            <a:ext cx="19568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6C788A"/>
                </a:solidFill>
                <a:latin typeface="微软雅黑"/>
              </a:rPr>
              <a:t>台 B 端首单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48656" y="5129783"/>
            <a:ext cx="19568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2D3748"/>
                </a:solidFill>
                <a:latin typeface="微软雅黑"/>
              </a:rPr>
              <a:t>老师牵线，零获客成本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79792" y="3977639"/>
            <a:ext cx="2103120" cy="1828800"/>
          </a:xfrm>
          <a:prstGeom prst="roundRect">
            <a:avLst/>
          </a:prstGeom>
          <a:solidFill>
            <a:srgbClr val="F7F9FC"/>
          </a:solidFill>
          <a:ln w="17780">
            <a:solidFill>
              <a:srgbClr val="D9A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71231" y="4197096"/>
            <a:ext cx="19202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>
                <a:solidFill>
                  <a:srgbClr val="D9A438"/>
                </a:solidFill>
                <a:latin typeface="微软雅黑"/>
              </a:rPr>
              <a:t>¥8.6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52944" y="4818888"/>
            <a:ext cx="19568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6C788A"/>
                </a:solidFill>
                <a:latin typeface="微软雅黑"/>
              </a:rPr>
              <a:t>地推获客成本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52944" y="5129783"/>
            <a:ext cx="19568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2D3748"/>
                </a:solidFill>
                <a:latin typeface="微软雅黑"/>
              </a:rPr>
              <a:t>线上 ¥31.8 已停投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84080" y="3977639"/>
            <a:ext cx="1856231" cy="1828800"/>
          </a:xfrm>
          <a:prstGeom prst="roundRect">
            <a:avLst/>
          </a:prstGeom>
          <a:solidFill>
            <a:srgbClr val="F7F9FC"/>
          </a:solidFill>
          <a:ln w="17780">
            <a:solidFill>
              <a:srgbClr val="C83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75519" y="4197096"/>
            <a:ext cx="167335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>
                <a:solidFill>
                  <a:srgbClr val="C83C37"/>
                </a:solidFill>
                <a:latin typeface="微软雅黑"/>
              </a:rPr>
              <a:t>L4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57232" y="4818888"/>
            <a:ext cx="17099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6C788A"/>
                </a:solidFill>
                <a:latin typeface="微软雅黑"/>
              </a:rPr>
              <a:t>团队能力等级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57232" y="5129783"/>
            <a:ext cx="1709928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2D3748"/>
                </a:solidFill>
                <a:latin typeface="微软雅黑"/>
              </a:rPr>
              <a:t>按证据给，不按心情给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" cy="6858000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84048"/>
            <a:ext cx="50292" cy="384048"/>
          </a:xfrm>
          <a:prstGeom prst="rect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12294A"/>
                </a:solidFill>
                <a:latin typeface="微软雅黑"/>
              </a:rPr>
              <a:t>训练的效果可以量化：把中期与结题放在一起看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85039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C788A"/>
                </a:solidFill>
                <a:latin typeface="微软雅黑"/>
              </a:rPr>
              <a:t>四条曲线在变好；另一条（毛利率预估）被我们主动按住了——这正是训练的结果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1064240" cy="18288"/>
          </a:xfrm>
          <a:prstGeom prst="rect">
            <a:avLst/>
          </a:prstGeom>
          <a:solidFill>
            <a:srgbClr val="DE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48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A8B0BC"/>
                </a:solidFill>
                <a:latin typeface="微软雅黑"/>
              </a:rPr>
              <a:t>创客训练的效果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382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A8B0BC"/>
                </a:solidFill>
                <a:latin typeface="微软雅黑"/>
              </a:rPr>
              <a:t>03</a:t>
            </a:r>
          </a:p>
        </p:txBody>
      </p:sp>
      <p:pic>
        <p:nvPicPr>
          <p:cNvPr id="9" name="Picture 8" descr="fig3_训练效果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17320"/>
            <a:ext cx="11064240" cy="586404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61722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A8B0BC"/>
                </a:solidFill>
                <a:latin typeface="微软雅黑"/>
              </a:rPr>
              <a:t>数据来源：结题报告 V2.0 表 1-1 / 表 1-3（可核验）；PPT 内所有数字均可在报告中定位到原始记录编号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" cy="6858000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84048"/>
            <a:ext cx="50292" cy="384048"/>
          </a:xfrm>
          <a:prstGeom prst="rect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12294A"/>
                </a:solidFill>
                <a:latin typeface="微软雅黑"/>
              </a:rPr>
              <a:t>能力不是「学会了」，是被真实问题逼出来的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85039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C788A"/>
                </a:solidFill>
                <a:latin typeface="微软雅黑"/>
              </a:rPr>
              <a:t>每一格都有可核验的证据编号，不是形容词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1064240" cy="18288"/>
          </a:xfrm>
          <a:prstGeom prst="rect">
            <a:avLst/>
          </a:prstGeom>
          <a:solidFill>
            <a:srgbClr val="DE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48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A8B0BC"/>
                </a:solidFill>
                <a:latin typeface="微软雅黑"/>
              </a:rPr>
              <a:t>创客训练的效果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382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A8B0BC"/>
                </a:solidFill>
                <a:latin typeface="微软雅黑"/>
              </a:rPr>
              <a:t>04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463040"/>
          <a:ext cx="11064238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0605"/>
                <a:gridCol w="3266585"/>
                <a:gridCol w="3477332"/>
                <a:gridCol w="2739716"/>
              </a:tblGrid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能力维度</a:t>
                      </a:r>
                    </a:p>
                  </a:txBody>
                  <a:tcPr anchor="ctr" marL="54864" marR="54864" marT="18288" marB="18288"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真实挑战（事件）</a:t>
                      </a:r>
                    </a:p>
                  </a:txBody>
                  <a:tcPr anchor="ctr" marL="54864" marR="54864" marT="18288" marB="18288"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我们的行动</a:t>
                      </a:r>
                    </a:p>
                  </a:txBody>
                  <a:tcPr anchor="ctr" marL="54864" marR="54864" marT="18288" marB="18288"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结果 / 等级</a:t>
                      </a:r>
                    </a:p>
                  </a:txBody>
                  <a:tcPr anchor="ctr" marL="54864" marR="54864" marT="18288" marB="18288">
                    <a:solidFill>
                      <a:srgbClr val="12294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硬件攻坚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0.5" CH1115 屏四轮点不亮；ADC 读数恒定；低亮度频闪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查厂家官方序列、改 BGR 反推、频率 5 次迭代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屏点亮、电压准、8kHz 无频闪（L4）</a:t>
                      </a:r>
                    </a:p>
                  </a:txBody>
                  <a:tcPr anchor="ctr" marL="54864" marR="54864" marT="18288" marB="18288"/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数据决策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1 元意向金 20/62 人支付，而问卷 71.3% 说会买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用行为口径替换态度口径，重设北极星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意向金支付率 37.3%（L4）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商业建模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原估毛利 40% vs 小批实测 11.2%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5Why 追因，重建单位经济与保本模型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保本线 400 → 2,886 台（L4）</a:t>
                      </a:r>
                    </a:p>
                  </a:txBody>
                  <a:tcPr anchor="ctr" marL="54864" marR="54864" marT="18288" marB="18288"/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渠道判断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线上投放 ¥350 只换 11 条留资（CAC ¥31.8）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建渠道 CAC 表，确立「先算 CAC 再投钱」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停线上、转地推与 B 端（L4）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协作与交付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温升越界、机壳备料缺口、排期冲突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设底线触发机制，触发即冻结并改方案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22 台首单按期交付（L3 / L4）</a:t>
                      </a:r>
                    </a:p>
                  </a:txBody>
                  <a:tcPr anchor="ctr" marL="54864" marR="54864" marT="18288" marB="18288"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594360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12294A"/>
                </a:solidFill>
                <a:latin typeface="微软雅黑"/>
              </a:rPr>
              <a:t>一句话总结训练效果：我们从「把事情做出来」升级到「用数据决定该不该做、值不值得做」。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" cy="6858000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84048"/>
            <a:ext cx="50292" cy="384048"/>
          </a:xfrm>
          <a:prstGeom prst="rect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12294A"/>
                </a:solidFill>
                <a:latin typeface="微软雅黑"/>
              </a:rPr>
              <a:t>手电只是载体：真正可交付的是三件「可复制资产」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85039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C788A"/>
                </a:solidFill>
                <a:latin typeface="微软雅黑"/>
              </a:rPr>
              <a:t>如果只看到灯，这个项目就白做了；老师要看的应该是它能不能被复制到下一个团队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1064240" cy="18288"/>
          </a:xfrm>
          <a:prstGeom prst="rect">
            <a:avLst/>
          </a:prstGeom>
          <a:solidFill>
            <a:srgbClr val="DE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48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A8B0BC"/>
                </a:solidFill>
                <a:latin typeface="微软雅黑"/>
              </a:rPr>
              <a:t>核心观点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382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A8B0BC"/>
                </a:solidFill>
                <a:latin typeface="微软雅黑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63040"/>
            <a:ext cx="3611880" cy="393192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12B5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463040"/>
            <a:ext cx="3611880" cy="50292"/>
          </a:xfrm>
          <a:prstGeom prst="rect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64592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>
                <a:solidFill>
                  <a:srgbClr val="12B5B0"/>
                </a:solidFill>
                <a:latin typeface="微软雅黑"/>
              </a:rPr>
              <a:t>① 一套洞察方法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084832"/>
            <a:ext cx="32461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从真实使用者身上取数的具体做法：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• 126 份有效问卷（分层抽样）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• 60 名工人的实景观察与动作计数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• 把「感觉不好用」翻译成可测数字：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　找光动作次数、返工焊点数、桌面占用比例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→ 换任何选题，这套取数方法都能直接复用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463040"/>
            <a:ext cx="3611880" cy="393192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122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1463040"/>
            <a:ext cx="3611880" cy="50292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8" y="164592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>
                <a:solidFill>
                  <a:srgbClr val="12294A"/>
                </a:solidFill>
                <a:latin typeface="微软雅黑"/>
              </a:rPr>
              <a:t>② 一套验证闭环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2084832"/>
            <a:ext cx="32461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把「我觉得」变成「数据说明」：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• 1 元可退意向金（行为口径）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• A/B 对照（LED 82% vs OLED 86%）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• 渠道实测 CAC（¥8.6 / ¥11.5 / ¥31.8）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• 保本销量模型（2,886 台）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• 失败就改：9 处结论修订、4 处由评审触发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→ 让决策有据，而不是靠气势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1463040"/>
            <a:ext cx="3566160" cy="393192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D9A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65008" y="1463040"/>
            <a:ext cx="3566160" cy="50292"/>
          </a:xfrm>
          <a:prstGeom prst="rect">
            <a:avLst/>
          </a:prstGeom>
          <a:solidFill>
            <a:srgbClr val="D9A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16459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>
                <a:solidFill>
                  <a:srgbClr val="D9A438"/>
                </a:solidFill>
                <a:latin typeface="微软雅黑"/>
              </a:rPr>
              <a:t>③ 一套盈利链条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084832"/>
            <a:ext cx="32004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从成本到规模的完整算式：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BOM ¥52.3（小批）→ 定价 59–69 元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→ 毛利率 11.2%（小批）→ 33.8%（量产）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→ 获客 ¥8.6 起 → 保本 2,886 台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→ 三条路径：C 端 / DIY 套件 / B 端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→ 换产品，链条结构照样成立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" cy="6858000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84048"/>
            <a:ext cx="50292" cy="384048"/>
          </a:xfrm>
          <a:prstGeom prst="rect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12294A"/>
                </a:solidFill>
                <a:latin typeface="微软雅黑"/>
              </a:rPr>
              <a:t>四步闭环：每一步都有输入、判据、输出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85039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C788A"/>
                </a:solidFill>
                <a:latin typeface="微软雅黑"/>
              </a:rPr>
              <a:t>这套流程不依赖灵光一现——它是可以教、可以练、可以复制的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1064240" cy="18288"/>
          </a:xfrm>
          <a:prstGeom prst="rect">
            <a:avLst/>
          </a:prstGeom>
          <a:solidFill>
            <a:srgbClr val="DE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48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A8B0BC"/>
                </a:solidFill>
                <a:latin typeface="微软雅黑"/>
              </a:rPr>
              <a:t>可复制的创业逻辑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382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A8B0BC"/>
                </a:solidFill>
                <a:latin typeface="微软雅黑"/>
              </a:rPr>
              <a:t>06</a:t>
            </a:r>
          </a:p>
        </p:txBody>
      </p:sp>
      <p:pic>
        <p:nvPicPr>
          <p:cNvPr id="9" name="Picture 8" descr="fig1_创业逻辑闭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89888"/>
            <a:ext cx="11064240" cy="59746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" cy="6858000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84048"/>
            <a:ext cx="50292" cy="384048"/>
          </a:xfrm>
          <a:prstGeom prst="rect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12294A"/>
                </a:solidFill>
                <a:latin typeface="微软雅黑"/>
              </a:rPr>
              <a:t>把「不好用」变成数字：我们怎么取数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85039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C788A"/>
                </a:solidFill>
                <a:latin typeface="微软雅黑"/>
              </a:rPr>
              <a:t>方法与数据都可核验，替换选题后直接复用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1064240" cy="18288"/>
          </a:xfrm>
          <a:prstGeom prst="rect">
            <a:avLst/>
          </a:prstGeom>
          <a:solidFill>
            <a:srgbClr val="DE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48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A8B0BC"/>
                </a:solidFill>
                <a:latin typeface="微软雅黑"/>
              </a:rPr>
              <a:t>可复制的创业逻辑 · ① 洞察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382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A8B0BC"/>
                </a:solidFill>
                <a:latin typeface="微软雅黑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63040"/>
            <a:ext cx="5440680" cy="214884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12B5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463040"/>
            <a:ext cx="5440680" cy="50292"/>
          </a:xfrm>
          <a:prstGeom prst="rect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64592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>
                <a:solidFill>
                  <a:srgbClr val="12B5B0"/>
                </a:solidFill>
                <a:latin typeface="微软雅黑"/>
              </a:rPr>
              <a:t>取数方式（可复制）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084832"/>
            <a:ext cx="507492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• 问卷：126 份有效样本，分层抽样（覆盖度 88%）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• 实景观察：60 名工人，记录动作次数与失误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• 自我记录：17 个焊点返工 3 次；台灯底座占桌 1/4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• 三家对比访谈（同类用户/竞品用户/流失用户）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463040"/>
            <a:ext cx="5431536" cy="214884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122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463040"/>
            <a:ext cx="5431536" cy="50292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645920"/>
            <a:ext cx="506577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>
                <a:solidFill>
                  <a:srgbClr val="12294A"/>
                </a:solidFill>
                <a:latin typeface="微软雅黑"/>
              </a:rPr>
              <a:t>取到的关键事实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084832"/>
            <a:ext cx="5065776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• 找光/挪灯动作：每人每次任务平均 4.2 次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• 13/15 次「灯头偏移后未复位」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• 焊接失败率：50%（焊接新手，0603 器件）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• 现有方案痛点：台灯占位 / 廉价灯夹不稳 / 专业灯贵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794760"/>
            <a:ext cx="11064240" cy="210312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D9A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794760"/>
            <a:ext cx="11064240" cy="50292"/>
          </a:xfrm>
          <a:prstGeom prst="rect">
            <a:avLst/>
          </a:prstGeom>
          <a:solidFill>
            <a:srgbClr val="D9A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9776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>
                <a:solidFill>
                  <a:srgbClr val="D9A438"/>
                </a:solidFill>
                <a:latin typeface="微软雅黑"/>
              </a:rPr>
              <a:t>价值主张（由洞察直接推出）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416552"/>
            <a:ext cx="10698480" cy="1371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一句话定位：给高校电子类专业学生与 DIY 极客，解决狭小焊台「灯照不到、靠不住、要手扶」的问题。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核心价值：给焊接者一双腾出来的手——磁吸固定、万向悬停、无级调光，百元内可得（主线 65 元）。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量化目标：找光动作每次减少 4.2 次；焊接失败率 50% → 20%；任务完成率 ≥85%；意向金支付率（行为口径）≥30%。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　→ 注意最后一条：目标从一开始就写成「行为口径」，这决定了后面所有决策的方向。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" cy="6858000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84048"/>
            <a:ext cx="50292" cy="384048"/>
          </a:xfrm>
          <a:prstGeom prst="rect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12294A"/>
                </a:solidFill>
                <a:latin typeface="微软雅黑"/>
              </a:rPr>
              <a:t>用行为数据杀假设：一次 1 元钱的实验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85039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C788A"/>
                </a:solidFill>
                <a:latin typeface="微软雅黑"/>
              </a:rPr>
              <a:t>「说会买」和「真的掏钱」差了一倍——这是我们最重要的一次认知修正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1064240" cy="18288"/>
          </a:xfrm>
          <a:prstGeom prst="rect">
            <a:avLst/>
          </a:prstGeom>
          <a:solidFill>
            <a:srgbClr val="DE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48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A8B0BC"/>
                </a:solidFill>
                <a:latin typeface="微软雅黑"/>
              </a:rPr>
              <a:t>可复制的创业逻辑 · ② 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382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A8B0BC"/>
                </a:solidFill>
                <a:latin typeface="微软雅黑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63040"/>
            <a:ext cx="5440680" cy="228600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12B5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463040"/>
            <a:ext cx="5440680" cy="50292"/>
          </a:xfrm>
          <a:prstGeom prst="rect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64592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>
                <a:solidFill>
                  <a:srgbClr val="12B5B0"/>
                </a:solidFill>
                <a:latin typeface="微软雅黑"/>
              </a:rPr>
              <a:t>实验设计（最小成本）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084832"/>
            <a:ext cx="50749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• 1 元可退意向金（真金白银的行为口径）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• A/B 对照：无屏 LED 版 vs OLED 版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• 实测样本：59 人意向金池 / 62 人问卷对照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• 成本：现金 ¥0（自有设备 + 免费渠道）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463040"/>
            <a:ext cx="5431536" cy="228600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C83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463040"/>
            <a:ext cx="5431536" cy="50292"/>
          </a:xfrm>
          <a:prstGeom prst="rect">
            <a:avLst/>
          </a:prstGeom>
          <a:solidFill>
            <a:srgbClr val="C83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645920"/>
            <a:ext cx="506577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>
                <a:solidFill>
                  <a:srgbClr val="C83C37"/>
                </a:solidFill>
                <a:latin typeface="微软雅黑"/>
              </a:rPr>
              <a:t>结果（诚实版）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084832"/>
            <a:ext cx="5065776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• 问卷态度口径：71.3% 说「会买」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• 行为口径：37.3% 真的付了 1 元（22/59）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• A 组预售转化 31.8%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• A/B 覆盖率：LED 82% vs OLED 86%（差 4 个百分点）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→ 结论：LED 标配成立，OLED 转选配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66928" y="3977639"/>
          <a:ext cx="11064238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0296"/>
                <a:gridCol w="2603350"/>
                <a:gridCol w="2386404"/>
                <a:gridCol w="3254188"/>
              </a:tblGrid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被验证的假设</a:t>
                      </a:r>
                    </a:p>
                  </a:txBody>
                  <a:tcPr anchor="ctr" marL="54864" marR="54864" marT="18288" marB="18288"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验证方式</a:t>
                      </a:r>
                    </a:p>
                  </a:txBody>
                  <a:tcPr anchor="ctr" marL="54864" marR="54864" marT="18288" marB="18288"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数据结果</a:t>
                      </a:r>
                    </a:p>
                  </a:txBody>
                  <a:tcPr anchor="ctr" marL="54864" marR="54864" marT="18288" marB="18288"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决策</a:t>
                      </a:r>
                    </a:p>
                  </a:txBody>
                  <a:tcPr anchor="ctr" marL="54864" marR="54864" marT="18288" marB="18288">
                    <a:solidFill>
                      <a:srgbClr val="12294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用户愿意为「磁吸+无级调光」付费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1 元可退意向金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37.3%（22/59）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保留该价值主张，纳入 MVP</a:t>
                      </a:r>
                    </a:p>
                  </a:txBody>
                  <a:tcPr anchor="ctr" marL="54864" marR="54864" marT="18288" marB="18288"/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无屏 LED 会显著降低满意度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A/B 对照（20 人）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覆盖 82% vs 86%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LED 标配 + OLED 选配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58–79 元价格带可接受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定价测试 + 预售转化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收敛至 59–69 元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标准版定价 65 元</a:t>
                      </a:r>
                    </a:p>
                  </a:txBody>
                  <a:tcPr anchor="ctr" marL="54864" marR="54864" marT="18288" marB="18288"/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线上渠道能低成本获客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渠道实测 CAC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LTV/CAC 0.83 ✗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停线上，转地推与 B 端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" cy="6858000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84048"/>
            <a:ext cx="50292" cy="384048"/>
          </a:xfrm>
          <a:prstGeom prst="rect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12294A"/>
                </a:solidFill>
                <a:latin typeface="微软雅黑"/>
              </a:rPr>
              <a:t>一个可以写进教科书的决策：先算 CAC 再投钱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85039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C788A"/>
                </a:solidFill>
                <a:latin typeface="微软雅黑"/>
              </a:rPr>
              <a:t>这不是理论推导，是我们花 ¥350 学费换来的判断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1064240" cy="18288"/>
          </a:xfrm>
          <a:prstGeom prst="rect">
            <a:avLst/>
          </a:prstGeom>
          <a:solidFill>
            <a:srgbClr val="DE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48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A8B0BC"/>
                </a:solidFill>
                <a:latin typeface="微软雅黑"/>
              </a:rPr>
              <a:t>可复制的创业逻辑 · ③ 迭代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382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A8B0BC"/>
                </a:solidFill>
                <a:latin typeface="微软雅黑"/>
              </a:rPr>
              <a:t>09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463040"/>
          <a:ext cx="1106424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280160"/>
                <a:gridCol w="1828800"/>
                <a:gridCol w="2194560"/>
                <a:gridCol w="3566160"/>
              </a:tblGrid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渠道</a:t>
                      </a:r>
                    </a:p>
                  </a:txBody>
                  <a:tcPr anchor="ctr" marL="54864" marR="54864" marT="18288" marB="18288"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转化率</a:t>
                      </a:r>
                    </a:p>
                  </a:txBody>
                  <a:tcPr anchor="ctr" marL="54864" marR="54864" marT="18288" marB="18288"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获客成本 CAC</a:t>
                      </a:r>
                    </a:p>
                  </a:txBody>
                  <a:tcPr anchor="ctr" marL="54864" marR="54864" marT="18288" marB="18288"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判断</a:t>
                      </a:r>
                    </a:p>
                  </a:txBody>
                  <a:tcPr anchor="ctr" marL="54864" marR="54864" marT="18288" marB="18288"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行动</a:t>
                      </a:r>
                    </a:p>
                  </a:txBody>
                  <a:tcPr anchor="ctr" marL="54864" marR="54864" marT="18288" marB="18288">
                    <a:solidFill>
                      <a:srgbClr val="1229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实验室/课堂地推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34.9%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¥8.6 / 人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最优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加投，话术标准化（10 分钟发现 2 个痛点）</a:t>
                      </a:r>
                    </a:p>
                  </a:txBody>
                  <a:tcPr anchor="ctr" marL="54864" marR="54864" marT="18288" marB="18288"/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社团与班级扩散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27.1%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¥11.5 / 人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次优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维持，靠口碑（NPS 42）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线上投放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5.2%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¥31.8 / 人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最差（LTV/CAC 0.83）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立即停止，¥350 只换 11 条留资</a:t>
                      </a:r>
                    </a:p>
                  </a:txBody>
                  <a:tcPr anchor="ctr" marL="54864" marR="54864" marT="18288" marB="18288"/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B 端实训采买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0（老师牵线）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零获客成本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重点：22 台首单，目标占比 45%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66928" y="4160520"/>
            <a:ext cx="11064240" cy="173736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D9A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4160520"/>
            <a:ext cx="11064240" cy="50292"/>
          </a:xfrm>
          <a:prstGeom prst="rect">
            <a:avLst/>
          </a:prstGeom>
          <a:solidFill>
            <a:srgbClr val="D9A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43434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>
                <a:solidFill>
                  <a:srgbClr val="D9A438"/>
                </a:solidFill>
                <a:latin typeface="微软雅黑"/>
              </a:rPr>
              <a:t>由此确立的一条原则（可复制到任何团队）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782312"/>
            <a:ext cx="10698480" cy="1005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任何渠道在投钱之前，先算出 CAC，并与 LTV 对比：LTV/CAC &lt; 1 的渠道，不管「传播性」多好都立刻停掉。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我们把这条写进了团队的工作准则，并用它做出了「线上 → 地推 + B 端」的资源转移决策。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结果：B 端零获客成本拿到 22 台首单；地推贡献了我们最主要的验证数据。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" cy="6858000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84048"/>
            <a:ext cx="50292" cy="384048"/>
          </a:xfrm>
          <a:prstGeom prst="rect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12294A"/>
                </a:solidFill>
                <a:latin typeface="微软雅黑"/>
              </a:rPr>
              <a:t>从 ¥43 的 BOM 到可复制的三档生意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85039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C788A"/>
                </a:solidFill>
                <a:latin typeface="微软雅黑"/>
              </a:rPr>
              <a:t>链条能不能通，看最窄处——我们把自己的算法错了又改对，链条才真正算得通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1064240" cy="18288"/>
          </a:xfrm>
          <a:prstGeom prst="rect">
            <a:avLst/>
          </a:prstGeom>
          <a:solidFill>
            <a:srgbClr val="DE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48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A8B0BC"/>
                </a:solidFill>
                <a:latin typeface="微软雅黑"/>
              </a:rPr>
              <a:t>盈利链条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382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A8B0BC"/>
                </a:solidFill>
                <a:latin typeface="微软雅黑"/>
              </a:rPr>
              <a:t>10</a:t>
            </a:r>
          </a:p>
        </p:txBody>
      </p:sp>
      <p:pic>
        <p:nvPicPr>
          <p:cNvPr id="9" name="Picture 8" descr="fig2_盈利链条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71600"/>
            <a:ext cx="11064240" cy="619597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" cy="6858000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84048"/>
            <a:ext cx="50292" cy="384048"/>
          </a:xfrm>
          <a:prstGeom prst="rect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12294A"/>
                </a:solidFill>
                <a:latin typeface="微软雅黑"/>
              </a:rPr>
              <a:t>三条路径怎么选：单位经济对比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85039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C788A"/>
                </a:solidFill>
                <a:latin typeface="微软雅黑"/>
              </a:rPr>
              <a:t>同一套方法，三种变现结构；我们选择「C 端验证 + B 端放量 + DIY 兜底」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1064240" cy="18288"/>
          </a:xfrm>
          <a:prstGeom prst="rect">
            <a:avLst/>
          </a:prstGeom>
          <a:solidFill>
            <a:srgbClr val="DE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48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A8B0BC"/>
                </a:solidFill>
                <a:latin typeface="微软雅黑"/>
              </a:rPr>
              <a:t>盈利链条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382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A8B0BC"/>
                </a:solidFill>
                <a:latin typeface="微软雅黑"/>
              </a:rPr>
              <a:t>11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463040"/>
          <a:ext cx="11064238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1483"/>
                <a:gridCol w="3147585"/>
                <a:gridCol w="2861441"/>
                <a:gridCol w="3433729"/>
              </a:tblGrid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维度</a:t>
                      </a:r>
                    </a:p>
                  </a:txBody>
                  <a:tcPr anchor="ctr" marL="54864" marR="54864" marT="18288" marB="18288"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C 端零售</a:t>
                      </a:r>
                    </a:p>
                  </a:txBody>
                  <a:tcPr anchor="ctr" marL="54864" marR="54864" marT="18288" marB="18288"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DIY 套件</a:t>
                      </a:r>
                    </a:p>
                  </a:txBody>
                  <a:tcPr anchor="ctr" marL="54864" marR="54864" marT="18288" marB="18288"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B 端实训采买（重点）</a:t>
                      </a:r>
                    </a:p>
                  </a:txBody>
                  <a:tcPr anchor="ctr" marL="54864" marR="54864" marT="18288" marB="18288">
                    <a:solidFill>
                      <a:srgbClr val="1229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>
                          <a:solidFill>
                            <a:srgbClr val="2D3748"/>
                          </a:solidFill>
                          <a:latin typeface="微软雅黑"/>
                        </a:rPr>
                        <a:t>定价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>
                          <a:solidFill>
                            <a:srgbClr val="2D3748"/>
                          </a:solidFill>
                          <a:latin typeface="微软雅黑"/>
                        </a:rPr>
                        <a:t>65 元/台（59–69）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>
                          <a:solidFill>
                            <a:srgbClr val="2D3748"/>
                          </a:solidFill>
                          <a:latin typeface="微软雅黑"/>
                        </a:rPr>
                        <a:t>≈ 49 元/套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>
                          <a:solidFill>
                            <a:srgbClr val="2D3748"/>
                          </a:solidFill>
                          <a:latin typeface="微软雅黑"/>
                        </a:rPr>
                        <a:t>批量议价（按 20+ 台签）</a:t>
                      </a:r>
                    </a:p>
                  </a:txBody>
                  <a:tcPr anchor="ctr" marL="54864" marR="54864" marT="18288" marB="18288"/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>
                          <a:solidFill>
                            <a:srgbClr val="2D3748"/>
                          </a:solidFill>
                          <a:latin typeface="微软雅黑"/>
                        </a:rPr>
                        <a:t>成本/毛利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>
                          <a:solidFill>
                            <a:srgbClr val="2D3748"/>
                          </a:solidFill>
                          <a:latin typeface="微软雅黑"/>
                        </a:rPr>
                        <a:t>小批 BOM ¥52.3，毛利率 11.2%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>
                          <a:solidFill>
                            <a:srgbClr val="2D3748"/>
                          </a:solidFill>
                          <a:latin typeface="微软雅黑"/>
                        </a:rPr>
                        <a:t>自装 + 3D 打印，成本更低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>
                          <a:solidFill>
                            <a:srgbClr val="2D3748"/>
                          </a:solidFill>
                          <a:latin typeface="微软雅黑"/>
                        </a:rPr>
                        <a:t>量产 33.8%（锁定千片报价后）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>
                          <a:solidFill>
                            <a:srgbClr val="2D3748"/>
                          </a:solidFill>
                          <a:latin typeface="微软雅黑"/>
                        </a:rPr>
                        <a:t>获客成本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>
                          <a:solidFill>
                            <a:srgbClr val="2D3748"/>
                          </a:solidFill>
                          <a:latin typeface="微软雅黑"/>
                        </a:rPr>
                        <a:t>地推 ¥8.6 / 社团 ¥11.5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>
                          <a:solidFill>
                            <a:srgbClr val="2D3748"/>
                          </a:solidFill>
                          <a:latin typeface="微软雅黑"/>
                        </a:rPr>
                        <a:t>近零（社群自然扩散）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>
                          <a:solidFill>
                            <a:srgbClr val="2D3748"/>
                          </a:solidFill>
                          <a:latin typeface="微软雅黑"/>
                        </a:rPr>
                        <a:t>0（渠道即学校/实验室）</a:t>
                      </a:r>
                    </a:p>
                  </a:txBody>
                  <a:tcPr anchor="ctr" marL="54864" marR="54864" marT="18288" marB="18288"/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>
                          <a:solidFill>
                            <a:srgbClr val="2D3748"/>
                          </a:solidFill>
                          <a:latin typeface="微软雅黑"/>
                        </a:rPr>
                        <a:t>规模与节奏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>
                          <a:solidFill>
                            <a:srgbClr val="2D3748"/>
                          </a:solidFill>
                          <a:latin typeface="微软雅黑"/>
                        </a:rPr>
                        <a:t>走量薄利，靠复购（NPS 42）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>
                          <a:solidFill>
                            <a:srgbClr val="2D3748"/>
                          </a:solidFill>
                          <a:latin typeface="微软雅黑"/>
                        </a:rPr>
                        <a:t>小批量，随时可出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>
                          <a:solidFill>
                            <a:srgbClr val="2D3748"/>
                          </a:solidFill>
                          <a:latin typeface="微软雅黑"/>
                        </a:rPr>
                        <a:t>22 台首单 → 目标占比 45%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>
                          <a:solidFill>
                            <a:srgbClr val="2D3748"/>
                          </a:solidFill>
                          <a:latin typeface="微软雅黑"/>
                        </a:rPr>
                        <a:t>风险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>
                          <a:solidFill>
                            <a:srgbClr val="2D3748"/>
                          </a:solidFill>
                          <a:latin typeface="微软雅黑"/>
                        </a:rPr>
                        <a:t>价格敏感、竞品多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>
                          <a:solidFill>
                            <a:srgbClr val="2D3748"/>
                          </a:solidFill>
                          <a:latin typeface="微软雅黑"/>
                        </a:rPr>
                        <a:t>客单价低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>
                          <a:solidFill>
                            <a:srgbClr val="2D3748"/>
                          </a:solidFill>
                          <a:latin typeface="微软雅黑"/>
                        </a:rPr>
                        <a:t>依赖学校采买周期</a:t>
                      </a:r>
                    </a:p>
                  </a:txBody>
                  <a:tcPr anchor="ctr" marL="54864" marR="54864" marT="18288" marB="18288"/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>
                          <a:solidFill>
                            <a:srgbClr val="2D3748"/>
                          </a:solidFill>
                          <a:latin typeface="微软雅黑"/>
                        </a:rPr>
                        <a:t>一句话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>
                          <a:solidFill>
                            <a:srgbClr val="2D3748"/>
                          </a:solidFill>
                          <a:latin typeface="微软雅黑"/>
                        </a:rPr>
                        <a:t>验证需求，收集口碑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>
                          <a:solidFill>
                            <a:srgbClr val="2D3748"/>
                          </a:solidFill>
                          <a:latin typeface="微软雅黑"/>
                        </a:rPr>
                        <a:t>学生的入门选择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>
                          <a:solidFill>
                            <a:srgbClr val="2D3748"/>
                          </a:solidFill>
                          <a:latin typeface="微软雅黑"/>
                        </a:rPr>
                        <a:t>把方法卖成「可复制的教学资产」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580644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83C37"/>
                </a:solidFill>
                <a:latin typeface="微软雅黑"/>
              </a:rPr>
              <a:t>保本与底线：小批量口径保本 2,886 台；若 B 端放量不及预期，退回 3D 打印路径（降级目标 1,232 台保本线）。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" cy="6858000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84048"/>
            <a:ext cx="50292" cy="384048"/>
          </a:xfrm>
          <a:prstGeom prst="rect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12294A"/>
                </a:solidFill>
                <a:latin typeface="微软雅黑"/>
              </a:rPr>
              <a:t>这套方法已经迁移过一次：同一个团队，换一个选题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85039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C788A"/>
                </a:solidFill>
                <a:latin typeface="微软雅黑"/>
              </a:rPr>
              <a:t>如果在别的题目上照样能跑通，才说明它是「方法」而不是「运气」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1064240" cy="18288"/>
          </a:xfrm>
          <a:prstGeom prst="rect">
            <a:avLst/>
          </a:prstGeom>
          <a:solidFill>
            <a:srgbClr val="DE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48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A8B0BC"/>
                </a:solidFill>
                <a:latin typeface="微软雅黑"/>
              </a:rPr>
              <a:t>可复制性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382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A8B0BC"/>
                </a:solidFill>
                <a:latin typeface="微软雅黑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63040"/>
            <a:ext cx="5440680" cy="402336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12B5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463040"/>
            <a:ext cx="5440680" cy="50292"/>
          </a:xfrm>
          <a:prstGeom prst="rect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64592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>
                <a:solidFill>
                  <a:srgbClr val="12B5B0"/>
                </a:solidFill>
                <a:latin typeface="微软雅黑"/>
              </a:rPr>
              <a:t>迁移案例：课堂「泡茶项目」管理演练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084832"/>
            <a:ext cx="507492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把同一套方法（范围界定 → 三级 WBS → 甘特图与关键路径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→ 成本核算 → 风险登记册）用于一个完全不同的题目：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• 5 分钟绿茶冲泡服务，总工期硬压到 300 秒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• 识别出「自然冷却 3-5 分钟」是最大瓶颈，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　用热冷勾兑改造为 15 秒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• 五阶段分解、关键路径 299 秒落地、利润 26.2 元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• 抽到毛峰时浸泡需 120 秒 → 主动提交工期变更申请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→ 方法在工作量、风险、成本上都能给出可执行答案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463040"/>
            <a:ext cx="5431536" cy="402336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D9A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463040"/>
            <a:ext cx="5431536" cy="50292"/>
          </a:xfrm>
          <a:prstGeom prst="rect">
            <a:avLst/>
          </a:prstGeom>
          <a:solidFill>
            <a:srgbClr val="D9A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645920"/>
            <a:ext cx="506577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>
                <a:solidFill>
                  <a:srgbClr val="D9A438"/>
                </a:solidFill>
                <a:latin typeface="微软雅黑"/>
              </a:rPr>
              <a:t>换一个团队能不能跑？（可复制清单）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084832"/>
            <a:ext cx="506577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我们把这套流程写成了「可交接」的形式：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① 取数模板：问卷 + 实景观察记录表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② 判据模板：ICE 评分、A/B 对照、CAC 表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③ 商业模型：BOM → 毛利 → 保本 → 三路径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④ 决策准则：先算 CAC；行为口径优先；底线触发即冻结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⑤ 全部写成开源文档（9 模块课程 + 14 项验收判据）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→ 结论：它不依赖我们三个人的特殊能力，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2D3748"/>
                </a:solidFill>
                <a:latin typeface="微软雅黑"/>
              </a:rPr>
              <a:t>　 依赖的是「有判据的流程」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" cy="6858000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84048"/>
            <a:ext cx="50292" cy="384048"/>
          </a:xfrm>
          <a:prstGeom prst="rect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12294A"/>
                </a:solidFill>
                <a:latin typeface="微软雅黑"/>
              </a:rPr>
              <a:t>开源学习包：把方法变成公共资产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85039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C788A"/>
                </a:solidFill>
                <a:latin typeface="微软雅黑"/>
              </a:rPr>
              <a:t>这是「可复制」的最终形态——不是我们说能复制，而是别人真的可以拿去用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1064240" cy="18288"/>
          </a:xfrm>
          <a:prstGeom prst="rect">
            <a:avLst/>
          </a:prstGeom>
          <a:solidFill>
            <a:srgbClr val="DE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48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A8B0BC"/>
                </a:solidFill>
                <a:latin typeface="微软雅黑"/>
              </a:rPr>
              <a:t>留给下一届的东西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382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A8B0BC"/>
                </a:solidFill>
                <a:latin typeface="微软雅黑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63040"/>
            <a:ext cx="2103120" cy="1691640"/>
          </a:xfrm>
          <a:prstGeom prst="roundRect">
            <a:avLst/>
          </a:prstGeom>
          <a:solidFill>
            <a:srgbClr val="F7F9FC"/>
          </a:solidFill>
          <a:ln w="17780">
            <a:solidFill>
              <a:srgbClr val="12B5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682496"/>
            <a:ext cx="19202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>
                <a:solidFill>
                  <a:srgbClr val="12B5B0"/>
                </a:solidFill>
                <a:latin typeface="微软雅黑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04288"/>
            <a:ext cx="19568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6C788A"/>
                </a:solidFill>
                <a:latin typeface="微软雅黑"/>
              </a:rPr>
              <a:t>个学习模块（16–24 学时）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15184"/>
            <a:ext cx="19568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2D3748"/>
                </a:solidFill>
                <a:latin typeface="微软雅黑"/>
              </a:rPr>
              <a:t>从看懂整机到复盘踩坑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71216" y="1463040"/>
            <a:ext cx="2103120" cy="1691640"/>
          </a:xfrm>
          <a:prstGeom prst="roundRect">
            <a:avLst/>
          </a:prstGeom>
          <a:solidFill>
            <a:srgbClr val="F7F9FC"/>
          </a:solidFill>
          <a:ln w="17780">
            <a:solidFill>
              <a:srgbClr val="122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62656" y="1682496"/>
            <a:ext cx="19202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>
                <a:solidFill>
                  <a:srgbClr val="12294A"/>
                </a:solidFill>
                <a:latin typeface="微软雅黑"/>
              </a:rP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4368" y="2304288"/>
            <a:ext cx="19568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6C788A"/>
                </a:solidFill>
                <a:latin typeface="微软雅黑"/>
              </a:rPr>
              <a:t>个固件模块（BSP 分层）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44368" y="2615184"/>
            <a:ext cx="19568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2D3748"/>
                </a:solidFill>
                <a:latin typeface="微软雅黑"/>
              </a:rPr>
              <a:t>Flash 12KB / RAM 1.1KB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75504" y="1463040"/>
            <a:ext cx="2103120" cy="1691640"/>
          </a:xfrm>
          <a:prstGeom prst="roundRect">
            <a:avLst/>
          </a:prstGeom>
          <a:solidFill>
            <a:srgbClr val="F7F9FC"/>
          </a:solidFill>
          <a:ln w="17780">
            <a:solidFill>
              <a:srgbClr val="2496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66944" y="1682496"/>
            <a:ext cx="19202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>
                <a:solidFill>
                  <a:srgbClr val="249660"/>
                </a:solidFill>
                <a:latin typeface="微软雅黑"/>
              </a:rPr>
              <a:t>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48656" y="2304288"/>
            <a:ext cx="19568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6C788A"/>
                </a:solidFill>
                <a:latin typeface="微软雅黑"/>
              </a:rPr>
              <a:t>项验收判据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8656" y="2615184"/>
            <a:ext cx="19568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2D3748"/>
                </a:solidFill>
                <a:latin typeface="微软雅黑"/>
              </a:rPr>
              <a:t>含测试方法与阈值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79792" y="1463040"/>
            <a:ext cx="2103120" cy="1691640"/>
          </a:xfrm>
          <a:prstGeom prst="roundRect">
            <a:avLst/>
          </a:prstGeom>
          <a:solidFill>
            <a:srgbClr val="F7F9FC"/>
          </a:solidFill>
          <a:ln w="17780">
            <a:solidFill>
              <a:srgbClr val="D9A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71231" y="1682496"/>
            <a:ext cx="19202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>
                <a:solidFill>
                  <a:srgbClr val="D9A438"/>
                </a:solidFill>
                <a:latin typeface="微软雅黑"/>
              </a:rP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2304288"/>
            <a:ext cx="19568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6C788A"/>
                </a:solidFill>
                <a:latin typeface="微软雅黑"/>
              </a:rPr>
              <a:t>篇学习文档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2944" y="2615184"/>
            <a:ext cx="19568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2D3748"/>
                </a:solidFill>
                <a:latin typeface="微软雅黑"/>
              </a:rPr>
              <a:t>含开发踩坑实录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84080" y="1463040"/>
            <a:ext cx="1856231" cy="1691640"/>
          </a:xfrm>
          <a:prstGeom prst="roundRect">
            <a:avLst/>
          </a:prstGeom>
          <a:solidFill>
            <a:srgbClr val="F7F9FC"/>
          </a:solidFill>
          <a:ln w="17780">
            <a:solidFill>
              <a:srgbClr val="C83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19" y="1682496"/>
            <a:ext cx="167335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>
                <a:solidFill>
                  <a:srgbClr val="C83C37"/>
                </a:solidFill>
                <a:latin typeface="微软雅黑"/>
              </a:rPr>
              <a:t>MIT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57232" y="2304288"/>
            <a:ext cx="17099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6C788A"/>
                </a:solidFill>
                <a:latin typeface="微软雅黑"/>
              </a:rPr>
              <a:t>开源许可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57232" y="2615184"/>
            <a:ext cx="1709928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2D3748"/>
                </a:solidFill>
                <a:latin typeface="微软雅黑"/>
              </a:rPr>
              <a:t>硬件 + 固件 + 结构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3383280"/>
            <a:ext cx="5440680" cy="214884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12B5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3383280"/>
            <a:ext cx="5440680" cy="50292"/>
          </a:xfrm>
          <a:prstGeom prst="rect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356616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>
                <a:solidFill>
                  <a:srgbClr val="12B5B0"/>
                </a:solidFill>
                <a:latin typeface="微软雅黑"/>
              </a:rPr>
              <a:t>学习包里有什么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4005072"/>
            <a:ext cx="507492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D3748"/>
                </a:solidFill>
                <a:latin typeface="微软雅黑"/>
              </a:rPr>
              <a:t>• 固件：CW32L010 分层 BSP（12 模块）、Keil 工程、标准库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2D3748"/>
                </a:solidFill>
                <a:latin typeface="微软雅黑"/>
              </a:rPr>
              <a:t>• 硬件：立创EDA 原理图/PCB、BOM（34 行 56 位号）、数据手册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2D3748"/>
                </a:solidFill>
                <a:latin typeface="微软雅黑"/>
              </a:rPr>
              <a:t>• 结构：外壳/盖子/按键帽/散热片（STEP 可直接打印）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2D3748"/>
                </a:solidFill>
                <a:latin typeface="微软雅黑"/>
              </a:rPr>
              <a:t>• 文档：定位 / 学习路径 / 硬件 / 固件 / 复现 / 验收 / 教学 / 踩坑实录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9632" y="3383280"/>
            <a:ext cx="5431536" cy="214884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122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9632" y="3383280"/>
            <a:ext cx="5431536" cy="50292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82512" y="3566160"/>
            <a:ext cx="506577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>
                <a:solidFill>
                  <a:srgbClr val="12294A"/>
                </a:solidFill>
                <a:latin typeface="微软雅黑"/>
              </a:rPr>
              <a:t>为什么它比一块开发板更有收获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82512" y="4005072"/>
            <a:ext cx="5065776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D3748"/>
                </a:solidFill>
                <a:latin typeface="微软雅黑"/>
              </a:rPr>
              <a:t>• 项目式学习：完整产品链路（电源/主控/输出/人机/结构/测试）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2D3748"/>
                </a:solidFill>
                <a:latin typeface="微软雅黑"/>
              </a:rPr>
              <a:t>• 每个设计决策都写清「为什么」与「代价」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2D3748"/>
                </a:solidFill>
                <a:latin typeface="微软雅黑"/>
              </a:rPr>
              <a:t>• 完整踩坑实录：屏四轮点亮、ADC 三段排查、PWM 五次迭代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2D3748"/>
                </a:solidFill>
                <a:latin typeface="微软雅黑"/>
              </a:rPr>
              <a:t>• 稳定复现：BOM ≈ ¥45、3D 打印、驱动可 pin-to-pin 替换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2D3748"/>
                </a:solidFill>
                <a:latin typeface="微软雅黑"/>
              </a:rPr>
              <a:t>• 教师可直接当课程包（含课时、检查点、评分建议）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" cy="6858000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84048"/>
            <a:ext cx="50292" cy="384048"/>
          </a:xfrm>
          <a:prstGeom prst="rect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12294A"/>
                </a:solidFill>
                <a:latin typeface="微软雅黑"/>
              </a:rPr>
              <a:t>训练前 vs 训练后：能力对照表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85039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C788A"/>
                </a:solidFill>
                <a:latin typeface="微软雅黑"/>
              </a:rPr>
              <a:t>如果说训练有效，就应该能指出「哪一项能力从多少变成了多少」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1064240" cy="18288"/>
          </a:xfrm>
          <a:prstGeom prst="rect">
            <a:avLst/>
          </a:prstGeom>
          <a:solidFill>
            <a:srgbClr val="DE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48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A8B0BC"/>
                </a:solidFill>
                <a:latin typeface="微软雅黑"/>
              </a:rPr>
              <a:t>创客训练的效果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382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A8B0BC"/>
                </a:solidFill>
                <a:latin typeface="微软雅黑"/>
              </a:rPr>
              <a:t>14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463040"/>
          <a:ext cx="11064236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79"/>
                <a:gridCol w="2743199"/>
                <a:gridCol w="3840479"/>
                <a:gridCol w="2926079"/>
              </a:tblGrid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能力维度</a:t>
                      </a:r>
                    </a:p>
                  </a:txBody>
                  <a:tcPr anchor="ctr" marL="54864" marR="54864" marT="18288" marB="18288"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训练前（入学/中期）</a:t>
                      </a:r>
                    </a:p>
                  </a:txBody>
                  <a:tcPr anchor="ctr" marL="54864" marR="54864" marT="18288" marB="18288"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训练后（结题）</a:t>
                      </a:r>
                    </a:p>
                  </a:txBody>
                  <a:tcPr anchor="ctr" marL="54864" marR="54864" marT="18288" marB="18288"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可核验证据</a:t>
                      </a:r>
                    </a:p>
                  </a:txBody>
                  <a:tcPr anchor="ctr" marL="54864" marR="54864" marT="18288" marB="18288">
                    <a:solidFill>
                      <a:srgbClr val="1229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用户研究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凭感觉判断需求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126 份问卷 + 60 人实景观察 + 动作计数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问卷后台导出、观察记录表</a:t>
                      </a:r>
                    </a:p>
                  </a:txBody>
                  <a:tcPr anchor="ctr" marL="54864" marR="54864" marT="18288" marB="18288"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数据决策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看「会买」的态度数据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用行为口径（1 元意向金 37.3%）驱动决策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意向金收款记录（22/59）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商业建模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以为算清 BOM 就算清账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单位经济 + 保本模型（400 → 2,886 台修正）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表 1-3 成本与定价模型</a:t>
                      </a:r>
                    </a:p>
                  </a:txBody>
                  <a:tcPr anchor="ctr" marL="54864" marR="54864" marT="18288" marB="18288"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渠道判断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相信「传播性强」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先算 CAC 再投钱（¥8.6 / ¥11.5 / ¥31.8）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渠道 CAC 表（E-04）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工程攻坚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依赖教程与模板代码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定位屏厂家序列、BGR 反推、8kHz 调优</a:t>
                      </a:r>
                    </a:p>
                  </a:txBody>
                  <a:tcPr anchor="ctr" marL="54864" marR="54864" marT="18288" marB="18288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开发踩坑实录（8 大类）</a:t>
                      </a:r>
                    </a:p>
                  </a:txBody>
                  <a:tcPr anchor="ctr" marL="54864" marR="54864" marT="18288" marB="18288"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表达与交付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写「完成任务」式总结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评审反馈 9 处修订，4 处主动归因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2D3748"/>
                          </a:solidFill>
                          <a:latin typeface="微软雅黑"/>
                        </a:rPr>
                        <a:t>评审反馈清单（P0–P3）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585216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C788A"/>
                </a:solidFill>
                <a:latin typeface="微软雅黑"/>
              </a:rPr>
              <a:t>注：上表每一项都能落到具体记录编号；教师可现场抽查任意一行。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" cy="6858000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84048"/>
            <a:ext cx="50292" cy="384048"/>
          </a:xfrm>
          <a:prstGeom prst="rect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12294A"/>
                </a:solidFill>
                <a:latin typeface="微软雅黑"/>
              </a:rPr>
              <a:t>我们希望这个项目对课程产生三个作用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85039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C788A"/>
                </a:solidFill>
                <a:latin typeface="微软雅黑"/>
              </a:rPr>
              <a:t>除了「做出一台灯」，它还能继续产生价值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1064240" cy="18288"/>
          </a:xfrm>
          <a:prstGeom prst="rect">
            <a:avLst/>
          </a:prstGeom>
          <a:solidFill>
            <a:srgbClr val="DE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48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A8B0BC"/>
                </a:solidFill>
                <a:latin typeface="微软雅黑"/>
              </a:rPr>
              <a:t>对老师说的话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382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A8B0BC"/>
                </a:solidFill>
                <a:latin typeface="微软雅黑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63040"/>
            <a:ext cx="3611880" cy="393192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12B5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463040"/>
            <a:ext cx="3611880" cy="50292"/>
          </a:xfrm>
          <a:prstGeom prst="rect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64592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>
                <a:solidFill>
                  <a:srgbClr val="12B5B0"/>
                </a:solidFill>
                <a:latin typeface="微软雅黑"/>
              </a:rPr>
              <a:t>① 当一个可用的教学案例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084832"/>
            <a:ext cx="32461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D3748"/>
                </a:solidFill>
                <a:latin typeface="微软雅黑"/>
              </a:rPr>
              <a:t>做什么：把这套「洞察 → 假设 → 验证 → 迭代」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2D3748"/>
                </a:solidFill>
                <a:latin typeface="微软雅黑"/>
              </a:rPr>
              <a:t>流程和踩坑实录直接搬进课堂。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2D3748"/>
                </a:solidFill>
                <a:latin typeface="微软雅黑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2D3748"/>
                </a:solidFill>
                <a:latin typeface="微软雅黑"/>
              </a:rPr>
              <a:t>为什么有用：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2D3748"/>
                </a:solidFill>
                <a:latin typeface="微软雅黑"/>
              </a:rPr>
              <a:t>• 案例是真实数据，不是虚构练习题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2D3748"/>
                </a:solidFill>
                <a:latin typeface="微软雅黑"/>
              </a:rPr>
              <a:t>• 每个坑都有「现象 → 根因 → 解决」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2D3748"/>
                </a:solidFill>
                <a:latin typeface="微软雅黑"/>
              </a:rPr>
              <a:t>• 学生能看到「算错又改对」的全过程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2D3748"/>
                </a:solidFill>
                <a:latin typeface="微软雅黑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2D3748"/>
                </a:solidFill>
                <a:latin typeface="微软雅黑"/>
              </a:rPr>
              <a:t>我们提供：9 模块讲义、检查点、评分建议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463040"/>
            <a:ext cx="3611880" cy="393192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122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1463040"/>
            <a:ext cx="3611880" cy="50292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8" y="164592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>
                <a:solidFill>
                  <a:srgbClr val="12294A"/>
                </a:solidFill>
                <a:latin typeface="微软雅黑"/>
              </a:rPr>
              <a:t>② 当一个可延续的共建项目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2084832"/>
            <a:ext cx="32461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D3748"/>
                </a:solidFill>
                <a:latin typeface="微软雅黑"/>
              </a:rPr>
              <a:t>做什么：让下一届学生在现有基础上继续做，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2D3748"/>
                </a:solidFill>
                <a:latin typeface="微软雅黑"/>
              </a:rPr>
              <a:t>而不是从零开始。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2D3748"/>
                </a:solidFill>
                <a:latin typeface="微软雅黑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2D3748"/>
                </a:solidFill>
                <a:latin typeface="微软雅黑"/>
              </a:rPr>
              <a:t>为什么有用：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2D3748"/>
                </a:solidFill>
                <a:latin typeface="微软雅黑"/>
              </a:rPr>
              <a:t>• 硬件/固件/结构/文档全部开源（MIT）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2D3748"/>
                </a:solidFill>
                <a:latin typeface="微软雅黑"/>
              </a:rPr>
              <a:t>• 有 14 项量化验收判据，成果可比较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2D3748"/>
                </a:solidFill>
                <a:latin typeface="微软雅黑"/>
              </a:rPr>
              <a:t>• 改进可以像代码一样提交（PR 机制）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2D3748"/>
                </a:solidFill>
                <a:latin typeface="微软雅黑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2D3748"/>
                </a:solidFill>
                <a:latin typeface="微软雅黑"/>
              </a:rPr>
              <a:t>我们承诺：维护仓库、评审外部提交、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2D3748"/>
                </a:solidFill>
                <a:latin typeface="微软雅黑"/>
              </a:rPr>
              <a:t>把新踩的坑继续写进文档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1463040"/>
            <a:ext cx="3566160" cy="393192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D9A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65008" y="1463040"/>
            <a:ext cx="3566160" cy="50292"/>
          </a:xfrm>
          <a:prstGeom prst="rect">
            <a:avLst/>
          </a:prstGeom>
          <a:solidFill>
            <a:srgbClr val="D9A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16459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>
                <a:solidFill>
                  <a:srgbClr val="D9A438"/>
                </a:solidFill>
                <a:latin typeface="微软雅黑"/>
              </a:rPr>
              <a:t>③ 当一个可核验的训练样本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084832"/>
            <a:ext cx="32004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D3748"/>
                </a:solidFill>
                <a:latin typeface="微软雅黑"/>
              </a:rPr>
              <a:t>做什么：用它的数据回答「创客训练到底有没有效」。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2D3748"/>
                </a:solidFill>
                <a:latin typeface="微软雅黑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2D3748"/>
                </a:solidFill>
                <a:latin typeface="微软雅黑"/>
              </a:rPr>
              <a:t>为什么有用：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2D3748"/>
                </a:solidFill>
                <a:latin typeface="微软雅黑"/>
              </a:rPr>
              <a:t>• 中期 → 结题的 4 组指标变化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2D3748"/>
                </a:solidFill>
                <a:latin typeface="微软雅黑"/>
              </a:rPr>
              <a:t>• 能力等级按证据评定（L3/L4）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2D3748"/>
                </a:solidFill>
                <a:latin typeface="微软雅黑"/>
              </a:rPr>
              <a:t>• 主动纠错 9 处（修正率 44%）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2D3748"/>
                </a:solidFill>
                <a:latin typeface="微软雅黑"/>
              </a:rPr>
              <a:t>• 成果可被第三方复现验证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2D3748"/>
                </a:solidFill>
                <a:latin typeface="微软雅黑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2D3748"/>
                </a:solidFill>
                <a:latin typeface="微软雅黑"/>
              </a:rPr>
              <a:t>态度：我们愿意把「不完美」也一起展示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9A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2412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400" b="1">
                <a:solidFill>
                  <a:srgbClr val="FFFFFF"/>
                </a:solidFill>
                <a:latin typeface="微软雅黑"/>
              </a:rPr>
              <a:t>一套能被复制的方法，</a:t>
            </a:r>
          </a:p>
          <a:p>
            <a:pPr algn="ctr">
              <a:lnSpc>
                <a:spcPct val="130000"/>
              </a:lnSpc>
            </a:pPr>
            <a:r>
              <a:rPr sz="3400" b="1">
                <a:solidFill>
                  <a:srgbClr val="FFFFFF"/>
                </a:solidFill>
                <a:latin typeface="微软雅黑"/>
              </a:rPr>
              <a:t>比一台能亮的灯更重要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5074920" y="3383280"/>
            <a:ext cx="2011680" cy="41148"/>
          </a:xfrm>
          <a:prstGeom prst="rect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3703320"/>
            <a:ext cx="96012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450" b="0">
                <a:solidFill>
                  <a:srgbClr val="CDD8E8"/>
                </a:solidFill>
                <a:latin typeface="微软雅黑"/>
              </a:rPr>
              <a:t>312 条验证数据 · 37.3% 行为支付率 · ¥8.6 地推获客 · 22 台 B 端首单 · 9 模块开源课程</a:t>
            </a:r>
          </a:p>
          <a:p>
            <a:pPr algn="ctr">
              <a:lnSpc>
                <a:spcPct val="160000"/>
              </a:lnSpc>
            </a:pPr>
            <a:r>
              <a:rPr sz="1450" b="0">
                <a:solidFill>
                  <a:srgbClr val="CDD8E8"/>
                </a:solidFill>
                <a:latin typeface="微软雅黑"/>
              </a:rPr>
              <a:t>以及一份把错误也写进去的完整记录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394960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96A5BE"/>
                </a:solidFill>
                <a:latin typeface="微软雅黑"/>
              </a:rPr>
              <a:t>仿真跑不队 · 邵子中 / 李昊桐 / 姜亚楷　|　敬请老师们指正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