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F3864"/>
                </a:solidFill>
                <a:latin typeface="微软雅黑"/>
              </a:rPr>
              <a:t>磁吸焊接辅助手电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374258"/>
                </a:solidFill>
                <a:latin typeface="微软雅黑"/>
              </a:rPr>
              <a:t>—— 一个「从零到整机」的开源学习包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808A9B"/>
                </a:solidFill>
                <a:latin typeface="微软雅黑"/>
              </a:rPr>
              <a:t>不是又一块开发板，而是一个完整产品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808A9B"/>
                </a:solidFill>
                <a:latin typeface="微软雅黑"/>
              </a:rPr>
              <a:t>硬件 + 固件 + 结构 + 测试，全链路开源 · 可稳定复现 · 低成本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仿真跑不队：邵子中、李昊桐、姜亚楷　|　指导老师提供 CW32L010 开发板与工程框架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GitHub：github.com/Davidshao-114514/chuangkexunlianying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/>
              </a:rPr>
              <a:t>为什么做这个学习包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08A9B"/>
                </a:solidFill>
                <a:latin typeface="微软雅黑"/>
              </a:rPr>
              <a:t>起点：一块老师研发的开发板 与 Arduino 之间的差距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33856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5394960" cy="210312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808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298448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808A9B"/>
                </a:solidFill>
                <a:latin typeface="微软雅黑"/>
              </a:rPr>
              <a:t>开发板 / Arduino 教会我们什么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719072"/>
            <a:ext cx="510235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• 单个外设怎么用：点灯、按键、刷屏、PWM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• 大量现成库与教程，快速看到效果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• 但——板载条件已定，不需要做工程决策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88720"/>
            <a:ext cx="5394960" cy="210312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298448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864"/>
                </a:solidFill>
                <a:latin typeface="微软雅黑"/>
              </a:rPr>
              <a:t>一个完整产品逼着我们回答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9944" y="1719072"/>
            <a:ext cx="510235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• 电池设备为什么敢不用稳压器？那怎么测电压？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• 驱动手册写 100Hz–10kHz，到底选多少？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• 3 个按键怎么覆盖 8 项功能？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• 关机后怎么做到唤醒不花屏、松手不重启？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20440"/>
            <a:ext cx="11155680" cy="137160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28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63016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89655"/>
                </a:solidFill>
                <a:latin typeface="微软雅黑"/>
              </a:rPr>
              <a:t>启发与选择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4050791"/>
            <a:ext cx="108630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→ 开发板教你「怎么用芯片」，一个完整产品才教你「怎么做工程决策」。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→ 这样的项目不该停在我们三个人的桌面上——它需要开源的共享共建：让别人能稳定复现、并在复现之上继续走远。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0"/>
            <a:ext cx="11155680" cy="128016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D77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51389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D7781E"/>
                </a:solidFill>
                <a:latin typeface="微软雅黑"/>
              </a:rPr>
              <a:t>于是有了这个学习包（三个目标）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5559552"/>
            <a:ext cx="108630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① 项目式学习：以「做出一台能用的整机」为目标，覆盖电源/主控/输出/人机/结构/测试六个层面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② 稳定复现的低成本结构：通用件 + 3D 打印 + BOM≈¥45 + 14 项量化验收判据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③ 共享共建：文档写「为什么」、代码写「怎么」、问题写「坑在哪」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/>
              </a:rPr>
              <a:t>项目是什么：一吸即用、指哪照哪的焊接照明工具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08A9B"/>
                </a:solidFill>
                <a:latin typeface="微软雅黑"/>
              </a:rPr>
              <a:t>面向「焊点看得见、双手都解放」的真实场景（磁吸底座 + 万向柔臂 + 双路无级调光）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33856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611880" cy="228600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344168"/>
            <a:ext cx="3319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C82828"/>
                </a:solidFill>
                <a:latin typeface="微软雅黑"/>
              </a:rPr>
              <a:t>痛点 1 · 遮挡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764792"/>
            <a:ext cx="33192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左手镊子、右手烙铁，光照永远差 5 cm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→ 磁吸 + 万向柔臂：把光贴到焊点上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611880" cy="228600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D77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1344168"/>
            <a:ext cx="3319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D7781E"/>
                </a:solidFill>
                <a:latin typeface="微软雅黑"/>
              </a:rPr>
              <a:t>痛点 2 · 占位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764792"/>
            <a:ext cx="33192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台灯底座吃掉四分之一桌面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→ 磁吸离场：桌面零占用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566160" cy="228600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28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344168"/>
            <a:ext cx="3273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89655"/>
                </a:solidFill>
                <a:latin typeface="微软雅黑"/>
              </a:rPr>
              <a:t>痛点 3 · 不稳/贵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1764792"/>
            <a:ext cx="3273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廉价灯夹不稳、专业机床灯 300+ 元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→ 双路独立调光，百元以内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74258"/>
                </a:solidFill>
                <a:latin typeface="微软雅黑"/>
              </a:rPr>
              <a:t>与常见方案的差异（一句话版本）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74258"/>
                </a:solidFill>
                <a:latin typeface="微软雅黑"/>
              </a:rPr>
              <a:t>· 相比台灯 / 廉价便携灯：吸上就亮、取下就灭（磁吸 DET 检测，未吸附不输出）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74258"/>
                </a:solidFill>
                <a:latin typeface="微软雅黑"/>
              </a:rPr>
              <a:t>· 相比专业机床灯：价格降 75%+，同时保留「万向瞄准 + 无级调光」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74258"/>
                </a:solidFill>
                <a:latin typeface="微软雅黑"/>
              </a:rPr>
              <a:t>· 相比「又一块玩具灯」：本项目的价值不止在灯，而在于它**完整可复现的工程体系**——这才是开源学习包的主体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/>
              </a:rPr>
              <a:t>硬核参数一览（全部有文档依据与踩坑过程）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08A9B"/>
                </a:solidFill>
                <a:latin typeface="微软雅黑"/>
              </a:rPr>
              <a:t>对应 docs/03 硬件设计说明、docs/04 固件架构说明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33856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39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799"/>
                <a:gridCol w="3733799"/>
                <a:gridCol w="3733799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latin typeface="微软雅黑"/>
                        </a:rPr>
                        <a:t>项目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微软雅黑"/>
                        </a:rPr>
                        <a:t>参数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</a:rPr>
                        <a:t>主控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CW32L010F8（M0+，TSSOP-20）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HSI 48MHz，无外部晶振，OSC± 复用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</a:rPr>
                        <a:t>供电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锂电池直供 MCU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无稳压器；CE 控制 3V3 轨（磁吸口）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</a:rPr>
                        <a:t>调光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双路 PWM 8kHz / 6000 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ARR=5999，步进 0.5%，下限 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</a:rPr>
                        <a:t>驱动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RY3730 ×2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可 pin-to-pin 替换 SY7200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</a:rPr>
                        <a:t>磁吸接口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4pin：3V3/GND/LED−/DET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吸附才输出，脱落即灭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</a:rPr>
                        <a:t>检测去抖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100ms（按键仅 15ms）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去抖时间由物理过程决定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</a:rPr>
                        <a:t>按键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3 键复合语义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单击/长按（三段加速）/双击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</a:rPr>
                        <a:t>电池采样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内部 BGR 1.2V 反推 VDD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无外部电路，省 210µA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</a:rPr>
                        <a:t>电池保护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LOW&lt;3350mV / PROTECT&lt;3200mV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滞回 + 2s 确认 + 告警页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</a:rPr>
                        <a:t>显示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0.5" CH1115 88×48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软件 I2C，地址 0x3C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</a:rPr>
                        <a:t>掉电记忆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Flash + RTC 1h 窗口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记住亮度又不会记住过期设置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</a:rPr>
                        <a:t>资源占用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Flash≈12KB / RAM≈1.1KB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编译 0 错 0 警告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/>
              </a:rPr>
              <a:t>系统框图：四个域 + 十二类连线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08A9B"/>
                </a:solidFill>
                <a:latin typeface="微软雅黑"/>
              </a:rPr>
              <a:t>电源域 / 主控域 / 输出域 / 人机域——任何一部分都可单独替换或升级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33856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系统框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47120" cy="7115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550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08A9B"/>
                </a:solidFill>
                <a:latin typeface="微软雅黑"/>
              </a:rPr>
              <a:t>完整文件：docs/系统框图.png（可打印）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/>
              </a:rPr>
              <a:t>硬件设计亮点：三个「反常识」决策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08A9B"/>
                </a:solidFill>
                <a:latin typeface="微软雅黑"/>
              </a:rPr>
              <a:t>每一个决策都写清了理由与代价（docs/03）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33856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3657600" cy="420624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298448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864"/>
                </a:solidFill>
                <a:latin typeface="微软雅黑"/>
              </a:rPr>
              <a:t>① 电池直供 MCU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864"/>
                </a:solidFill>
                <a:latin typeface="微软雅黑"/>
              </a:rPr>
              <a:t>（不加稳压器）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719072"/>
            <a:ext cx="3364992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为什么：省元件、省静态电流、省板面积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代价：不能再「分压 + 同源参考」测电压——比例测量会失效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解法：内部 BGR 1.2V 绝对参考反推 VDD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· BGR 仅测量时开启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· 成对交替采样（抵消 LED 亮灭漂移）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· IIR 平滑（抑制 PWM 纹波）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省下外部 10K/10K 分压的 210µA 常通耗电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657600" cy="420624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28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9704" y="1298448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89655"/>
                </a:solidFill>
                <a:latin typeface="微软雅黑"/>
              </a:rPr>
              <a:t>② 磁吸 4pin 与「脱落即灭」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9704" y="1719072"/>
            <a:ext cx="3364992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接口：3V3 / GND / LED− / DET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原理：板侧 DET 下拉（未吸附=低）；灯端把 3V3 接 DET（吸附=高）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三个收益：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· 安全：脱落瞬间切断输出，避免开路/异常驱动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· 交互：吸上就亮、取下就灭，无需额外开关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· 可诊断：吸附状态上屏，一眼区分「灯坏」与「没吸好」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去抖 100ms（磁吸撞击远长于人手按键）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188720"/>
            <a:ext cx="3520440" cy="420624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D77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1298448"/>
            <a:ext cx="3227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D7781E"/>
                </a:solidFill>
                <a:latin typeface="微软雅黑"/>
              </a:rPr>
              <a:t>③ 频率与亮度下限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D7781E"/>
                </a:solidFill>
                <a:latin typeface="微软雅黑"/>
              </a:rPr>
              <a:t>一起设计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1719072"/>
            <a:ext cx="3227832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调光频率迭代史：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20k → 30k → 5k → 1k → 8kHz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根因：驱动手册推荐 100Hz–10kHz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最终：8kHz + 亮度下限 3%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（低于 3% 会频闪；下限与频率必须一起定）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→ 分辨率 6000 级，软件用千分比对外暴露，与寄存器解耦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/>
              </a:rPr>
              <a:t>固件架构：分层 BSP + 1ms 分频调度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08A9B"/>
                </a:solidFill>
                <a:latin typeface="微软雅黑"/>
              </a:rPr>
              <a:t>12 个 BSP 模块，main.c 只表达产品行为，不知道寄存器细节（docs/04）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33856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5577840" cy="429768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298448"/>
            <a:ext cx="52852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864"/>
                </a:solidFill>
                <a:latin typeface="微软雅黑"/>
              </a:rPr>
              <a:t>分层结构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719072"/>
            <a:ext cx="5285231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main.c / interrupts_cw32l010.c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　应用层：UI 布局 / 按键状态机 / 电池状态机 / 主循环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　　　　▲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bsp_*.c（12 个模块）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　bsp_pwm（8kHz 双路）· bsp_detect（100ms 去抖）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　bsp_power（STOP+上升沿唤醒）· bsp_save（Flash 亮度记忆）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　bsp_adc（BGR 反推）· bsp_oled（CH1115）· bsp_i2c · bsp_button · bsp_timer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　　　　▲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CW32L010_Lib（芯片标准库）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价值：换 MCU 时原则上只重写 bsp_*，main.c 语义不变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88720"/>
            <a:ext cx="5440680" cy="205740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28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9944" y="1298448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89655"/>
                </a:solidFill>
                <a:latin typeface="微软雅黑"/>
              </a:rPr>
              <a:t>调度：全部在 1ms 中断内分频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9944" y="1719072"/>
            <a:ext cx="514807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1ms：系统时基 / 告警页关屏倒计时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5ms：按键扫描 + 状态机（调光加速/双击判定）+ 吸附检测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50ms：ADC 采样 + 过放保护状态机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200ms：界面数值刷新请求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主循环：只做 OLED 刷屏（耗时 ms 级，不能进中断）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429000"/>
            <a:ext cx="5440680" cy="205740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D77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3538728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D7781E"/>
                </a:solidFill>
                <a:latin typeface="微软雅黑"/>
              </a:rPr>
              <a:t>3 键承载 8 项功能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3959352"/>
            <a:ext cx="514807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PB03 开关机（含唤醒，上升沿）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PA04 亮度−：单击微调 / 长按连续 / 双击切「调节对象」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PA05 亮度+：单击微调 / 长按连续 / 双击切「点亮模式」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连续调节三段加速：60ms → 1.1s 后 30ms → 1.9s 后 12ms/步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有效电平高（外部下拉，抗 PWM 噪声）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/>
              </a:rPr>
              <a:t>开发踩坑实录：这些坑比代码更值钱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08A9B"/>
                </a:solidFill>
                <a:latin typeface="微软雅黑"/>
              </a:rPr>
              <a:t>docs/08 —— 完整记录「现象 → 根因 → 解决」，可当排错清单用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33856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397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799"/>
                <a:gridCol w="3733799"/>
                <a:gridCol w="3733799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latin typeface="微软雅黑"/>
                        </a:rPr>
                        <a:t>现象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根因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微软雅黑"/>
                        </a:rPr>
                        <a:t>解决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屏幕全黑（4 轮才点亮）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CH1115 不认 SSD1306 的 0x8D 命令；方向/偏移不符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用屏厂官方序列：0x82 + 0xAD 0x8B 0x33 + A0/C0 + D3 0x38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电池读数恒为满量程一半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VBAT 直供 → 分压与参考同源，比例测量失效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内部 BGR 1.2V 反推 VDD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LED 亮起后电压乱跳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双通道非同时采样撞上 PWM 波动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成对交替采样 + IIR 平滑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低亮度频闪 / 啸叫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频率脱离驱动手册推荐区（100Hz–10kHz）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8kHz + 亮度下限 3%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关机松手即重启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按键释放回弹瞬态被当作唤醒沿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等释放 + 100ms 消抖窗 + 清标志再睡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按键误触（PWM 一开就触发）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高阻节点耦合 PWM 噪声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硬件下拉电阻改小（软件消抖无效）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latin typeface="微软雅黑"/>
                        </a:rPr>
                        <a:t>唤醒后花屏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屏幕掉电重启需完整初始化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latin typeface="微软雅黑"/>
                        </a:rPr>
                        <a:t>唤醒延时 500×1ms 后再初始化屏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82828"/>
                </a:solidFill>
                <a:latin typeface="微软雅黑"/>
              </a:rPr>
              <a:t>从这些坑提炼的工程原则：以厂家官方例程为准 · 测电源要有绝对参考 · 频率与占空比一起设计 · 低功耗的坑都在时序上 · 软件治不了的噪声回硬件解决 · 把坑写下来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/>
              </a:rPr>
              <a:t>稳定复现的低成本结构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08A9B"/>
                </a:solidFill>
                <a:latin typeface="微软雅黑"/>
              </a:rPr>
              <a:t>目标：一个没有本项目背景的人，照做能复现出同样的整机（docs/05）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33856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3611880" cy="237744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28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298448"/>
            <a:ext cx="3319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89655"/>
                </a:solidFill>
                <a:latin typeface="微软雅黑"/>
              </a:rPr>
              <a:t>成本拆解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719072"/>
            <a:ext cx="33192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PCBA 器件：≈ ¥25–35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磁吸机构：≈ ¥8–12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外壳/装配（含按键帽）：≈ ¥5–10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————————————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整机：≈ ¥45 级（不含工具）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611880" cy="237744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1298448"/>
            <a:ext cx="3319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864"/>
                </a:solidFill>
                <a:latin typeface="微软雅黑"/>
              </a:rPr>
              <a:t>降本四招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719072"/>
            <a:ext cx="33192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① 通用件优先，不做定制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② 立创EDA 工程一键下单打样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③ 3D 打印替代开模（含按键帽）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④ 驱动 pin-to-pin 可替换（RY3730 ⇄ SY7200）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566160" cy="237744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D77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298448"/>
            <a:ext cx="3273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D7781E"/>
                </a:solidFill>
                <a:latin typeface="微软雅黑"/>
              </a:rPr>
              <a:t>复现路线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1719072"/>
            <a:ext cx="32735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采购 → 制板&amp;打印 → 焊接装配 →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烧录 → 上电自检 → 14 项验收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配套：完整 BOM（34 行/56 位号）、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3D 模型、立创EDA 工程、排错表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94760"/>
            <a:ext cx="11155680" cy="233172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390448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3864"/>
                </a:solidFill>
                <a:latin typeface="微软雅黑"/>
              </a:rPr>
              <a:t>为什么能「稳定」复现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4325112"/>
            <a:ext cx="10863072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· 判据可量化：14 项指标（吸附力、漂移、无频闪、联动、静态电流、续航、温升、电量误差、低电保护、亮度记忆…）每项都有测试条件与合格阈值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· 记录可复核：验收记录表模板（条件 / 原始数据 / 结论三要素）；失败项必须写排查过程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· 坑已排明：12 条真实现象 → 根因 → 解决 的排错表（docs/05 §6）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74258"/>
                </a:solidFill>
                <a:latin typeface="微软雅黑"/>
              </a:rPr>
              <a:t>· 版本可对照：固件 / 外壳 / BOM 三者可对上，样机贴版本号；改造项（频率、去抖、窗口、下限）全部做成宏，可配置、可回退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/>
              </a:rPr>
              <a:t>学习路径：9 个模块 / 16–24 学时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08A9B"/>
                </a:solidFill>
                <a:latin typeface="微软雅黑"/>
              </a:rPr>
              <a:t>每模块四段：目标 → 读什么 → 动手做什么 → 检查点（docs/02）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33856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397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799"/>
                <a:gridCol w="3733799"/>
                <a:gridCol w="373379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latin typeface="微软雅黑"/>
                        </a:rPr>
                        <a:t>#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latin typeface="微软雅黑"/>
                        </a:rPr>
                        <a:t>模块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latin typeface="微软雅黑"/>
                        </a:rPr>
                        <a:t>你会获得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看懂一台整机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四域分区思维；自己画一张系统框图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供电与软开关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电池直供的取舍；CE 控 3V3；关机为何要 STOP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按键与复合语义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高有效输入、15ms 去抖、单击/长按/双击状态机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PWM 与无级调光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8kHz/6000 级推导；最低占空比下限为何是 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磁吸检测与安全联动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复用引脚、100ms 去抖、脱落即灭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采样与电池保护状态机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BGR 绝对参考、成对采样、滞回阈值与告警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低功耗与掉电记忆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唤醒沿/消抖窗/延迟初始化；Flash 记忆时间窗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结构、装配与验收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磁吸底座+按键帽装配；14 项验收判据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latin typeface="微软雅黑"/>
                        </a:rPr>
                        <a:t>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开发踩坑复盘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latin typeface="微软雅黑"/>
                        </a:rPr>
                        <a:t>把别人的坑变成自己的经验（最值钱的一节）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/>
              </a:rPr>
              <a:t>开源共建共享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808A9B"/>
                </a:solidFill>
                <a:latin typeface="微软雅黑"/>
              </a:rPr>
              <a:t>开源不是把代码扔出去，而是让别人能稳定复现、并在此基础上继续走远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33856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5486400" cy="228600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28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298448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89655"/>
                </a:solidFill>
                <a:latin typeface="微软雅黑"/>
              </a:rPr>
              <a:t>欢迎的贡献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719072"/>
            <a:ext cx="51937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🐛 报问题：开 Issue（环境 / 现象 / 复现步骤 / 已尝试）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🔧 改代码：修 bug、优化去抖、提升可移植性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📐 改硬件：替代件验证、布局优化（需附实测数据）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🖨 改结构：更好打印的模型、兼容其他磁吸座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🎓 教学复用：教师/社团可直接用 docs/07 当课程包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🧰 留坑记录：把你的踩坑补进 docs/08（比代码更珍贵）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532120" cy="228600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298448"/>
            <a:ext cx="5239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3864"/>
                </a:solidFill>
                <a:latin typeface="微软雅黑"/>
              </a:rPr>
              <a:t>共建原则（四条）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719072"/>
            <a:ext cx="52395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① 可复现优先：让「下一个人照着做得到同样结果」更容易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② 解释为什么：代码与文档都要讲清设计动机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③ 小步提交：一次 PR 只做一件事，便于审查与回退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④ 友善沟通：本包的目标对象就是初学者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03320"/>
            <a:ext cx="11201400" cy="2423160"/>
          </a:xfrm>
          <a:prstGeom prst="roundRect">
            <a:avLst/>
          </a:prstGeom>
          <a:solidFill>
            <a:srgbClr val="F6F9FE"/>
          </a:solidFill>
          <a:ln w="20320">
            <a:solidFill>
              <a:srgbClr val="374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813048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74258"/>
                </a:solidFill>
                <a:latin typeface="微软雅黑"/>
              </a:rPr>
              <a:t>仓库与文档结构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4233672"/>
            <a:ext cx="1090879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README.md（门面）· CONTRIBUTING.md（共建指南）· LICENSE(MIT)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docs/01 为什么做这个学习包　docs/02 学习路径　docs/03 硬件设计说明　docs/04 固件架构说明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docs/05 复现指南　docs/06 测试与验收　docs/07 教学设计　docs/08 开发踩坑实录　系统框图.png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USER/ 固件（12 个 BSP 模块）· MDK/ Keil 工程 · 工程文件夹/ UserApp完整工程 + 立创EDA + 3D外壳 + BOM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74258"/>
                </a:solidFill>
                <a:latin typeface="微软雅黑"/>
              </a:rPr>
              <a:t>GitHub：github.com/Davidshao-114514/chuangkexunlianying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1F3864"/>
                </a:solidFill>
                <a:latin typeface="微软雅黑"/>
              </a:rPr>
              <a:t>一吸即用，指哪照哪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0">
                <a:solidFill>
                  <a:srgbClr val="374258"/>
                </a:solidFill>
                <a:latin typeface="微软雅黑"/>
              </a:rPr>
              <a:t>一个完整产品，抵得过一打外设实验</a:t>
            </a:r>
          </a:p>
          <a:p>
            <a:pPr algn="ctr">
              <a:lnSpc>
                <a:spcPct val="150000"/>
              </a:lnSpc>
            </a:pPr>
            <a:r>
              <a:rPr sz="1800" b="0">
                <a:solidFill>
                  <a:srgbClr val="374258"/>
                </a:solidFill>
                <a:latin typeface="微软雅黑"/>
              </a:rPr>
              <a:t>欢迎复现、欢迎改进、欢迎把你的坑也留下来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808A9B"/>
                </a:solidFill>
                <a:latin typeface="微软雅黑"/>
              </a:rPr>
              <a:t>仿真跑不队 · 邵子中 / 李昊桐 / 姜亚楷</a:t>
            </a:r>
          </a:p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808A9B"/>
                </a:solidFill>
                <a:latin typeface="微软雅黑"/>
              </a:rPr>
              <a:t>感谢指导老师的开发板与工程框架；感谢每一位共建者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