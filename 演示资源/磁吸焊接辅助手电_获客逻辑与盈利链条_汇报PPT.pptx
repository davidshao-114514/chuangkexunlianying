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143000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12B5B0"/>
                </a:solidFill>
                <a:latin typeface="微软雅黑"/>
              </a:rPr>
              <a:t>创客训练营 · 项目汇报　|　面向创客竞赛的老师们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104241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4600" b="1">
                <a:solidFill>
                  <a:srgbClr val="FFFFFF"/>
                </a:solidFill>
                <a:latin typeface="微软雅黑"/>
              </a:rPr>
              <a:t>把技术开源，</a:t>
            </a:r>
          </a:p>
          <a:p>
            <a:pPr algn="l">
              <a:lnSpc>
                <a:spcPct val="116000"/>
              </a:lnSpc>
            </a:pPr>
            <a:r>
              <a:rPr sz="4600" b="1">
                <a:solidFill>
                  <a:srgbClr val="FFFFFF"/>
                </a:solidFill>
                <a:latin typeface="微软雅黑"/>
              </a:rPr>
              <a:t>把客流做起来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4128" y="3657600"/>
            <a:ext cx="2011680" cy="41148"/>
          </a:xfrm>
          <a:prstGeom prst="rect">
            <a:avLst/>
          </a:prstGeom>
          <a:solidFill>
            <a:srgbClr val="D9A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4241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CDD8E8"/>
                </a:solidFill>
                <a:latin typeface="微软雅黑"/>
              </a:rPr>
              <a:t>一个开源项目的获客逻辑与盈利链条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CDD8E8"/>
                </a:solidFill>
                <a:latin typeface="微软雅黑"/>
              </a:rPr>
              <a:t>—— 我们不再问「技术还能做什么」，而是问「谁会来、为什么来、怎么留住」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2356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B2C0D4"/>
                </a:solidFill>
                <a:latin typeface="微软雅黑"/>
              </a:rPr>
              <a:t>磁吸焊接辅助手电 · 1 班 C 组 仿真跑不队：邵子中 / 李昊桐 / 姜亚楷　|　指导老师提供 CW32L010 开发板与工程框架</a:t>
            </a:r>
          </a:p>
        </p:txBody>
      </p:sp>
      <p:sp>
        <p:nvSpPr>
          <p:cNvPr id="9" name="Oval 8"/>
          <p:cNvSpPr/>
          <p:nvPr/>
        </p:nvSpPr>
        <p:spPr>
          <a:xfrm>
            <a:off x="10607040" y="3447288"/>
            <a:ext cx="2651760" cy="2651760"/>
          </a:xfrm>
          <a:prstGeom prst="ellipse">
            <a:avLst/>
          </a:prstGeom>
          <a:noFill/>
          <a:ln w="20320">
            <a:solidFill>
              <a:srgbClr val="1E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04220" y="3744468"/>
            <a:ext cx="2057400" cy="2057400"/>
          </a:xfrm>
          <a:prstGeom prst="ellipse">
            <a:avLst/>
          </a:prstGeom>
          <a:noFill/>
          <a:ln w="20320">
            <a:solidFill>
              <a:srgbClr val="1E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01400" y="4041648"/>
            <a:ext cx="1463040" cy="1463040"/>
          </a:xfrm>
          <a:prstGeom prst="ellipse">
            <a:avLst/>
          </a:prstGeom>
          <a:noFill/>
          <a:ln w="20320">
            <a:solidFill>
              <a:srgbClr val="1E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292840" y="4892040"/>
            <a:ext cx="566928" cy="56692"/>
          </a:xfrm>
          <a:prstGeom prst="rect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292840" y="5047488"/>
            <a:ext cx="347472" cy="56692"/>
          </a:xfrm>
          <a:prstGeom prst="rect">
            <a:avLst/>
          </a:prstGeom>
          <a:solidFill>
            <a:srgbClr val="D9A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" cy="6858000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84048"/>
            <a:ext cx="50292" cy="384048"/>
          </a:xfrm>
          <a:prstGeom prst="rect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8778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12294A"/>
                </a:solidFill>
                <a:latin typeface="微软雅黑"/>
              </a:rPr>
              <a:t>一页看懂：开源怎么带来客流，客流怎么变成收入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850392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C788A"/>
                </a:solidFill>
                <a:latin typeface="微软雅黑"/>
              </a:rPr>
              <a:t>这不是一份技术汇报，而是一条能被复制的商业逻辑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1064240" cy="18288"/>
          </a:xfrm>
          <a:prstGeom prst="rect">
            <a:avLst/>
          </a:prstGeom>
          <a:solidFill>
            <a:srgbClr val="DE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548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A8B0BC"/>
                </a:solidFill>
                <a:latin typeface="微软雅黑"/>
              </a:rPr>
              <a:t>摘要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382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A8B0BC"/>
                </a:solidFill>
                <a:latin typeface="微软雅黑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6304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9050">
            <a:solidFill>
              <a:srgbClr val="12B5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463040"/>
            <a:ext cx="3657600" cy="50292"/>
          </a:xfrm>
          <a:prstGeom prst="rect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62763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2B5B0"/>
                </a:solidFill>
                <a:latin typeface="微软雅黑"/>
              </a:rPr>
              <a:t>第一步：开源 → 获客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066544"/>
            <a:ext cx="3291840" cy="1572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把设计 / 固件 / 文档 / 踩坑全部公开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（MIT），让它成为一份「人人都能验证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的信任物料」：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· 客户与学校敢买、敢推荐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· 不再依赖付费投放，用户主动找来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46304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9050">
            <a:solidFill>
              <a:srgbClr val="4A7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463040"/>
            <a:ext cx="3657600" cy="50292"/>
          </a:xfrm>
          <a:prstGeom prst="rect">
            <a:avLst/>
          </a:prstGeom>
          <a:solidFill>
            <a:srgbClr val="4A7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62763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4A76C8"/>
                </a:solidFill>
                <a:latin typeface="微软雅黑"/>
              </a:rPr>
              <a:t>第二步：客流 → 反哺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066544"/>
            <a:ext cx="3291840" cy="1572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使用反馈决定迭代优先级；社区共建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补上研发力量；教学场景带来批量需求；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口碑让后续获客成本继续下降。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· 客流不是终点，是研发与收入的源头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1463040"/>
            <a:ext cx="3520440" cy="22860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9050">
            <a:solidFill>
              <a:srgbClr val="D9A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19872" y="1463040"/>
            <a:ext cx="3520440" cy="50292"/>
          </a:xfrm>
          <a:prstGeom prst="rect">
            <a:avLst/>
          </a:prstGeom>
          <a:solidFill>
            <a:srgbClr val="D9A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1627632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D9A438"/>
                </a:solidFill>
                <a:latin typeface="微软雅黑"/>
              </a:rPr>
              <a:t>第三步：回流 → 盈利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2066544"/>
            <a:ext cx="3154680" cy="1572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开的是「知识与设计」，卖的是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「成品、套件、确定性与服务」：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· C 端成品机 65 元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· DIY 套件 ≈49 元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· B 端实训采买（批量、零获客）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023360"/>
            <a:ext cx="2103120" cy="18288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7780">
            <a:solidFill>
              <a:srgbClr val="12B5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242816"/>
            <a:ext cx="19202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>
                <a:solidFill>
                  <a:srgbClr val="12B5B0"/>
                </a:solidFill>
                <a:latin typeface="微软雅黑"/>
              </a:rPr>
              <a:t>¥8.6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864608"/>
            <a:ext cx="19568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6C788A"/>
                </a:solidFill>
                <a:latin typeface="微软雅黑"/>
              </a:rPr>
              <a:t>地推获客成本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175504"/>
            <a:ext cx="195681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2D3748"/>
                </a:solidFill>
                <a:latin typeface="微软雅黑"/>
              </a:rPr>
              <a:t>线上 ¥31.8 已停投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71216" y="4023360"/>
            <a:ext cx="2103120" cy="18288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7780">
            <a:solidFill>
              <a:srgbClr val="122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62656" y="4242816"/>
            <a:ext cx="19202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>
                <a:solidFill>
                  <a:srgbClr val="12294A"/>
                </a:solidFill>
                <a:latin typeface="微软雅黑"/>
              </a:rPr>
              <a:t>37.3%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44368" y="4864608"/>
            <a:ext cx="19568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6C788A"/>
                </a:solidFill>
                <a:latin typeface="微软雅黑"/>
              </a:rPr>
              <a:t>行为支付率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44368" y="5175504"/>
            <a:ext cx="195681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2D3748"/>
                </a:solidFill>
                <a:latin typeface="微软雅黑"/>
              </a:rPr>
              <a:t>1 元意向金真付费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175504" y="4023360"/>
            <a:ext cx="2103120" cy="18288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7780">
            <a:solidFill>
              <a:srgbClr val="2496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66944" y="4242816"/>
            <a:ext cx="19202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>
                <a:solidFill>
                  <a:srgbClr val="249660"/>
                </a:solidFill>
                <a:latin typeface="微软雅黑"/>
              </a:rPr>
              <a:t>22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48656" y="4864608"/>
            <a:ext cx="19568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6C788A"/>
                </a:solidFill>
                <a:latin typeface="微软雅黑"/>
              </a:rPr>
              <a:t>台 B 端首单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48656" y="5175504"/>
            <a:ext cx="195681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2D3748"/>
                </a:solidFill>
                <a:latin typeface="微软雅黑"/>
              </a:rPr>
              <a:t>零获客成本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79792" y="4023360"/>
            <a:ext cx="2103120" cy="18288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7780">
            <a:solidFill>
              <a:srgbClr val="D9A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71231" y="4242816"/>
            <a:ext cx="19202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>
                <a:solidFill>
                  <a:srgbClr val="D9A438"/>
                </a:solidFill>
                <a:latin typeface="微软雅黑"/>
              </a:rPr>
              <a:t>33.8%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52944" y="4864608"/>
            <a:ext cx="19568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6C788A"/>
                </a:solidFill>
                <a:latin typeface="微软雅黑"/>
              </a:rPr>
              <a:t>量产毛利率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52944" y="5175504"/>
            <a:ext cx="195681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2D3748"/>
                </a:solidFill>
                <a:latin typeface="微软雅黑"/>
              </a:rPr>
              <a:t>小批 11.2% → 量产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84080" y="4023360"/>
            <a:ext cx="1856231" cy="18288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7780">
            <a:solidFill>
              <a:srgbClr val="C83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75519" y="4242816"/>
            <a:ext cx="1673351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>
                <a:solidFill>
                  <a:srgbClr val="C83C37"/>
                </a:solidFill>
                <a:latin typeface="微软雅黑"/>
              </a:rPr>
              <a:t>2,886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57232" y="4864608"/>
            <a:ext cx="17099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6C788A"/>
                </a:solidFill>
                <a:latin typeface="微软雅黑"/>
              </a:rPr>
              <a:t>台保本线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57232" y="5175504"/>
            <a:ext cx="1709928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2D3748"/>
                </a:solidFill>
                <a:latin typeface="微软雅黑"/>
              </a:rPr>
              <a:t>降级目标 1,232 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" cy="6858000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84048"/>
            <a:ext cx="50292" cy="384048"/>
          </a:xfrm>
          <a:prstGeom prst="rect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8778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12294A"/>
                </a:solidFill>
                <a:latin typeface="微软雅黑"/>
              </a:rPr>
              <a:t>我们最实质的变化：从「技术思维」到「客流思维」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850392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C788A"/>
                </a:solidFill>
                <a:latin typeface="微软雅黑"/>
              </a:rPr>
              <a:t>技术做好只是起点；技术商品要先有客流，才能活下去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1064240" cy="18288"/>
          </a:xfrm>
          <a:prstGeom prst="rect">
            <a:avLst/>
          </a:prstGeom>
          <a:solidFill>
            <a:srgbClr val="DE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548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A8B0BC"/>
                </a:solidFill>
                <a:latin typeface="微软雅黑"/>
              </a:rPr>
              <a:t>训练带来的变化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382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A8B0BC"/>
                </a:solidFill>
                <a:latin typeface="微软雅黑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63040"/>
            <a:ext cx="5440680" cy="233172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9050">
            <a:solidFill>
              <a:srgbClr val="6C7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463040"/>
            <a:ext cx="5440680" cy="50292"/>
          </a:xfrm>
          <a:prstGeom prst="rect">
            <a:avLst/>
          </a:prstGeom>
          <a:solidFill>
            <a:srgbClr val="6C7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627632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6C788A"/>
                </a:solidFill>
                <a:latin typeface="微软雅黑"/>
              </a:rPr>
              <a:t>过去：用技术看「能做什么」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066544"/>
            <a:ext cx="5074920" cy="16184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2D3748"/>
                </a:solidFill>
                <a:latin typeface="微软雅黑"/>
              </a:rPr>
              <a:t>· 想的是：参数能不能更好、功能能不能更多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2D3748"/>
                </a:solidFill>
                <a:latin typeface="微软雅黑"/>
              </a:rPr>
              <a:t>· 做出来一台设备，然后呢？——没人知道、没人买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2D3748"/>
                </a:solidFill>
                <a:latin typeface="微软雅黑"/>
              </a:rPr>
              <a:t>· 看到开源会问：「开源＝白送，图什么？」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2D3748"/>
                </a:solidFill>
                <a:latin typeface="微软雅黑"/>
              </a:rPr>
              <a:t>· 结果：技术停在桌面上，价值没有被看见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463040"/>
            <a:ext cx="5431536" cy="233172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9050">
            <a:solidFill>
              <a:srgbClr val="12B5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463040"/>
            <a:ext cx="5431536" cy="50292"/>
          </a:xfrm>
          <a:prstGeom prst="rect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627632"/>
            <a:ext cx="506577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2B5B0"/>
                </a:solidFill>
                <a:latin typeface="微软雅黑"/>
              </a:rPr>
              <a:t>现在：用客流看「谁会来、为什么来」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066544"/>
            <a:ext cx="5065776" cy="16184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2D3748"/>
                </a:solidFill>
                <a:latin typeface="微软雅黑"/>
              </a:rPr>
              <a:t>· 想的是：客流从哪来、谁愿意买、怎么让别人愿意试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2D3748"/>
                </a:solidFill>
                <a:latin typeface="微软雅黑"/>
              </a:rPr>
              <a:t>· 把设计/固件/文档全部开源，让它成为可验证的信任物料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2D3748"/>
                </a:solidFill>
                <a:latin typeface="微软雅黑"/>
              </a:rPr>
              <a:t>· 用实测算清每个渠道的获客成本，再决定投不投钱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2D3748"/>
                </a:solidFill>
                <a:latin typeface="微软雅黑"/>
              </a:rPr>
              <a:t>· 结果：技术被看见、被使用，并开始产生订单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977639"/>
            <a:ext cx="11064240" cy="201168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9050">
            <a:solidFill>
              <a:srgbClr val="D9A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977639"/>
            <a:ext cx="11064240" cy="50292"/>
          </a:xfrm>
          <a:prstGeom prst="rect">
            <a:avLst/>
          </a:prstGeom>
          <a:solidFill>
            <a:srgbClr val="D9A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142231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D9A438"/>
                </a:solidFill>
                <a:latin typeface="微软雅黑"/>
              </a:rPr>
              <a:t>一次点拨，改变了我们的判断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581144"/>
            <a:ext cx="10698480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2D3748"/>
                </a:solidFill>
                <a:latin typeface="微软雅黑"/>
              </a:rPr>
              <a:t>在与老师的交流中我们意识到：技术商品需要客流才能活下去——再好的技术，如果没有用户、没有订单，就只是实验室里的作品。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2D3748"/>
                </a:solidFill>
                <a:latin typeface="微软雅黑"/>
              </a:rPr>
              <a:t>所以我们做了一个决定：把这个项目做成开源项目。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2D3748"/>
                </a:solidFill>
                <a:latin typeface="微软雅黑"/>
              </a:rPr>
              <a:t>开源不是放弃盈利，而是换一种活法：用开源获得信任和客流，再用客流反哺技术与项目——客流让我们知道该改什么，也让产品真正卖得动。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2D3748"/>
                </a:solidFill>
                <a:latin typeface="微软雅黑"/>
              </a:rPr>
              <a:t>这也是我们参加训练最实在的收获：从「我能做什么」，走到「谁会来、为什么来、怎么留住」。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" cy="6858000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84048"/>
            <a:ext cx="50292" cy="384048"/>
          </a:xfrm>
          <a:prstGeom prst="rect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8778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12294A"/>
                </a:solidFill>
                <a:latin typeface="微软雅黑"/>
              </a:rPr>
              <a:t>为什么开源是最好的获客方式（图：一个越转越省的正循环）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850392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C788A"/>
                </a:solidFill>
                <a:latin typeface="微软雅黑"/>
              </a:rPr>
              <a:t>别人看到「失去」，我们看到「降低信任成本 + 降低分发成本 + 拿到精准客流」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1064240" cy="18288"/>
          </a:xfrm>
          <a:prstGeom prst="rect">
            <a:avLst/>
          </a:prstGeom>
          <a:solidFill>
            <a:srgbClr val="DE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548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A8B0BC"/>
                </a:solidFill>
                <a:latin typeface="微软雅黑"/>
              </a:rPr>
              <a:t>获客逻辑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382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A8B0BC"/>
                </a:solidFill>
                <a:latin typeface="微软雅黑"/>
              </a:rPr>
              <a:t>04</a:t>
            </a:r>
          </a:p>
        </p:txBody>
      </p:sp>
      <p:pic>
        <p:nvPicPr>
          <p:cNvPr id="9" name="Picture 8" descr="fig4_开源获客逻辑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71600"/>
            <a:ext cx="11064240" cy="69151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" cy="6858000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84048"/>
            <a:ext cx="50292" cy="384048"/>
          </a:xfrm>
          <a:prstGeom prst="rect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8778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12294A"/>
                </a:solidFill>
                <a:latin typeface="微软雅黑"/>
              </a:rPr>
              <a:t>客流从哪来：我们用实测数据决定投哪个渠道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850392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C788A"/>
                </a:solidFill>
                <a:latin typeface="微软雅黑"/>
              </a:rPr>
              <a:t>任何渠道在投钱之前，先算 CAC，再与 LTV 对比——这是我们定下的准则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1064240" cy="18288"/>
          </a:xfrm>
          <a:prstGeom prst="rect">
            <a:avLst/>
          </a:prstGeom>
          <a:solidFill>
            <a:srgbClr val="DE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548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A8B0BC"/>
                </a:solidFill>
                <a:latin typeface="微软雅黑"/>
              </a:rPr>
              <a:t>获客逻辑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382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A8B0BC"/>
                </a:solidFill>
                <a:latin typeface="微软雅黑"/>
              </a:rPr>
              <a:t>05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463040"/>
          <a:ext cx="11064235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199"/>
                <a:gridCol w="2377439"/>
                <a:gridCol w="1280159"/>
                <a:gridCol w="1645919"/>
                <a:gridCol w="3017519"/>
              </a:tblGrid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渠道</a:t>
                      </a:r>
                    </a:p>
                  </a:txBody>
                  <a:tcPr anchor="ctr" marL="54864" marR="54864" marT="18288" marB="18288"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性质</a:t>
                      </a:r>
                    </a:p>
                  </a:txBody>
                  <a:tcPr anchor="ctr" marL="54864" marR="54864" marT="18288" marB="18288"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转化率</a:t>
                      </a:r>
                    </a:p>
                  </a:txBody>
                  <a:tcPr anchor="ctr" marL="54864" marR="54864" marT="18288" marB="18288"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获客成本</a:t>
                      </a:r>
                    </a:p>
                  </a:txBody>
                  <a:tcPr anchor="ctr" marL="54864" marR="54864" marT="18288" marB="18288"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结论</a:t>
                      </a:r>
                    </a:p>
                  </a:txBody>
                  <a:tcPr anchor="ctr" marL="54864" marR="54864" marT="18288" marB="18288">
                    <a:solidFill>
                      <a:srgbClr val="1229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开源 + 教师/同学推荐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信任驱动（获客引擎）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≈ ¥0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B 端首单 22 台，零获客成本</a:t>
                      </a:r>
                    </a:p>
                  </a:txBody>
                  <a:tcPr anchor="ctr" marL="54864" marR="54864" marT="18288" marB="18288"/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实验室 / 课堂地推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面对面演示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34.9%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¥8.6 / 人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最优渠道：加投并标准化话术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社团与班级扩散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口碑扩散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27.1%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¥11.5 / 人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维持：靠复购与口碑（NPS 42）</a:t>
                      </a:r>
                    </a:p>
                  </a:txBody>
                  <a:tcPr anchor="ctr" marL="54864" marR="54864" marT="18288" marB="18288"/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线上投放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付费买流量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5.2%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¥31.8 / 人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LTV/CAC 0.83 ✗ 立即停投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66928" y="4206240"/>
            <a:ext cx="5440680" cy="178308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9050">
            <a:solidFill>
              <a:srgbClr val="12B5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4206240"/>
            <a:ext cx="5440680" cy="50292"/>
          </a:xfrm>
          <a:prstGeom prst="rect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4370831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2B5B0"/>
                </a:solidFill>
                <a:latin typeface="微软雅黑"/>
              </a:rPr>
              <a:t>开源在这里起什么作用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809744"/>
            <a:ext cx="5074920" cy="1069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· 让「信任」先于「销售」发生：可复现、可审查、可评估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· 让教师和机构能自己判断值不值得买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· 学生看完开源就能自己装出一台 —— 成交不需要解释成本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4206240"/>
            <a:ext cx="5431536" cy="178308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9050">
            <a:solidFill>
              <a:srgbClr val="C83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4206240"/>
            <a:ext cx="5431536" cy="50292"/>
          </a:xfrm>
          <a:prstGeom prst="rect">
            <a:avLst/>
          </a:prstGeom>
          <a:solidFill>
            <a:srgbClr val="C83C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4370831"/>
            <a:ext cx="506577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C83C37"/>
                </a:solidFill>
                <a:latin typeface="微软雅黑"/>
              </a:rPr>
              <a:t>为什么停掉线上投放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4809744"/>
            <a:ext cx="5065776" cy="1069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· 花了 ¥350，只换来 11 条留资（CAC ¥31.8）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· 单台毛利远低于获客成本（LTV/CAC 0.83）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· 资源转向地推 + B 端：一个靠自己讲，一个靠口碑与信任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" cy="6858000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84048"/>
            <a:ext cx="50292" cy="384048"/>
          </a:xfrm>
          <a:prstGeom prst="rect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8778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12294A"/>
                </a:solidFill>
                <a:latin typeface="微软雅黑"/>
              </a:rPr>
              <a:t>客流进来之后：它反过来养技术与项目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850392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C788A"/>
                </a:solidFill>
                <a:latin typeface="微软雅黑"/>
              </a:rPr>
              <a:t>这就是我们坚持开源的理由——客流是研发、迭代与收入的共同源头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1064240" cy="18288"/>
          </a:xfrm>
          <a:prstGeom prst="rect">
            <a:avLst/>
          </a:prstGeom>
          <a:solidFill>
            <a:srgbClr val="DE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548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A8B0BC"/>
                </a:solidFill>
                <a:latin typeface="微软雅黑"/>
              </a:rPr>
              <a:t>客流反哺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382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A8B0BC"/>
                </a:solidFill>
                <a:latin typeface="微软雅黑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63040"/>
            <a:ext cx="3611880" cy="402336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9050">
            <a:solidFill>
              <a:srgbClr val="12B5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463040"/>
            <a:ext cx="3611880" cy="50292"/>
          </a:xfrm>
          <a:prstGeom prst="rect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62763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2B5B0"/>
                </a:solidFill>
                <a:latin typeface="微软雅黑"/>
              </a:rPr>
              <a:t>① 反馈决定迭代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066544"/>
            <a:ext cx="3246120" cy="3310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用户怎么用、哪里不好用，直接告诉我们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下一步改什么：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· 焊台狭小 → 磁吸与柔臂做小、做稳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· 担心屏幕亮影响焊接 → LED 指示 + 屏幕扩展并存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· 有人嫌贵 → 保留 DIY 套件路线（≈49 元）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→ 没有客流，就只能凭想象改产品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463040"/>
            <a:ext cx="3611880" cy="402336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9050">
            <a:solidFill>
              <a:srgbClr val="4A7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1463040"/>
            <a:ext cx="3611880" cy="50292"/>
          </a:xfrm>
          <a:prstGeom prst="rect">
            <a:avLst/>
          </a:prstGeom>
          <a:solidFill>
            <a:srgbClr val="4A7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8" y="162763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4A76C8"/>
                </a:solidFill>
                <a:latin typeface="微软雅黑"/>
              </a:rPr>
              <a:t>② 共建补上研发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2066544"/>
            <a:ext cx="3246120" cy="3310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把设计、固件、文档开放出去，会有人愿意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一起改：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· 外部可以提交改进（硬件替代件、结构件、固件补丁）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· 使用者会把踩过的坑写回来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· 教学场景会提出真实需求（实训套件）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→ 相当于获得了一支免费的、真实的研发队伍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8" y="1463040"/>
            <a:ext cx="3566160" cy="402336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9050">
            <a:solidFill>
              <a:srgbClr val="D9A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65008" y="1463040"/>
            <a:ext cx="3566160" cy="50292"/>
          </a:xfrm>
          <a:prstGeom prst="rect">
            <a:avLst/>
          </a:prstGeom>
          <a:solidFill>
            <a:srgbClr val="D9A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162763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D9A438"/>
                </a:solidFill>
                <a:latin typeface="微软雅黑"/>
              </a:rPr>
              <a:t>③ 教学场景 → 批量收入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066544"/>
            <a:ext cx="3200400" cy="3310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开源学习包天然适配课堂：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· 教师可直接把它当项目式课程包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· 学校/实训机构按批采买（B 端 22 台首单）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· 目标：B 端占比 45%，且获客成本为 0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→ 客流不只带来零售，更带来稳定的批量订单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" cy="6858000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84048"/>
            <a:ext cx="50292" cy="384048"/>
          </a:xfrm>
          <a:prstGeom prst="rect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8778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12294A"/>
                </a:solidFill>
                <a:latin typeface="微软雅黑"/>
              </a:rPr>
              <a:t>开源免费的部分获客，付费的部分赚钱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850392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C788A"/>
                </a:solidFill>
                <a:latin typeface="微软雅黑"/>
              </a:rPr>
              <a:t>开的是「知识与设计」，卖的是「成品、套件、确定性与服务」——两者不矛盾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1064240" cy="18288"/>
          </a:xfrm>
          <a:prstGeom prst="rect">
            <a:avLst/>
          </a:prstGeom>
          <a:solidFill>
            <a:srgbClr val="DE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548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A8B0BC"/>
                </a:solidFill>
                <a:latin typeface="微软雅黑"/>
              </a:rPr>
              <a:t>盈利链条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382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A8B0BC"/>
                </a:solidFill>
                <a:latin typeface="微软雅黑"/>
              </a:rPr>
              <a:t>07</a:t>
            </a:r>
          </a:p>
        </p:txBody>
      </p:sp>
      <p:pic>
        <p:nvPicPr>
          <p:cNvPr id="9" name="Picture 8" descr="fig5_盈利链条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71600"/>
            <a:ext cx="11064240" cy="586404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" cy="6858000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84048"/>
            <a:ext cx="50292" cy="384048"/>
          </a:xfrm>
          <a:prstGeom prst="rect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8778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12294A"/>
                </a:solidFill>
                <a:latin typeface="微软雅黑"/>
              </a:rPr>
              <a:t>我们把边界划清楚：什么免费、什么收费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850392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C788A"/>
                </a:solidFill>
                <a:latin typeface="微软雅黑"/>
              </a:rPr>
              <a:t>免费的部分越彻底，客流和信任来得越快；收费的部分越具体，越卖得动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1064240" cy="18288"/>
          </a:xfrm>
          <a:prstGeom prst="rect">
            <a:avLst/>
          </a:prstGeom>
          <a:solidFill>
            <a:srgbClr val="DE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548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A8B0BC"/>
                </a:solidFill>
                <a:latin typeface="微软雅黑"/>
              </a:rPr>
              <a:t>盈利链条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382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A8B0BC"/>
                </a:solidFill>
                <a:latin typeface="微软雅黑"/>
              </a:rPr>
              <a:t>08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463040"/>
          <a:ext cx="1106423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571999"/>
                <a:gridCol w="4480560"/>
              </a:tblGrid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</a:p>
                  </a:txBody>
                  <a:tcPr anchor="ctr" marL="54864" marR="54864" marT="18288" marB="18288"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免费开源（获客）</a:t>
                      </a:r>
                    </a:p>
                  </a:txBody>
                  <a:tcPr anchor="ctr" marL="54864" marR="54864" marT="18288" marB="18288"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付费（盈利）</a:t>
                      </a:r>
                    </a:p>
                  </a:txBody>
                  <a:tcPr anchor="ctr" marL="54864" marR="54864" marT="18288" marB="18288">
                    <a:solidFill>
                      <a:srgbClr val="1229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设计文件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原理图 / PCB / BOM / 3D 打印件全部公开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不含</a:t>
                      </a:r>
                    </a:p>
                  </a:txBody>
                  <a:tcPr anchor="ctr" marL="54864" marR="54864" marT="18288" marB="18288"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固件代码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全部源码 + 9 模块学习课程 + 踩坑实录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不含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成品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不含（自己动手是免费的）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整机 65 元/台（含装配、测试、质保）</a:t>
                      </a:r>
                    </a:p>
                  </a:txBody>
                  <a:tcPr anchor="ctr" marL="54864" marR="54864" marT="18288" marB="18288"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套件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不含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DIY 套件 ≈49 元/套（3D 打印外壳 + 元件）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确定性与服务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不含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B 端批量采买：交付、教学支持、备件（批量议价）</a:t>
                      </a:r>
                    </a:p>
                  </a:txBody>
                  <a:tcPr anchor="ctr" marL="54864" marR="54864" marT="18288" marB="18288"/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66928" y="4709160"/>
            <a:ext cx="11064240" cy="132588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9050">
            <a:solidFill>
              <a:srgbClr val="D9A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4709160"/>
            <a:ext cx="11064240" cy="50292"/>
          </a:xfrm>
          <a:prstGeom prst="rect">
            <a:avLst/>
          </a:prstGeom>
          <a:solidFill>
            <a:srgbClr val="D9A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4873752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D9A438"/>
                </a:solidFill>
                <a:latin typeface="微软雅黑"/>
              </a:rPr>
              <a:t>一句话说清这个模式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5312664"/>
            <a:ext cx="10698480" cy="612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2D3748"/>
                </a:solidFill>
                <a:latin typeface="微软雅黑"/>
              </a:rPr>
              <a:t>开源负责把「信任」做厚（信任＝获客成本），付费负责把「确定性」卖出（交付、质保、教学支持、批量稳定）。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2D3748"/>
                </a:solidFill>
                <a:latin typeface="微软雅黑"/>
              </a:rPr>
              <a:t>我们卖的不是知识——知识已经公开了；我们卖的是「省时间、有保障、能批量交付」的确定性。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" cy="6858000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84048"/>
            <a:ext cx="50292" cy="384048"/>
          </a:xfrm>
          <a:prstGeom prst="rect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8778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12294A"/>
                </a:solidFill>
                <a:latin typeface="微软雅黑"/>
              </a:rPr>
              <a:t>为什么我们相信这条路能赚钱：六项实测数据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850392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C788A"/>
                </a:solidFill>
                <a:latin typeface="微软雅黑"/>
              </a:rPr>
              <a:t>不是口号，每一条都有可核验的原始记录（结题报告 E-01~E-15）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1064240" cy="18288"/>
          </a:xfrm>
          <a:prstGeom prst="rect">
            <a:avLst/>
          </a:prstGeom>
          <a:solidFill>
            <a:srgbClr val="DE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548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A8B0BC"/>
                </a:solidFill>
                <a:latin typeface="微软雅黑"/>
              </a:rPr>
              <a:t>盈利信心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382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A8B0BC"/>
                </a:solidFill>
                <a:latin typeface="微软雅黑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63040"/>
            <a:ext cx="2103120" cy="192024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7780">
            <a:solidFill>
              <a:srgbClr val="12B5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682496"/>
            <a:ext cx="19202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>
                <a:solidFill>
                  <a:srgbClr val="12B5B0"/>
                </a:solidFill>
                <a:latin typeface="微软雅黑"/>
              </a:rPr>
              <a:t>37.3%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04288"/>
            <a:ext cx="19568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6C788A"/>
                </a:solidFill>
                <a:latin typeface="微软雅黑"/>
              </a:rPr>
              <a:t>行为支付率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15184"/>
            <a:ext cx="195681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2D3748"/>
                </a:solidFill>
                <a:latin typeface="微软雅黑"/>
              </a:rPr>
              <a:t>1 元可退意向金，22/59 真付费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71216" y="1463040"/>
            <a:ext cx="2103120" cy="192024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7780">
            <a:solidFill>
              <a:srgbClr val="122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62656" y="1682496"/>
            <a:ext cx="19202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>
                <a:solidFill>
                  <a:srgbClr val="12294A"/>
                </a:solidFill>
                <a:latin typeface="微软雅黑"/>
              </a:rPr>
              <a:t>¥8.6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4368" y="2304288"/>
            <a:ext cx="19568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6C788A"/>
                </a:solidFill>
                <a:latin typeface="微软雅黑"/>
              </a:rPr>
              <a:t>地推获客成本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44368" y="2615184"/>
            <a:ext cx="195681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2D3748"/>
                </a:solidFill>
                <a:latin typeface="微软雅黑"/>
              </a:rPr>
              <a:t>线上 ¥31.8（已停）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75504" y="1463040"/>
            <a:ext cx="2103120" cy="192024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7780">
            <a:solidFill>
              <a:srgbClr val="2496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66944" y="1682496"/>
            <a:ext cx="19202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>
                <a:solidFill>
                  <a:srgbClr val="249660"/>
                </a:solidFill>
                <a:latin typeface="微软雅黑"/>
              </a:rPr>
              <a:t>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48656" y="2304288"/>
            <a:ext cx="19568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6C788A"/>
                </a:solidFill>
                <a:latin typeface="微软雅黑"/>
              </a:rPr>
              <a:t>台 B 端首单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8656" y="2615184"/>
            <a:ext cx="195681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2D3748"/>
                </a:solidFill>
                <a:latin typeface="微软雅黑"/>
              </a:rPr>
              <a:t>零获客成本，已交付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79792" y="1463040"/>
            <a:ext cx="2103120" cy="192024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7780">
            <a:solidFill>
              <a:srgbClr val="D9A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71231" y="1682496"/>
            <a:ext cx="19202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>
                <a:solidFill>
                  <a:srgbClr val="D9A438"/>
                </a:solidFill>
                <a:latin typeface="微软雅黑"/>
              </a:rPr>
              <a:t>33.8%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2944" y="2304288"/>
            <a:ext cx="19568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6C788A"/>
                </a:solidFill>
                <a:latin typeface="微软雅黑"/>
              </a:rPr>
              <a:t>量产毛利率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2944" y="2615184"/>
            <a:ext cx="195681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2D3748"/>
                </a:solidFill>
                <a:latin typeface="微软雅黑"/>
              </a:rPr>
              <a:t>小批 11.2% → 量产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84080" y="1463040"/>
            <a:ext cx="1856231" cy="192024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7780">
            <a:solidFill>
              <a:srgbClr val="C83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19" y="1682496"/>
            <a:ext cx="1673351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>
                <a:solidFill>
                  <a:srgbClr val="C83C37"/>
                </a:solidFill>
                <a:latin typeface="微软雅黑"/>
              </a:rPr>
              <a:t>2,886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57232" y="2304288"/>
            <a:ext cx="17099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6C788A"/>
                </a:solidFill>
                <a:latin typeface="微软雅黑"/>
              </a:rPr>
              <a:t>台保本线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57232" y="2615184"/>
            <a:ext cx="1709928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2D3748"/>
                </a:solidFill>
                <a:latin typeface="微软雅黑"/>
              </a:rPr>
              <a:t>降级目标 1,232 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3749039"/>
            <a:ext cx="3611880" cy="224028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9050">
            <a:solidFill>
              <a:srgbClr val="12B5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" y="3749039"/>
            <a:ext cx="3611880" cy="50292"/>
          </a:xfrm>
          <a:prstGeom prst="rect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3913631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2B5B0"/>
                </a:solidFill>
                <a:latin typeface="微软雅黑"/>
              </a:rPr>
              <a:t>需求是真的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4352544"/>
            <a:ext cx="3246120" cy="1527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· 态度数据 71.3% 说会买，行为数据 37.3%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  真的付了 1 元——我们只信后者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· NPS 42（使用者愿意推荐）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15968" y="3749039"/>
            <a:ext cx="3611880" cy="224028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9050">
            <a:solidFill>
              <a:srgbClr val="4A7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15968" y="3749039"/>
            <a:ext cx="3611880" cy="50292"/>
          </a:xfrm>
          <a:prstGeom prst="rect">
            <a:avLst/>
          </a:prstGeom>
          <a:solidFill>
            <a:srgbClr val="4A7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98848" y="3913631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4A76C8"/>
                </a:solidFill>
                <a:latin typeface="微软雅黑"/>
              </a:rPr>
              <a:t>渠道是算得清的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98848" y="4352544"/>
            <a:ext cx="3246120" cy="1527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· 地推 ¥8.6、口碑 ¥11.5，线上 ¥31.8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· 已有渠道能撑起零售，开源与 B 端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  把获客成本压到 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65008" y="3749039"/>
            <a:ext cx="3566160" cy="224028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9050">
            <a:solidFill>
              <a:srgbClr val="D9A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65008" y="3749039"/>
            <a:ext cx="3566160" cy="50292"/>
          </a:xfrm>
          <a:prstGeom prst="rect">
            <a:avLst/>
          </a:prstGeom>
          <a:solidFill>
            <a:srgbClr val="D9A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47888" y="3913631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D9A438"/>
                </a:solidFill>
                <a:latin typeface="微软雅黑"/>
              </a:rPr>
              <a:t>账是算得完的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47888" y="4352544"/>
            <a:ext cx="3200400" cy="1527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· BOM ¥52.3（小批）→ 目标 ¥43.0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· 量产毛利 33.8%；保本 2,886 台，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  降级方案（3D 打印）1,232 台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· 现金流不需要重资产投入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" cy="6858000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84048"/>
            <a:ext cx="50292" cy="384048"/>
          </a:xfrm>
          <a:prstGeom prst="rect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8778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12294A"/>
                </a:solidFill>
                <a:latin typeface="微软雅黑"/>
              </a:rPr>
              <a:t>我们是怎么走通这条逻辑的（也是我们想展示的「过程」）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850392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C788A"/>
                </a:solidFill>
                <a:latin typeface="微软雅黑"/>
              </a:rPr>
              <a:t>从发现需求，到算出渠道，到拿到订单，再到决定开源——每一步都由数据推动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1064240" cy="18288"/>
          </a:xfrm>
          <a:prstGeom prst="rect">
            <a:avLst/>
          </a:prstGeom>
          <a:solidFill>
            <a:srgbClr val="DE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548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A8B0BC"/>
                </a:solidFill>
                <a:latin typeface="微软雅黑"/>
              </a:rPr>
              <a:t>过程与下一步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382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A8B0BC"/>
                </a:solidFill>
                <a:latin typeface="微软雅黑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63040"/>
            <a:ext cx="2157984" cy="22860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9050">
            <a:solidFill>
              <a:srgbClr val="12B5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463040"/>
            <a:ext cx="2157984" cy="50292"/>
          </a:xfrm>
          <a:prstGeom prst="rect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627632"/>
            <a:ext cx="179222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12B5B0"/>
                </a:solidFill>
                <a:latin typeface="微软雅黑"/>
              </a:rPr>
              <a:t>① 发现需求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066544"/>
            <a:ext cx="1792224" cy="1572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D3748"/>
                </a:solidFill>
                <a:latin typeface="微软雅黑"/>
              </a:rPr>
              <a:t>126 份问卷 + 60 人实景观察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2D3748"/>
                </a:solidFill>
                <a:latin typeface="微软雅黑"/>
              </a:rPr>
              <a:t>把「不好用」变成可测数字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46888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A8B0BC"/>
                </a:solidFill>
                <a:latin typeface="微软雅黑"/>
              </a:rPr>
              <a:t>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16936" y="1463040"/>
            <a:ext cx="2157984" cy="22860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9050">
            <a:solidFill>
              <a:srgbClr val="4A7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16936" y="1463040"/>
            <a:ext cx="2157984" cy="50292"/>
          </a:xfrm>
          <a:prstGeom prst="rect">
            <a:avLst/>
          </a:prstGeom>
          <a:solidFill>
            <a:srgbClr val="4A7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99816" y="1627632"/>
            <a:ext cx="179222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4A76C8"/>
                </a:solidFill>
                <a:latin typeface="微软雅黑"/>
              </a:rPr>
              <a:t>② 做出样机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9816" y="2066544"/>
            <a:ext cx="1792224" cy="1572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D3748"/>
                </a:solidFill>
                <a:latin typeface="微软雅黑"/>
              </a:rPr>
              <a:t>小批试产，BOM ¥52.3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2D3748"/>
                </a:solidFill>
                <a:latin typeface="微软雅黑"/>
              </a:rPr>
              <a:t>实测成本高于预估 → 重算经济账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93207" y="246888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A8B0BC"/>
                </a:solidFill>
                <a:latin typeface="微软雅黑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66944" y="1463040"/>
            <a:ext cx="2157984" cy="22860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9050">
            <a:solidFill>
              <a:srgbClr val="D9A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66944" y="1463040"/>
            <a:ext cx="2157984" cy="50292"/>
          </a:xfrm>
          <a:prstGeom prst="rect">
            <a:avLst/>
          </a:prstGeom>
          <a:solidFill>
            <a:srgbClr val="D9A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9824" y="1627632"/>
            <a:ext cx="179222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D9A438"/>
                </a:solidFill>
                <a:latin typeface="微软雅黑"/>
              </a:rPr>
              <a:t>③ 跑渠道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9824" y="2066544"/>
            <a:ext cx="1792224" cy="1572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D3748"/>
                </a:solidFill>
                <a:latin typeface="微软雅黑"/>
              </a:rPr>
              <a:t>地推 ¥8.6 / 社团 ¥11.5 / 线上 ¥31.8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2D3748"/>
                </a:solidFill>
                <a:latin typeface="微软雅黑"/>
              </a:rPr>
              <a:t>算清 CAC 后，停线上、转地推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43215" y="246888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A8B0BC"/>
                </a:solidFill>
                <a:latin typeface="微软雅黑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16951" y="1463040"/>
            <a:ext cx="2157984" cy="22860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9050">
            <a:solidFill>
              <a:srgbClr val="2496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16951" y="1463040"/>
            <a:ext cx="2157984" cy="50292"/>
          </a:xfrm>
          <a:prstGeom prst="rect">
            <a:avLst/>
          </a:prstGeom>
          <a:solidFill>
            <a:srgbClr val="249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99831" y="1627632"/>
            <a:ext cx="179222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249660"/>
                </a:solidFill>
                <a:latin typeface="微软雅黑"/>
              </a:rPr>
              <a:t>④ 拿订单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99831" y="2066544"/>
            <a:ext cx="1792224" cy="1572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D3748"/>
                </a:solidFill>
                <a:latin typeface="微软雅黑"/>
              </a:rPr>
              <a:t>老师牵线，B 端首单 22 台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2D3748"/>
                </a:solidFill>
                <a:latin typeface="微软雅黑"/>
              </a:rPr>
              <a:t>零获客成本，验证批量需求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93223" y="246888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A8B0BC"/>
                </a:solidFill>
                <a:latin typeface="微软雅黑"/>
              </a:rPr>
              <a:t>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66959" y="1463040"/>
            <a:ext cx="2157984" cy="22860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9050">
            <a:solidFill>
              <a:srgbClr val="C83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966959" y="1463040"/>
            <a:ext cx="2157984" cy="50292"/>
          </a:xfrm>
          <a:prstGeom prst="rect">
            <a:avLst/>
          </a:prstGeom>
          <a:solidFill>
            <a:srgbClr val="C83C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49839" y="1627632"/>
            <a:ext cx="179222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C83C37"/>
                </a:solidFill>
                <a:latin typeface="微软雅黑"/>
              </a:rPr>
              <a:t>⑤ 决定开源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9839" y="2066544"/>
            <a:ext cx="1792224" cy="1572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D3748"/>
                </a:solidFill>
                <a:latin typeface="微软雅黑"/>
              </a:rPr>
              <a:t>把设计/固件/文档全部开放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2D3748"/>
                </a:solidFill>
                <a:latin typeface="微软雅黑"/>
              </a:rPr>
              <a:t>用开源换信任与客流，形成正循环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3977639"/>
            <a:ext cx="5440680" cy="201168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9050">
            <a:solidFill>
              <a:srgbClr val="2496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" y="3977639"/>
            <a:ext cx="5440680" cy="50292"/>
          </a:xfrm>
          <a:prstGeom prst="rect">
            <a:avLst/>
          </a:prstGeom>
          <a:solidFill>
            <a:srgbClr val="249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8" y="4142231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249660"/>
                </a:solidFill>
                <a:latin typeface="微软雅黑"/>
              </a:rPr>
              <a:t>下一步（已经在做）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4581144"/>
            <a:ext cx="5074920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· 锁定千片报价：把量产毛利做到 33.8%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· 拓 B 端：目标占比 45%（教学包 + 实训采买）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· 社区共建：把外部改进并入版本，继续摊薄研发成本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99632" y="3977639"/>
            <a:ext cx="5431536" cy="201168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9050">
            <a:solidFill>
              <a:srgbClr val="12B5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99632" y="3977639"/>
            <a:ext cx="5431536" cy="50292"/>
          </a:xfrm>
          <a:prstGeom prst="rect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82512" y="4142231"/>
            <a:ext cx="506577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2B5B0"/>
                </a:solidFill>
                <a:latin typeface="微软雅黑"/>
              </a:rPr>
              <a:t>我们希望老师看到的三件事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82512" y="4581144"/>
            <a:ext cx="5065776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① 一个团队已经能从「技术能做什么」转向「客流从哪来」——这是训练留下的思维方式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② 一条能被别的团队复制的获客逻辑：开源 → 信任 → 客流 → 反哺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③ 一份有真实数据支撑的盈利信心，而不是一厢情愿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9A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83080"/>
            <a:ext cx="102412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3200" b="1">
                <a:solidFill>
                  <a:srgbClr val="FFFFFF"/>
                </a:solidFill>
                <a:latin typeface="微软雅黑"/>
              </a:rPr>
              <a:t>技术商品需要客流才能活下去。</a:t>
            </a:r>
          </a:p>
          <a:p>
            <a:pPr algn="ctr">
              <a:lnSpc>
                <a:spcPct val="135000"/>
              </a:lnSpc>
            </a:pPr>
            <a:r>
              <a:rPr sz="3200" b="1">
                <a:solidFill>
                  <a:srgbClr val="FFFFFF"/>
                </a:solidFill>
                <a:latin typeface="微软雅黑"/>
              </a:rPr>
              <a:t>开源，是我们找到的那条路</a:t>
            </a:r>
          </a:p>
        </p:txBody>
      </p:sp>
      <p:sp>
        <p:nvSpPr>
          <p:cNvPr id="5" name="Rectangle 4"/>
          <p:cNvSpPr/>
          <p:nvPr/>
        </p:nvSpPr>
        <p:spPr>
          <a:xfrm>
            <a:off x="5074920" y="3429000"/>
            <a:ext cx="2011680" cy="41148"/>
          </a:xfrm>
          <a:prstGeom prst="rect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3703320"/>
            <a:ext cx="96012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450" b="0">
                <a:solidFill>
                  <a:srgbClr val="CDD8E8"/>
                </a:solidFill>
                <a:latin typeface="微软雅黑"/>
              </a:rPr>
              <a:t>开源 → 信任 → 客流 → 反哺技术与项目 → 成品卖得动</a:t>
            </a:r>
          </a:p>
          <a:p>
            <a:pPr algn="ctr">
              <a:lnSpc>
                <a:spcPct val="160000"/>
              </a:lnSpc>
            </a:pPr>
            <a:r>
              <a:rPr sz="1450" b="0">
                <a:solidFill>
                  <a:srgbClr val="CDD8E8"/>
                </a:solidFill>
                <a:latin typeface="微软雅黑"/>
              </a:rPr>
              <a:t>37.3% 行为支付率 · ¥8.6 地推获客 · 22 台 B 端首单 · 33.8% 量产毛利 · 2,886 台保本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440680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>
                <a:solidFill>
                  <a:srgbClr val="96A5BE"/>
                </a:solidFill>
                <a:latin typeface="微软雅黑"/>
              </a:rPr>
              <a:t>1 班 C 组 · 仿真跑不队：邵子中 / 李昊桐 / 姜亚楷　|　敬请老师们指正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