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28016" cy="219456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9CB3C9"/>
                </a:solidFill>
                <a:latin typeface="Microsoft YaHei"/>
                <a:ea typeface="Microsoft YaHei"/>
              </a:rPr>
              <a:t>创客竞赛选题验证 · 选题答辩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</a:rPr>
              <a:t>磁吸焊接辅助手电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E8792B"/>
                </a:solidFill>
                <a:latin typeface="Microsoft YaHei"/>
                <a:ea typeface="Microsoft YaHei"/>
              </a:rPr>
              <a:t>一吸即用 · 指哪照哪 —— 给焊接者一双腾出来的手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6E2EC"/>
                </a:solidFill>
                <a:latin typeface="Microsoft YaHei"/>
                <a:ea typeface="Microsoft YaHei"/>
              </a:rPr>
              <a:t>1班C组 · 仿真实跑不队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77639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B3C9"/>
                </a:solidFill>
                <a:latin typeface="Microsoft YaHei"/>
                <a:ea typeface="Microsoft YaHei"/>
              </a:rPr>
              <a:t>核心成员：邵子中（负责人）  ·  李昊桐  ·  姜亚楷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CB3C9"/>
                </a:solidFill>
                <a:latin typeface="Microsoft YaHei"/>
                <a:ea typeface="Microsoft YaHei"/>
              </a:rPr>
              <a:t>验证对象：焊接工位 · 高频手工焊接 / 焊点检查场景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5349240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CB3C9"/>
                </a:solidFill>
                <a:latin typeface="Microsoft YaHei"/>
                <a:ea typeface="Microsoft YaHei"/>
              </a:rPr>
              <a:t>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411480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</a:rPr>
              <a:t>CONTENTS 内容结构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25880"/>
            <a:ext cx="10332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2646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792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39903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  <a:ea typeface="Microsoft YaHei"/>
              </a:rPr>
              <a:t>选题背景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453896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785"/>
                </a:solidFill>
                <a:latin typeface="Microsoft YaHei"/>
                <a:ea typeface="Microsoft YaHei"/>
              </a:rPr>
              <a:t>目标用户 · 量化痛点 · 竞品对比（3+，量化差异）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956816"/>
            <a:ext cx="10332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0574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792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02996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  <a:ea typeface="Microsoft YaHei"/>
              </a:rPr>
              <a:t>价值假设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8483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785"/>
                </a:solidFill>
                <a:latin typeface="Microsoft YaHei"/>
                <a:ea typeface="Microsoft YaHei"/>
              </a:rPr>
              <a:t>核心价值主张 · 五大待验证假设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587752"/>
            <a:ext cx="10332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2688336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792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66090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  <a:ea typeface="Microsoft YaHei"/>
              </a:rPr>
              <a:t>精益画布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15768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785"/>
                </a:solidFill>
                <a:latin typeface="Microsoft YaHei"/>
                <a:ea typeface="Microsoft YaHei"/>
              </a:rPr>
              <a:t>九大模块 · 逻辑连线 · 颜色编码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218688"/>
            <a:ext cx="10332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3192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792B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2918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  <a:ea typeface="Microsoft YaHei"/>
              </a:rPr>
              <a:t>MVP 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346704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785"/>
                </a:solidFill>
                <a:latin typeface="Microsoft YaHei"/>
                <a:ea typeface="Microsoft YaHei"/>
              </a:rPr>
              <a:t>验证设计 · 量化成功指标 · 5W2H 实施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849624"/>
            <a:ext cx="10332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95020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792B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92277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  <a:ea typeface="Microsoft YaHei"/>
              </a:rPr>
              <a:t>增长潜力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9776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785"/>
                </a:solidFill>
                <a:latin typeface="Microsoft YaHei"/>
                <a:ea typeface="Microsoft YaHei"/>
              </a:rPr>
              <a:t>市场空间 · 增长假设 · 商业落地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480560"/>
            <a:ext cx="10332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58114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792B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55371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  <a:ea typeface="Microsoft YaHei"/>
              </a:rPr>
              <a:t>实施规划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608576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785"/>
                </a:solidFill>
                <a:latin typeface="Microsoft YaHei"/>
                <a:ea typeface="Microsoft YaHei"/>
              </a:rPr>
              <a:t>成本 · 周期 · 风险 · 下一步行动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111496"/>
            <a:ext cx="10332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2120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792B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51846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  <a:ea typeface="Microsoft YaHei"/>
              </a:rPr>
              <a:t>Q&amp;A 预判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23951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785"/>
                </a:solidFill>
                <a:latin typeface="Microsoft YaHei"/>
                <a:ea typeface="Microsoft YaHei"/>
              </a:rPr>
              <a:t>三大最尖锐问题 · 关键回答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742432"/>
            <a:ext cx="10332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5843016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792B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581558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  <a:ea typeface="Microsoft YaHei"/>
              </a:rPr>
              <a:t>AI评价与团队分析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5870448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785"/>
                </a:solidFill>
                <a:latin typeface="Microsoft YaHei"/>
                <a:ea typeface="Microsoft YaHei"/>
              </a:rPr>
              <a:t>评价摘要 · 逐条回应（认同/已执行/存疑）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磁吸焊接辅助手电 · 仿真实跑不队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</a:rPr>
              <a:t>选题背景：我们的目标用户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目标用户画像与高频刚需场景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394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09728" cy="105156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5F8B"/>
                </a:solidFill>
                <a:latin typeface="Microsoft YaHei"/>
                <a:ea typeface="Microsoft YaHei"/>
              </a:rPr>
              <a:t>高校电子类专业学生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324C"/>
                </a:solidFill>
                <a:latin typeface="Microsoft YaHei"/>
                <a:ea typeface="Microsoft YaHei"/>
              </a:rPr>
              <a:t>课程实训、毕设核心场景，高频电路焊接与调试。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42032"/>
            <a:ext cx="5394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42032"/>
            <a:ext cx="109728" cy="1051560"/>
          </a:xfrm>
          <a:prstGeom prst="rect">
            <a:avLst/>
          </a:prstGeom>
          <a:solidFill>
            <a:srgbClr val="0F6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8833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5F8B"/>
                </a:solidFill>
                <a:latin typeface="Microsoft YaHei"/>
                <a:ea typeface="Microsoft YaHei"/>
              </a:rPr>
              <a:t>DIY 极客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9067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324C"/>
                </a:solidFill>
                <a:latin typeface="Microsoft YaHei"/>
                <a:ea typeface="Microsoft YaHei"/>
              </a:rPr>
              <a:t>热衷自制硬件，享受动手组装，对焊接工具需求高频。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12464"/>
            <a:ext cx="53949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12464"/>
            <a:ext cx="109728" cy="105156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5876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5F8B"/>
                </a:solidFill>
                <a:latin typeface="Microsoft YaHei"/>
                <a:ea typeface="Microsoft YaHei"/>
              </a:rPr>
              <a:t>研发 / 维修工程师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6110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324C"/>
                </a:solidFill>
                <a:latin typeface="Microsoft YaHei"/>
                <a:ea typeface="Microsoft YaHei"/>
              </a:rPr>
              <a:t>原型开发与硬件调试，追求高精度、高稳定性焊接照明。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09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792B"/>
                </a:solidFill>
                <a:latin typeface="Microsoft YaHei"/>
                <a:ea typeface="Microsoft YaHei"/>
              </a:rPr>
              <a:t>高频、刚需、三维场景交集，周使用频率 3 次以上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12064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120640"/>
            <a:ext cx="2606040" cy="100584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2180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792B"/>
                </a:solidFill>
                <a:latin typeface="Microsoft YaHei"/>
                <a:ea typeface="Microsoft YaHei"/>
              </a:rPr>
              <a:t>84.13%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7044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4324C"/>
                </a:solidFill>
                <a:latin typeface="Microsoft YaHei"/>
                <a:ea typeface="Microsoft YaHei"/>
              </a:rPr>
              <a:t>每周焊接 ≥3 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81344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高频作业人群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512064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5120640"/>
            <a:ext cx="2606040" cy="100584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532180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792B"/>
                </a:solidFill>
                <a:latin typeface="Microsoft YaHei"/>
                <a:ea typeface="Microsoft YaHei"/>
              </a:rPr>
              <a:t>76.98%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587044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4324C"/>
                </a:solidFill>
                <a:latin typeface="Microsoft YaHei"/>
                <a:ea typeface="Microsoft YaHei"/>
              </a:rPr>
              <a:t>依赖精细补光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6181344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焊接微小贴片强烈依赖精准照度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7880" y="512064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7880" y="5120640"/>
            <a:ext cx="2606040" cy="100584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532180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792B"/>
                </a:solidFill>
                <a:latin typeface="Microsoft YaHei"/>
                <a:ea typeface="Microsoft YaHei"/>
              </a:rPr>
              <a:t>71.43%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587044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4324C"/>
                </a:solidFill>
                <a:latin typeface="Microsoft YaHei"/>
                <a:ea typeface="Microsoft YaHei"/>
              </a:rPr>
              <a:t>工位空间受限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6181344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操作台狭小，传统灯具挤占空间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95360" y="512064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95360" y="5120640"/>
            <a:ext cx="2606040" cy="100584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532180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F5F8B"/>
                </a:solidFill>
                <a:latin typeface="Microsoft YaHei"/>
                <a:ea typeface="Microsoft YaHei"/>
              </a:rPr>
              <a:t>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587044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4324C"/>
                </a:solidFill>
                <a:latin typeface="Microsoft YaHei"/>
                <a:ea typeface="Microsoft YaHei"/>
              </a:rPr>
              <a:t>需解放双手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6181344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双手协同，无法手持灯具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磁吸焊接辅助手电 · 仿真实跑不队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</a:rPr>
              <a:t>选题背景：核心痛点（126 份问卷量化支撑）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真实焊接场景三大核心壁垒 · 数据来自问卷与沉浸式实测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556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09728" cy="86868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</a:rPr>
              <a:t>传统台灯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490472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8792B"/>
                </a:solidFill>
                <a:latin typeface="Microsoft YaHei"/>
                <a:ea typeface="Microsoft YaHei"/>
              </a:rPr>
              <a:t>68.25%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563624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324C"/>
                </a:solidFill>
                <a:latin typeface="Microsoft YaHei"/>
                <a:ea typeface="Microsoft YaHei"/>
              </a:rPr>
              <a:t>体积庞大占用操作台核心空间，灯臂僵硬、角度受限，无法灵活聚焦微小焊点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04872"/>
            <a:ext cx="111556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404872"/>
            <a:ext cx="109728" cy="86868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96312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</a:rPr>
              <a:t>平价灯具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478024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8792B"/>
                </a:solidFill>
                <a:latin typeface="Microsoft YaHei"/>
                <a:ea typeface="Microsoft YaHei"/>
              </a:rPr>
              <a:t>61.11%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551176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324C"/>
                </a:solidFill>
                <a:latin typeface="Microsoft YaHei"/>
                <a:ea typeface="Microsoft YaHei"/>
              </a:rPr>
              <a:t>支架单薄刚度不足，高频震动易致光源偏移；灯罩聚光差、光线发散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92424"/>
            <a:ext cx="111556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92424"/>
            <a:ext cx="109728" cy="868680"/>
          </a:xfrm>
          <a:prstGeom prst="rect">
            <a:avLst/>
          </a:prstGeom>
          <a:solidFill>
            <a:srgbClr val="0F6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483864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</a:rPr>
              <a:t>专业光源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465576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8792B"/>
                </a:solidFill>
                <a:latin typeface="Microsoft YaHei"/>
                <a:ea typeface="Microsoft YaHei"/>
              </a:rPr>
              <a:t>54.76%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538728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324C"/>
                </a:solidFill>
                <a:latin typeface="Microsoft YaHei"/>
                <a:ea typeface="Microsoft YaHei"/>
              </a:rPr>
              <a:t>动辄数百上千元，远超学生与业余爱好者预算，与非高频场景严重不匹配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3484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72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沉浸式实测：无照明 → 不同照明下的焊接失败率对比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2011680" cy="640080"/>
          </a:xfrm>
          <a:prstGeom prst="roundRect">
            <a:avLst>
              <a:gd name="adj" fmla="val 15000"/>
            </a:avLst>
          </a:prstGeom>
          <a:solidFill>
            <a:srgbClr val="2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0235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无灯光 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50%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5029200"/>
            <a:ext cx="2011680" cy="640080"/>
          </a:xfrm>
          <a:prstGeom prst="roundRect">
            <a:avLst>
              <a:gd name="adj" fmla="val 15000"/>
            </a:avLst>
          </a:prstGeom>
          <a:solidFill>
            <a:srgbClr val="2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510235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传统台灯 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30%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5029200"/>
            <a:ext cx="2011680" cy="640080"/>
          </a:xfrm>
          <a:prstGeom prst="roundRect">
            <a:avLst>
              <a:gd name="adj" fmla="val 15000"/>
            </a:avLst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510235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磁吸手电 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507492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0C98A"/>
                </a:solidFill>
                <a:latin typeface="Microsoft YaHei"/>
                <a:ea typeface="Microsoft YaHei"/>
              </a:rPr>
              <a:t>手电失败率显著降低 30 个百分点 → 有效证明补光价值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磁吸焊接辅助手电 · 仿真实跑不队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</a:rPr>
              <a:t>选题背景：竞品对比（量化差异）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4 款方案横向对比 · 四大核心维度量化打分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81381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594"/>
                <a:gridCol w="1162594"/>
                <a:gridCol w="1162594"/>
                <a:gridCol w="1162594"/>
                <a:gridCol w="1162594"/>
                <a:gridCol w="1162594"/>
                <a:gridCol w="1162596"/>
              </a:tblGrid>
              <a:tr h="6217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产品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价格带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万向磁吸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无级调光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状态显示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空间占用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综合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5F8B"/>
                          </a:solidFill>
                          <a:latin typeface="Microsoft YaHei"/>
                          <a:ea typeface="Microsoft YaHei"/>
                        </a:rPr>
                        <a:t>传统台灯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60–200元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高（占台面）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792B"/>
                          </a:solidFill>
                          <a:latin typeface="Microsoft YaHei"/>
                          <a:ea typeface="Microsoft YaHei"/>
                        </a:rP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5F8B"/>
                          </a:solidFill>
                          <a:latin typeface="Microsoft YaHei"/>
                          <a:ea typeface="Microsoft YaHei"/>
                        </a:rPr>
                        <a:t>廉价便携灯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20–49元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少档位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中（易倾倒）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792B"/>
                          </a:solidFill>
                          <a:latin typeface="Microsoft YaHei"/>
                          <a:ea typeface="Microsoft YaHei"/>
                        </a:rP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5F8B"/>
                          </a:solidFill>
                          <a:latin typeface="Microsoft YaHei"/>
                          <a:ea typeface="Microsoft YaHei"/>
                        </a:rPr>
                        <a:t>专业工业灯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300元+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高（占地）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792B"/>
                          </a:solidFill>
                          <a:latin typeface="Microsoft YaHei"/>
                          <a:ea typeface="Microsoft YaHei"/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792B"/>
                          </a:solidFill>
                          <a:latin typeface="Microsoft YaHei"/>
                          <a:ea typeface="Microsoft YaHei"/>
                        </a:rPr>
                        <a:t>磁吸焊接手电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59–79元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优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无级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LED+OLED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C"/>
                          </a:solidFill>
                          <a:latin typeface="Microsoft YaHei"/>
                          <a:ea typeface="Microsoft YaHei"/>
                        </a:rPr>
                        <a:t>零占地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792B"/>
                          </a:solidFill>
                          <a:latin typeface="Microsoft YaHei"/>
                          <a:ea typeface="Microsoft YaHei"/>
                        </a:rPr>
                        <a:t>★★★★★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553712"/>
            <a:ext cx="111556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553712"/>
            <a:ext cx="109728" cy="16002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4515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792B"/>
                </a:solidFill>
                <a:latin typeface="Microsoft YaHei"/>
                <a:ea typeface="Microsoft YaHei"/>
              </a:rPr>
              <a:t>市场机会： </a:t>
            </a:r>
            <a:r>
              <a:rPr sz="1350" b="1">
                <a:solidFill>
                  <a:srgbClr val="24324C"/>
                </a:solidFill>
                <a:latin typeface="Microsoft YaHei"/>
                <a:ea typeface="Microsoft YaHei"/>
              </a:rPr>
              <a:t>现有方案无法兼顾「万向磁吸、无级调光、状态可视、低成本」四大核心需求，市场存在明显空白。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5F8B"/>
                </a:solidFill>
                <a:latin typeface="Microsoft YaHei"/>
                <a:ea typeface="Microsoft YaHei"/>
              </a:rPr>
              <a:t>综合评分依据（量化）：</a:t>
            </a:r>
            <a:r>
              <a:rPr sz="1150" b="0">
                <a:solidFill>
                  <a:srgbClr val="24324C"/>
                </a:solidFill>
                <a:latin typeface="Microsoft YaHei"/>
                <a:ea typeface="Microsoft YaHei"/>
              </a:rPr>
              <a:t> 万向磁吸 × 无级调光 × 状态显示 × 空间占用 四项可量化事实加权 —— 仅磁吸焊接手电四项全覆盖 → 满分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5F8B"/>
                </a:solidFill>
                <a:latin typeface="Microsoft YaHei"/>
                <a:ea typeface="Microsoft YaHei"/>
              </a:rPr>
              <a:t>差异化组合：</a:t>
            </a:r>
            <a:r>
              <a:rPr sz="1150" b="0">
                <a:solidFill>
                  <a:srgbClr val="24324C"/>
                </a:solidFill>
                <a:latin typeface="Microsoft YaHei"/>
                <a:ea typeface="Microsoft YaHei"/>
              </a:rPr>
              <a:t> 强磁吸附 + 360°悬停 + 无级调光 + LED 状态（OLED 选配），以 59–79 元普惠定价（对比专业灯 300 元+）切入。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6E68"/>
                </a:solidFill>
                <a:latin typeface="Microsoft YaHei"/>
                <a:ea typeface="Microsoft YaHei"/>
              </a:rPr>
              <a:t>护城河主张：</a:t>
            </a:r>
            <a:r>
              <a:rPr sz="1150" b="0">
                <a:solidFill>
                  <a:srgbClr val="24324C"/>
                </a:solidFill>
                <a:latin typeface="Microsoft YaHei"/>
                <a:ea typeface="Microsoft YaHei"/>
              </a:rPr>
              <a:t> 价格分层（49/79 元）＋ 高校/创客教育生态 ＋ 焊接工位标准数据接口（OPC 生态对接）。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磁吸焊接辅助手电 · 仿真实跑不队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</a:rPr>
              <a:t>价值假设：核心价值主张与待验证假设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从“创意是否值得做”到“证据闭环”的关键假设清单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核心价值主张：给焊接者一双腾出来的手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9F1F7"/>
                </a:solidFill>
                <a:latin typeface="Microsoft YaHei"/>
                <a:ea typeface="Microsoft YaHei"/>
              </a:rPr>
              <a:t>磁吸固定解放双手 · 万向悬停指哪照哪 · 无级调光适配光环境 · 目标零售 59–79 元（对比专业灯 300 元+）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11155680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792B"/>
                </a:solidFill>
                <a:latin typeface="Microsoft YaHei"/>
                <a:ea typeface="Microsoft YaHei"/>
              </a:rPr>
              <a:t>口径声明（V2.0 对齐）：LED 状态显示＝量产标配；OLED＝可选扩展模块（H1 排针预留）——宣传口径与实物一致，消除“表里不一”质疑。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17520"/>
            <a:ext cx="1115568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017520"/>
            <a:ext cx="109728" cy="621792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792B"/>
                </a:solidFill>
                <a:latin typeface="Microsoft YaHei"/>
                <a:ea typeface="Microsoft YaHei"/>
              </a:rPr>
              <a:t>假设 1 · 最高优先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035808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4324C"/>
                </a:solidFill>
                <a:latin typeface="Microsoft YaHei"/>
                <a:ea typeface="Microsoft YaHei"/>
              </a:rPr>
              <a:t>6 颗 LED 状态灯（4 电量+2 充电）能覆盖用户 80% 状态查询需求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346704"/>
            <a:ext cx="8412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785"/>
                </a:solidFill>
                <a:latin typeface="Microsoft YaHei"/>
                <a:ea typeface="Microsoft YaHei"/>
              </a:rPr>
              <a:t>成立条件： 在无屏样机 vs OLED 外接版 20 人 A/B 对比测试下成立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12464"/>
            <a:ext cx="1115568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712464"/>
            <a:ext cx="109728" cy="621792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5818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5F8B"/>
                </a:solidFill>
                <a:latin typeface="Microsoft YaHei"/>
                <a:ea typeface="Microsoft YaHei"/>
              </a:rPr>
              <a:t>假设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730752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4324C"/>
                </a:solidFill>
                <a:latin typeface="Microsoft YaHei"/>
                <a:ea typeface="Microsoft YaHei"/>
              </a:rPr>
              <a:t>用户愿意为“温度过热提醒”支付 +15 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041648"/>
            <a:ext cx="8412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785"/>
                </a:solidFill>
                <a:latin typeface="Microsoft YaHei"/>
                <a:ea typeface="Microsoft YaHei"/>
              </a:rPr>
              <a:t>成立条件： 在 59–79 元目标价位区间内成立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07408"/>
            <a:ext cx="1115568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407408"/>
            <a:ext cx="109728" cy="621792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531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5F8B"/>
                </a:solidFill>
                <a:latin typeface="Microsoft YaHei"/>
                <a:ea typeface="Microsoft YaHei"/>
              </a:rPr>
              <a:t>假设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425696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4324C"/>
                </a:solidFill>
                <a:latin typeface="Microsoft YaHei"/>
                <a:ea typeface="Microsoft YaHei"/>
              </a:rPr>
              <a:t>“青春版（¥39–49 无屏版）”能覆盖 20% 以上价格敏感用户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36592"/>
            <a:ext cx="8412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785"/>
                </a:solidFill>
                <a:latin typeface="Microsoft YaHei"/>
                <a:ea typeface="Microsoft YaHei"/>
              </a:rPr>
              <a:t>成立条件： 在与标准版同时展示时成立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102352"/>
            <a:ext cx="1115568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102352"/>
            <a:ext cx="109728" cy="621792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14807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5F8B"/>
                </a:solidFill>
                <a:latin typeface="Microsoft YaHei"/>
                <a:ea typeface="Microsoft YaHei"/>
              </a:rPr>
              <a:t>假设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12064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4324C"/>
                </a:solidFill>
                <a:latin typeface="Microsoft YaHei"/>
                <a:ea typeface="Microsoft YaHei"/>
              </a:rPr>
              <a:t>2600mAh 高配版（+¥8）有 ≥20% 用户选择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431536"/>
            <a:ext cx="8412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785"/>
                </a:solidFill>
                <a:latin typeface="Microsoft YaHei"/>
                <a:ea typeface="Microsoft YaHei"/>
              </a:rPr>
              <a:t>成立条件： 在双版本同时售卖的条件下成立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797296"/>
            <a:ext cx="1115568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797296"/>
            <a:ext cx="109728" cy="621792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84301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5F8B"/>
                </a:solidFill>
                <a:latin typeface="Microsoft YaHei"/>
                <a:ea typeface="Microsoft YaHei"/>
              </a:rPr>
              <a:t>假设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815584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4324C"/>
                </a:solidFill>
                <a:latin typeface="Microsoft YaHei"/>
                <a:ea typeface="Microsoft YaHei"/>
              </a:rPr>
              <a:t>柔性臂 3000 次弯折后角度漂移仍 &lt;5°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6126480"/>
            <a:ext cx="8412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785"/>
                </a:solidFill>
                <a:latin typeface="Microsoft YaHei"/>
                <a:ea typeface="Microsoft YaHei"/>
              </a:rPr>
              <a:t>成立条件： 在实验室疲劳测试条件下成立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磁吸焊接辅助手电 · 仿真实跑不队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</a:rPr>
              <a:t>精益画布：九大模块 · 逻辑连线 · 颜色编码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一页看清问题—方案—优势—利润的闭环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3560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0392B"/>
                </a:solidFill>
                <a:latin typeface="Microsoft YaHei"/>
                <a:ea typeface="Microsoft YaHei"/>
              </a:rPr>
              <a:t>问题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73152" cy="1417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84.13% 高频焊接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76.98% 依赖精细补光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100% 需双手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三类灯具各有短板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132588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5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43560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5F8B"/>
                </a:solidFill>
                <a:latin typeface="Microsoft YaHei"/>
                <a:ea typeface="Microsoft YaHei"/>
              </a:rPr>
              <a:t>客户细分 Segment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325880"/>
            <a:ext cx="73152" cy="141732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746504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高校电子专业学生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DIY 极客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研发/维修工程师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6136" y="132588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143560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792B"/>
                </a:solidFill>
                <a:latin typeface="Microsoft YaHei"/>
                <a:ea typeface="Microsoft YaHei"/>
              </a:rPr>
              <a:t>独特价值主张 UVP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46136" y="1325880"/>
            <a:ext cx="73152" cy="141732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1746504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磁吸固定解放双手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万向悬停指哪照哪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无级调光适配光环境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59–79 普惠定价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8036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F6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900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6E68"/>
                </a:solidFill>
                <a:latin typeface="Microsoft YaHei"/>
                <a:ea typeface="Microsoft YaHei"/>
              </a:rPr>
              <a:t>解决方案 Solution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80360"/>
            <a:ext cx="73152" cy="1417320"/>
          </a:xfrm>
          <a:prstGeom prst="rect">
            <a:avLst/>
          </a:prstGeom>
          <a:solidFill>
            <a:srgbClr val="0F6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00984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强力磁吸+360°悬停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高显指OSRAM LED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无级调光(20kHz无频闪)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LED状态(OLED选配)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4528" y="288036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B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29900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B4C93"/>
                </a:solidFill>
                <a:latin typeface="Microsoft YaHei"/>
                <a:ea typeface="Microsoft YaHei"/>
              </a:rPr>
              <a:t>不公平优势 Advantage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2880360"/>
            <a:ext cx="73152" cy="1417320"/>
          </a:xfrm>
          <a:prstGeom prst="rect">
            <a:avLst/>
          </a:prstGeom>
          <a:solidFill>
            <a:srgbClr val="6B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3300984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成熟供应链无断供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双版本价格分层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创客教育深度属性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46136" y="288036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29900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8B57"/>
                </a:solidFill>
                <a:latin typeface="Microsoft YaHei"/>
                <a:ea typeface="Microsoft YaHei"/>
              </a:rPr>
              <a:t>关键指标 Metrics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46136" y="2880360"/>
            <a:ext cx="73152" cy="1417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3300984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购买意愿 ≥60%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高频作业 84.13%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用户留存 45.2%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43484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8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54456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08428"/>
                </a:solidFill>
                <a:latin typeface="Microsoft YaHei"/>
                <a:ea typeface="Microsoft YaHei"/>
              </a:rPr>
              <a:t>渠道 Channels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434840"/>
            <a:ext cx="73152" cy="1417320"/>
          </a:xfrm>
          <a:prstGeom prst="rect">
            <a:avLst/>
          </a:prstGeom>
          <a:solidFill>
            <a:srgbClr val="C08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55464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网络电商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微商/社群裂变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创客教育/高校渠道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24528" y="443484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A62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1688" y="454456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A626E"/>
                </a:solidFill>
                <a:latin typeface="Microsoft YaHei"/>
                <a:ea typeface="Microsoft YaHei"/>
              </a:rPr>
              <a:t>成本结构 Cost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24528" y="4434840"/>
            <a:ext cx="73152" cy="1417320"/>
          </a:xfrm>
          <a:prstGeom prst="rect">
            <a:avLst/>
          </a:prstGeom>
          <a:solidFill>
            <a:srgbClr val="5A6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61688" y="4855464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BOM ¥25–35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OLED +¥5 高配 +¥8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小批量外壳/柔性臂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46136" y="443484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3296" y="454456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8B8B"/>
                </a:solidFill>
                <a:latin typeface="Microsoft YaHei"/>
                <a:ea typeface="Microsoft YaHei"/>
              </a:rPr>
              <a:t>收入来源 Revenue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46136" y="4434840"/>
            <a:ext cx="73152" cy="1417320"/>
          </a:xfrm>
          <a:prstGeom prst="rect">
            <a:avLst/>
          </a:prstGeom>
          <a:solidFill>
            <a:srgbClr val="1F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83296" y="4855464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标准版 59–79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青春版 39–49 高配版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4324C"/>
                </a:solidFill>
                <a:latin typeface="Microsoft YaHei"/>
                <a:ea typeface="Microsoft YaHei"/>
              </a:rPr>
              <a:t>配件/扩展模块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08642" y="2743200"/>
            <a:ext cx="41148" cy="84582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708642" y="2743200"/>
            <a:ext cx="41148" cy="137160"/>
          </a:xfrm>
          <a:prstGeom prst="rect">
            <a:avLst/>
          </a:prstGeom>
          <a:solidFill>
            <a:srgbClr val="0F6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87034" y="4297680"/>
            <a:ext cx="41148" cy="1371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65426" y="4297680"/>
            <a:ext cx="41148" cy="137160"/>
          </a:xfrm>
          <a:prstGeom prst="rect">
            <a:avLst/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2920" y="5897880"/>
            <a:ext cx="1115568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2A43"/>
                </a:solidFill>
                <a:latin typeface="Microsoft YaHei"/>
                <a:ea typeface="Microsoft YaHei"/>
              </a:rPr>
              <a:t>颜色编码：</a:t>
            </a:r>
            <a:r>
              <a:rPr sz="950" b="0">
                <a:solidFill>
                  <a:srgbClr val="6B7785"/>
                </a:solidFill>
                <a:latin typeface="Microsoft YaHei"/>
                <a:ea typeface="Microsoft YaHei"/>
              </a:rPr>
              <a:t>红=问题  蓝=客户  橙=价值主张  绿=方案  紫=优势  绿=关键指标  金=渠道  灰=成本  青=利润   | 逻辑连线：问题→价值主张→方案/优势→关键指标→收入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磁吸焊接辅助手电 · 仿真实跑不队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</a:rPr>
              <a:t>MVP 验证：验证设计与量化指标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20 人 × 25 分钟真实焊接 A/B 对比 + 虚拟支付问卷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852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5F8B"/>
                </a:solidFill>
                <a:latin typeface="Microsoft YaHei"/>
                <a:ea typeface="Microsoft YaHei"/>
              </a:rPr>
              <a:t>MVP 形态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物理装置样机 A/B 对比 + 虚拟支付问卷。A 组＝现有无屏样机（LED 状态灯）；B 组＝同款样机 + OLED 扩展模块（H1 排针外接），两组外观一致避免偏见。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04871"/>
            <a:ext cx="5852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78023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5F8B"/>
                </a:solidFill>
                <a:latin typeface="Microsoft YaHei"/>
                <a:ea typeface="Microsoft YaHei"/>
              </a:rPr>
              <a:t>验证目标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70631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① 假设 1：LED 灯 vs OLED 在真实焊接中状态查询效率是否等价；② 假设 2：59–79 元价格带的购买意愿。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38142"/>
            <a:ext cx="5852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11294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5F8B"/>
                </a:solidFill>
                <a:latin typeface="Microsoft YaHei"/>
                <a:ea typeface="Microsoft YaHei"/>
              </a:rPr>
              <a:t>测试对象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03902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与目标用户画像一致的 20 人：DIY 极客 4、课程实训生 4、研发工程师 4、焊接初学者 8（考察非技术用户）。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71413"/>
            <a:ext cx="5852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44565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5F8B"/>
                </a:solidFill>
                <a:latin typeface="Microsoft YaHei"/>
                <a:ea typeface="Microsoft YaHei"/>
              </a:rPr>
              <a:t>测试场景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37173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电工基地实验室真实焊台，连续焊接 25 分钟（20 颗 0603 电阻），环境光按“下午 3 点靠窗”模拟；随机打断询问“现在电量/档位”。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1371600"/>
            <a:ext cx="50292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148132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8B57"/>
                </a:solidFill>
                <a:latin typeface="Microsoft YaHei"/>
                <a:ea typeface="Microsoft YaHei"/>
              </a:rPr>
              <a:t>✅ 成功标准（任一成立）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874519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•  ≥70% 测试者 25 分钟状态查询 ≤2 次且 ≤5 秒/次（A/B 差异 &lt;10%）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148839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•  ≥60% 愿意购买（≤59 元档 ≥40%）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423160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•  A 组主观评分 ≥4/5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3474720"/>
            <a:ext cx="5029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566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0392B"/>
                </a:solidFill>
                <a:latin typeface="Microsoft YaHei"/>
                <a:ea typeface="Microsoft YaHei"/>
              </a:rPr>
              <a:t>✘ 失败标准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91363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•  A 组查询效率显著低于 B 组（差异 ≥30%）或主观评分 &lt;3/5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8795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•  购买意愿 &lt;40%；满足其一即判假设不成立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46227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•  → 转入“集成 OLED 版”或“降价版”路线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532120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0F6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6235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量化核心指标：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9436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6F4F2"/>
                </a:solidFill>
                <a:latin typeface="Microsoft YaHei"/>
                <a:ea typeface="Microsoft YaHei"/>
              </a:rPr>
              <a:t>状态查询 ≤2 次 / 每次 ≤5 秒 · 购买意愿 ≥60% · 59 元档占比 ≥40% · A/B 差异 &lt;10%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磁吸焊接辅助手电 · 仿真实跑不队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</a:rPr>
              <a:t>MVP 验证：5W2H 实施规划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6 天 × 约 300 元，用最小成本验证两大核心假设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234440" cy="65836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047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444752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4324C"/>
                </a:solidFill>
                <a:latin typeface="Microsoft YaHei"/>
                <a:ea typeface="Microsoft YaHei"/>
              </a:rPr>
              <a:t>为什么做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463040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证明“LED 替换 OLED”成立（假设1）并锁定价格带（假设2），为最终决策提供证据。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03120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103120"/>
            <a:ext cx="1234440" cy="65836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22199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What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176272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4324C"/>
                </a:solidFill>
                <a:latin typeface="Microsoft YaHei"/>
                <a:ea typeface="Microsoft YaHei"/>
              </a:rPr>
              <a:t>做什么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194560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20 人×25 分钟真实焊接 A/B 对比测试 + 虚拟支付问卷（两版展示 39/59/79 元档）。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834640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834640"/>
            <a:ext cx="1234440" cy="65836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95351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Who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907792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4324C"/>
                </a:solidFill>
                <a:latin typeface="Microsoft YaHei"/>
                <a:ea typeface="Microsoft YaHei"/>
              </a:rPr>
              <a:t>谁来做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926080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邵子中（主持与数据）、李昊桐（样机调校）、姜亚楷（招募与场景）；对象＝画像一致的 20 名测试者。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566160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566160"/>
            <a:ext cx="1234440" cy="65836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68503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When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639312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4324C"/>
                </a:solidFill>
                <a:latin typeface="Microsoft YaHei"/>
                <a:ea typeface="Microsoft YaHei"/>
              </a:rPr>
              <a:t>何时完成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657600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D1–2 招募与问卷设计；D3–4 集中测试（每天 10 人）；D5 数据统计；D6 结论与报告。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297680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297680"/>
            <a:ext cx="1234440" cy="65836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41655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4370832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4324C"/>
                </a:solidFill>
                <a:latin typeface="Microsoft YaHei"/>
                <a:ea typeface="Microsoft YaHei"/>
              </a:rPr>
              <a:t>在哪做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389120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电工基地实验室焊台（真实使用环境，非演示室）。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029200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029200"/>
            <a:ext cx="1234440" cy="65836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514807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How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5102352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4324C"/>
                </a:solidFill>
                <a:latin typeface="Microsoft YaHei"/>
                <a:ea typeface="Microsoft YaHei"/>
              </a:rPr>
              <a:t>如何做（≥3 步）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120640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① 随机分组 A/B 各 10 人测状态查询效率；② 交换组别重测一次并完成 25 分钟计时；③ 虚拟支付三档卡片统计意愿；④ 汇总数据对照成功/失败标准出结论。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760720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5760720"/>
            <a:ext cx="1234440" cy="658368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587959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How much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5833872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4324C"/>
                </a:solidFill>
                <a:latin typeface="Microsoft YaHei"/>
                <a:ea typeface="Microsoft YaHei"/>
              </a:rPr>
              <a:t>投入产出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5852160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成本 ≈300 元（OLED ¥20、礼品 ¥150、布耗 ¥50、杂项 ¥80）；时间 6 天；产出 20 份有效测试记录。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磁吸焊接辅助手电 · 仿真实跑不队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</a:rPr>
              <a:t>增长潜力：市场空间与增长假设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高频刚需 × 普惠定价 × 社群裂变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5661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566160" cy="10058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E8B57"/>
                </a:solidFill>
                <a:latin typeface="Microsoft YaHei"/>
                <a:ea typeface="Microsoft YaHei"/>
              </a:rPr>
              <a:t>45.2%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4324C"/>
                </a:solidFill>
                <a:latin typeface="Microsoft YaHei"/>
                <a:ea typeface="Microsoft YaHei"/>
              </a:rPr>
              <a:t>用户留存率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3230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短期试点实测，超出 40% 预设目标，验证高粘性。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566160" cy="100584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57276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F5F8B"/>
                </a:solidFill>
                <a:latin typeface="Microsoft YaHei"/>
                <a:ea typeface="Microsoft YaHei"/>
              </a:rPr>
              <a:t>84.13%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21408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4324C"/>
                </a:solidFill>
                <a:latin typeface="Microsoft YaHei"/>
                <a:ea typeface="Microsoft YaHei"/>
              </a:rPr>
              <a:t>高频刚需占比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3230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每周焊接 ≥3 次，刚需属性显著，使用粘性强。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71600"/>
            <a:ext cx="35661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71600"/>
            <a:ext cx="3566160" cy="100584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7276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792B"/>
                </a:solidFill>
                <a:latin typeface="Microsoft YaHei"/>
                <a:ea typeface="Microsoft YaHei"/>
              </a:rPr>
              <a:t>300万+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21408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4324C"/>
                </a:solidFill>
                <a:latin typeface="Microsoft YaHei"/>
                <a:ea typeface="Microsoft YaHei"/>
              </a:rPr>
              <a:t>潜在用户基数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43230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785"/>
                </a:solidFill>
                <a:latin typeface="Microsoft YaHei"/>
                <a:ea typeface="Microsoft YaHei"/>
              </a:rPr>
              <a:t>三类用户 × 年新增学生群体，覆盖基数大。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06324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1546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</a:rPr>
              <a:t>增长逻辑：卓越体验 + 极致性价比 → 口碑与社群裂变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324C"/>
                </a:solidFill>
                <a:latin typeface="Microsoft YaHei"/>
                <a:ea typeface="Microsoft YaHei"/>
              </a:rPr>
              <a:t>低单价高频刚需 · 三类用户全覆盖 · DIY 社区晒图传播性强 · 网络电商+社群双渠道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297680"/>
            <a:ext cx="11155680" cy="18288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074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792B"/>
                </a:solidFill>
                <a:latin typeface="Microsoft YaHei"/>
                <a:ea typeface="Microsoft YaHei"/>
              </a:rPr>
              <a:t>蓝海市场与商业落地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00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6E2EC"/>
                </a:solidFill>
                <a:latin typeface="Microsoft YaHei"/>
                <a:ea typeface="Microsoft YaHei"/>
              </a:rPr>
              <a:t>•  精准填补平价焊接照明细分赛道空白，差异化竞争优势强。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1663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6E2EC"/>
                </a:solidFill>
                <a:latin typeface="Microsoft YaHei"/>
                <a:ea typeface="Microsoft YaHei"/>
              </a:rPr>
              <a:t>•  硬件结构简洁，量产成本可控，盈利模式清晰，具备快速商业化复制条件。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321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D6E2EC"/>
                </a:solidFill>
                <a:latin typeface="Microsoft YaHei"/>
                <a:ea typeface="Microsoft YaHei"/>
              </a:rPr>
              <a:t>•  竞争评审权重：实用性 40%（最高）、安全性 20% → 本方案在关键维度优势明显。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870448"/>
            <a:ext cx="10607040" cy="21945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907024"/>
            <a:ext cx="10424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CB3C9"/>
                </a:solidFill>
                <a:latin typeface="Microsoft YaHei"/>
                <a:ea typeface="Microsoft YaHei"/>
              </a:rPr>
              <a:t>数据来源：45.2%=2026 年暑期短期试点实测（n=60） · 84.13%=126 份用户问卷 · 300万+=三类用户×年新增学生群体估算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磁吸焊接辅助手电 · 仿真实跑不队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</a:rPr>
              <a:t>实施规划：成本 / 周期 / 风险与下一步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以“证据闭环”状态参赛的项目推进路线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5F8B"/>
                </a:solidFill>
                <a:latin typeface="Microsoft YaHei"/>
                <a:ea typeface="Microsoft YaHei"/>
              </a:rPr>
              <a:t>成本与产品结构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BOM ¥25–35；整机目标价 59–79 元（零售）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2082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标准版 LED 状态标配 + OLED 选配模块（+¥5）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青春版 ¥39–49 无屏版；高配版 2600mAh +¥8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补装 NTC 过温提示（BOM +¥0.5）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52928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443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5F8B"/>
                </a:solidFill>
                <a:latin typeface="Microsoft YaHei"/>
                <a:ea typeface="Microsoft YaHei"/>
              </a:rPr>
              <a:t>周期与里程碑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6440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MVP 验证 6 天（D1–6）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2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验证结论后锁定“LED 标配+OLED 选配”双配置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39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答辩前完成无屏 vs OLED 对比演示展板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776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套件化作为深度性演示环节保留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34256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2569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5F8B"/>
                </a:solidFill>
                <a:latin typeface="Microsoft YaHei"/>
                <a:ea typeface="Microsoft YaHei"/>
              </a:rPr>
              <a:t>风险与应对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4573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宣传（OLED）与样机（LED）不一致 → 口径对齐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小批量外壳/柔性臂成本高于预估 → 压缩 BOM/降级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2122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大厂 3 个月可仿制 → 靠创客教育深度性与垂直生态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589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3C 认证成本 → 合规前置，分阶段推进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磁吸焊接辅助手电 · 仿真实跑不队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</a:rPr>
              <a:t>创新方法应用：SCAMPER × 六顶思考帽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两种工具交叉验证，定位结构性缺陷并给出低成本修复路径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3212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5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5F8B"/>
                </a:solidFill>
                <a:latin typeface="Microsoft YaHei"/>
                <a:ea typeface="Microsoft YaHei"/>
              </a:rPr>
              <a:t>SCAMPER 系统审查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5F8B"/>
                </a:solidFill>
                <a:latin typeface="Microsoft YaHei"/>
                <a:ea typeface="Microsoft YaHei"/>
              </a:rPr>
              <a:t>S 替代： </a:t>
            </a: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OSRAM+20kHz PWM 显指/无频闪优先，不冒进替代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5F8B"/>
                </a:solidFill>
                <a:latin typeface="Microsoft YaHei"/>
                <a:ea typeface="Microsoft YaHei"/>
              </a:rPr>
              <a:t>C 合并： </a:t>
            </a: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腕带收纳 + 磁吸充电座（零风险采纳）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27248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5F8B"/>
                </a:solidFill>
                <a:latin typeface="Microsoft YaHei"/>
                <a:ea typeface="Microsoft YaHei"/>
              </a:rPr>
              <a:t>A 适配： </a:t>
            </a: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结构件全部采用成熟供应链，无断供风险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94176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5F8B"/>
                </a:solidFill>
                <a:latin typeface="Microsoft YaHei"/>
                <a:ea typeface="Microsoft YaHei"/>
              </a:rPr>
              <a:t>M 调整： </a:t>
            </a: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双版本策略（标准版+青春版）直接采纳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61104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5F8B"/>
                </a:solidFill>
                <a:latin typeface="Microsoft YaHei"/>
                <a:ea typeface="Microsoft YaHei"/>
              </a:rPr>
              <a:t>P 改变用途： </a:t>
            </a: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整机取下即手电，第二用途作宣传卖点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5F8B"/>
                </a:solidFill>
                <a:latin typeface="Microsoft YaHei"/>
                <a:ea typeface="Microsoft YaHei"/>
              </a:rPr>
              <a:t>E 消除： </a:t>
            </a:r>
            <a:r>
              <a:rPr sz="1050" b="0">
                <a:solidFill>
                  <a:srgbClr val="C0392B"/>
                </a:solidFill>
                <a:latin typeface="Microsoft YaHei"/>
                <a:ea typeface="Microsoft YaHei"/>
              </a:rPr>
              <a:t>🔴 最大薄弱点：机载 LED 替代 OLED（待验证）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9496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5F8B"/>
                </a:solidFill>
                <a:latin typeface="Microsoft YaHei"/>
                <a:ea typeface="Microsoft YaHei"/>
              </a:rPr>
              <a:t>R 重组/逆向： </a:t>
            </a: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参赛版改“自制套件”强化深度性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371600"/>
            <a:ext cx="544068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81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792B"/>
                </a:solidFill>
                <a:latin typeface="Microsoft YaHei"/>
                <a:ea typeface="Microsoft YaHei"/>
              </a:rPr>
              <a:t>六顶思考帽：角色综合评估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993392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792B"/>
                </a:solidFill>
                <a:latin typeface="Microsoft YaHei"/>
                <a:ea typeface="Microsoft YaHei"/>
              </a:rPr>
              <a:t>白帽 · 事实： </a:t>
            </a: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问卷 126 份：三痛点 68.25%/61.11%/54.76%，实测失败率 50%→20%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56032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792B"/>
                </a:solidFill>
                <a:latin typeface="Microsoft YaHei"/>
                <a:ea typeface="Microsoft YaHei"/>
              </a:rPr>
              <a:t>红帽 · 直觉： </a:t>
            </a: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“产品能卖，但 OLED 没了，总感觉不踏实”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127248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792B"/>
                </a:solidFill>
                <a:latin typeface="Microsoft YaHei"/>
                <a:ea typeface="Microsoft YaHei"/>
              </a:rPr>
              <a:t>黄帽 · 乐观： </a:t>
            </a: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磁吸+万向悬停是真实差异点，竞品无对应形态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694176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792B"/>
                </a:solidFill>
                <a:latin typeface="Microsoft YaHei"/>
                <a:ea typeface="Microsoft YaHei"/>
              </a:rPr>
              <a:t>黑帽 · 悲观： </a:t>
            </a:r>
            <a:r>
              <a:rPr sz="1050" b="0">
                <a:solidFill>
                  <a:srgbClr val="C0392B"/>
                </a:solidFill>
                <a:latin typeface="Microsoft YaHei"/>
                <a:ea typeface="Microsoft YaHei"/>
              </a:rPr>
              <a:t>🔴 头号风险：宣传与实物不符，答辩会被当场质疑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61104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792B"/>
                </a:solidFill>
                <a:latin typeface="Microsoft YaHei"/>
                <a:ea typeface="Microsoft YaHei"/>
              </a:rPr>
              <a:t>绿帽 · 创造： </a:t>
            </a: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OLED 改选配模块；NTC 过温提示替代热电偶；双 SKU 分层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28032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792B"/>
                </a:solidFill>
                <a:latin typeface="Microsoft YaHei"/>
                <a:ea typeface="Microsoft YaHei"/>
              </a:rPr>
              <a:t>蓝帽 · 总结： </a:t>
            </a: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决策：先补证再定稿，调整后推进（证据闭环）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磁吸焊接辅助手电 · 仿真实跑不队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</a:rPr>
              <a:t>Q&amp;A 预判：三大最尖锐问题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主动暴露 · 以证据闭环回应潜在质疑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09728" cy="1481328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Microsoft YaHei"/>
                <a:ea typeface="Microsoft YaHei"/>
              </a:rPr>
              <a:t>评委：你宣传 OLED 状态显示，为什么样机用的是 LED？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2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回应：这是我们在验证中主动发现并优化的点——LED 状态灯（4 电量+2 充电）明确覆盖核心状态查询，OLED 已改作“选配扩展模块”（H1 排针预留），标配成本更低。已规划 20 人 A/B 测试（假设 1），用数据证明 LED 能否覆盖 80% 查询需求，让劣势变成可讲解的迭代设计。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71800"/>
            <a:ext cx="111556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71800"/>
            <a:ext cx="109728" cy="1481328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Microsoft YaHei"/>
                <a:ea typeface="Microsoft YaHei"/>
              </a:rPr>
              <a:t>评委：59 元守住成本吗？它不就是一个磁吸台灯，凭什么卖这个价？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02152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回应：BOM ¥25–35，双版本分层（青春版 39–49 / 标准版 59–79）覆盖价格敏感人群；磁吸→万向悬停→无级调光→状态显示的差异化组合是竞品没有的。痛点有问卷与实测双重证据（失败率 50%→20%），定价由证据支撑而非拍脑袋。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72000"/>
            <a:ext cx="111556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572000"/>
            <a:ext cx="109728" cy="1481328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Microsoft YaHei"/>
                <a:ea typeface="Microsoft YaHei"/>
              </a:rPr>
              <a:t>评委：大厂 3 个月就能仿制，你们的壁垒在哪？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02352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回应：我们靠两件事——① 面向高校与创客教育的深度属性（自制套件版强化动手属性，纳入演示环节）；② 焊接工位数字化生态（与“AI+OPC”主题相衔接，中期扩展标准数据接口，上报实验/产线管理系统），构建从单品到生态的纵深，而非仅依赖单一硬件。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磁吸焊接辅助手电 · 仿真实跑不队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</a:rPr>
              <a:t>AI 评价与团队分析：评价摘要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DeepSeek-V4 外部视角 · 提问日期 2026-08-28 · 三大最具代表性观点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11155680" cy="457200"/>
          </a:xfrm>
          <a:prstGeom prst="roundRect">
            <a:avLst>
              <a:gd name="adj" fmla="val 10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AI 工具：DeepSeek-V4（deepseek/deepseek-v4-flash-vision-exp）  ·  评价对象：PPT V1.0 完整核心内容  ·  评价维度：需求真实性 / 方案可行性 / 竞争差异化 / 逻辑自洽性 / 风险与漏洞 / 证据可信度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109728" cy="12801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756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Microsoft YaHei"/>
                <a:ea typeface="Microsoft YaHei"/>
              </a:rPr>
              <a:t>观点 ① 逻辑自洽性 / 风险与漏洞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324C"/>
                </a:solidFill>
                <a:latin typeface="Microsoft YaHei"/>
                <a:ea typeface="Microsoft YaHei"/>
              </a:rPr>
              <a:t>“宣传口径（OLED）与实物（LED）不一致，精益画布方案层与价值主张层未对齐，这是方案最脆弱之处。”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3756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37560"/>
            <a:ext cx="109728" cy="128016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472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792B"/>
                </a:solidFill>
                <a:latin typeface="Microsoft YaHei"/>
                <a:ea typeface="Microsoft YaHei"/>
              </a:rPr>
              <a:t>观点 ② 竞争差异化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324C"/>
                </a:solidFill>
                <a:latin typeface="Microsoft YaHei"/>
                <a:ea typeface="Microsoft YaHei"/>
              </a:rPr>
              <a:t>“竞品对比综合星级为团队主观自评，未用实测指标量化；‘市场空白’建立在定性判断上，‘不公平优势/护城河’不够可验证。”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0916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5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709160"/>
            <a:ext cx="109728" cy="128016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188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5F8B"/>
                </a:solidFill>
                <a:latin typeface="Microsoft YaHei"/>
                <a:ea typeface="Microsoft YaHei"/>
              </a:rPr>
              <a:t>观点 ③ 方案可行性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4324C"/>
                </a:solidFill>
                <a:latin typeface="Microsoft YaHei"/>
                <a:ea typeface="Microsoft YaHei"/>
              </a:rPr>
              <a:t>“20 人样本（A/B 各 10 人）对验证‘差异 &lt;10%’的等价性统计功效不足；MVP 执行难度或低估。”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6035040"/>
            <a:ext cx="11155680" cy="411480"/>
          </a:xfrm>
          <a:prstGeom prst="roundRect">
            <a:avLst>
              <a:gd name="adj" fmla="val 20000"/>
            </a:avLst>
          </a:prstGeom>
          <a:solidFill>
            <a:srgbClr val="0F6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09904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团队处理原则：AI 是“外部视角的镜子”，以认同 / 已执行 / 存疑三层机制批判性吸收，而非全盘接受或全盘否定。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磁吸焊接辅助手电 · 仿真实跑不队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</a:rPr>
              <a:t>AI 评价与团队分析：逐条回应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认同 / 已执行 / 存疑 —— 批判性吸收 AI 反馈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09728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0392B"/>
                </a:solidFill>
                <a:latin typeface="Microsoft YaHei"/>
                <a:ea typeface="Microsoft YaHei"/>
              </a:rPr>
              <a:t>观点 ① 逻辑自洽 · 宣传与实物一致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8B57"/>
                </a:solidFill>
                <a:latin typeface="Microsoft YaHei"/>
                <a:ea typeface="Microsoft YaHei"/>
              </a:rPr>
              <a:t>【认同】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10512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完全认同。这正是我们在 SCAMPER E 维度与六帽黑帽中自查出的头号风险；AI 从外部再次确认，形成“团队自查 + AI 印证”双重复核。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128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792B"/>
                </a:solidFill>
                <a:latin typeface="Microsoft YaHei"/>
                <a:ea typeface="Microsoft YaHei"/>
              </a:rPr>
              <a:t>【已执行】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212848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统一宣传口径为“LED 标配 + OLED 选配”；精益画布解决方案栏同步对齐；并把“待验证假设”前置标注为未验证状态，避免以“价值验证”自居。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1518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5F8B"/>
                </a:solidFill>
                <a:latin typeface="Microsoft YaHei"/>
                <a:ea typeface="Microsoft YaHei"/>
              </a:rPr>
              <a:t>【存疑】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15184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无分歧。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08960"/>
            <a:ext cx="111556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08960"/>
            <a:ext cx="109728" cy="164592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004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792B"/>
                </a:solidFill>
                <a:latin typeface="Microsoft YaHei"/>
                <a:ea typeface="Microsoft YaHei"/>
              </a:rPr>
              <a:t>观点 ② 竞争差异化 · 护城河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4787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8B57"/>
                </a:solidFill>
                <a:latin typeface="Microsoft YaHei"/>
                <a:ea typeface="Microsoft YaHei"/>
              </a:rPr>
              <a:t>【认同】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547872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认同“综合星级”形式不够严谨、空白结论偏定性。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502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792B"/>
                </a:solidFill>
                <a:latin typeface="Microsoft YaHei"/>
                <a:ea typeface="Microsoft YaHei"/>
              </a:rPr>
              <a:t>【已执行】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950208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在竞品对比页补充“综合评分依据（量化）”；用失败率 50%→20% 与 79 元 vs 300 元+ 价差作为差异化落点，并新增三层护城河主张。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5254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5F8B"/>
                </a:solidFill>
                <a:latin typeface="Microsoft YaHei"/>
                <a:ea typeface="Microsoft YaHei"/>
              </a:rPr>
              <a:t>【存疑】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352544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对“护城河不足”保留：我们主张小米式“价分层 + 教育生态 + OPC 生态接口”竞争策略，大厂模仿成本高、回报低，故保留“不公平优势”定位并进一步明确为三层。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46320"/>
            <a:ext cx="111556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5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846320"/>
            <a:ext cx="109728" cy="1645920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93776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5F8B"/>
                </a:solidFill>
                <a:latin typeface="Microsoft YaHei"/>
                <a:ea typeface="Microsoft YaHei"/>
              </a:rPr>
              <a:t>观点 ③ 方案可行性 · 样本量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85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2E8B57"/>
                </a:solidFill>
                <a:latin typeface="Microsoft YaHei"/>
                <a:ea typeface="Microsoft YaHei"/>
              </a:rPr>
              <a:t>【认同】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285232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承认 MVP 阶段样本偏小、统计功效有限，这是“最小成本验证”的固有权衡。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8756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792B"/>
                </a:solidFill>
                <a:latin typeface="Microsoft YaHei"/>
                <a:ea typeface="Microsoft YaHei"/>
              </a:rPr>
              <a:t>【已执行】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687568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将 MVP 定位改为“低成本的早期方向性证据 + 明确退路”，补上失败退路（转入集成 OLED 版 / 降价版），而非宣称“已验证”。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08990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5F8B"/>
                </a:solidFill>
                <a:latin typeface="Microsoft YaHei"/>
                <a:ea typeface="Microsoft YaHei"/>
              </a:rPr>
              <a:t>【存疑】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6089904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4324C"/>
                </a:solidFill>
                <a:latin typeface="Microsoft YaHei"/>
                <a:ea typeface="Microsoft YaHei"/>
              </a:rPr>
              <a:t>对“执行难度被低估”不完全认同：已按 5W2H 拆分为三人分工，并在 V2.0 追加“若招募不足 20 人，采用 5 人/组×4 场”的备选样本方案作缓冲。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磁吸焊接辅助手电 · 仿真实跑不队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9CB3C9"/>
                </a:solidFill>
                <a:latin typeface="Microsoft YaHei"/>
                <a:ea typeface="Microsoft YaHei"/>
              </a:rPr>
              <a:t>项目总结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磁吸焊接辅助手电 —— 从“创意值得做”到“证据闭环”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0332720" cy="713232"/>
          </a:xfrm>
          <a:prstGeom prst="roundRect">
            <a:avLst>
              <a:gd name="adj" fmla="val 10000"/>
            </a:avLst>
          </a:prstGeom>
          <a:solidFill>
            <a:srgbClr val="18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4144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792B"/>
                </a:solidFill>
                <a:latin typeface="Microsoft YaHei"/>
                <a:ea typeface="Microsoft YaHei"/>
              </a:rPr>
              <a:t>精准定位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459736"/>
            <a:ext cx="7863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6E2EC"/>
                </a:solidFill>
                <a:latin typeface="Microsoft YaHei"/>
                <a:ea typeface="Microsoft YaHei"/>
              </a:rPr>
              <a:t>直击焊接作业中的照明盲区与双手受限痛点，以数据定义需求。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54680"/>
            <a:ext cx="10332720" cy="713232"/>
          </a:xfrm>
          <a:prstGeom prst="roundRect">
            <a:avLst>
              <a:gd name="adj" fmla="val 10000"/>
            </a:avLst>
          </a:prstGeom>
          <a:solidFill>
            <a:srgbClr val="18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6440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792B"/>
                </a:solidFill>
                <a:latin typeface="Microsoft YaHei"/>
                <a:ea typeface="Microsoft YaHei"/>
              </a:rPr>
              <a:t>创新方案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282696"/>
            <a:ext cx="7863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6E2EC"/>
                </a:solidFill>
                <a:latin typeface="Microsoft YaHei"/>
                <a:ea typeface="Microsoft YaHei"/>
              </a:rPr>
              <a:t>独创“强磁快拆 + 万向悬停 + 无级调光 + 状态显示”组合。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77640"/>
            <a:ext cx="10332720" cy="713232"/>
          </a:xfrm>
          <a:prstGeom prst="roundRect">
            <a:avLst>
              <a:gd name="adj" fmla="val 10000"/>
            </a:avLst>
          </a:prstGeom>
          <a:solidFill>
            <a:srgbClr val="18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08736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792B"/>
                </a:solidFill>
                <a:latin typeface="Microsoft YaHei"/>
                <a:ea typeface="Microsoft YaHei"/>
              </a:rPr>
              <a:t>价值验证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105656"/>
            <a:ext cx="7863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6E2EC"/>
                </a:solidFill>
                <a:latin typeface="Microsoft YaHei"/>
                <a:ea typeface="Microsoft YaHei"/>
              </a:rPr>
              <a:t>问卷 + 沉浸式实测双重证据，失败率 50%→20%，答辩以证据闭环参赛。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800600"/>
            <a:ext cx="10332720" cy="713232"/>
          </a:xfrm>
          <a:prstGeom prst="roundRect">
            <a:avLst>
              <a:gd name="adj" fmla="val 10000"/>
            </a:avLst>
          </a:prstGeom>
          <a:solidFill>
            <a:srgbClr val="18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91032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792B"/>
                </a:solidFill>
                <a:latin typeface="Microsoft YaHei"/>
                <a:ea typeface="Microsoft YaHei"/>
              </a:rPr>
              <a:t>未来展望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928616"/>
            <a:ext cx="7863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D6E2EC"/>
                </a:solidFill>
                <a:latin typeface="Microsoft YaHei"/>
                <a:ea typeface="Microsoft YaHei"/>
              </a:rPr>
              <a:t>围绕焊接场景扩展测温、防护、辅助定位，构建一体化智能作业生态。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7150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感谢聆听  · 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CB3C9"/>
                </a:solidFill>
                <a:latin typeface="Microsoft YaHei"/>
                <a:ea typeface="Microsoft YaHei"/>
              </a:rPr>
              <a:t>欢迎各位评委随时提问，共同探讨与交流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914400" cy="566928"/>
          </a:xfrm>
          <a:prstGeom prst="roundRect">
            <a:avLst>
              <a:gd name="adj" fmla="val 18000"/>
            </a:avLst>
          </a:prstGeom>
          <a:solidFill>
            <a:srgbClr val="1F5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84048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</a:rPr>
              <a:t>附录：方法流程与数据支撑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785"/>
                </a:solidFill>
                <a:latin typeface="Microsoft YaHei"/>
                <a:ea typeface="Microsoft YaHei"/>
              </a:rPr>
              <a:t>附录不计入正页 · 含验证方法与基础数据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26974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5F8B"/>
                </a:solidFill>
                <a:latin typeface="Microsoft YaHei"/>
                <a:ea typeface="Microsoft YaHei"/>
              </a:rPr>
              <a:t>验证流程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2697480" cy="4572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选题论证 → 需求调研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2374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SCAMPER + 六帽评估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27248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待验证假设清单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3075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MVP A/B 对比验证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结论：调整后推进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371600"/>
            <a:ext cx="26974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4813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5F8B"/>
                </a:solidFill>
                <a:latin typeface="Microsoft YaHei"/>
                <a:ea typeface="Microsoft YaHei"/>
              </a:rPr>
              <a:t>数据来源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371600"/>
            <a:ext cx="2697480" cy="4572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9202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问卷 126 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52374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沉浸式实测（三照明对照）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127248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竞品价格带走查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73075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20 人 A/B 测试（规划）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334256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短期试点留存数据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1371600"/>
            <a:ext cx="26974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4813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5F8B"/>
                </a:solidFill>
                <a:latin typeface="Microsoft YaHei"/>
                <a:ea typeface="Microsoft YaHei"/>
              </a:rPr>
              <a:t>关键数据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371600"/>
            <a:ext cx="2697480" cy="4572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9202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高频作业 84.13%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52374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精细补光 76.98%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127248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痛点 68.25%/61.11%/54.76%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73075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失败率 50%→20%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334256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留存率 45.2%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0" y="1371600"/>
            <a:ext cx="26974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4813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5F8B"/>
                </a:solidFill>
                <a:latin typeface="Microsoft YaHei"/>
                <a:ea typeface="Microsoft YaHei"/>
              </a:rPr>
              <a:t>团队分工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1371600"/>
            <a:ext cx="2697480" cy="4572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19202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邵子中：主持、蓝帽、数据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252374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李昊桐：白帽/黑帽、样机调校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3127248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姜亚楷：黄帽/绿帽、招募场景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373075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绿帽环节三人共同（姜主导）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4334256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4324C"/>
                </a:solidFill>
                <a:latin typeface="Microsoft YaHei"/>
                <a:ea typeface="Microsoft YaHei"/>
              </a:rPr>
              <a:t>•  ——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磁吸焊接辅助手电 · 仿真实跑不队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785"/>
                </a:solidFill>
                <a:latin typeface="Microsoft YaHei"/>
                <a:ea typeface="Microsoft YaHei"/>
              </a:rPr>
              <a:t>附录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