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数据来源：工时台账 + 采购记录 + 验证原始记录（附录页索引）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里程碑三色：绿=已完成/超前，黄=进行中/部分达成，红=滞后/未达预期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对比基准：选题评审阶段精益画布 V3.0（2026-09-26）；经济账口径见《选题优化方案书》表 7–表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盲测方法：不告知品牌，15 位目标用户对 4 款产品在 5 个维度打分（1–5），取均值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H-001/H-003 为部分成立（黄）：态度与行为口径需同时呈现</a:t>
            </a:r>
          </a:p>
          <a:p>
            <a:r>
              <a:t>H-004 未验证：明确写出“周期不足、未执行”，不以“规划中”替代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失败记录不删除：可作为“量化坚持”与迭代透明度的证据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阈值来源：MVC 与选题评审阶段设定的成功标准</a:t>
            </a:r>
          </a:p>
          <a:p>
            <a:r>
              <a:t>黄灯项处理：温升与单位变动成本列入 M2 里程碑，不隐藏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威胁中“价格战风险”在千片规模前无法真实应对，列为观察项并标注触发条件（见 V2 团队效能页备注）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RACI-V 中的 V（志愿者/支持者）：实验室学长提供演示场地与评阅意见；指导老师提供开模与费率报价口径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MVC 原则（单次验证 ≤2 周 / ≤¥300）的遵守情况与例外说明见下一页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MVC 例外说明：单次验证成本 ¥360 略高于 ¥300 上限，原因是行为口径测试需补偿参与者的真实成本（1 元可退意向金），已说明理由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里程碑 M1–M3 与 SMART-C 六要素的对应关系见团队效能页（二）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创业者三问自检结论：① 关键假设 = H-001 付费意愿（行为口径）；② 最低成本验证 = 1 元可退意向金（¥360 / 48h）；③ 数据决策 = 行为口径 32.3% → 下调 C 端预期、转 B 端；若 B 端首单 &lt;10 台则转纯套件版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761488"/>
            <a:ext cx="12191695" cy="54864"/>
          </a:xfrm>
          <a:prstGeom prst="roundRect">
            <a:avLst>
              <a:gd name="adj" fmla="val 6000"/>
            </a:avLst>
          </a:prstGeom>
          <a:solidFill>
            <a:srgbClr val="227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创客竞赛作品中期汇报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84831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C9D6E6"/>
                </a:solidFill>
                <a:latin typeface="微软雅黑"/>
                <a:ea typeface="微软雅黑"/>
              </a:rPr>
              <a:t>磁吸焊接辅助手电 —— 一吸即用、指哪照哪的焊接照明工具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团队名称：1班C组 · 仿真跑不队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团队成员：邵子中（负责人） · 李昊桐 · 姜亚楷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汇报日期：2026 年 10 月 8 日　|　版本：中期汇报 PPT V1.0（课前提交）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FB4CE"/>
                </a:solidFill>
                <a:latin typeface="微软雅黑"/>
                <a:ea typeface="微软雅黑"/>
              </a:rPr>
              <a:t>本汇报以欧盟《创业能力框架》“资源”领域五项能力为叙事线索：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9FB4CE"/>
                </a:solidFill>
                <a:latin typeface="微软雅黑"/>
                <a:ea typeface="微软雅黑"/>
              </a:rPr>
              <a:t>① 项目进展是否符合预期　② 资源投入产生了什么价值　③ 团队在困难面前如何坚持与协作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资源全景页（一）：投入了什么，产出了什么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映射：资源与调动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资源投入-成果对照总表：回答“做得值不值”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72768"/>
          <a:ext cx="11155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4023360"/>
                <a:gridCol w="320040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我们投入了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我们获得了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效率说明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时间：336 人时（研发 + 验证）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157 条有效验证数据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每 2.1 人时 = 1 条验证数据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经费：¥2,280（打样 / 机构件 / 验证）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43 份真实付费行为数据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每 ¥53 = 1 份付费行为数据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外部资源：6 次（导师 / 实验室 / 检索）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11 条改进建议 + 1 项 B 端意向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每次调用 = 2.2 项改进或合作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822191"/>
          <a:ext cx="1115568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023360"/>
                <a:gridCol w="4023360"/>
                <a:gridCol w="155448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资源类型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投入（中期阶段）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产出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转化效率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时间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336 人时（邵 120 / 李 110 / 姜 106）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有效验证数据 157 条 · 原型 3 版 · 代码提交 23 次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0.47 条 / 人时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资金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¥2280（打样 / 机构件 / 验证）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付费行为数据 43 份 · 问卷回收 87 份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¥53 / 份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外部资源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导师 2 次 · 实验室 3 次 · 专利检索 1 次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11 条改进建议 · 1 项 B 端意向（20 台）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每次 = 2.2 项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资源全景页（二）：里程碑进度总览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映射：资源与调动 + 计划与管理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回答“做得快不快”——计划执行情况与三色状态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72768"/>
          <a:ext cx="11155675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7"/>
                <a:gridCol w="5949695"/>
                <a:gridCol w="1487423"/>
                <a:gridCol w="1208531"/>
                <a:gridCol w="1394459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里程碑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计划完成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完成度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里程碑 M1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核心假设再验证闭环（H-001/H-002/H-005）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 月 5 日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已完成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里程碑 M2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V3.0 迭代机连续工况可靠性测试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 月 12 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62%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进行中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里程碑 M3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B 端首单（≥10 台）交付与验收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 月 20 日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25%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进行中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图B_资源效率与进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3703320"/>
            <a:ext cx="9692640" cy="35374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5989320"/>
            <a:ext cx="11155680" cy="3840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05332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484"/>
                </a:solidFill>
                <a:latin typeface="微软雅黑"/>
                <a:ea typeface="微软雅黑"/>
              </a:rPr>
              <a:t>目标完成度 68%（进度条可视化见下）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价值主张页（一）：一句话说清 + 算清经济账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映射：自我意识与自我效能感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核心主张公式与量化经济账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00784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F3B63"/>
                </a:solidFill>
                <a:latin typeface="微软雅黑"/>
                <a:ea typeface="微软雅黑"/>
              </a:rPr>
              <a:t>【高校电子类专业的实训课学生与 DIY 极客】通过【磁吸固定 + 万向悬停 + 无级调光的手工焊接照明工具】实现【单次焊接省 4.2 次找光动作、返工率从 50% 降到 20%，百元内可得（主线 65 元）】，相比传统台灯（68.25% 用户抱怨占桌、灯臂不可瞄准）与 300 元+ 专业工业灯，我们【吸附 3.2kg / 零占桌面 / 光斑 6cm 最聚焦，价格约为专业灯 1/4】。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154680"/>
          <a:ext cx="1115568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77824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量化说明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用户侧收益（可量化）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单次焊接减少 4.2 次“找光”动作；沉浸式实测焊接失败率 50% → 20%；单用户年化可货币化效益 ¥144.5（SROI ≈ 2.2 : 1）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团队侧收益（算账逻辑）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标准版 65 元：量产后单位贡献 ¥22.0（33.8%）；B 端实训套装 59 元/台（10 台起、零获客成本）；加权单位贡献 ¥18.67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回本门槛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保本销量：小批定价 2,886 台 / 量产定价 1,232 台（含人力机会成本 2,196 台）；3 年 SOM 预期 3,100 台 → 可行，安全边际 1.4 倍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与竞品对比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价格约为专业工业灯 1/4；照度 780 lux（专业灯 1100、台灯 420）；光斑直径 6cm 为四款最小；瞄准自由度与空间占用唯一满分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价值主张页（二）：验证矩阵（竞品盲测雷达图）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映射：资源与调动 + 财经素养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清晰性 / 竞争力 / 可行性 三维验证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29768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验证结果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清晰性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电梯演讲三句话互测：请 2 位非团队成员复述“为谁解决什么”，2/2 准确复述；每句 ≤10 秒（实际 7–9 秒）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竞争力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盲测 N=15，5 维度 1–5 分：功能覆盖 4.0 vs 台灯 2.4 / 便携灯 1.9；用户体验 4.5 vs 2.6 / 2.2；价格 4.3 vs 专业灯 2.1（≥3 个维度高出 ≥1 分）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可行性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 位目标用户完成核心任务：状态查询 4.2 秒（≤5 秒达标）、吸附 3.2kg（≥2.5kg 达标）；温升 52℃（黄，8 小时连续工况未测）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劣势自陈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可信度 3.7 分低于专业工业灯 4.5——缺品牌与长期可靠性背书，用“结构实测数据 + 30 天无理由退换”部分对冲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图A_盲测雷达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17904"/>
            <a:ext cx="5486400" cy="49265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进展总览页（一）：关键假设状态（三色标识）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映射：财经素养 + 动力和毅力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与《选题优化方案书》精益画布 V3.0 假设编号一致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556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1280160"/>
                <a:gridCol w="3474720"/>
                <a:gridCol w="246888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编号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假设陈述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数据支撑 / 进度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风险应对与下一步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H-001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用户愿为“磁吸固定 + 万向调光”支付 59–79 元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部分成立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态度口径 71.3% 会买（N=87）；行为口径 1 元意向金支付 32.3%（20/62）；A 组预售转化 31.8% vs B 组 20.9%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30 天留存观测（≥40%）；B 端续订 ≥2 校/学期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H-002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6 颗 LED 状态灯可覆盖 80% 状态查询需求（替代 OLED）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已验证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 人配对 A/B：A 组覆盖 82%、B 组 86%，差异 4pp &lt; 10pp；A 组主观 4.2/5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已按结论减配至 4 颗，OLED 不投推广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H-003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14 天内推荐率 ≥45%（NPS ≥40）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部分成立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推荐率 45%（9/20，95% CI ±21.8pp）；NPS 30（目标 40 未达）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 月 20 日前完成 N=60 扩样回访；若 NPS 持续 &lt;30 则调整增长假设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H-004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90 天复购率 ≥20%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未验证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进度 0%：需真实销售后 90 天回访，本轮周期不足，未执行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结题评审前改为“B 端批量续订率”代理指标观测；若失效转纯 B 端模式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H-005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整机 BOM ≤50 元时毛利率 ≥40%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已证伪并调整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小批量实测 BOM ¥52.3（超预算 4.6%）；标准版毛利率小批 11.2%、量产 33.8%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毛利目标分规模修订（小批 ≥10% / 量产 ≥30%）；收入结构改四源、以 B 端为主</a:t>
                      </a:r>
                    </a:p>
                  </a:txBody>
                  <a:tcPr anchor="ctr" marL="54864" marR="54864" marT="18288" marB="18288">
                    <a:solidFill>
                      <a:srgbClr val="FBE4E2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6035040"/>
            <a:ext cx="11155680" cy="3657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08990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484"/>
                </a:solidFill>
                <a:latin typeface="微软雅黑"/>
                <a:ea typeface="微软雅黑"/>
              </a:rPr>
              <a:t>三色标识：绿 = 已验证（附具体数据）　黄 = 验证中/部分成立（附进度与预计完成时间）　红 = 未验证或已证伪（附失效应对）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进展总览页（二）：“挑战 - 资源 - 突破”三段式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映射：动力和毅力 + 资源与调动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17904"/>
          <a:ext cx="11155680" cy="398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743200"/>
                <a:gridCol w="2194560"/>
                <a:gridCol w="53949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内容要求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证据要求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本项目事实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12070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挑战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遇到的核心问题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原始数据佐证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选题评审阶段我们宣称“60% 以上用户愿付 59–79 元”，靠的是问卷自我报告。
原始证据：课前 126 份便利样本问卷（样本集中在电子专业与电赛群）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12070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资源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采取的措施与投入的资源（人力 / 技术 / 资金）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具体数值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追加 48 小时迭代：分层抽样问卷 87 份（3 专业 × 3 年级配额）+ 预售页双价格锚定 A/B + 1 元可退意向金行为测试；投入 24 人时、¥360 现金
资源投入凭证：问卷后台导出、两组表单记录、收款记录（附录 B-1~B-3）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2070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突破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改进成效数据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对比数据（与基线对比）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 元意向金支付率仅 32.3%（20/62）——比问卷态度口径 71.3% 低 39 个百分点。团队据此把北极星指标换成行为指标，并下调 C 端转化预期
对比数据：态度口径 71.3% → 行为口径 32.3%；定价由 59–79 元收敛到 59–69 元（PSM 最优 ¥62）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53212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42933"/>
                </a:solidFill>
                <a:latin typeface="微软雅黑"/>
                <a:ea typeface="微软雅黑"/>
              </a:rPr>
              <a:t>成功与失败记录：48 小时迭代共有 3 处失败记录（专利检索式一次写错、民族志首日记录表设计错误作废、画布 V3.0 首版模块口径自相矛盾），全部保留在飞书文档修订历史中，未做删除。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进展总览页（三）：关键指标仪表盘（红黄绿）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映射：财经素养 + 动力和毅力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2–3 个核心量化指标 + 与基线的对比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737360"/>
                <a:gridCol w="1371600"/>
                <a:gridCol w="1371600"/>
                <a:gridCol w="40233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核心指标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三色阈值（绿）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当前实测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意向金支付率（北极星）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≥30%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32.3%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绿色 达标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首单行为指标，替代问卷态度口径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状态查询耗时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≤5 秒 / 次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4.2 秒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绿色 达标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 人配对 A/B 实测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量产后单位变动成本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≤¥40 / 台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¥43.0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黄色 临界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BOM ¥37.6 + 物流 ¥1.5 + 渠道 ¥1.95 + 售后 ¥1.95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灯板连续工作温升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≤60℃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52℃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黄色 临界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余量 8℃，8 小时连续工况未测</a:t>
                      </a:r>
                    </a:p>
                  </a:txBody>
                  <a:tcPr anchor="ctr" marL="54864" marR="54864" marT="18288" marB="18288">
                    <a:solidFill>
                      <a:srgbClr val="FDF3D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NPS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≥30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30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绿色 达标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N=20，样本偏小，10 月扩样</a:t>
                      </a:r>
                    </a:p>
                  </a:txBody>
                  <a:tcPr anchor="ctr" marL="54864" marR="54864" marT="18288" marB="18288">
                    <a:solidFill>
                      <a:srgbClr val="E6F2EA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图C_基线与中期对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617720"/>
            <a:ext cx="10424160" cy="29891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团队效能页（一）：SWOT 与资源缺口热力图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映射：资源与调动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回答“资源在哪里、缺什么”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36192"/>
          <a:ext cx="676656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017520"/>
                <a:gridCol w="30175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内/外部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积极因素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消极因素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196596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内部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优势 S：
1. 可免费使用电工基地实验室设备：示波器、恒温烙铁、3D 打印机（已验证：中期阶段借用 12 次）
2. 三人能力互补：邵子中（模型与固件）、李昊桐（焊接工艺与实测）、姜亚楷（渠道与外部对接）
3. 已跑通的成本链：34 行 56 位号 BOM 完成三档询价，小批 ¥52.3 / 千片 ¥37.6 口径清晰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劣势 W：
1. 缺商业与财务经验：定价、渠道费率、开模成本全靠现学现问
2. 无专属测试场地与用户库：测试靠借场地与刷脸招募，可重复性差
3. 时间被课程与考试挤占：每周有效工时 ≤20 人时（3 人合计）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196596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外部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机会 O：
1. 电工基地与社团“老带新”网络：每年 300+ 新生接触面
2. 实训课团体采买需求：B 端 10 台起批量订单，零获客成本
3. 学校创客空间与创业扶持：设备与小额资助可申请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威胁 T：
1. 大厂或白牌 3 个月可仿制（结构门槛低）
2. 电商已有同类磁吸工作灯，价格战风险
3. 锂电组合的合规与认证成本不确定（RoHS + 锂电安全自测 ¥3,000）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52360" y="1536192"/>
          <a:ext cx="4206238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451"/>
                <a:gridCol w="751114"/>
                <a:gridCol w="676002"/>
                <a:gridCol w="1126671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资源缺口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缺口类型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紧急度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对应能力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缺少 C 端规模化获客渠道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外部渠道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红色 高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资源与调动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缺少财务与定价经验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内部人力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黄色 中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财经素养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缺少注塑开模资金 ¥15,000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外部资金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黄色 中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资源与调动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缺少用户长期使用数据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内部技术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绿色 低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资源与调动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52360" y="118872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B63"/>
                </a:solidFill>
                <a:latin typeface="微软雅黑"/>
                <a:ea typeface="微软雅黑"/>
              </a:rPr>
              <a:t>资源缺口热力图（≥3 项）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468112"/>
            <a:ext cx="11155680" cy="93268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53212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1F3B63"/>
                </a:solidFill>
                <a:latin typeface="微软雅黑"/>
                <a:ea typeface="微软雅黑"/>
              </a:rPr>
              <a:t>最高优先级缺口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3B63"/>
                </a:solidFill>
                <a:latin typeface="微软雅黑"/>
                <a:ea typeface="微软雅黑"/>
              </a:rPr>
              <a:t>缺少 C 端规模化获客渠道</a:t>
            </a:r>
          </a:p>
          <a:p>
            <a:pPr algn="l">
              <a:lnSpc>
                <a:spcPct val="125000"/>
              </a:lnSpc>
            </a:pPr>
            <a:r>
              <a:rPr sz="950" b="1">
                <a:solidFill>
                  <a:srgbClr val="1F3B63"/>
                </a:solidFill>
                <a:latin typeface="微软雅黑"/>
                <a:ea typeface="微软雅黑"/>
              </a:rPr>
              <a:t>对应能力：资源与调动（识别并获取所需资源）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5532120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42933"/>
                </a:solidFill>
                <a:latin typeface="微软雅黑"/>
                <a:ea typeface="微软雅黑"/>
              </a:rPr>
              <a:t>若不解决的影响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242933"/>
                </a:solidFill>
                <a:latin typeface="微软雅黑"/>
                <a:ea typeface="微软雅黑"/>
              </a:rPr>
              <a:t>若不解决，学期限定预算只能换来约 46 条留资，按 32.3% 行为转化率仅约 15 台真实订单，2,886 台（小批定价）的保本销量永远达不到，项目会停在“作品”而到不了“产品”。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532120"/>
            <a:ext cx="3749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42933"/>
                </a:solidFill>
                <a:latin typeface="微软雅黑"/>
                <a:ea typeface="微软雅黑"/>
              </a:rPr>
              <a:t>初步解决思路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242933"/>
                </a:solidFill>
                <a:latin typeface="微软雅黑"/>
                <a:ea typeface="微软雅黑"/>
              </a:rPr>
              <a:t>把渠道资源从“线上投放”重配到“场景地推 + B 端采买”：地推 CAC ¥8.6、B 端零获客成本；同时用 B 端 20 台首单把产量推到千片档，让 BOM 从 ¥52.3 降到 ¥37.6。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团队效能页（二）：RACI-V 分工、SMART-C 里程碑与协作效能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映射：动员他人 + 动力和毅力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81328"/>
          <a:ext cx="11155678" cy="2871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2457"/>
                <a:gridCol w="1191383"/>
                <a:gridCol w="1191383"/>
                <a:gridCol w="1191383"/>
                <a:gridCol w="3899072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任务 / 决策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邵子中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李昊桐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姜亚楷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角色分工说明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磁吸机构与整机结构（原型开发）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R（执行）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C（咨询）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A（审批）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A 负责结构方案决策与验收；R 负责建模与装配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用户测试与数据采集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C（咨询）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R（执行）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I（知悉）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 负责测试执行与原始记录；数据统计由 A 复核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成本与定价模型（单位经济 / 保本测算）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R（执行）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I（知悉）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C（咨询）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 建模型；指导老师为 V（支持者），提供费率与开模报价口径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渠道地推与 B 端对接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I（知悉）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A（审批）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R（执行）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 执行地推与对接；A 审批预算与报价底线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财务记录与预算控制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C（咨询）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I（知悉）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R（执行）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 兼财务监督员，设单次试错上限 ¥500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中期汇报材料与答辩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A（审批）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R（执行）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C（咨询）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R 起草；A 终审；实验室学长 V 提供演示场地与评阅意见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22452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B63"/>
                </a:solidFill>
                <a:latin typeface="微软雅黑"/>
                <a:ea typeface="微软雅黑"/>
              </a:rPr>
              <a:t>SMART-C 里程碑（下一阶段）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535424"/>
          <a:ext cx="539495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640079"/>
                <a:gridCol w="1280159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里程碑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衡量标准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时限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检查点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M1：核心假设再验证闭环（H-001 / …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三项假设均有数据结论并写入画布 V3.0…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 月 5 日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每周五 15 分钟站会 + 数据…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M2：V3.0 迭代机连续工况可靠性测试（…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温升 ≤60℃、吸附力衰减 &lt;10%、无频闪…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 月 12 日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每周二询价/测试进度跟踪 + 实…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M3：B 端首单交付（≥10 台，¥59/…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首单验收单 + 回款凭证；BOM 报价锁定 …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 月 20 日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每周一对接日志 + 交付前 48…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72200" y="4224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B63"/>
                </a:solidFill>
                <a:latin typeface="微软雅黑"/>
                <a:ea typeface="微软雅黑"/>
              </a:rPr>
              <a:t>协作效能（含统计口径）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535424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626864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242933"/>
                </a:solidFill>
                <a:latin typeface="微软雅黑"/>
                <a:ea typeface="微软雅黑"/>
              </a:rPr>
              <a:t>任务按时完成率从 72% 提升到 91%（站会校准后两周）；需求平均响应时间从 9 小时降到 3.5 小时；返工项 2 项、闭环率 100%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财经素养页（一）：成本-收益分析（显性 + 隐性）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映射：财经素养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成本口径与方法说明见《选题优化方案书》附录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5567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3084"/>
                <a:gridCol w="3459125"/>
                <a:gridCol w="2075475"/>
                <a:gridCol w="3977994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成本 / 收益项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金额 / 量化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备注说明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显性成本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PCBA 打样（2 轮，含 SMT 贴装） ¥680、3D 打印耗材（外壳 / 散热片 / 治具） ¥180、机构件（N42 磁铁 ×2、Ø6 柔性臂、硅胶垫） ¥320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¥2280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PCBA 打样 2 轮 ¥680；3D 打印耗材 ¥180；机构件 ¥320；迭代验证 ¥940；交通与打印 ¥160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隐性成本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团队例会、学习新技术、返工时间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336 人时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例会 60 + 学技术 96 + 返工 72 + 验证执行 48 + 文档 60（按学生兼职 ¥25/人时折 ¥8,400 机会成本）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总投入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现金 + 人力机会成本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¥2280 + ¥8,400 机会成本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现金部分不含团队成员的人工支出，人力按机会成本单列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收益（验证成果）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MVP 测试付费意向率 32.3%（1 元意向金行为口径）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43 份付费行为数据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预售页下单 23 份 + 意向金 20 份；问卷 87 份；盲测 15 份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转化效率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每 ¥100 获得 3.7 份有效用户反馈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3.7 份 / ¥100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其中付费行为数据 1.9 份 / ¥100（V2 口径细化）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财经素养页（二）：MVC 遵守说明、决策机制与资金教训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映射：财经素养 + 资源与调动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5448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96112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MVC 遵守情况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遵守。本轮 5 项再验证单次周期 ≤24 小时、单次现金 ≤¥360，均在 ≤2 周 / ≤¥300 之外的部分（¥360）来自礼品与通道备用金，已说明原因：行为口径测试必须给参与者真实成本补偿，否则无法区分“态度”与“行为”。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单次试错上限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单次试错上限 ¥500（本轮 5 项再验证单次最高 ¥360）；财务监督员：姜亚楷，双周对账一次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资金使用教训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教训：第一轮问卷我们直接发在电赛群，一天收回 61 份但样本全是自己圈层，这些数据后来整批作废——省下的是招募时间，浪费的是全队 8 人时的分析工时。改进：此后所有调研先写配额表，抽样框不合规不发问卷。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下一阶段预算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注塑外壳 DFM 与模具定金 ¥3,000、连续工况测试耗材（8 小时老化 + 500 颗 0603 焊材） ¥400、B 端首单备料（20 台机体 + 包装线材） ¥1,046、演示展板与包装打样 ¥300、备用金（售后 / 器件损耗） ¥254（合计 ¥5,000）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后期规划页：三阶段计划、里程碑与风险预案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映射：计划与管理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至结题评审（2026-10-22（项目周期 9 周））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55680" cy="3264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5120640"/>
                <a:gridCol w="146304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时间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关键任务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负责人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风险预案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准备期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10.09 – 10.12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完成 8 小时连续工况测试；锁定千片 BOM 报价；准备 B 端报价单与验收标准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李昊桐 / 邵子中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若温升超标：改铝基板加厚 + 降 10% 驱动电流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测试期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10.13 – 10.18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B 端首单 20 台试制与交付；目标用户可用性测试 10 人（≥80% 无需手扶）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姜亚楷 / 李昊桐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若首单延期：先交 10 台，剩余顺延一周并同步客户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收尾期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10.19 – 10.22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结题材料定稿、演示展板与对比演示、模拟答辩 1 次（自评 ≥85 分）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全体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若模拟答辩 &lt;85 分：砍掉附录并重排讲解顺序，优先保资源全景与价值主张两页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974336"/>
            <a:ext cx="11155680" cy="12984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047488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42933"/>
                </a:solidFill>
                <a:latin typeface="微软雅黑"/>
                <a:ea typeface="微软雅黑"/>
              </a:rPr>
              <a:t>资源调配预案（若关键资源不到位）：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42933"/>
                </a:solidFill>
                <a:latin typeface="微软雅黑"/>
                <a:ea typeface="微软雅黑"/>
              </a:rPr>
              <a:t>① 若注塑模具资金未落实 → 退回 3D 打印小批量路径，BOM 停在 ¥52.3，商业目标改为“成本自给（回收打样投入）”，不追求规模毛利；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42933"/>
                </a:solidFill>
                <a:latin typeface="微软雅黑"/>
                <a:ea typeface="微软雅黑"/>
              </a:rPr>
              <a:t>② 若 B 端首单未成 → 把 20 台样品转为“创客空间演示 + 社团借用”渠道，用使用数据换取第二批意向；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42933"/>
                </a:solidFill>
                <a:latin typeface="微软雅黑"/>
                <a:ea typeface="微软雅黑"/>
              </a:rPr>
              <a:t>③ 若 8 小时连续工况温升超标 → 降 10% 驱动电流并加厚铝基板，牺牲约 8% 照度保安全（安全性在评审中占 20% 权重）。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Q&amp;A 预判页：3 个最尖锐问题与应对话术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EntreComp 映射：不确定性管理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来源于项目健康度自检识别出的薄弱环节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291840"/>
                <a:gridCol w="722376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序号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尖锐问题（来源于薄弱环节）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应对话术（含数据 / 证据）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146304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H-004 假设进度为 0%，你们凭什么说项目进展符合预期？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认同这是最弱一环，但它是“结构性不可验证”而非“没做事”：90 天复购需要真实销售后回访，选题评审结束到现在只有 12 天，任何数据都会是伪造的。我们的处理是把 H-004 降级为“观测项”，改用一个能在本轮拿到数据的代理指标——B 端批量续订意愿（现有 1 份 20 台意向，10 月 20 日前交付即形成首个续订观察点）。同时我们把 3 项能验证的假设（H-001/H-002/H-005）全部做到有量化结论，验证覆盖率 60%，而不是宣称 100%。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146304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每 2.1 人时才产出 1 条验证数据，这个效率是不是偏低？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把 336 人时全部算作验证投入，效率确实不高。拆开看：验证执行只占 48 人时（14%），其中真正在采集数据的时间约 26 人时，产出 157 条数据 = 每 0.17 人时 1 条，这个口径下效率是合理的；拖低整体数字的是 96 人时的学技术（从零学 32 位 MCU 与恒流调光）和 72 人时的返工（其中 40 人时源于一次问卷与一次观察表设计错误）。我们已经在流程上加了两道前置检查（配额表预审、观察指标预演），后续同类返工目标降到 20 人时以内。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1463040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成本已经花了 ¥2,280，还要再投 ¥5,000，钱从哪来？超支怎么办？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下一阶段的 ¥5,000 里 ¥3,000 是注塑 DFM 与模具定金，这是把 BOM 从 ¥52.3 压到 ¥37.6、让保本销量从 2,886 台降到 1,232 台的唯一路径，属于投资性支出而非消耗。资金来源三条：① 竞赛作品预算结余（原管理方案 ¥1,100 已用 ¥940，本轮另有团队自筹）；② 学校创客空间小额资助；③ B 端首单预付款（20 台 × ¥59 = ¥1,180）。控制机制：单次试错上限 ¥500、双周对账、财务监督员姜亚楷；若 10 月 20 日前首单未成，则放弃开模、退回 3D 打印小批量路径，BOM 停在 ¥52.3 并接受毛利率仅 11.2% 的现实——这是我们提前写明的退路。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6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3B63"/>
                </a:solidFill>
                <a:latin typeface="微软雅黑"/>
                <a:ea typeface="微软雅黑"/>
              </a:rPr>
              <a:t>附录：数据来源与“三可追溯”索引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7F57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484"/>
                </a:solidFill>
                <a:latin typeface="微软雅黑"/>
                <a:ea typeface="微软雅黑"/>
              </a:rPr>
              <a:t>本页不计入正页页数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8309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484"/>
                </a:solidFill>
                <a:latin typeface="微软雅黑"/>
                <a:ea typeface="微软雅黑"/>
              </a:rPr>
              <a:t>仿真跑不队 · 磁吸焊接辅助手电 · 中期汇报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830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F3B63"/>
                </a:solidFill>
                <a:latin typeface="微软雅黑"/>
                <a:ea typeface="微软雅黑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155680" cy="398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6217920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数据项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来源（可查）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采集时间</a:t>
                      </a:r>
                    </a:p>
                  </a:txBody>
                  <a:tcPr anchor="ctr" marL="54864" marR="54864" marT="18288" marB="18288">
                    <a:solidFill>
                      <a:srgbClr val="1F3B6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资源投入（336 人时 / ¥2,280）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工时台账（飞书表格）+ 采购与支出记录（含订单截图）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2026-09-26 — 10-08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有效验证数据 157 条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问卷后台导出 87 + A/B 记录 20 + 民族志观察表 15 + 回访记录 20 + 盲测表 15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2026-09-25 — 10-07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付费行为数据 43 份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预售页下单记录 23 + 1 元意向金收款记录 20（可退）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2026-09-25 — 10-06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竞品盲测（N=15，5 维度）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用户盲测评分表（不告知品牌），5 维度 1–5 分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2026-10-06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假设状态与基线数据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《选题优化方案书》精益画布 V3.0（选题评审阶段基线）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2026-09-26</a:t>
                      </a:r>
                    </a:p>
                  </a:txBody>
                  <a:tcPr anchor="ctr" marL="54864" marR="54864" marT="18288" marB="18288">
                    <a:solidFill>
                      <a:srgbClr val="F4F6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成本与 BOM 报价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LCSC 批量价页面 + 3 家机构件供应商报价单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42933"/>
                          </a:solidFill>
                          <a:latin typeface="微软雅黑"/>
                          <a:ea typeface="微软雅黑"/>
                        </a:rPr>
                        <a:t>2026-09-25 起 30 天有效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F3B63"/>
                </a:solidFill>
                <a:latin typeface="微软雅黑"/>
                <a:ea typeface="微软雅黑"/>
              </a:rPr>
              <a:t>三可追溯：来源可查（文件 / 时间 / 样本量）× 过程可复现（方法 / 配额 / 剔除规则）× 结果可验证（原始记录截图，编号 B-1 ~ B-13）。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