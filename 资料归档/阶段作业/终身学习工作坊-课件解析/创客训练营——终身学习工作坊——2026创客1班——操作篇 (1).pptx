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handoutMasterIdLst>
    <p:handoutMasterId r:id="rId78"/>
  </p:handoutMasterIdLst>
  <p:sldIdLst>
    <p:sldId id="692" r:id="rId2"/>
    <p:sldId id="627" r:id="rId3"/>
    <p:sldId id="628" r:id="rId4"/>
    <p:sldId id="666" r:id="rId5"/>
    <p:sldId id="693" r:id="rId6"/>
    <p:sldId id="694" r:id="rId7"/>
    <p:sldId id="695" r:id="rId8"/>
    <p:sldId id="696" r:id="rId9"/>
    <p:sldId id="697" r:id="rId10"/>
    <p:sldId id="698" r:id="rId11"/>
    <p:sldId id="699" r:id="rId12"/>
    <p:sldId id="679" r:id="rId13"/>
    <p:sldId id="700" r:id="rId14"/>
    <p:sldId id="701" r:id="rId15"/>
    <p:sldId id="702" r:id="rId16"/>
    <p:sldId id="703" r:id="rId17"/>
    <p:sldId id="704" r:id="rId18"/>
    <p:sldId id="705" r:id="rId19"/>
    <p:sldId id="706" r:id="rId20"/>
    <p:sldId id="707" r:id="rId21"/>
    <p:sldId id="708" r:id="rId22"/>
    <p:sldId id="709" r:id="rId23"/>
    <p:sldId id="710" r:id="rId24"/>
    <p:sldId id="711" r:id="rId25"/>
    <p:sldId id="712" r:id="rId26"/>
    <p:sldId id="713" r:id="rId27"/>
    <p:sldId id="715" r:id="rId28"/>
    <p:sldId id="716" r:id="rId29"/>
    <p:sldId id="717" r:id="rId30"/>
    <p:sldId id="718" r:id="rId31"/>
    <p:sldId id="719" r:id="rId32"/>
    <p:sldId id="720" r:id="rId33"/>
    <p:sldId id="721" r:id="rId34"/>
    <p:sldId id="722" r:id="rId35"/>
    <p:sldId id="723" r:id="rId36"/>
    <p:sldId id="724" r:id="rId37"/>
    <p:sldId id="725" r:id="rId38"/>
    <p:sldId id="726" r:id="rId39"/>
    <p:sldId id="727" r:id="rId40"/>
    <p:sldId id="714" r:id="rId41"/>
    <p:sldId id="729" r:id="rId42"/>
    <p:sldId id="730" r:id="rId43"/>
    <p:sldId id="731" r:id="rId44"/>
    <p:sldId id="732" r:id="rId45"/>
    <p:sldId id="733" r:id="rId46"/>
    <p:sldId id="734" r:id="rId47"/>
    <p:sldId id="735" r:id="rId48"/>
    <p:sldId id="736" r:id="rId49"/>
    <p:sldId id="737" r:id="rId50"/>
    <p:sldId id="738" r:id="rId51"/>
    <p:sldId id="739" r:id="rId52"/>
    <p:sldId id="740" r:id="rId53"/>
    <p:sldId id="741" r:id="rId54"/>
    <p:sldId id="742" r:id="rId55"/>
    <p:sldId id="743" r:id="rId56"/>
    <p:sldId id="744" r:id="rId57"/>
    <p:sldId id="745" r:id="rId58"/>
    <p:sldId id="746" r:id="rId59"/>
    <p:sldId id="747" r:id="rId60"/>
    <p:sldId id="748" r:id="rId61"/>
    <p:sldId id="686" r:id="rId62"/>
    <p:sldId id="687" r:id="rId63"/>
    <p:sldId id="750" r:id="rId64"/>
    <p:sldId id="749" r:id="rId65"/>
    <p:sldId id="751" r:id="rId66"/>
    <p:sldId id="752" r:id="rId67"/>
    <p:sldId id="753" r:id="rId68"/>
    <p:sldId id="754" r:id="rId69"/>
    <p:sldId id="755" r:id="rId70"/>
    <p:sldId id="756" r:id="rId71"/>
    <p:sldId id="757" r:id="rId72"/>
    <p:sldId id="758" r:id="rId73"/>
    <p:sldId id="689" r:id="rId74"/>
    <p:sldId id="690" r:id="rId75"/>
    <p:sldId id="623" r:id="rId76"/>
  </p:sldIdLst>
  <p:sldSz cx="9144000" cy="5143500" type="screen16x9"/>
  <p:notesSz cx="9926638"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B2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87765" autoAdjust="0"/>
  </p:normalViewPr>
  <p:slideViewPr>
    <p:cSldViewPr>
      <p:cViewPr varScale="1">
        <p:scale>
          <a:sx n="132" d="100"/>
          <a:sy n="132" d="100"/>
        </p:scale>
        <p:origin x="1224" y="114"/>
      </p:cViewPr>
      <p:guideLst>
        <p:guide orient="horz" pos="1620"/>
        <p:guide pos="2880"/>
      </p:guideLst>
    </p:cSldViewPr>
  </p:slideViewPr>
  <p:notesTextViewPr>
    <p:cViewPr>
      <p:scale>
        <a:sx n="1" d="1"/>
        <a:sy n="1" d="1"/>
      </p:scale>
      <p:origin x="0" y="0"/>
    </p:cViewPr>
  </p:notesTextViewPr>
  <p:notesViewPr>
    <p:cSldViewPr>
      <p:cViewPr varScale="1">
        <p:scale>
          <a:sx n="79" d="100"/>
          <a:sy n="79" d="100"/>
        </p:scale>
        <p:origin x="-4074" y="-102"/>
      </p:cViewPr>
      <p:guideLst>
        <p:guide orient="horz" pos="2141"/>
        <p:guide pos="312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543"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799" y="0"/>
            <a:ext cx="4301543" cy="339884"/>
          </a:xfrm>
          <a:prstGeom prst="rect">
            <a:avLst/>
          </a:prstGeom>
        </p:spPr>
        <p:txBody>
          <a:bodyPr vert="horz" lIns="91440" tIns="45720" rIns="91440" bIns="45720" rtlCol="0"/>
          <a:lstStyle>
            <a:lvl1pPr algn="r">
              <a:defRPr sz="1200"/>
            </a:lvl1pPr>
          </a:lstStyle>
          <a:p>
            <a:fld id="{3B3E2D12-2F38-4D42-802C-11A388691E45}" type="datetimeFigureOut">
              <a:rPr lang="zh-CN" altLang="en-US" smtClean="0"/>
              <a:t>2026/9/23</a:t>
            </a:fld>
            <a:endParaRPr lang="zh-CN" altLang="en-US"/>
          </a:p>
        </p:txBody>
      </p:sp>
      <p:sp>
        <p:nvSpPr>
          <p:cNvPr id="4" name="页脚占位符 3"/>
          <p:cNvSpPr>
            <a:spLocks noGrp="1"/>
          </p:cNvSpPr>
          <p:nvPr>
            <p:ph type="ftr" sz="quarter" idx="2"/>
          </p:nvPr>
        </p:nvSpPr>
        <p:spPr>
          <a:xfrm>
            <a:off x="1" y="6456612"/>
            <a:ext cx="4301543"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799" y="6456612"/>
            <a:ext cx="4301543" cy="339884"/>
          </a:xfrm>
          <a:prstGeom prst="rect">
            <a:avLst/>
          </a:prstGeom>
        </p:spPr>
        <p:txBody>
          <a:bodyPr vert="horz" lIns="91440" tIns="45720" rIns="91440" bIns="45720" rtlCol="0" anchor="b"/>
          <a:lstStyle>
            <a:lvl1pPr algn="r">
              <a:defRPr sz="1200"/>
            </a:lvl1pPr>
          </a:lstStyle>
          <a:p>
            <a:fld id="{093CC510-0883-49F7-8F7A-F1982F114CA8}" type="slidenum">
              <a:rPr lang="zh-CN" altLang="en-US" smtClean="0"/>
              <a:t>‹#›</a:t>
            </a:fld>
            <a:endParaRPr lang="zh-CN" altLang="en-US"/>
          </a:p>
        </p:txBody>
      </p:sp>
    </p:spTree>
    <p:extLst>
      <p:ext uri="{BB962C8B-B14F-4D97-AF65-F5344CB8AC3E}">
        <p14:creationId xmlns:p14="http://schemas.microsoft.com/office/powerpoint/2010/main" val="13701981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553" cy="33972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1755" y="0"/>
            <a:ext cx="4302553" cy="339722"/>
          </a:xfrm>
          <a:prstGeom prst="rect">
            <a:avLst/>
          </a:prstGeom>
        </p:spPr>
        <p:txBody>
          <a:bodyPr vert="horz" lIns="91440" tIns="45720" rIns="91440" bIns="45720" rtlCol="0"/>
          <a:lstStyle>
            <a:lvl1pPr algn="r">
              <a:defRPr sz="1200"/>
            </a:lvl1pPr>
          </a:lstStyle>
          <a:p>
            <a:fld id="{297120EB-600B-4735-BE86-090050C337CD}" type="datetimeFigureOut">
              <a:rPr lang="zh-CN" altLang="en-US" smtClean="0"/>
              <a:t>2026/9/23</a:t>
            </a:fld>
            <a:endParaRPr lang="zh-CN" altLang="en-US"/>
          </a:p>
        </p:txBody>
      </p:sp>
      <p:sp>
        <p:nvSpPr>
          <p:cNvPr id="4" name="幻灯片图像占位符 3"/>
          <p:cNvSpPr>
            <a:spLocks noGrp="1" noRot="1" noChangeAspect="1"/>
          </p:cNvSpPr>
          <p:nvPr>
            <p:ph type="sldImg" idx="2"/>
          </p:nvPr>
        </p:nvSpPr>
        <p:spPr>
          <a:xfrm>
            <a:off x="2697163" y="509588"/>
            <a:ext cx="4532312"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99" y="3228978"/>
            <a:ext cx="7940845" cy="305857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869"/>
            <a:ext cx="4302553" cy="33972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1755" y="6456869"/>
            <a:ext cx="4302553" cy="339721"/>
          </a:xfrm>
          <a:prstGeom prst="rect">
            <a:avLst/>
          </a:prstGeom>
        </p:spPr>
        <p:txBody>
          <a:bodyPr vert="horz" lIns="91440" tIns="45720" rIns="91440" bIns="45720" rtlCol="0" anchor="b"/>
          <a:lstStyle>
            <a:lvl1pPr algn="r">
              <a:defRPr sz="1200"/>
            </a:lvl1pPr>
          </a:lstStyle>
          <a:p>
            <a:fld id="{87C88C8B-08D5-4B40-BCC9-A95CA2CAD9C2}" type="slidenum">
              <a:rPr lang="zh-CN" altLang="en-US" smtClean="0"/>
              <a:t>‹#›</a:t>
            </a:fld>
            <a:endParaRPr lang="zh-CN" altLang="en-US"/>
          </a:p>
        </p:txBody>
      </p:sp>
    </p:spTree>
    <p:extLst>
      <p:ext uri="{BB962C8B-B14F-4D97-AF65-F5344CB8AC3E}">
        <p14:creationId xmlns:p14="http://schemas.microsoft.com/office/powerpoint/2010/main" val="2981009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1</a:t>
            </a:fld>
            <a:endParaRPr lang="zh-CN" altLang="en-US"/>
          </a:p>
        </p:txBody>
      </p:sp>
    </p:spTree>
    <p:extLst>
      <p:ext uri="{BB962C8B-B14F-4D97-AF65-F5344CB8AC3E}">
        <p14:creationId xmlns:p14="http://schemas.microsoft.com/office/powerpoint/2010/main" val="3010071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a:t>
            </a:fld>
            <a:endParaRPr lang="zh-CN" altLang="en-US"/>
          </a:p>
        </p:txBody>
      </p:sp>
    </p:spTree>
    <p:extLst>
      <p:ext uri="{BB962C8B-B14F-4D97-AF65-F5344CB8AC3E}">
        <p14:creationId xmlns:p14="http://schemas.microsoft.com/office/powerpoint/2010/main" val="107706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a:t>
            </a:fld>
            <a:endParaRPr lang="zh-CN" altLang="en-US"/>
          </a:p>
        </p:txBody>
      </p:sp>
    </p:spTree>
    <p:extLst>
      <p:ext uri="{BB962C8B-B14F-4D97-AF65-F5344CB8AC3E}">
        <p14:creationId xmlns:p14="http://schemas.microsoft.com/office/powerpoint/2010/main" val="121636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a:t>
            </a:fld>
            <a:endParaRPr lang="zh-CN" altLang="en-US"/>
          </a:p>
        </p:txBody>
      </p:sp>
    </p:spTree>
    <p:extLst>
      <p:ext uri="{BB962C8B-B14F-4D97-AF65-F5344CB8AC3E}">
        <p14:creationId xmlns:p14="http://schemas.microsoft.com/office/powerpoint/2010/main" val="3954562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a:t>
            </a:fld>
            <a:endParaRPr lang="zh-CN" altLang="en-US"/>
          </a:p>
        </p:txBody>
      </p:sp>
    </p:spTree>
    <p:extLst>
      <p:ext uri="{BB962C8B-B14F-4D97-AF65-F5344CB8AC3E}">
        <p14:creationId xmlns:p14="http://schemas.microsoft.com/office/powerpoint/2010/main" val="3782553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8</a:t>
            </a:fld>
            <a:endParaRPr lang="zh-CN" altLang="en-US"/>
          </a:p>
        </p:txBody>
      </p:sp>
    </p:spTree>
    <p:extLst>
      <p:ext uri="{BB962C8B-B14F-4D97-AF65-F5344CB8AC3E}">
        <p14:creationId xmlns:p14="http://schemas.microsoft.com/office/powerpoint/2010/main" val="2509156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9</a:t>
            </a:fld>
            <a:endParaRPr lang="zh-CN" altLang="en-US"/>
          </a:p>
        </p:txBody>
      </p:sp>
    </p:spTree>
    <p:extLst>
      <p:ext uri="{BB962C8B-B14F-4D97-AF65-F5344CB8AC3E}">
        <p14:creationId xmlns:p14="http://schemas.microsoft.com/office/powerpoint/2010/main" val="3782089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a:t>
            </a:fld>
            <a:endParaRPr lang="zh-CN" altLang="en-US"/>
          </a:p>
        </p:txBody>
      </p:sp>
    </p:spTree>
    <p:extLst>
      <p:ext uri="{BB962C8B-B14F-4D97-AF65-F5344CB8AC3E}">
        <p14:creationId xmlns:p14="http://schemas.microsoft.com/office/powerpoint/2010/main" val="2782748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11</a:t>
            </a:fld>
            <a:endParaRPr lang="zh-CN" altLang="en-US"/>
          </a:p>
        </p:txBody>
      </p:sp>
    </p:spTree>
    <p:extLst>
      <p:ext uri="{BB962C8B-B14F-4D97-AF65-F5344CB8AC3E}">
        <p14:creationId xmlns:p14="http://schemas.microsoft.com/office/powerpoint/2010/main" val="1560757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12</a:t>
            </a:fld>
            <a:endParaRPr lang="zh-CN" altLang="en-US"/>
          </a:p>
        </p:txBody>
      </p:sp>
    </p:spTree>
    <p:extLst>
      <p:ext uri="{BB962C8B-B14F-4D97-AF65-F5344CB8AC3E}">
        <p14:creationId xmlns:p14="http://schemas.microsoft.com/office/powerpoint/2010/main" val="2002047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13</a:t>
            </a:fld>
            <a:endParaRPr lang="zh-CN" altLang="en-US"/>
          </a:p>
        </p:txBody>
      </p:sp>
    </p:spTree>
    <p:extLst>
      <p:ext uri="{BB962C8B-B14F-4D97-AF65-F5344CB8AC3E}">
        <p14:creationId xmlns:p14="http://schemas.microsoft.com/office/powerpoint/2010/main" val="1120073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14</a:t>
            </a:fld>
            <a:endParaRPr lang="zh-CN" altLang="en-US"/>
          </a:p>
        </p:txBody>
      </p:sp>
    </p:spTree>
    <p:extLst>
      <p:ext uri="{BB962C8B-B14F-4D97-AF65-F5344CB8AC3E}">
        <p14:creationId xmlns:p14="http://schemas.microsoft.com/office/powerpoint/2010/main" val="2203556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15</a:t>
            </a:fld>
            <a:endParaRPr lang="zh-CN" altLang="en-US"/>
          </a:p>
        </p:txBody>
      </p:sp>
    </p:spTree>
    <p:extLst>
      <p:ext uri="{BB962C8B-B14F-4D97-AF65-F5344CB8AC3E}">
        <p14:creationId xmlns:p14="http://schemas.microsoft.com/office/powerpoint/2010/main" val="283918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16</a:t>
            </a:fld>
            <a:endParaRPr lang="zh-CN" altLang="en-US"/>
          </a:p>
        </p:txBody>
      </p:sp>
    </p:spTree>
    <p:extLst>
      <p:ext uri="{BB962C8B-B14F-4D97-AF65-F5344CB8AC3E}">
        <p14:creationId xmlns:p14="http://schemas.microsoft.com/office/powerpoint/2010/main" val="4173763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17</a:t>
            </a:fld>
            <a:endParaRPr lang="zh-CN" altLang="en-US"/>
          </a:p>
        </p:txBody>
      </p:sp>
    </p:spTree>
    <p:extLst>
      <p:ext uri="{BB962C8B-B14F-4D97-AF65-F5344CB8AC3E}">
        <p14:creationId xmlns:p14="http://schemas.microsoft.com/office/powerpoint/2010/main" val="3427335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18</a:t>
            </a:fld>
            <a:endParaRPr lang="zh-CN" altLang="en-US"/>
          </a:p>
        </p:txBody>
      </p:sp>
    </p:spTree>
    <p:extLst>
      <p:ext uri="{BB962C8B-B14F-4D97-AF65-F5344CB8AC3E}">
        <p14:creationId xmlns:p14="http://schemas.microsoft.com/office/powerpoint/2010/main" val="1820317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19</a:t>
            </a:fld>
            <a:endParaRPr lang="zh-CN" altLang="en-US"/>
          </a:p>
        </p:txBody>
      </p:sp>
    </p:spTree>
    <p:extLst>
      <p:ext uri="{BB962C8B-B14F-4D97-AF65-F5344CB8AC3E}">
        <p14:creationId xmlns:p14="http://schemas.microsoft.com/office/powerpoint/2010/main" val="2048206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20</a:t>
            </a:fld>
            <a:endParaRPr lang="zh-CN" altLang="en-US"/>
          </a:p>
        </p:txBody>
      </p:sp>
    </p:spTree>
    <p:extLst>
      <p:ext uri="{BB962C8B-B14F-4D97-AF65-F5344CB8AC3E}">
        <p14:creationId xmlns:p14="http://schemas.microsoft.com/office/powerpoint/2010/main" val="553495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21</a:t>
            </a:fld>
            <a:endParaRPr lang="zh-CN" altLang="en-US"/>
          </a:p>
        </p:txBody>
      </p:sp>
    </p:spTree>
    <p:extLst>
      <p:ext uri="{BB962C8B-B14F-4D97-AF65-F5344CB8AC3E}">
        <p14:creationId xmlns:p14="http://schemas.microsoft.com/office/powerpoint/2010/main" val="4067797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22</a:t>
            </a:fld>
            <a:endParaRPr lang="zh-CN" altLang="en-US"/>
          </a:p>
        </p:txBody>
      </p:sp>
    </p:spTree>
    <p:extLst>
      <p:ext uri="{BB962C8B-B14F-4D97-AF65-F5344CB8AC3E}">
        <p14:creationId xmlns:p14="http://schemas.microsoft.com/office/powerpoint/2010/main" val="3911565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23</a:t>
            </a:fld>
            <a:endParaRPr lang="zh-CN" altLang="en-US"/>
          </a:p>
        </p:txBody>
      </p:sp>
    </p:spTree>
    <p:extLst>
      <p:ext uri="{BB962C8B-B14F-4D97-AF65-F5344CB8AC3E}">
        <p14:creationId xmlns:p14="http://schemas.microsoft.com/office/powerpoint/2010/main" val="29696398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24</a:t>
            </a:fld>
            <a:endParaRPr lang="zh-CN" altLang="en-US"/>
          </a:p>
        </p:txBody>
      </p:sp>
    </p:spTree>
    <p:extLst>
      <p:ext uri="{BB962C8B-B14F-4D97-AF65-F5344CB8AC3E}">
        <p14:creationId xmlns:p14="http://schemas.microsoft.com/office/powerpoint/2010/main" val="3193088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25</a:t>
            </a:fld>
            <a:endParaRPr lang="zh-CN" altLang="en-US"/>
          </a:p>
        </p:txBody>
      </p:sp>
    </p:spTree>
    <p:extLst>
      <p:ext uri="{BB962C8B-B14F-4D97-AF65-F5344CB8AC3E}">
        <p14:creationId xmlns:p14="http://schemas.microsoft.com/office/powerpoint/2010/main" val="351289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26</a:t>
            </a:fld>
            <a:endParaRPr lang="zh-CN" altLang="en-US"/>
          </a:p>
        </p:txBody>
      </p:sp>
    </p:spTree>
    <p:extLst>
      <p:ext uri="{BB962C8B-B14F-4D97-AF65-F5344CB8AC3E}">
        <p14:creationId xmlns:p14="http://schemas.microsoft.com/office/powerpoint/2010/main" val="39749323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27</a:t>
            </a:fld>
            <a:endParaRPr lang="zh-CN" altLang="en-US"/>
          </a:p>
        </p:txBody>
      </p:sp>
    </p:spTree>
    <p:extLst>
      <p:ext uri="{BB962C8B-B14F-4D97-AF65-F5344CB8AC3E}">
        <p14:creationId xmlns:p14="http://schemas.microsoft.com/office/powerpoint/2010/main" val="1150001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28</a:t>
            </a:fld>
            <a:endParaRPr lang="zh-CN" altLang="en-US"/>
          </a:p>
        </p:txBody>
      </p:sp>
    </p:spTree>
    <p:extLst>
      <p:ext uri="{BB962C8B-B14F-4D97-AF65-F5344CB8AC3E}">
        <p14:creationId xmlns:p14="http://schemas.microsoft.com/office/powerpoint/2010/main" val="4212002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29</a:t>
            </a:fld>
            <a:endParaRPr lang="zh-CN" altLang="en-US"/>
          </a:p>
        </p:txBody>
      </p:sp>
    </p:spTree>
    <p:extLst>
      <p:ext uri="{BB962C8B-B14F-4D97-AF65-F5344CB8AC3E}">
        <p14:creationId xmlns:p14="http://schemas.microsoft.com/office/powerpoint/2010/main" val="3050181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30</a:t>
            </a:fld>
            <a:endParaRPr lang="zh-CN" altLang="en-US"/>
          </a:p>
        </p:txBody>
      </p:sp>
    </p:spTree>
    <p:extLst>
      <p:ext uri="{BB962C8B-B14F-4D97-AF65-F5344CB8AC3E}">
        <p14:creationId xmlns:p14="http://schemas.microsoft.com/office/powerpoint/2010/main" val="2433349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31</a:t>
            </a:fld>
            <a:endParaRPr lang="zh-CN" altLang="en-US"/>
          </a:p>
        </p:txBody>
      </p:sp>
    </p:spTree>
    <p:extLst>
      <p:ext uri="{BB962C8B-B14F-4D97-AF65-F5344CB8AC3E}">
        <p14:creationId xmlns:p14="http://schemas.microsoft.com/office/powerpoint/2010/main" val="1765698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32</a:t>
            </a:fld>
            <a:endParaRPr lang="zh-CN" altLang="en-US"/>
          </a:p>
        </p:txBody>
      </p:sp>
    </p:spTree>
    <p:extLst>
      <p:ext uri="{BB962C8B-B14F-4D97-AF65-F5344CB8AC3E}">
        <p14:creationId xmlns:p14="http://schemas.microsoft.com/office/powerpoint/2010/main" val="17102951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33</a:t>
            </a:fld>
            <a:endParaRPr lang="zh-CN" altLang="en-US"/>
          </a:p>
        </p:txBody>
      </p:sp>
    </p:spTree>
    <p:extLst>
      <p:ext uri="{BB962C8B-B14F-4D97-AF65-F5344CB8AC3E}">
        <p14:creationId xmlns:p14="http://schemas.microsoft.com/office/powerpoint/2010/main" val="3102838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34</a:t>
            </a:fld>
            <a:endParaRPr lang="zh-CN" altLang="en-US"/>
          </a:p>
        </p:txBody>
      </p:sp>
    </p:spTree>
    <p:extLst>
      <p:ext uri="{BB962C8B-B14F-4D97-AF65-F5344CB8AC3E}">
        <p14:creationId xmlns:p14="http://schemas.microsoft.com/office/powerpoint/2010/main" val="24754268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35</a:t>
            </a:fld>
            <a:endParaRPr lang="zh-CN" altLang="en-US"/>
          </a:p>
        </p:txBody>
      </p:sp>
    </p:spTree>
    <p:extLst>
      <p:ext uri="{BB962C8B-B14F-4D97-AF65-F5344CB8AC3E}">
        <p14:creationId xmlns:p14="http://schemas.microsoft.com/office/powerpoint/2010/main" val="35012957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36</a:t>
            </a:fld>
            <a:endParaRPr lang="zh-CN" altLang="en-US"/>
          </a:p>
        </p:txBody>
      </p:sp>
    </p:spTree>
    <p:extLst>
      <p:ext uri="{BB962C8B-B14F-4D97-AF65-F5344CB8AC3E}">
        <p14:creationId xmlns:p14="http://schemas.microsoft.com/office/powerpoint/2010/main" val="14436894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37</a:t>
            </a:fld>
            <a:endParaRPr lang="zh-CN" altLang="en-US"/>
          </a:p>
        </p:txBody>
      </p:sp>
    </p:spTree>
    <p:extLst>
      <p:ext uri="{BB962C8B-B14F-4D97-AF65-F5344CB8AC3E}">
        <p14:creationId xmlns:p14="http://schemas.microsoft.com/office/powerpoint/2010/main" val="1736017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38</a:t>
            </a:fld>
            <a:endParaRPr lang="zh-CN" altLang="en-US"/>
          </a:p>
        </p:txBody>
      </p:sp>
    </p:spTree>
    <p:extLst>
      <p:ext uri="{BB962C8B-B14F-4D97-AF65-F5344CB8AC3E}">
        <p14:creationId xmlns:p14="http://schemas.microsoft.com/office/powerpoint/2010/main" val="1577298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39</a:t>
            </a:fld>
            <a:endParaRPr lang="zh-CN" altLang="en-US"/>
          </a:p>
        </p:txBody>
      </p:sp>
    </p:spTree>
    <p:extLst>
      <p:ext uri="{BB962C8B-B14F-4D97-AF65-F5344CB8AC3E}">
        <p14:creationId xmlns:p14="http://schemas.microsoft.com/office/powerpoint/2010/main" val="35075399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40</a:t>
            </a:fld>
            <a:endParaRPr lang="zh-CN" altLang="en-US"/>
          </a:p>
        </p:txBody>
      </p:sp>
    </p:spTree>
    <p:extLst>
      <p:ext uri="{BB962C8B-B14F-4D97-AF65-F5344CB8AC3E}">
        <p14:creationId xmlns:p14="http://schemas.microsoft.com/office/powerpoint/2010/main" val="2588063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41</a:t>
            </a:fld>
            <a:endParaRPr lang="zh-CN" altLang="en-US"/>
          </a:p>
        </p:txBody>
      </p:sp>
    </p:spTree>
    <p:extLst>
      <p:ext uri="{BB962C8B-B14F-4D97-AF65-F5344CB8AC3E}">
        <p14:creationId xmlns:p14="http://schemas.microsoft.com/office/powerpoint/2010/main" val="10811426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42</a:t>
            </a:fld>
            <a:endParaRPr lang="zh-CN" altLang="en-US"/>
          </a:p>
        </p:txBody>
      </p:sp>
    </p:spTree>
    <p:extLst>
      <p:ext uri="{BB962C8B-B14F-4D97-AF65-F5344CB8AC3E}">
        <p14:creationId xmlns:p14="http://schemas.microsoft.com/office/powerpoint/2010/main" val="37978676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43</a:t>
            </a:fld>
            <a:endParaRPr lang="zh-CN" altLang="en-US"/>
          </a:p>
        </p:txBody>
      </p:sp>
    </p:spTree>
    <p:extLst>
      <p:ext uri="{BB962C8B-B14F-4D97-AF65-F5344CB8AC3E}">
        <p14:creationId xmlns:p14="http://schemas.microsoft.com/office/powerpoint/2010/main" val="573546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44</a:t>
            </a:fld>
            <a:endParaRPr lang="zh-CN" altLang="en-US"/>
          </a:p>
        </p:txBody>
      </p:sp>
    </p:spTree>
    <p:extLst>
      <p:ext uri="{BB962C8B-B14F-4D97-AF65-F5344CB8AC3E}">
        <p14:creationId xmlns:p14="http://schemas.microsoft.com/office/powerpoint/2010/main" val="38800229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45</a:t>
            </a:fld>
            <a:endParaRPr lang="zh-CN" altLang="en-US"/>
          </a:p>
        </p:txBody>
      </p:sp>
    </p:spTree>
    <p:extLst>
      <p:ext uri="{BB962C8B-B14F-4D97-AF65-F5344CB8AC3E}">
        <p14:creationId xmlns:p14="http://schemas.microsoft.com/office/powerpoint/2010/main" val="38468462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46</a:t>
            </a:fld>
            <a:endParaRPr lang="zh-CN" altLang="en-US"/>
          </a:p>
        </p:txBody>
      </p:sp>
    </p:spTree>
    <p:extLst>
      <p:ext uri="{BB962C8B-B14F-4D97-AF65-F5344CB8AC3E}">
        <p14:creationId xmlns:p14="http://schemas.microsoft.com/office/powerpoint/2010/main" val="11035282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47</a:t>
            </a:fld>
            <a:endParaRPr lang="zh-CN" altLang="en-US"/>
          </a:p>
        </p:txBody>
      </p:sp>
    </p:spTree>
    <p:extLst>
      <p:ext uri="{BB962C8B-B14F-4D97-AF65-F5344CB8AC3E}">
        <p14:creationId xmlns:p14="http://schemas.microsoft.com/office/powerpoint/2010/main" val="36042145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48</a:t>
            </a:fld>
            <a:endParaRPr lang="zh-CN" altLang="en-US"/>
          </a:p>
        </p:txBody>
      </p:sp>
    </p:spTree>
    <p:extLst>
      <p:ext uri="{BB962C8B-B14F-4D97-AF65-F5344CB8AC3E}">
        <p14:creationId xmlns:p14="http://schemas.microsoft.com/office/powerpoint/2010/main" val="42460960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49</a:t>
            </a:fld>
            <a:endParaRPr lang="zh-CN" altLang="en-US"/>
          </a:p>
        </p:txBody>
      </p:sp>
    </p:spTree>
    <p:extLst>
      <p:ext uri="{BB962C8B-B14F-4D97-AF65-F5344CB8AC3E}">
        <p14:creationId xmlns:p14="http://schemas.microsoft.com/office/powerpoint/2010/main" val="2965042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50</a:t>
            </a:fld>
            <a:endParaRPr lang="zh-CN" altLang="en-US"/>
          </a:p>
        </p:txBody>
      </p:sp>
    </p:spTree>
    <p:extLst>
      <p:ext uri="{BB962C8B-B14F-4D97-AF65-F5344CB8AC3E}">
        <p14:creationId xmlns:p14="http://schemas.microsoft.com/office/powerpoint/2010/main" val="5920197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51</a:t>
            </a:fld>
            <a:endParaRPr lang="zh-CN" altLang="en-US"/>
          </a:p>
        </p:txBody>
      </p:sp>
    </p:spTree>
    <p:extLst>
      <p:ext uri="{BB962C8B-B14F-4D97-AF65-F5344CB8AC3E}">
        <p14:creationId xmlns:p14="http://schemas.microsoft.com/office/powerpoint/2010/main" val="34320883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52</a:t>
            </a:fld>
            <a:endParaRPr lang="zh-CN" altLang="en-US"/>
          </a:p>
        </p:txBody>
      </p:sp>
    </p:spTree>
    <p:extLst>
      <p:ext uri="{BB962C8B-B14F-4D97-AF65-F5344CB8AC3E}">
        <p14:creationId xmlns:p14="http://schemas.microsoft.com/office/powerpoint/2010/main" val="15538111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53</a:t>
            </a:fld>
            <a:endParaRPr lang="zh-CN" altLang="en-US"/>
          </a:p>
        </p:txBody>
      </p:sp>
    </p:spTree>
    <p:extLst>
      <p:ext uri="{BB962C8B-B14F-4D97-AF65-F5344CB8AC3E}">
        <p14:creationId xmlns:p14="http://schemas.microsoft.com/office/powerpoint/2010/main" val="15492090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54</a:t>
            </a:fld>
            <a:endParaRPr lang="zh-CN" altLang="en-US"/>
          </a:p>
        </p:txBody>
      </p:sp>
    </p:spTree>
    <p:extLst>
      <p:ext uri="{BB962C8B-B14F-4D97-AF65-F5344CB8AC3E}">
        <p14:creationId xmlns:p14="http://schemas.microsoft.com/office/powerpoint/2010/main" val="42217369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55</a:t>
            </a:fld>
            <a:endParaRPr lang="zh-CN" altLang="en-US"/>
          </a:p>
        </p:txBody>
      </p:sp>
    </p:spTree>
    <p:extLst>
      <p:ext uri="{BB962C8B-B14F-4D97-AF65-F5344CB8AC3E}">
        <p14:creationId xmlns:p14="http://schemas.microsoft.com/office/powerpoint/2010/main" val="19197183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56</a:t>
            </a:fld>
            <a:endParaRPr lang="zh-CN" altLang="en-US"/>
          </a:p>
        </p:txBody>
      </p:sp>
    </p:spTree>
    <p:extLst>
      <p:ext uri="{BB962C8B-B14F-4D97-AF65-F5344CB8AC3E}">
        <p14:creationId xmlns:p14="http://schemas.microsoft.com/office/powerpoint/2010/main" val="17688141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57</a:t>
            </a:fld>
            <a:endParaRPr lang="zh-CN" altLang="en-US"/>
          </a:p>
        </p:txBody>
      </p:sp>
    </p:spTree>
    <p:extLst>
      <p:ext uri="{BB962C8B-B14F-4D97-AF65-F5344CB8AC3E}">
        <p14:creationId xmlns:p14="http://schemas.microsoft.com/office/powerpoint/2010/main" val="15806658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58</a:t>
            </a:fld>
            <a:endParaRPr lang="zh-CN" altLang="en-US"/>
          </a:p>
        </p:txBody>
      </p:sp>
    </p:spTree>
    <p:extLst>
      <p:ext uri="{BB962C8B-B14F-4D97-AF65-F5344CB8AC3E}">
        <p14:creationId xmlns:p14="http://schemas.microsoft.com/office/powerpoint/2010/main" val="19694385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59</a:t>
            </a:fld>
            <a:endParaRPr lang="zh-CN" altLang="en-US"/>
          </a:p>
        </p:txBody>
      </p:sp>
    </p:spTree>
    <p:extLst>
      <p:ext uri="{BB962C8B-B14F-4D97-AF65-F5344CB8AC3E}">
        <p14:creationId xmlns:p14="http://schemas.microsoft.com/office/powerpoint/2010/main" val="21470599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60</a:t>
            </a:fld>
            <a:endParaRPr lang="zh-CN" altLang="en-US"/>
          </a:p>
        </p:txBody>
      </p:sp>
    </p:spTree>
    <p:extLst>
      <p:ext uri="{BB962C8B-B14F-4D97-AF65-F5344CB8AC3E}">
        <p14:creationId xmlns:p14="http://schemas.microsoft.com/office/powerpoint/2010/main" val="20045113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61</a:t>
            </a:fld>
            <a:endParaRPr lang="zh-CN" altLang="en-US"/>
          </a:p>
        </p:txBody>
      </p:sp>
    </p:spTree>
    <p:extLst>
      <p:ext uri="{BB962C8B-B14F-4D97-AF65-F5344CB8AC3E}">
        <p14:creationId xmlns:p14="http://schemas.microsoft.com/office/powerpoint/2010/main" val="26469880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62</a:t>
            </a:fld>
            <a:endParaRPr lang="zh-CN" altLang="en-US"/>
          </a:p>
        </p:txBody>
      </p:sp>
    </p:spTree>
    <p:extLst>
      <p:ext uri="{BB962C8B-B14F-4D97-AF65-F5344CB8AC3E}">
        <p14:creationId xmlns:p14="http://schemas.microsoft.com/office/powerpoint/2010/main" val="8665235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63</a:t>
            </a:fld>
            <a:endParaRPr lang="zh-CN" altLang="en-US"/>
          </a:p>
        </p:txBody>
      </p:sp>
    </p:spTree>
    <p:extLst>
      <p:ext uri="{BB962C8B-B14F-4D97-AF65-F5344CB8AC3E}">
        <p14:creationId xmlns:p14="http://schemas.microsoft.com/office/powerpoint/2010/main" val="978004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64</a:t>
            </a:fld>
            <a:endParaRPr lang="zh-CN" altLang="en-US"/>
          </a:p>
        </p:txBody>
      </p:sp>
    </p:spTree>
    <p:extLst>
      <p:ext uri="{BB962C8B-B14F-4D97-AF65-F5344CB8AC3E}">
        <p14:creationId xmlns:p14="http://schemas.microsoft.com/office/powerpoint/2010/main" val="11833037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65</a:t>
            </a:fld>
            <a:endParaRPr lang="zh-CN" altLang="en-US"/>
          </a:p>
        </p:txBody>
      </p:sp>
    </p:spTree>
    <p:extLst>
      <p:ext uri="{BB962C8B-B14F-4D97-AF65-F5344CB8AC3E}">
        <p14:creationId xmlns:p14="http://schemas.microsoft.com/office/powerpoint/2010/main" val="37538823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66</a:t>
            </a:fld>
            <a:endParaRPr lang="zh-CN" altLang="en-US"/>
          </a:p>
        </p:txBody>
      </p:sp>
    </p:spTree>
    <p:extLst>
      <p:ext uri="{BB962C8B-B14F-4D97-AF65-F5344CB8AC3E}">
        <p14:creationId xmlns:p14="http://schemas.microsoft.com/office/powerpoint/2010/main" val="18432403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67</a:t>
            </a:fld>
            <a:endParaRPr lang="zh-CN" altLang="en-US"/>
          </a:p>
        </p:txBody>
      </p:sp>
    </p:spTree>
    <p:extLst>
      <p:ext uri="{BB962C8B-B14F-4D97-AF65-F5344CB8AC3E}">
        <p14:creationId xmlns:p14="http://schemas.microsoft.com/office/powerpoint/2010/main" val="42791604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68</a:t>
            </a:fld>
            <a:endParaRPr lang="zh-CN" altLang="en-US"/>
          </a:p>
        </p:txBody>
      </p:sp>
    </p:spTree>
    <p:extLst>
      <p:ext uri="{BB962C8B-B14F-4D97-AF65-F5344CB8AC3E}">
        <p14:creationId xmlns:p14="http://schemas.microsoft.com/office/powerpoint/2010/main" val="6576811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69</a:t>
            </a:fld>
            <a:endParaRPr lang="zh-CN" altLang="en-US"/>
          </a:p>
        </p:txBody>
      </p:sp>
    </p:spTree>
    <p:extLst>
      <p:ext uri="{BB962C8B-B14F-4D97-AF65-F5344CB8AC3E}">
        <p14:creationId xmlns:p14="http://schemas.microsoft.com/office/powerpoint/2010/main" val="7493771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70</a:t>
            </a:fld>
            <a:endParaRPr lang="zh-CN" altLang="en-US"/>
          </a:p>
        </p:txBody>
      </p:sp>
    </p:spTree>
    <p:extLst>
      <p:ext uri="{BB962C8B-B14F-4D97-AF65-F5344CB8AC3E}">
        <p14:creationId xmlns:p14="http://schemas.microsoft.com/office/powerpoint/2010/main" val="17950679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71</a:t>
            </a:fld>
            <a:endParaRPr lang="zh-CN" altLang="en-US"/>
          </a:p>
        </p:txBody>
      </p:sp>
    </p:spTree>
    <p:extLst>
      <p:ext uri="{BB962C8B-B14F-4D97-AF65-F5344CB8AC3E}">
        <p14:creationId xmlns:p14="http://schemas.microsoft.com/office/powerpoint/2010/main" val="27716271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72</a:t>
            </a:fld>
            <a:endParaRPr lang="zh-CN" altLang="en-US"/>
          </a:p>
        </p:txBody>
      </p:sp>
    </p:spTree>
    <p:extLst>
      <p:ext uri="{BB962C8B-B14F-4D97-AF65-F5344CB8AC3E}">
        <p14:creationId xmlns:p14="http://schemas.microsoft.com/office/powerpoint/2010/main" val="9159928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73</a:t>
            </a:fld>
            <a:endParaRPr lang="zh-CN" altLang="en-US"/>
          </a:p>
        </p:txBody>
      </p:sp>
    </p:spTree>
    <p:extLst>
      <p:ext uri="{BB962C8B-B14F-4D97-AF65-F5344CB8AC3E}">
        <p14:creationId xmlns:p14="http://schemas.microsoft.com/office/powerpoint/2010/main" val="2721562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97D94A9-08CE-44DA-A0D5-17BD1D732DA2}" type="slidenum">
              <a:rPr lang="zh-CN" altLang="en-US" smtClean="0"/>
              <a:t>‹#›</a:t>
            </a:fld>
            <a:endParaRPr lang="zh-CN" altLang="en-US"/>
          </a:p>
        </p:txBody>
      </p:sp>
    </p:spTree>
    <p:extLst>
      <p:ext uri="{BB962C8B-B14F-4D97-AF65-F5344CB8AC3E}">
        <p14:creationId xmlns:p14="http://schemas.microsoft.com/office/powerpoint/2010/main" val="1364516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bg1"/>
            </a:gs>
          </a:gsLst>
          <a:lin ang="5400000" scaled="1"/>
          <a:tileRect/>
        </a:gra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39482" y="28575"/>
            <a:ext cx="862844" cy="843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7874735"/>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69721" y="1774641"/>
            <a:ext cx="7560841" cy="369332"/>
          </a:xfrm>
          <a:prstGeom prst="rect">
            <a:avLst/>
          </a:prstGeom>
        </p:spPr>
        <p:txBody>
          <a:bodyPr wrap="square">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欢迎同学们</a:t>
            </a:r>
            <a:r>
              <a:rPr lang="zh-CN" altLang="en-US" b="1" smtClean="0">
                <a:solidFill>
                  <a:srgbClr val="C00000"/>
                </a:solidFill>
                <a:latin typeface="微软雅黑" panose="020B0503020204020204" pitchFamily="34" charset="-122"/>
                <a:ea typeface="微软雅黑" panose="020B0503020204020204" pitchFamily="34" charset="-122"/>
              </a:rPr>
              <a:t>进入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创客训练营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课</a:t>
            </a:r>
            <a:r>
              <a:rPr lang="zh-CN" altLang="en-US" b="1" dirty="0" smtClean="0">
                <a:solidFill>
                  <a:srgbClr val="C00000"/>
                </a:solidFill>
                <a:latin typeface="微软雅黑" panose="020B0503020204020204" pitchFamily="34" charset="-122"/>
                <a:ea typeface="微软雅黑" panose="020B0503020204020204" pitchFamily="34" charset="-122"/>
              </a:rPr>
              <a:t>堂，请</a:t>
            </a:r>
            <a:r>
              <a:rPr lang="zh-CN" altLang="en-US" b="1" smtClean="0">
                <a:solidFill>
                  <a:srgbClr val="C00000"/>
                </a:solidFill>
                <a:latin typeface="微软雅黑" panose="020B0503020204020204" pitchFamily="34" charset="-122"/>
                <a:ea typeface="微软雅黑" panose="020B0503020204020204" pitchFamily="34" charset="-122"/>
              </a:rPr>
              <a:t>同学们按分组信息</a:t>
            </a:r>
            <a:r>
              <a:rPr lang="zh-CN" altLang="en-US" b="1" dirty="0" smtClean="0">
                <a:solidFill>
                  <a:srgbClr val="C00000"/>
                </a:solidFill>
                <a:latin typeface="微软雅黑" panose="020B0503020204020204" pitchFamily="34" charset="-122"/>
                <a:ea typeface="微软雅黑" panose="020B0503020204020204" pitchFamily="34" charset="-122"/>
              </a:rPr>
              <a:t>组入座！</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467544" y="1101973"/>
            <a:ext cx="7848872" cy="446276"/>
          </a:xfrm>
          <a:prstGeom prst="rect">
            <a:avLst/>
          </a:prstGeom>
          <a:solidFill>
            <a:srgbClr val="0070C0"/>
          </a:solidFill>
        </p:spPr>
        <p:txBody>
          <a:bodyPr wrap="square">
            <a:spAutoFit/>
          </a:bodyPr>
          <a:lstStyle/>
          <a:p>
            <a:pPr algn="ctr"/>
            <a:r>
              <a:rPr lang="zh-CN" altLang="en-US" sz="2300" b="1" smtClean="0">
                <a:solidFill>
                  <a:schemeClr val="bg1"/>
                </a:solidFill>
                <a:latin typeface="微软雅黑" panose="020B0503020204020204" pitchFamily="34" charset="-122"/>
                <a:ea typeface="微软雅黑" panose="020B0503020204020204" pitchFamily="34" charset="-122"/>
              </a:rPr>
              <a:t>创客</a:t>
            </a:r>
            <a:r>
              <a:rPr lang="en-US" altLang="zh-CN" sz="2300" b="1" smtClean="0">
                <a:solidFill>
                  <a:schemeClr val="bg1"/>
                </a:solidFill>
                <a:latin typeface="微软雅黑" panose="020B0503020204020204" pitchFamily="34" charset="-122"/>
                <a:ea typeface="微软雅黑" panose="020B0503020204020204" pitchFamily="34" charset="-122"/>
              </a:rPr>
              <a:t>2601</a:t>
            </a:r>
            <a:r>
              <a:rPr lang="zh-CN" altLang="zh-CN" sz="2300" b="1" smtClean="0">
                <a:solidFill>
                  <a:schemeClr val="bg1"/>
                </a:solidFill>
                <a:latin typeface="微软雅黑" panose="020B0503020204020204" pitchFamily="34" charset="-122"/>
                <a:ea typeface="微软雅黑" panose="020B0503020204020204" pitchFamily="34" charset="-122"/>
              </a:rPr>
              <a:t>班</a:t>
            </a:r>
            <a:r>
              <a:rPr lang="zh-CN" altLang="en-US" sz="2300" b="1" smtClean="0">
                <a:solidFill>
                  <a:schemeClr val="bg1"/>
                </a:solidFill>
                <a:latin typeface="微软雅黑" panose="020B0503020204020204" pitchFamily="34" charset="-122"/>
                <a:ea typeface="微软雅黑" panose="020B0503020204020204" pitchFamily="34" charset="-122"/>
              </a:rPr>
              <a:t>“创客训练营”</a:t>
            </a:r>
            <a:r>
              <a:rPr lang="zh-CN" altLang="zh-CN" sz="2300" b="1" smtClean="0">
                <a:solidFill>
                  <a:schemeClr val="bg1"/>
                </a:solidFill>
                <a:latin typeface="微软雅黑" panose="020B0503020204020204" pitchFamily="34" charset="-122"/>
                <a:ea typeface="微软雅黑" panose="020B0503020204020204" pitchFamily="34" charset="-122"/>
              </a:rPr>
              <a:t>课</a:t>
            </a:r>
            <a:r>
              <a:rPr lang="zh-CN" altLang="zh-CN" sz="2300" b="1" dirty="0">
                <a:solidFill>
                  <a:schemeClr val="bg1"/>
                </a:solidFill>
                <a:latin typeface="微软雅黑" panose="020B0503020204020204" pitchFamily="34" charset="-122"/>
                <a:ea typeface="微软雅黑" panose="020B0503020204020204" pitchFamily="34" charset="-122"/>
              </a:rPr>
              <a:t>程分组</a:t>
            </a:r>
            <a:r>
              <a:rPr lang="zh-CN" altLang="zh-CN" sz="2300" b="1" dirty="0" smtClean="0">
                <a:solidFill>
                  <a:schemeClr val="bg1"/>
                </a:solidFill>
                <a:latin typeface="微软雅黑" panose="020B0503020204020204" pitchFamily="34" charset="-122"/>
                <a:ea typeface="微软雅黑" panose="020B0503020204020204" pitchFamily="34" charset="-122"/>
              </a:rPr>
              <a:t>信息</a:t>
            </a:r>
            <a:endParaRPr lang="zh-CN" altLang="en-US" sz="23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44" r="13200" b="14934"/>
          <a:stretch>
            <a:fillRect/>
          </a:stretch>
        </p:blipFill>
        <p:spPr bwMode="auto">
          <a:xfrm>
            <a:off x="2706" y="3118"/>
            <a:ext cx="940351" cy="74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 name="表格 21"/>
          <p:cNvGraphicFramePr>
            <a:graphicFrameLocks noGrp="1"/>
          </p:cNvGraphicFramePr>
          <p:nvPr>
            <p:extLst/>
          </p:nvPr>
        </p:nvGraphicFramePr>
        <p:xfrm>
          <a:off x="179512" y="2430374"/>
          <a:ext cx="1731951" cy="1874142"/>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55589">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韩俊彦</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李孝贤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李往泽</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8384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贾奥然</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姜彧喆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杨清威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4" name="表格 23"/>
          <p:cNvGraphicFramePr>
            <a:graphicFrameLocks noGrp="1"/>
          </p:cNvGraphicFramePr>
          <p:nvPr>
            <p:extLst/>
          </p:nvPr>
        </p:nvGraphicFramePr>
        <p:xfrm>
          <a:off x="19834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李希冰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郑宇洁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齐高雅</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肖佳彤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陈红旭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   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5" name="表格 24"/>
          <p:cNvGraphicFramePr>
            <a:graphicFrameLocks noGrp="1"/>
          </p:cNvGraphicFramePr>
          <p:nvPr>
            <p:extLst/>
          </p:nvPr>
        </p:nvGraphicFramePr>
        <p:xfrm>
          <a:off x="3783670" y="2430374"/>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邵子中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姜亚楷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李昊桐</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苏相龙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曹梓誉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邵晨晨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6" name="表格 25"/>
          <p:cNvGraphicFramePr>
            <a:graphicFrameLocks noGrp="1"/>
          </p:cNvGraphicFramePr>
          <p:nvPr>
            <p:extLst/>
          </p:nvPr>
        </p:nvGraphicFramePr>
        <p:xfrm>
          <a:off x="55838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张一帆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张丽文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付智阳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胡紫晨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李佳曙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李鹏程</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7" name="表格 26"/>
          <p:cNvGraphicFramePr>
            <a:graphicFrameLocks noGrp="1"/>
          </p:cNvGraphicFramePr>
          <p:nvPr>
            <p:extLst/>
          </p:nvPr>
        </p:nvGraphicFramePr>
        <p:xfrm>
          <a:off x="7384070" y="2430374"/>
          <a:ext cx="1724434" cy="1590297"/>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徐禛种</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高佳玥</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陈宇辰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施建宇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赵伯兴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bl>
          </a:graphicData>
        </a:graphic>
      </p:graphicFrame>
    </p:spTree>
    <p:extLst>
      <p:ext uri="{BB962C8B-B14F-4D97-AF65-F5344CB8AC3E}">
        <p14:creationId xmlns:p14="http://schemas.microsoft.com/office/powerpoint/2010/main" val="4100627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8992" y="1419622"/>
            <a:ext cx="9135008" cy="1512168"/>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600" b="1">
                <a:solidFill>
                  <a:srgbClr val="0070C0"/>
                </a:solidFill>
                <a:latin typeface="微软雅黑" panose="020B0503020204020204" pitchFamily="34" charset="-122"/>
                <a:ea typeface="微软雅黑" panose="020B0503020204020204" pitchFamily="34" charset="-122"/>
              </a:rPr>
              <a:t>创客训练</a:t>
            </a:r>
            <a:r>
              <a:rPr lang="zh-CN" altLang="en-US" sz="3600" b="1" smtClean="0">
                <a:solidFill>
                  <a:srgbClr val="0070C0"/>
                </a:solidFill>
                <a:latin typeface="微软雅黑" panose="020B0503020204020204" pitchFamily="34" charset="-122"/>
                <a:ea typeface="微软雅黑" panose="020B0503020204020204" pitchFamily="34" charset="-122"/>
              </a:rPr>
              <a:t>营</a:t>
            </a:r>
            <a:endParaRPr lang="en-US" altLang="zh-CN" sz="3600" b="1" smtClean="0">
              <a:solidFill>
                <a:srgbClr val="0070C0"/>
              </a:solidFill>
              <a:latin typeface="微软雅黑" panose="020B0503020204020204" pitchFamily="34" charset="-122"/>
              <a:ea typeface="微软雅黑" panose="020B0503020204020204" pitchFamily="34" charset="-122"/>
            </a:endParaRPr>
          </a:p>
          <a:p>
            <a:pPr>
              <a:lnSpc>
                <a:spcPct val="120000"/>
              </a:lnSpc>
            </a:pPr>
            <a:r>
              <a:rPr lang="en-US" altLang="zh-CN" sz="3200" b="1" smtClean="0">
                <a:solidFill>
                  <a:srgbClr val="0070C0"/>
                </a:solidFill>
                <a:latin typeface="微软雅黑" panose="020B0503020204020204" pitchFamily="34" charset="-122"/>
                <a:ea typeface="微软雅黑" panose="020B0503020204020204" pitchFamily="34" charset="-122"/>
              </a:rPr>
              <a:t>                ——</a:t>
            </a:r>
            <a:r>
              <a:rPr lang="zh-CN" altLang="en-US" sz="3200" b="1" dirty="0">
                <a:solidFill>
                  <a:srgbClr val="0070C0"/>
                </a:solidFill>
                <a:latin typeface="微软雅黑" panose="020B0503020204020204" pitchFamily="34" charset="-122"/>
                <a:ea typeface="微软雅黑" panose="020B0503020204020204" pitchFamily="34" charset="-122"/>
              </a:rPr>
              <a:t>终身学习工作坊</a:t>
            </a:r>
          </a:p>
        </p:txBody>
      </p:sp>
      <p:sp>
        <p:nvSpPr>
          <p:cNvPr id="5" name="标题 1"/>
          <p:cNvSpPr txBox="1">
            <a:spLocks/>
          </p:cNvSpPr>
          <p:nvPr/>
        </p:nvSpPr>
        <p:spPr>
          <a:xfrm>
            <a:off x="406078" y="3291830"/>
            <a:ext cx="8352928" cy="1728192"/>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2800" b="1" dirty="0">
                <a:solidFill>
                  <a:schemeClr val="tx2"/>
                </a:solidFill>
                <a:latin typeface="微软雅黑" panose="020B0503020204020204" pitchFamily="34" charset="-122"/>
                <a:ea typeface="微软雅黑" panose="020B0503020204020204" pitchFamily="34" charset="-122"/>
              </a:rPr>
              <a:t>尹  仕</a:t>
            </a:r>
            <a:r>
              <a:rPr lang="en-US" altLang="zh-CN" sz="2800" b="1" dirty="0">
                <a:solidFill>
                  <a:schemeClr val="tx2"/>
                </a:solidFill>
                <a:latin typeface="微软雅黑" panose="020B0503020204020204" pitchFamily="34" charset="-122"/>
                <a:ea typeface="微软雅黑" panose="020B0503020204020204" pitchFamily="34" charset="-122"/>
              </a:rPr>
              <a:t/>
            </a:r>
            <a:br>
              <a:rPr lang="en-US" altLang="zh-CN" sz="2800" b="1" dirty="0">
                <a:solidFill>
                  <a:schemeClr val="tx2"/>
                </a:solidFill>
                <a:latin typeface="微软雅黑" panose="020B0503020204020204" pitchFamily="34" charset="-122"/>
                <a:ea typeface="微软雅黑" panose="020B0503020204020204" pitchFamily="34" charset="-122"/>
              </a:rPr>
            </a:br>
            <a:r>
              <a:rPr lang="zh-CN" altLang="en-US" sz="2800" b="1" dirty="0">
                <a:solidFill>
                  <a:schemeClr val="tx2"/>
                </a:solidFill>
                <a:latin typeface="微软雅黑" panose="020B0503020204020204" pitchFamily="34" charset="-122"/>
                <a:ea typeface="微软雅黑" panose="020B0503020204020204" pitchFamily="34" charset="-122"/>
              </a:rPr>
              <a:t>电气与电子工程学院实验教学中心</a:t>
            </a:r>
            <a:r>
              <a:rPr lang="en-US" altLang="zh-CN" sz="2800" b="1">
                <a:solidFill>
                  <a:schemeClr val="tx2"/>
                </a:solidFill>
                <a:latin typeface="微软雅黑" panose="020B0503020204020204" pitchFamily="34" charset="-122"/>
                <a:ea typeface="微软雅黑" panose="020B0503020204020204" pitchFamily="34" charset="-122"/>
              </a:rPr>
              <a:t/>
            </a:r>
            <a:br>
              <a:rPr lang="en-US" altLang="zh-CN" sz="2800" b="1">
                <a:solidFill>
                  <a:schemeClr val="tx2"/>
                </a:solidFill>
                <a:latin typeface="微软雅黑" panose="020B0503020204020204" pitchFamily="34" charset="-122"/>
                <a:ea typeface="微软雅黑" panose="020B0503020204020204" pitchFamily="34" charset="-122"/>
              </a:rPr>
            </a:br>
            <a:r>
              <a:rPr lang="en-US" altLang="zh-CN" sz="2800" b="1" smtClean="0">
                <a:solidFill>
                  <a:schemeClr val="tx2"/>
                </a:solidFill>
                <a:latin typeface="微软雅黑" panose="020B0503020204020204" pitchFamily="34" charset="-122"/>
                <a:ea typeface="微软雅黑" panose="020B0503020204020204" pitchFamily="34" charset="-122"/>
              </a:rPr>
              <a:t>2026</a:t>
            </a:r>
            <a:r>
              <a:rPr lang="zh-CN" altLang="en-US" sz="2800" b="1" smtClean="0">
                <a:solidFill>
                  <a:schemeClr val="tx2"/>
                </a:solidFill>
                <a:latin typeface="微软雅黑" panose="020B0503020204020204" pitchFamily="34" charset="-122"/>
                <a:ea typeface="微软雅黑" panose="020B0503020204020204" pitchFamily="34" charset="-122"/>
              </a:rPr>
              <a:t>年</a:t>
            </a:r>
            <a:r>
              <a:rPr lang="en-US" altLang="zh-CN" sz="2800" b="1" smtClean="0">
                <a:solidFill>
                  <a:schemeClr val="tx2"/>
                </a:solidFill>
                <a:latin typeface="微软雅黑" panose="020B0503020204020204" pitchFamily="34" charset="-122"/>
                <a:ea typeface="微软雅黑" panose="020B0503020204020204" pitchFamily="34" charset="-122"/>
              </a:rPr>
              <a:t>09</a:t>
            </a:r>
            <a:r>
              <a:rPr lang="zh-CN" altLang="en-US" sz="2800" b="1" smtClean="0">
                <a:solidFill>
                  <a:schemeClr val="tx2"/>
                </a:solidFill>
                <a:latin typeface="微软雅黑" panose="020B0503020204020204" pitchFamily="34" charset="-122"/>
                <a:ea typeface="微软雅黑" panose="020B0503020204020204" pitchFamily="34" charset="-122"/>
              </a:rPr>
              <a:t>月</a:t>
            </a:r>
            <a:r>
              <a:rPr lang="en-US" altLang="zh-CN" sz="2800" b="1" smtClean="0">
                <a:solidFill>
                  <a:schemeClr val="tx2"/>
                </a:solidFill>
                <a:latin typeface="微软雅黑" panose="020B0503020204020204" pitchFamily="34" charset="-122"/>
                <a:ea typeface="微软雅黑" panose="020B0503020204020204" pitchFamily="34" charset="-122"/>
              </a:rPr>
              <a:t>24</a:t>
            </a:r>
            <a:r>
              <a:rPr lang="zh-CN" altLang="en-US" sz="2800" b="1" smtClean="0">
                <a:solidFill>
                  <a:schemeClr val="tx2"/>
                </a:solidFill>
                <a:latin typeface="微软雅黑" panose="020B0503020204020204" pitchFamily="34" charset="-122"/>
                <a:ea typeface="微软雅黑" panose="020B0503020204020204" pitchFamily="34" charset="-122"/>
              </a:rPr>
              <a:t>日</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8" name="矩形 7"/>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44" r="13200" b="14934"/>
          <a:stretch/>
        </p:blipFill>
        <p:spPr bwMode="auto">
          <a:xfrm>
            <a:off x="2706" y="0"/>
            <a:ext cx="944308" cy="743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5631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0" y="0"/>
            <a:ext cx="9144000" cy="89414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3200" b="1" smtClean="0">
                <a:solidFill>
                  <a:schemeClr val="accent1"/>
                </a:solidFill>
                <a:latin typeface="微软雅黑" panose="020B0503020204020204" pitchFamily="34" charset="-122"/>
                <a:ea typeface="微软雅黑" panose="020B0503020204020204" pitchFamily="34" charset="-122"/>
              </a:rPr>
              <a:t>目 录</a:t>
            </a:r>
            <a:endParaRPr lang="zh-CN" altLang="en-US" sz="3200" dirty="0">
              <a:latin typeface="+mn-ea"/>
            </a:endParaRPr>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152"/>
          <a:stretch/>
        </p:blipFill>
        <p:spPr bwMode="auto">
          <a:xfrm>
            <a:off x="4572000" y="1851671"/>
            <a:ext cx="3273111" cy="2232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txBox="1">
            <a:spLocks/>
          </p:cNvSpPr>
          <p:nvPr/>
        </p:nvSpPr>
        <p:spPr>
          <a:xfrm>
            <a:off x="1547664" y="1752008"/>
            <a:ext cx="3024336" cy="2304256"/>
          </a:xfr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79705" algn="l">
              <a:lnSpc>
                <a:spcPct val="120000"/>
              </a:lnSpc>
              <a:spcBef>
                <a:spcPts val="600"/>
              </a:spcBef>
            </a:pPr>
            <a:r>
              <a:rPr lang="zh-CN" altLang="en-US" sz="2400" b="1" smtClean="0">
                <a:solidFill>
                  <a:srgbClr val="0070C0"/>
                </a:solidFill>
                <a:latin typeface="微软雅黑" panose="020B0503020204020204" pitchFamily="34" charset="-122"/>
                <a:ea typeface="微软雅黑" panose="020B0503020204020204" pitchFamily="34" charset="-122"/>
              </a:rPr>
              <a:t>一、教育教学情境</a:t>
            </a:r>
            <a:r>
              <a:rPr lang="en-US" altLang="zh-CN" sz="2400" b="1" smtClean="0">
                <a:solidFill>
                  <a:srgbClr val="0070C0"/>
                </a:solidFill>
                <a:latin typeface="微软雅黑" panose="020B0503020204020204" pitchFamily="34" charset="-122"/>
                <a:ea typeface="微软雅黑" panose="020B0503020204020204" pitchFamily="34" charset="-122"/>
              </a:rPr>
              <a:t/>
            </a:r>
            <a:br>
              <a:rPr lang="en-US" altLang="zh-CN" sz="2400" b="1" smtClean="0">
                <a:solidFill>
                  <a:srgbClr val="0070C0"/>
                </a:solidFill>
                <a:latin typeface="微软雅黑" panose="020B0503020204020204" pitchFamily="34" charset="-122"/>
                <a:ea typeface="微软雅黑" panose="020B0503020204020204" pitchFamily="34" charset="-122"/>
              </a:rPr>
            </a:br>
            <a:r>
              <a:rPr lang="zh-CN" altLang="en-US" sz="2400" b="1" smtClean="0">
                <a:solidFill>
                  <a:srgbClr val="0070C0"/>
                </a:solidFill>
                <a:latin typeface="微软雅黑" panose="020B0503020204020204" pitchFamily="34" charset="-122"/>
                <a:ea typeface="微软雅黑" panose="020B0503020204020204" pitchFamily="34" charset="-122"/>
              </a:rPr>
              <a:t>二、教育教学目标</a:t>
            </a:r>
            <a:r>
              <a:rPr lang="en-US" altLang="zh-CN" sz="2400" b="1" smtClean="0">
                <a:solidFill>
                  <a:srgbClr val="0070C0"/>
                </a:solidFill>
                <a:latin typeface="微软雅黑" panose="020B0503020204020204" pitchFamily="34" charset="-122"/>
                <a:ea typeface="微软雅黑" panose="020B0503020204020204" pitchFamily="34" charset="-122"/>
              </a:rPr>
              <a:t/>
            </a:r>
            <a:br>
              <a:rPr lang="en-US" altLang="zh-CN" sz="2400" b="1" smtClean="0">
                <a:solidFill>
                  <a:srgbClr val="0070C0"/>
                </a:solidFill>
                <a:latin typeface="微软雅黑" panose="020B0503020204020204" pitchFamily="34" charset="-122"/>
                <a:ea typeface="微软雅黑" panose="020B0503020204020204" pitchFamily="34" charset="-122"/>
              </a:rPr>
            </a:br>
            <a:r>
              <a:rPr lang="zh-CN" altLang="en-US" sz="2400" b="1" smtClean="0">
                <a:solidFill>
                  <a:srgbClr val="0070C0"/>
                </a:solidFill>
                <a:latin typeface="微软雅黑" panose="020B0503020204020204" pitchFamily="34" charset="-122"/>
                <a:ea typeface="微软雅黑" panose="020B0503020204020204" pitchFamily="34" charset="-122"/>
              </a:rPr>
              <a:t>三、教育教学评价</a:t>
            </a:r>
            <a:r>
              <a:rPr lang="en-US" altLang="zh-CN" sz="2400" b="1" smtClean="0">
                <a:solidFill>
                  <a:srgbClr val="0070C0"/>
                </a:solidFill>
                <a:latin typeface="微软雅黑" panose="020B0503020204020204" pitchFamily="34" charset="-122"/>
                <a:ea typeface="微软雅黑" panose="020B0503020204020204" pitchFamily="34" charset="-122"/>
              </a:rPr>
              <a:t/>
            </a:r>
            <a:br>
              <a:rPr lang="en-US" altLang="zh-CN" sz="2400" b="1" smtClean="0">
                <a:solidFill>
                  <a:srgbClr val="0070C0"/>
                </a:solidFill>
                <a:latin typeface="微软雅黑" panose="020B0503020204020204" pitchFamily="34" charset="-122"/>
                <a:ea typeface="微软雅黑" panose="020B0503020204020204" pitchFamily="34" charset="-122"/>
              </a:rPr>
            </a:br>
            <a:r>
              <a:rPr lang="zh-CN" altLang="en-US" sz="2400" b="1" smtClean="0">
                <a:solidFill>
                  <a:srgbClr val="0070C0"/>
                </a:solidFill>
                <a:latin typeface="微软雅黑" panose="020B0503020204020204" pitchFamily="34" charset="-122"/>
                <a:ea typeface="微软雅黑" panose="020B0503020204020204" pitchFamily="34" charset="-122"/>
              </a:rPr>
              <a:t>四、教育教学活动</a:t>
            </a:r>
            <a:r>
              <a:rPr lang="en-US" altLang="zh-CN" sz="2400" b="1" smtClean="0">
                <a:solidFill>
                  <a:srgbClr val="0070C0"/>
                </a:solidFill>
                <a:latin typeface="微软雅黑" panose="020B0503020204020204" pitchFamily="34" charset="-122"/>
                <a:ea typeface="微软雅黑" panose="020B0503020204020204" pitchFamily="34" charset="-122"/>
              </a:rPr>
              <a:t/>
            </a:r>
            <a:br>
              <a:rPr lang="en-US" altLang="zh-CN" sz="2400" b="1" smtClean="0">
                <a:solidFill>
                  <a:srgbClr val="0070C0"/>
                </a:solidFill>
                <a:latin typeface="微软雅黑" panose="020B0503020204020204" pitchFamily="34" charset="-122"/>
                <a:ea typeface="微软雅黑" panose="020B0503020204020204" pitchFamily="34" charset="-122"/>
              </a:rPr>
            </a:br>
            <a:r>
              <a:rPr lang="zh-CN" altLang="en-US" sz="2400" b="1" smtClean="0">
                <a:solidFill>
                  <a:srgbClr val="0070C0"/>
                </a:solidFill>
                <a:latin typeface="微软雅黑" panose="020B0503020204020204" pitchFamily="34" charset="-122"/>
                <a:ea typeface="微软雅黑" panose="020B0503020204020204" pitchFamily="34" charset="-122"/>
              </a:rPr>
              <a:t>五、教育教学组织</a:t>
            </a:r>
            <a:endParaRPr lang="zh-CN" altLang="en-US" sz="24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144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9592" y="1707654"/>
            <a:ext cx="7056784" cy="3056221"/>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客作品海</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报</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设计成果的</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学生清晰</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表述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创客竞赛作品的核心价值主张与认知收获，</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认知修订，</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标</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准</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学活动目标</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创客竞赛作品海报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核心认知收获</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的定稿表述，</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说明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变</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本活动为课前任务</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成果的集中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检验</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环节。各团队在课堂规定时间内以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摊位式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海报，并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接受</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其他团队基于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认知收获</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的针对性质询与投票评选。</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724351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3222421"/>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第一阶段：角色分流与任务说明（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人，分为讲解员（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人）和评审员（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讲解员留守本组海报，负责介绍本组海报、回答质询、反向质询评审员本组海报内容；</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评审员持《海报评审清单》和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枚投票贴纸，流动浏览其他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组海报，完成清单勾选与质询后，将投票贴纸投给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认知收获最深刻、最有启发的小组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（不能投本组）。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第二阶段：讲解、浏览、评审与反向质询（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讲解员任务</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留守本组海报，向每一位来访评审员用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分钟介绍本组海报（讲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海报背后的三个故事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回答评审员的质询</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反向质询评审员本组海报的核心认知收获、提炼过程、关键数</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18444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2007024"/>
          </a:xfrm>
          <a:prstGeom prst="rect">
            <a:avLst/>
          </a:prstGeom>
          <a:ln w="25400">
            <a:noFill/>
          </a:ln>
        </p:spPr>
        <p:txBody>
          <a:bodyPr wrap="square">
            <a:spAutoFit/>
          </a:bodyPr>
          <a:lstStyle/>
          <a:p>
            <a:pPr>
              <a:lnSpc>
                <a:spcPct val="120000"/>
              </a:lnSpc>
              <a:spcBef>
                <a:spcPts val="5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审员任务</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持《海报评审清单》，流动浏览其他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组海报</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对每组海报完成清单勾选</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从质询问题库中选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个问题提问</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被讲解员反向质询时，介绍本组海报内容</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评审员将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枚投票贴纸投给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认知收获最深刻、最有启发的小组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5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质询准备表（印在《海报评审清单》上）：</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6645294"/>
              </p:ext>
            </p:extLst>
          </p:nvPr>
        </p:nvGraphicFramePr>
        <p:xfrm>
          <a:off x="539552" y="3642670"/>
          <a:ext cx="8352928" cy="1509872"/>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802751535"/>
                    </a:ext>
                  </a:extLst>
                </a:gridCol>
                <a:gridCol w="2160240">
                  <a:extLst>
                    <a:ext uri="{9D8B030D-6E8A-4147-A177-3AD203B41FA5}">
                      <a16:colId xmlns:a16="http://schemas.microsoft.com/office/drawing/2014/main" val="2735686296"/>
                    </a:ext>
                  </a:extLst>
                </a:gridCol>
                <a:gridCol w="1728192">
                  <a:extLst>
                    <a:ext uri="{9D8B030D-6E8A-4147-A177-3AD203B41FA5}">
                      <a16:colId xmlns:a16="http://schemas.microsoft.com/office/drawing/2014/main" val="617512478"/>
                    </a:ext>
                  </a:extLst>
                </a:gridCol>
                <a:gridCol w="3744416">
                  <a:extLst>
                    <a:ext uri="{9D8B030D-6E8A-4147-A177-3AD203B41FA5}">
                      <a16:colId xmlns:a16="http://schemas.microsoft.com/office/drawing/2014/main" val="1978460391"/>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浏览步骤</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看什么</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可能产生的怀疑</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对应质询问题（选</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个提问）</a:t>
                      </a:r>
                    </a:p>
                  </a:txBody>
                  <a:tcPr marL="72000" marR="72000" marT="36000" marB="36000" anchor="ctr"/>
                </a:tc>
                <a:extLst>
                  <a:ext uri="{0D108BD9-81ED-4DB2-BD59-A6C34878D82A}">
                    <a16:rowId xmlns:a16="http://schemas.microsoft.com/office/drawing/2014/main" val="1930792066"/>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①</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看核心认知收获：是否说清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从什么到什么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的根本性认知转变？</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这句话是否过于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完美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，像是反复修改后的定稿？</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你说你改了三版才定稿，能说说被否定的那两版为什么不对吗？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227446856"/>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②</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看证据支撑：关键数据是否支撑核心认知收获？</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数据与认知收获的因果关系是否过于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顺理成章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② </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你说的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愣住的时刻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，如果当时没有那个外部触发（如评审质疑），你还会发生这个认知转变吗？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01910274"/>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③</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听讲解：讲解员讲</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海报背后的三个故事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讲解员是否回避了某些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没想透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的问题？</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你说的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未解之惑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，如果现在给你一周时间，你会怎么去回答它？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61995567"/>
                  </a:ext>
                </a:extLst>
              </a:tr>
            </a:tbl>
          </a:graphicData>
        </a:graphic>
      </p:graphicFrame>
    </p:spTree>
    <p:extLst>
      <p:ext uri="{BB962C8B-B14F-4D97-AF65-F5344CB8AC3E}">
        <p14:creationId xmlns:p14="http://schemas.microsoft.com/office/powerpoint/2010/main" val="355442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276999"/>
          </a:xfrm>
          <a:prstGeom prst="rect">
            <a:avLst/>
          </a:prstGeom>
          <a:ln w="25400">
            <a:noFill/>
          </a:ln>
        </p:spPr>
        <p:txBody>
          <a:bodyPr wrap="square">
            <a:spAutoFit/>
          </a:bodyPr>
          <a:lstStyle/>
          <a:p>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评审清单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（每组评审员持一份，勾选式，仅列其他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a:t>
            </a:r>
          </a:p>
        </p:txBody>
      </p:sp>
      <p:graphicFrame>
        <p:nvGraphicFramePr>
          <p:cNvPr id="2" name="表格 1"/>
          <p:cNvGraphicFramePr>
            <a:graphicFrameLocks noGrp="1"/>
          </p:cNvGraphicFramePr>
          <p:nvPr>
            <p:extLst>
              <p:ext uri="{D42A27DB-BD31-4B8C-83A1-F6EECF244321}">
                <p14:modId xmlns:p14="http://schemas.microsoft.com/office/powerpoint/2010/main" val="2342252660"/>
              </p:ext>
            </p:extLst>
          </p:nvPr>
        </p:nvGraphicFramePr>
        <p:xfrm>
          <a:off x="899592" y="1995686"/>
          <a:ext cx="6984776" cy="2982423"/>
        </p:xfrm>
        <a:graphic>
          <a:graphicData uri="http://schemas.openxmlformats.org/drawingml/2006/table">
            <a:tbl>
              <a:tblPr firstRow="1" firstCol="1" bandRow="1">
                <a:tableStyleId>{5C22544A-7EE6-4342-B048-85BDC9FD1C3A}</a:tableStyleId>
              </a:tblPr>
              <a:tblGrid>
                <a:gridCol w="497198">
                  <a:extLst>
                    <a:ext uri="{9D8B030D-6E8A-4147-A177-3AD203B41FA5}">
                      <a16:colId xmlns:a16="http://schemas.microsoft.com/office/drawing/2014/main" val="2802751535"/>
                    </a:ext>
                  </a:extLst>
                </a:gridCol>
                <a:gridCol w="1951074">
                  <a:extLst>
                    <a:ext uri="{9D8B030D-6E8A-4147-A177-3AD203B41FA5}">
                      <a16:colId xmlns:a16="http://schemas.microsoft.com/office/drawing/2014/main" val="2735686296"/>
                    </a:ext>
                  </a:extLst>
                </a:gridCol>
                <a:gridCol w="2304256">
                  <a:extLst>
                    <a:ext uri="{9D8B030D-6E8A-4147-A177-3AD203B41FA5}">
                      <a16:colId xmlns:a16="http://schemas.microsoft.com/office/drawing/2014/main" val="617512478"/>
                    </a:ext>
                  </a:extLst>
                </a:gridCol>
                <a:gridCol w="1296144">
                  <a:extLst>
                    <a:ext uri="{9D8B030D-6E8A-4147-A177-3AD203B41FA5}">
                      <a16:colId xmlns:a16="http://schemas.microsoft.com/office/drawing/2014/main" val="1978460391"/>
                    </a:ext>
                  </a:extLst>
                </a:gridCol>
                <a:gridCol w="936104">
                  <a:extLst>
                    <a:ext uri="{9D8B030D-6E8A-4147-A177-3AD203B41FA5}">
                      <a16:colId xmlns:a16="http://schemas.microsoft.com/office/drawing/2014/main" val="3020425758"/>
                    </a:ext>
                  </a:extLst>
                </a:gridCol>
              </a:tblGrid>
              <a:tr h="288032">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号</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提炼过程是否真实（</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认知转变是否有具体现场（</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质询问题（选</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个）</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投票贴纸</a:t>
                      </a:r>
                    </a:p>
                  </a:txBody>
                  <a:tcPr marL="68580" marR="68580" marT="0" marB="0" anchor="ctr"/>
                </a:tc>
                <a:extLst>
                  <a:ext uri="{0D108BD9-81ED-4DB2-BD59-A6C34878D82A}">
                    <a16:rowId xmlns:a16="http://schemas.microsoft.com/office/drawing/2014/main" val="1930792066"/>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27446856"/>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01910274"/>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855499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258591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978713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054237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5889299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9005880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  组</a:t>
                      </a: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 </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① ② ③</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Times New Roman" panose="02020603050405020304" pitchFamily="18" charset="0"/>
                        </a:rPr>
                        <a:t>□</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1995567"/>
                  </a:ext>
                </a:extLst>
              </a:tr>
            </a:tbl>
          </a:graphicData>
        </a:graphic>
      </p:graphicFrame>
    </p:spTree>
    <p:extLst>
      <p:ext uri="{BB962C8B-B14F-4D97-AF65-F5344CB8AC3E}">
        <p14:creationId xmlns:p14="http://schemas.microsoft.com/office/powerpoint/2010/main" val="3515429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3520964"/>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第三阶段：投票统计与结果公布（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各组讲解员将本组海报上的投票贴纸计数，写在海报角落的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得票数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栏</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教师巡视一圈，快速记录各组得票数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公布得票前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最优海报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未获前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名的团队，由讲解员记录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本组收到的质询问题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，作为课后修订依据</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讲解员话术模板：讲</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海报背后的三个故事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讲解员不是海报的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朗读器</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，而是海报的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解说员</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 海报上写的是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结果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，讲解员讲的是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过程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故事一：这句话是怎么来的？（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要讲的内容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：海报上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核心认知收获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那句话的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提炼过程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话术模板</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海报上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核心认知收获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这句话，我一开始写的是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，后来发现不对，改成了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，最后定稿是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。定稿那一刻我才意识到：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7262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2914644"/>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话</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术案例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海报上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核心认知收获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这句话，我一开始写的是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我学会了做用户访谈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。后来发现这句话不对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学会访谈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是技能，不是认知转变。我改了三版：第一版是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我学会了区分态度数据和行为数据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，还是不对，这仍然是技能；第二版是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我理解了验证创意需要行为数据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，接近了但太抽象；最后定稿是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验证创意不是问用户要不要，而是设计可控实验看用户会不会用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。定稿那一刻我才意识到：真正的认知转变，不是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多学了一个方法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换了一个判断真伪的标准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故事二：那个让我愣住的时刻（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要讲的内容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：认知转变发生的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具体时刻</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话术模板</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这个认知转变发生在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（具体时刻）。当时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（具体事件），我愣住了。后来我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（具体行动），结果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（具体发现）。</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11678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635646"/>
            <a:ext cx="7416824" cy="3511731"/>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话</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术案例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中期评审那天，陪审团问我：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你说用户说要这个功能，但你有行为数据吗？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我当时愣住了。我们确实做了访谈，用户确实说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想要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，但我们从来没让用户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真的用一下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。那天晚上我们重新设计了对比实验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一组用户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说要不要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，另一组用户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真的用一下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。结果两组结论完全不同。那个愣住的时刻，是我这门课最重要的转折点。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故事三：我还没想透的问题（</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要讲的内容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：认知转变之后的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未解之惑</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话术模板</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这个认知转变之后，我还在想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（未解之惑）。如果有同学有类似经历，欢迎课后交流。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话术案例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设计可控实验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方法，我到现在也没完全想透。比如，如果实验成本很高、时间不够，还能不能用？如果用户根本不愿意参与实验，怎么办？海报上写的是我已经想清楚的部分，但这些问题我还没答案。如果有同学做过类似实验，欢迎课后交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5449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9592" y="1707654"/>
            <a:ext cx="7056784" cy="2015936"/>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创客作品海报核心认知收获的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凝练表达</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；认知收获与关键数据之间的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证据链呈现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；讲解员对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提炼过程、具体时刻、未解之惑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结构化讲述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；评审员基于清单的快速判断与精准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质询</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讲解员对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三个故事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凝练讲述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；评审员在有限时间内的清单判断与精准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质询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；投票结果向课后修订的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转化</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496855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、展示创客作品海报设计成果</a:t>
            </a:r>
            <a:endParaRPr lang="zh-CN" altLang="en-US" sz="2400" b="1" dirty="0">
              <a:solidFill>
                <a:srgbClr val="FFFF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031736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707654"/>
            <a:ext cx="6696744" cy="2462213"/>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实践</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劝学方案的设</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计</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元认知知识三类框架与元认知技能三维框架，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只学有用的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同学的元认知知识缺口与技能缺口，</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可执行的劝学方案，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包含缺口诊断、劝学策略、可衡量行动在内的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劝学方案</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各学习小组（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包含元认知知识缺口诊断、元认知技能缺口诊断、劝学策略（含可迁移策略）、可衡量行动在内的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劝学方案</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8814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27584" y="2211710"/>
            <a:ext cx="7344816" cy="2606867"/>
          </a:xfrm>
          <a:prstGeom prst="rect">
            <a:avLst/>
          </a:prstGeom>
          <a:ln w="25400">
            <a:noFill/>
          </a:ln>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当前高校中，多数学生的学习逻辑是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要考的内容就学、对保研有用的就做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，对德智体美劳全面发展存在知、情、行脱节的现象。这种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只学有用的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习态度，看似高效，实则带来多重隐患：知识结构单一化，缺乏跨学科视野与迁移能力；只训练了应试能力，缺乏沟通协作、组织管理、创新创造等有利于持续发展的能力；德智体美劳发展失衡，体育应付体测、美育视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天赋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、劳育敷衍了事、德育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太虚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；一旦保研失败或职业方向调整，缺乏可迁移的底层能力应对变化。</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授课教师、辅导员与教务员作为贯彻党和国家教育方针的一线教育工作者，以育人为己任，长期忧心学生这种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只学有用的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学习态度，向本科生院与学生工作处反映这一需求。为此，本科生院与学生工作处作为甲方发布招标公告，面向各学习小组公开征集劝学方案。各学习小组以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劝学方案咨询团队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身份参与竞标，在约束条件下完成目标学生画像分析、元认知知识缺口诊断、元认知技能缺口诊断、劝学策略设计与可衡量行动设计，产出劝学方案作为投标文件。中标方案将获得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最优劝学方案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称号，并有机会在班级或学院层面实际应用</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 name="矩形 1"/>
          <p:cNvSpPr/>
          <p:nvPr/>
        </p:nvSpPr>
        <p:spPr>
          <a:xfrm>
            <a:off x="899591" y="1636722"/>
            <a:ext cx="6984777" cy="430374"/>
          </a:xfrm>
          <a:prstGeom prst="rect">
            <a:avLst/>
          </a:prstGeom>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160</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本活动以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竞标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情境展开。</a:t>
            </a:r>
          </a:p>
        </p:txBody>
      </p:sp>
    </p:spTree>
    <p:extLst>
      <p:ext uri="{BB962C8B-B14F-4D97-AF65-F5344CB8AC3E}">
        <p14:creationId xmlns:p14="http://schemas.microsoft.com/office/powerpoint/2010/main" val="381879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3182410"/>
          </a:xfrm>
          <a:prstGeom prst="rect">
            <a:avLst/>
          </a:prstGeom>
          <a:ln w="25400">
            <a:noFill/>
          </a:ln>
        </p:spPr>
        <p:txBody>
          <a:bodyPr wrap="square">
            <a:spAutoFit/>
          </a:bodyPr>
          <a:lstStyle/>
          <a:p>
            <a:pPr>
              <a:lnSpc>
                <a:spcPct val="120000"/>
              </a:lnSpc>
              <a:spcBef>
                <a:spcPts val="600"/>
              </a:spcBef>
            </a:pP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一阶段：招标公告发布与任务领取（</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各小组理解招标背景、目标学生画像与关键约束，明确劝学方案的设计要求。</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步骤一：招标公告发布（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教师向全班发布《劝学方案招标公告》。各小组阅读公告，明确任务要求。</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《劝学方案招标公告》</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招标方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：某某大学本科生院与学生工作处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项目名称</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：劝学方案设计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只学有用的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同学视一切价值创造活动为学习机会</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项目背景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：当前多数学生的学习逻辑是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要考的内容就学、对保研有用的就做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。进一步观察发现，凡是对短期发展有直接帮助的内容、对评奖评优有直接加分的项目，学生也愿意投入。国家提倡德智体美劳全面发展，但学生对此存在知、情、行脱节的现象</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38462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3290131"/>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认</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知层面</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，学生认同德智体美劳的价值，但对其与自身发展的关联认识不清；</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情感层面</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，学生觉得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与评奖无关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没有天赋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没技术含量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，缺乏内在投入意愿；</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行为层面</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，学生表现为不愿投入、抱怨敷衍、能躲就躲，不能正确对待体力劳动。</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具体而言，学生对德智体美劳五育的学习机会存在不同程度的认知偏差：</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智育</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方面，学生愿意投入与考试、保研直接相关的内容，但对进项目组或课题组初期扮演勤杂职责、跨学科阅读、听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的讲座等，往往认为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与专业无关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浪费时间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体育</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方面，学生愿意投入与体育考试、体测达标相关的内容，但对日常锻炼、体育社团、运动习惯养成等，往往认为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与学业无关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以后再说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美育</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方面，学生愿意投入与评奖加分相关的艺术活动，但对日常审美体验、艺术鉴赏、创意实践等，往往认为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没有天赋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不差这一个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劳育</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方面，学生愿意投入与评奖评优挂钩的劳动实践，但对日常值日、社团事务、志愿服务等，往往认为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没有技术含量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简历写不上去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，甚至存在抱怨、敷衍现象</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39560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560840" cy="2736134"/>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德</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育</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方面，学生认同其重要性，但往往认为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太虚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不知道怎么体现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，难以将其转化为可衡量的行动。</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这种态度不仅限制了学生的能力发展，也影响了他们长远的发展潜力。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招标目标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：设计一套可执行的劝学方案，帮助这类同学扩展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的定义，视一切价值创造活动为学习机会。</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投标方资格</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：各学习小组（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劝学方案咨询团队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身份参与竞标。</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招标文件获取</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a:t> </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各小组向教师领取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劝学方案任务书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（含目标学生画像、劝学要求、评标标准等详细信息）。</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投标截止时间</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：课堂竞标评审环节开始前。</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步骤二：任务书领取与需求提取（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各小组向教师领取《劝学方案任务书》。阅读任务书，提取以下信息：目标学生画像、招标目标、关键约束、评标标准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69324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849045607"/>
              </p:ext>
            </p:extLst>
          </p:nvPr>
        </p:nvGraphicFramePr>
        <p:xfrm>
          <a:off x="899592" y="1607893"/>
          <a:ext cx="7344816" cy="3551196"/>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3852025250"/>
                    </a:ext>
                  </a:extLst>
                </a:gridCol>
                <a:gridCol w="6336704">
                  <a:extLst>
                    <a:ext uri="{9D8B030D-6E8A-4147-A177-3AD203B41FA5}">
                      <a16:colId xmlns:a16="http://schemas.microsoft.com/office/drawing/2014/main" val="3083282155"/>
                    </a:ext>
                  </a:extLst>
                </a:gridCol>
              </a:tblGrid>
              <a:tr h="24450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extLst>
                  <a:ext uri="{0D108BD9-81ED-4DB2-BD59-A6C34878D82A}">
                    <a16:rowId xmlns:a16="http://schemas.microsoft.com/office/drawing/2014/main" val="328340329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基本信息</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大二学生，成绩中上（专业前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），目标保研</a:t>
                      </a:r>
                    </a:p>
                  </a:txBody>
                  <a:tcPr marL="68580" marR="68580" marT="0" marB="0" anchor="ctr"/>
                </a:tc>
                <a:extLst>
                  <a:ext uri="{0D108BD9-81ED-4DB2-BD59-A6C34878D82A}">
                    <a16:rowId xmlns:a16="http://schemas.microsoft.com/office/drawing/2014/main" val="89517778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时间分配</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时间用于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对保研有用的事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：刷绩点、做能加分的竞赛、写论文；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时间用于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不得不做的事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：体测前突击锻炼、应付式参加劳动、被要求才听讲座</a:t>
                      </a:r>
                    </a:p>
                  </a:txBody>
                  <a:tcPr marL="68580" marR="68580" marT="0" marB="0" anchor="ctr"/>
                </a:tc>
                <a:extLst>
                  <a:ext uri="{0D108BD9-81ED-4DB2-BD59-A6C34878D82A}">
                    <a16:rowId xmlns:a16="http://schemas.microsoft.com/office/drawing/2014/main" val="3837615593"/>
                  </a:ext>
                </a:extLst>
              </a:tr>
              <a:tr h="24078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学习逻辑</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要考的内容就学，对保研有用的就做，其他都是浪费时间。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3504050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对德智体美劳的</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真实态度</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智育：只学与考试、保研直接相关的内容，认为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跨学科阅读是浪费时间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进课题组打杂学不到东西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；认为不能保研加分的竞赛和讲座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不值得投入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体育：认为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体育好有什么用，又不加分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；觉得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以后再说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不差这一次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美育：认为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艺术是特长生的事，跟我没关系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审美是天赋，学不来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劳育：认为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值日、志愿服务是浪费时间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；认为日常劳动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没有技术含量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简历写不上去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德育：口头认同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要做一个有道德的人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，但认为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太虚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不知道怎么体现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41517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典型行为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智育：退掉所有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与专业无关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的选修课；拒绝进项目组做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勤杂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；只参加能保研加分的竞赛，只听对保研加分有用的讲座；对不能加分的竞赛和讲座，一律不投入时间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体育：体测前一周每天跑步，体测后不再运动；从不参加体育社团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美育：选课时避开所有艺术类课程；从不主动参观美术馆、听音乐会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劳育：值日时敷衍了事；社团活动中只做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能展示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的活，不做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打杂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的活；对日常劳动抱怨、敷衍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德育：参加志愿活动只为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志愿时长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，活动过程中玩手机</a:t>
                      </a:r>
                    </a:p>
                  </a:txBody>
                  <a:tcPr marL="68580" marR="68580" marT="0" marB="0" anchor="ctr"/>
                </a:tc>
                <a:extLst>
                  <a:ext uri="{0D108BD9-81ED-4DB2-BD59-A6C34878D82A}">
                    <a16:rowId xmlns:a16="http://schemas.microsoft.com/office/drawing/2014/main" val="157353187"/>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真实矛盾</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嘴上说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全面发展很重要</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，行动上却把</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时间投入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对保研有用的事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身体重要</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，却体测后才想起锻炼；知道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劳动光荣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，却在值日时抱怨敷衍；知道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要做一个有道德的人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，却参加志愿活动只为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志愿时长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XX</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感兴趣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，却从未投入时间验证过这个兴趣</a:t>
                      </a:r>
                    </a:p>
                  </a:txBody>
                  <a:tcPr marL="68580" marR="68580" marT="0" marB="0" anchor="ctr"/>
                </a:tc>
                <a:extLst>
                  <a:ext uri="{0D108BD9-81ED-4DB2-BD59-A6C34878D82A}">
                    <a16:rowId xmlns:a16="http://schemas.microsoft.com/office/drawing/2014/main" val="3740635733"/>
                  </a:ext>
                </a:extLst>
              </a:tr>
            </a:tbl>
          </a:graphicData>
        </a:graphic>
      </p:graphicFrame>
      <p:sp>
        <p:nvSpPr>
          <p:cNvPr id="3" name="矩形 2"/>
          <p:cNvSpPr/>
          <p:nvPr/>
        </p:nvSpPr>
        <p:spPr>
          <a:xfrm>
            <a:off x="4427984" y="1292350"/>
            <a:ext cx="1441420" cy="326180"/>
          </a:xfrm>
          <a:prstGeom prst="rect">
            <a:avLst/>
          </a:prstGeom>
        </p:spPr>
        <p:txBody>
          <a:bodyPr wrap="none">
            <a:spAutoFit/>
          </a:bodyPr>
          <a:lstStyle/>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目标学生画像</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6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492913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3213187"/>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元认知知识缺口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策略性知识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：不知道如何将非功利活动转化为有利于持续发展的能力；不知道</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打杂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中隐含的资源协调、信息管理等有利于持续发展的策略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打杂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定义为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没技术含量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，未识别其中有利于持续发展的策略。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任务性知识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：不知道不同活动对认知能力的要求差异；不知道</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组织一次活动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刷一套题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训练的是不同认知能力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窄化为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保研加分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，未识别不同活动的认知要求差异。</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自我性知识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：不知道自己的真实兴趣与优势，用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对保研有用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替代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我真正想要什么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；不知道自己在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看不到直接回报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时容易放弃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用外在标准替代内在动机，未验证过真实兴趣。</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元认知技能缺口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计划</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：不会制定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非功利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的探索计划；只有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保研时间表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能力发展计划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计划只覆盖保研相关活动，未覆盖有利于持续发展的能力。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监控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：不会判断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非功利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活动是否学到东西；只追踪考试成绩，不追踪能力发展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只监控外在指标（成绩、时长），不监控有利于持续发展的能力</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1354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834074"/>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估与调节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：不会从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非功利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活动中提取有效经验；失败后归因于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不够努力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方法不对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非功利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活动中提取有利于持续发展的经验，也未根据反馈调整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关键约束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2" name="表格 1"/>
          <p:cNvGraphicFramePr>
            <a:graphicFrameLocks noGrp="1"/>
          </p:cNvGraphicFramePr>
          <p:nvPr>
            <p:extLst>
              <p:ext uri="{D42A27DB-BD31-4B8C-83A1-F6EECF244321}">
                <p14:modId xmlns:p14="http://schemas.microsoft.com/office/powerpoint/2010/main" val="2031528352"/>
              </p:ext>
            </p:extLst>
          </p:nvPr>
        </p:nvGraphicFramePr>
        <p:xfrm>
          <a:off x="899592" y="2582881"/>
          <a:ext cx="6480720" cy="2304256"/>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3923628208"/>
                    </a:ext>
                  </a:extLst>
                </a:gridCol>
                <a:gridCol w="5472608">
                  <a:extLst>
                    <a:ext uri="{9D8B030D-6E8A-4147-A177-3AD203B41FA5}">
                      <a16:colId xmlns:a16="http://schemas.microsoft.com/office/drawing/2014/main" val="4279050366"/>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具体要求</a:t>
                      </a:r>
                    </a:p>
                  </a:txBody>
                  <a:tcPr marL="72000" marR="72000" marT="36000" marB="36000" anchor="ctr"/>
                </a:tc>
                <a:extLst>
                  <a:ext uri="{0D108BD9-81ED-4DB2-BD59-A6C34878D82A}">
                    <a16:rowId xmlns:a16="http://schemas.microsoft.com/office/drawing/2014/main" val="4024040795"/>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方案设计须在课堂内完成</a:t>
                      </a:r>
                    </a:p>
                  </a:txBody>
                  <a:tcPr marL="72000" marR="72000" marT="36000" marB="36000" anchor="ctr"/>
                </a:tc>
                <a:extLst>
                  <a:ext uri="{0D108BD9-81ED-4DB2-BD59-A6C34878D82A}">
                    <a16:rowId xmlns:a16="http://schemas.microsoft.com/office/drawing/2014/main" val="86830171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对象约束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方案须针对画像中的目标学生，不得泛化为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一般学生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95814873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情境约束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方案须围绕本组角色扮演中获得的具象化场景展开，引用目标学生的具体对话或行为</a:t>
                      </a:r>
                    </a:p>
                  </a:txBody>
                  <a:tcPr marL="68580" marR="68580" marT="0" marB="0" anchor="ctr"/>
                </a:tc>
                <a:extLst>
                  <a:ext uri="{0D108BD9-81ED-4DB2-BD59-A6C34878D82A}">
                    <a16:rowId xmlns:a16="http://schemas.microsoft.com/office/drawing/2014/main" val="311821020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证据约束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方案中的诊断须有行为证据支撑</a:t>
                      </a:r>
                    </a:p>
                  </a:txBody>
                  <a:tcPr marL="72000" marR="72000" marT="36000" marB="36000" anchor="ctr"/>
                </a:tc>
                <a:extLst>
                  <a:ext uri="{0D108BD9-81ED-4DB2-BD59-A6C34878D82A}">
                    <a16:rowId xmlns:a16="http://schemas.microsoft.com/office/drawing/2014/main" val="4006466385"/>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方案须运用元认知知识三类框架与元认知技能三维框架</a:t>
                      </a:r>
                    </a:p>
                  </a:txBody>
                  <a:tcPr marL="72000" marR="72000" marT="36000" marB="36000" anchor="ctr"/>
                </a:tc>
                <a:extLst>
                  <a:ext uri="{0D108BD9-81ED-4DB2-BD59-A6C34878D82A}">
                    <a16:rowId xmlns:a16="http://schemas.microsoft.com/office/drawing/2014/main" val="239376619"/>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可操作性约束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方案须自己认同、有用、可执行、可衡量</a:t>
                      </a:r>
                    </a:p>
                  </a:txBody>
                  <a:tcPr marL="72000" marR="72000" marT="36000" marB="36000" anchor="ctr"/>
                </a:tc>
                <a:extLst>
                  <a:ext uri="{0D108BD9-81ED-4DB2-BD59-A6C34878D82A}">
                    <a16:rowId xmlns:a16="http://schemas.microsoft.com/office/drawing/2014/main" val="2124929451"/>
                  </a:ext>
                </a:extLst>
              </a:tr>
              <a:tr h="38481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伦理约束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方案须尊重学生自主性，不强制、不说教</a:t>
                      </a:r>
                    </a:p>
                  </a:txBody>
                  <a:tcPr marL="72000" marR="72000" marT="36000" marB="36000" anchor="ctr"/>
                </a:tc>
                <a:extLst>
                  <a:ext uri="{0D108BD9-81ED-4DB2-BD59-A6C34878D82A}">
                    <a16:rowId xmlns:a16="http://schemas.microsoft.com/office/drawing/2014/main" val="1858651658"/>
                  </a:ext>
                </a:extLst>
              </a:tr>
            </a:tbl>
          </a:graphicData>
        </a:graphic>
      </p:graphicFrame>
    </p:spTree>
    <p:extLst>
      <p:ext uri="{BB962C8B-B14F-4D97-AF65-F5344CB8AC3E}">
        <p14:creationId xmlns:p14="http://schemas.microsoft.com/office/powerpoint/2010/main" val="131781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276999"/>
          </a:xfrm>
          <a:prstGeom prst="rect">
            <a:avLst/>
          </a:prstGeom>
          <a:ln w="25400">
            <a:noFill/>
          </a:ln>
        </p:spPr>
        <p:txBody>
          <a:bodyPr wrap="square">
            <a:spAutoFit/>
          </a:bodyPr>
          <a:lstStyle/>
          <a:p>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评标标准：</a:t>
            </a:r>
          </a:p>
        </p:txBody>
      </p:sp>
      <p:graphicFrame>
        <p:nvGraphicFramePr>
          <p:cNvPr id="8" name="表格 7"/>
          <p:cNvGraphicFramePr>
            <a:graphicFrameLocks noGrp="1"/>
          </p:cNvGraphicFramePr>
          <p:nvPr>
            <p:extLst>
              <p:ext uri="{D42A27DB-BD31-4B8C-83A1-F6EECF244321}">
                <p14:modId xmlns:p14="http://schemas.microsoft.com/office/powerpoint/2010/main" val="1262851017"/>
              </p:ext>
            </p:extLst>
          </p:nvPr>
        </p:nvGraphicFramePr>
        <p:xfrm>
          <a:off x="899592" y="1994524"/>
          <a:ext cx="7200800" cy="2233410"/>
        </p:xfrm>
        <a:graphic>
          <a:graphicData uri="http://schemas.openxmlformats.org/drawingml/2006/table">
            <a:tbl>
              <a:tblPr firstRow="1" firstCol="1" bandRow="1">
                <a:tableStyleId>{5C22544A-7EE6-4342-B048-85BDC9FD1C3A}</a:tableStyleId>
              </a:tblPr>
              <a:tblGrid>
                <a:gridCol w="1296144">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328592">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评审维度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权重</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72000" marR="72000" marT="36000" marB="3600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诊断准确性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元认知知识缺口与技能缺口诊断是否准确？是否有行为证据支撑？</a:t>
                      </a: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诊断系统性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是否覆盖元认知知识三类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技能三维？</a:t>
                      </a:r>
                    </a:p>
                  </a:txBody>
                  <a:tcPr marL="72000" marR="72000" marT="36000" marB="3600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劝学策略可操作性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策略是否自己认同、有用、具体、可执行、可衡量？</a:t>
                      </a:r>
                    </a:p>
                  </a:txBody>
                  <a:tcPr marL="72000" marR="72000" marT="36000" marB="36000" anchor="ctr"/>
                </a:tc>
                <a:extLst>
                  <a:ext uri="{0D108BD9-81ED-4DB2-BD59-A6C34878D82A}">
                    <a16:rowId xmlns:a16="http://schemas.microsoft.com/office/drawing/2014/main" val="267252162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劝学策略场景性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策略是否围绕本组角色扮演中获得的具象化场景？是否引用了目标学生的具体对话？</a:t>
                      </a:r>
                    </a:p>
                  </a:txBody>
                  <a:tcPr marL="72000" marR="72000" marT="36000" marB="3600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劝学策略可迁移性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是否从具体场景策略中提炼了可迁移策略？能否举一反三应用于其他场景？</a:t>
                      </a:r>
                    </a:p>
                  </a:txBody>
                  <a:tcPr marL="72000" marR="72000" marT="36000" marB="36000" anchor="ctr"/>
                </a:tc>
                <a:extLst>
                  <a:ext uri="{0D108BD9-81ED-4DB2-BD59-A6C34878D82A}">
                    <a16:rowId xmlns:a16="http://schemas.microsoft.com/office/drawing/2014/main" val="168022767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劝学策略伦理</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是否尊重学生自主性？是否避免说教？</a:t>
                      </a:r>
                    </a:p>
                  </a:txBody>
                  <a:tcPr marL="72000" marR="72000" marT="36000" marB="36000" anchor="ctr"/>
                </a:tc>
                <a:extLst>
                  <a:ext uri="{0D108BD9-81ED-4DB2-BD59-A6C34878D82A}">
                    <a16:rowId xmlns:a16="http://schemas.microsoft.com/office/drawing/2014/main" val="3766751648"/>
                  </a:ext>
                </a:extLst>
              </a:tr>
              <a:tr h="31397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方案完整性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是否包含诊断、策略、行动？</a:t>
                      </a:r>
                    </a:p>
                  </a:txBody>
                  <a:tcPr marL="72000" marR="72000" marT="36000" marB="36000" anchor="ctr"/>
                </a:tc>
                <a:extLst>
                  <a:ext uri="{0D108BD9-81ED-4DB2-BD59-A6C34878D82A}">
                    <a16:rowId xmlns:a16="http://schemas.microsoft.com/office/drawing/2014/main" val="1496211302"/>
                  </a:ext>
                </a:extLst>
              </a:tr>
            </a:tbl>
          </a:graphicData>
        </a:graphic>
      </p:graphicFrame>
    </p:spTree>
    <p:extLst>
      <p:ext uri="{BB962C8B-B14F-4D97-AF65-F5344CB8AC3E}">
        <p14:creationId xmlns:p14="http://schemas.microsoft.com/office/powerpoint/2010/main" val="2852500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13313"/>
            <a:ext cx="7344816" cy="911019"/>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步骤三：任务分工与进度确认（</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各小组根据任务书要求，完成内部分工，明确各阶段任务的时间节点与责任人。</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9" name="表格 8"/>
          <p:cNvGraphicFramePr>
            <a:graphicFrameLocks noGrp="1"/>
          </p:cNvGraphicFramePr>
          <p:nvPr>
            <p:extLst>
              <p:ext uri="{D42A27DB-BD31-4B8C-83A1-F6EECF244321}">
                <p14:modId xmlns:p14="http://schemas.microsoft.com/office/powerpoint/2010/main" val="2810553878"/>
              </p:ext>
            </p:extLst>
          </p:nvPr>
        </p:nvGraphicFramePr>
        <p:xfrm>
          <a:off x="899592" y="2524332"/>
          <a:ext cx="5112568" cy="1440160"/>
        </p:xfrm>
        <a:graphic>
          <a:graphicData uri="http://schemas.openxmlformats.org/drawingml/2006/table">
            <a:tbl>
              <a:tblPr firstRow="1" firstCol="1" bandRow="1">
                <a:tableStyleId>{5C22544A-7EE6-4342-B048-85BDC9FD1C3A}</a:tableStyleId>
              </a:tblPr>
              <a:tblGrid>
                <a:gridCol w="1296144">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3240360">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项目经理</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主持讨论，把控时间进度，确认各环节输出质量</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知识缺口诊断员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负责元认知知识三类缺口的诊断与分析</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技能缺口诊断员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负责元认知技能三维缺口的诊断与分析</a:t>
                      </a:r>
                    </a:p>
                  </a:txBody>
                  <a:tcPr marL="68580" marR="68580" marT="0" marB="0" anchor="ctr"/>
                </a:tc>
                <a:extLst>
                  <a:ext uri="{0D108BD9-81ED-4DB2-BD59-A6C34878D82A}">
                    <a16:rowId xmlns:a16="http://schemas.microsoft.com/office/drawing/2014/main" val="267252162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策略设计师</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负责劝学策略与可衡量行动的设计</a:t>
                      </a:r>
                    </a:p>
                  </a:txBody>
                  <a:tcPr marL="68580" marR="68580" marT="0" marB="0" anchor="ctr"/>
                </a:tc>
                <a:extLst>
                  <a:ext uri="{0D108BD9-81ED-4DB2-BD59-A6C34878D82A}">
                    <a16:rowId xmlns:a16="http://schemas.microsoft.com/office/drawing/2014/main" val="3030293127"/>
                  </a:ext>
                </a:extLst>
              </a:tr>
            </a:tbl>
          </a:graphicData>
        </a:graphic>
      </p:graphicFrame>
      <p:sp>
        <p:nvSpPr>
          <p:cNvPr id="2" name="矩形 1"/>
          <p:cNvSpPr/>
          <p:nvPr/>
        </p:nvSpPr>
        <p:spPr>
          <a:xfrm>
            <a:off x="899592" y="3990810"/>
            <a:ext cx="7920880" cy="1132618"/>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：各小组完成《劝学方案任务书》需求提取与内部分工，保存作为方案组成部分。</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第二阶段：元认知知识缺口诊断（</a:t>
            </a: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22</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各小组自行设计目标学生的具体场景，通过角色扮演具象化其元认知困境，运用元认知知识三类框架诊断其策略性知识、任务性知识、自我性知识缺口；诊断结论须以本组角色扮演中目标学生的具体对话或行为为证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01907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502874111"/>
              </p:ext>
            </p:extLst>
          </p:nvPr>
        </p:nvGraphicFramePr>
        <p:xfrm>
          <a:off x="899592" y="2275786"/>
          <a:ext cx="7776864" cy="1832282"/>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1914101662"/>
                    </a:ext>
                  </a:extLst>
                </a:gridCol>
                <a:gridCol w="3528392">
                  <a:extLst>
                    <a:ext uri="{9D8B030D-6E8A-4147-A177-3AD203B41FA5}">
                      <a16:colId xmlns:a16="http://schemas.microsoft.com/office/drawing/2014/main" val="1209153042"/>
                    </a:ext>
                  </a:extLst>
                </a:gridCol>
                <a:gridCol w="3312368">
                  <a:extLst>
                    <a:ext uri="{9D8B030D-6E8A-4147-A177-3AD203B41FA5}">
                      <a16:colId xmlns:a16="http://schemas.microsoft.com/office/drawing/2014/main" val="2008803654"/>
                    </a:ext>
                  </a:extLst>
                </a:gridCol>
              </a:tblGrid>
              <a:tr h="356659">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定义</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68580" marR="68580" marT="0" marB="0" anchor="ctr"/>
                </a:tc>
                <a:extLst>
                  <a:ext uri="{0D108BD9-81ED-4DB2-BD59-A6C34878D82A}">
                    <a16:rowId xmlns:a16="http://schemas.microsoft.com/office/drawing/2014/main" val="174513558"/>
                  </a:ext>
                </a:extLst>
              </a:tr>
              <a:tr h="42866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策略性知识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关于学习、思维和解决问题的一般策略的知识——知道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用什么方法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该学生使用了什么策略？这些策略在什么情境下有效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失效？缺失了什么关键策略？</a:t>
                      </a:r>
                    </a:p>
                  </a:txBody>
                  <a:tcPr marL="68580" marR="68580" marT="0" marB="0" anchor="ctr"/>
                </a:tc>
                <a:extLst>
                  <a:ext uri="{0D108BD9-81ED-4DB2-BD59-A6C34878D82A}">
                    <a16:rowId xmlns:a16="http://schemas.microsoft.com/office/drawing/2014/main" val="3845462762"/>
                  </a:ext>
                </a:extLst>
              </a:tr>
              <a:tr h="51081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任务性知识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关于不同认知任务的难度差异、认知要求以及何时适当使用策略的条件性知识——知道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何时为何使用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该学生如何理解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？这种理解是否准确？是否知道不同活动对认知能力的要求差异？</a:t>
                      </a:r>
                    </a:p>
                  </a:txBody>
                  <a:tcPr marL="68580" marR="68580" marT="0" marB="0" anchor="ctr"/>
                </a:tc>
                <a:extLst>
                  <a:ext uri="{0D108BD9-81ED-4DB2-BD59-A6C34878D82A}">
                    <a16:rowId xmlns:a16="http://schemas.microsoft.com/office/drawing/2014/main" val="3755180311"/>
                  </a:ext>
                </a:extLst>
              </a:tr>
              <a:tr h="53613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自我性知识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对自己在认知和学习方面的强项和弱项的了解，以及关于自我动机的信念——知道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我擅长什么、我想要什么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该学生对自己的优势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劣势判断是否准确？是否存在自我认知偏差？是否了解自己的真实兴趣与动机？</a:t>
                      </a:r>
                    </a:p>
                  </a:txBody>
                  <a:tcPr marL="68580" marR="68580" marT="0" marB="0" anchor="ctr"/>
                </a:tc>
                <a:extLst>
                  <a:ext uri="{0D108BD9-81ED-4DB2-BD59-A6C34878D82A}">
                    <a16:rowId xmlns:a16="http://schemas.microsoft.com/office/drawing/2014/main" val="2672521626"/>
                  </a:ext>
                </a:extLst>
              </a:tr>
            </a:tbl>
          </a:graphicData>
        </a:graphic>
      </p:graphicFrame>
      <p:sp>
        <p:nvSpPr>
          <p:cNvPr id="2" name="矩形 1"/>
          <p:cNvSpPr/>
          <p:nvPr/>
        </p:nvSpPr>
        <p:spPr>
          <a:xfrm>
            <a:off x="899592" y="1643439"/>
            <a:ext cx="7128792" cy="591252"/>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法导入</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师讲解元认知知识三类框架：</a:t>
            </a:r>
          </a:p>
        </p:txBody>
      </p:sp>
      <p:sp>
        <p:nvSpPr>
          <p:cNvPr id="3" name="矩形 2"/>
          <p:cNvSpPr/>
          <p:nvPr/>
        </p:nvSpPr>
        <p:spPr>
          <a:xfrm>
            <a:off x="899592" y="4149164"/>
            <a:ext cx="7848872" cy="889795"/>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场景设计（</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各小组围绕目标学生画像，自行设计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个具体场景，作为角色扮演的背景。</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场景设计须包含：具体事件、目标学生的具体对话或行为、发生情境。</a:t>
            </a:r>
          </a:p>
        </p:txBody>
      </p:sp>
    </p:spTree>
    <p:extLst>
      <p:ext uri="{BB962C8B-B14F-4D97-AF65-F5344CB8AC3E}">
        <p14:creationId xmlns:p14="http://schemas.microsoft.com/office/powerpoint/2010/main" val="2090705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61247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角色扮演（</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9" name="表格 8"/>
          <p:cNvGraphicFramePr>
            <a:graphicFrameLocks noGrp="1"/>
          </p:cNvGraphicFramePr>
          <p:nvPr>
            <p:extLst>
              <p:ext uri="{D42A27DB-BD31-4B8C-83A1-F6EECF244321}">
                <p14:modId xmlns:p14="http://schemas.microsoft.com/office/powerpoint/2010/main" val="2208511287"/>
              </p:ext>
            </p:extLst>
          </p:nvPr>
        </p:nvGraphicFramePr>
        <p:xfrm>
          <a:off x="899592" y="2276587"/>
          <a:ext cx="5616624" cy="1152128"/>
        </p:xfrm>
        <a:graphic>
          <a:graphicData uri="http://schemas.openxmlformats.org/drawingml/2006/table">
            <a:tbl>
              <a:tblPr firstRow="1" firstCol="1" bandRow="1">
                <a:tableStyleId>{5C22544A-7EE6-4342-B048-85BDC9FD1C3A}</a:tableStyleId>
              </a:tblPr>
              <a:tblGrid>
                <a:gridCol w="151216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3528392">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目标学生</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扮演</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只学有用的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学生，接受访谈</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目标学生的室友</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同学</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扮演与目标学生日常接触的室友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同学，提供旁观视角</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诊断研究员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使用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元认知诊断提问框架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进行访谈，记录关键信息</a:t>
                      </a:r>
                    </a:p>
                  </a:txBody>
                  <a:tcPr marL="68580" marR="68580" marT="0" marB="0" anchor="ctr"/>
                </a:tc>
                <a:extLst>
                  <a:ext uri="{0D108BD9-81ED-4DB2-BD59-A6C34878D82A}">
                    <a16:rowId xmlns:a16="http://schemas.microsoft.com/office/drawing/2014/main" val="2672521626"/>
                  </a:ext>
                </a:extLst>
              </a:tr>
            </a:tbl>
          </a:graphicData>
        </a:graphic>
      </p:graphicFrame>
      <p:sp>
        <p:nvSpPr>
          <p:cNvPr id="2" name="矩形 1"/>
          <p:cNvSpPr/>
          <p:nvPr/>
        </p:nvSpPr>
        <p:spPr>
          <a:xfrm>
            <a:off x="899592" y="3513353"/>
            <a:ext cx="7128792" cy="1575816"/>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访谈说明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本访谈的目的是通过具象化的场景追问，获得可用于</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元认知知识缺口诊断</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行为证据</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。元认知知识不是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策略性知识是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知道用什么方法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，任务性知识是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知道何时为何使用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，自我性知识是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知道我擅长什么、我想要什么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。请诊断研究员注意以</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下</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四</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点：</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聚焦认知内容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：追问受访者在具体场景中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怎么理解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怎么认识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。例如，不问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你制定了什么计划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你当时怎么判断这件事要不要做？依据是什么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35551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940006960"/>
              </p:ext>
            </p:extLst>
          </p:nvPr>
        </p:nvGraphicFramePr>
        <p:xfrm>
          <a:off x="891186" y="3548676"/>
          <a:ext cx="7065190" cy="1399338"/>
        </p:xfrm>
        <a:graphic>
          <a:graphicData uri="http://schemas.openxmlformats.org/drawingml/2006/table">
            <a:tbl>
              <a:tblPr firstRow="1" firstCol="1" bandRow="1">
                <a:tableStyleId>{5C22544A-7EE6-4342-B048-85BDC9FD1C3A}</a:tableStyleId>
              </a:tblPr>
              <a:tblGrid>
                <a:gridCol w="65647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832648">
                  <a:extLst>
                    <a:ext uri="{9D8B030D-6E8A-4147-A177-3AD203B41FA5}">
                      <a16:colId xmlns:a16="http://schemas.microsoft.com/office/drawing/2014/main" val="2008803654"/>
                    </a:ext>
                  </a:extLst>
                </a:gridCol>
              </a:tblGrid>
              <a:tr h="39122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轮次</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操作</a:t>
                      </a:r>
                    </a:p>
                  </a:txBody>
                  <a:tcPr marL="72000" marR="72000" marT="36000" marB="36000" anchor="ctr"/>
                </a:tc>
                <a:extLst>
                  <a:ext uri="{0D108BD9-81ED-4DB2-BD59-A6C34878D82A}">
                    <a16:rowId xmlns:a16="http://schemas.microsoft.com/office/drawing/2014/main" val="174513558"/>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位诊断研究员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分别访谈：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位室友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同学。每位受访者均获得完整的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分钟深度访谈。</a:t>
                      </a:r>
                    </a:p>
                  </a:txBody>
                  <a:tcPr marL="72000" marR="72000" marT="36000" marB="36000" anchor="ctr"/>
                </a:tc>
                <a:extLst>
                  <a:ext uri="{0D108BD9-81ED-4DB2-BD59-A6C34878D82A}">
                    <a16:rowId xmlns:a16="http://schemas.microsoft.com/office/drawing/2014/main" val="3845462762"/>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角色轮换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从未担任过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位成员（原目标学生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原室友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同学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人）接替成为诊断研究员，原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位诊断研究员转为受访者，再次实现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访谈。</a:t>
                      </a:r>
                    </a:p>
                  </a:txBody>
                  <a:tcPr marL="72000" marR="72000" marT="36000" marB="36000" anchor="ctr"/>
                </a:tc>
                <a:extLst>
                  <a:ext uri="{0D108BD9-81ED-4DB2-BD59-A6C34878D82A}">
                    <a16:rowId xmlns:a16="http://schemas.microsoft.com/office/drawing/2014/main" val="3755180311"/>
                  </a:ext>
                </a:extLst>
              </a:tr>
            </a:tbl>
          </a:graphicData>
        </a:graphic>
      </p:graphicFrame>
      <p:sp>
        <p:nvSpPr>
          <p:cNvPr id="2" name="矩形 1"/>
          <p:cNvSpPr/>
          <p:nvPr/>
        </p:nvSpPr>
        <p:spPr>
          <a:xfrm>
            <a:off x="891186" y="1635646"/>
            <a:ext cx="7128792" cy="187435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追</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问知识缺口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：当受访者描述一个判断或理解后，追问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你为什么这么判断？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你的依据是什么？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如果换一个情境，你还会这么判断吗？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目标是定位策略性知识、任务性知识、自我性知识中的具体缺口。</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证据记录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：每条记录应包含受访者身份、具体情境、具体判断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理解描述（原话优先）。这些记录将直接用于后续《元认知知识缺口诊断表》的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行为证据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栏，请务必记录具体认知细节，而非概括性结论</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场</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景来源：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每条行为证据须标明来自本组自行设计的具体场景，并引用目标学生的原话或具体行为；不得直接照搬画像中的通用描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述</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访谈流程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072841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883460131"/>
              </p:ext>
            </p:extLst>
          </p:nvPr>
        </p:nvGraphicFramePr>
        <p:xfrm>
          <a:off x="891186" y="1989453"/>
          <a:ext cx="7353222" cy="2958561"/>
        </p:xfrm>
        <a:graphic>
          <a:graphicData uri="http://schemas.openxmlformats.org/drawingml/2006/table">
            <a:tbl>
              <a:tblPr firstRow="1" firstCol="1" bandRow="1">
                <a:tableStyleId>{5C22544A-7EE6-4342-B048-85BDC9FD1C3A}</a:tableStyleId>
              </a:tblPr>
              <a:tblGrid>
                <a:gridCol w="656478">
                  <a:extLst>
                    <a:ext uri="{9D8B030D-6E8A-4147-A177-3AD203B41FA5}">
                      <a16:colId xmlns:a16="http://schemas.microsoft.com/office/drawing/2014/main" val="1914101662"/>
                    </a:ext>
                  </a:extLst>
                </a:gridCol>
                <a:gridCol w="6696744">
                  <a:extLst>
                    <a:ext uri="{9D8B030D-6E8A-4147-A177-3AD203B41FA5}">
                      <a16:colId xmlns:a16="http://schemas.microsoft.com/office/drawing/2014/main" val="2008803654"/>
                    </a:ext>
                  </a:extLst>
                </a:gridCol>
              </a:tblGrid>
              <a:tr h="39122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引导性问题</a:t>
                      </a:r>
                    </a:p>
                  </a:txBody>
                  <a:tcPr marL="72000" marR="72000" marT="36000" marB="36000" anchor="ctr"/>
                </a:tc>
                <a:extLst>
                  <a:ext uri="{0D108BD9-81ED-4DB2-BD59-A6C34878D82A}">
                    <a16:rowId xmlns:a16="http://schemas.microsoft.com/office/drawing/2014/main" val="174513558"/>
                  </a:ext>
                </a:extLst>
              </a:tr>
              <a:tr h="623119">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请描述一次你决定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这件事要不要做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的具体经历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当时是什么事？你怎么判断的？最后做了吗？② 请描述一次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做了但觉得浪费时间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当时做了什么？为什么觉得浪费时间？③ 请描述一次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没做但后来发现其实有用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当时为什么没做？后来怎么发现有用的？</a:t>
                      </a:r>
                    </a:p>
                  </a:txBody>
                  <a:tcPr marL="72000" marR="72000" marT="36000" marB="36000" anchor="ctr"/>
                </a:tc>
                <a:extLst>
                  <a:ext uri="{0D108BD9-81ED-4DB2-BD59-A6C34878D82A}">
                    <a16:rowId xmlns:a16="http://schemas.microsoft.com/office/drawing/2014/main" val="1710944172"/>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你最近一次组织活动（或参与组织）是什么？和你最近一次刷题相比，你觉得两者在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费脑子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的方式上有什么不同？② 你有没有进过课题组或项目组？如果有，你初期做的是什么？你觉得那段经历和做竞赛有什么不同？③ 如果让你选，你更愿意做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组织一次活动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还是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刷一套题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a:t>
                      </a:r>
                    </a:p>
                  </a:txBody>
                  <a:tcPr marL="72000" marR="72000" marT="36000" marB="36000" anchor="ctr"/>
                </a:tc>
                <a:extLst>
                  <a:ext uri="{0D108BD9-81ED-4DB2-BD59-A6C34878D82A}">
                    <a16:rowId xmlns:a16="http://schemas.microsoft.com/office/drawing/2014/main" val="4220622111"/>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请描述一次你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以为自己感兴趣，但实际做了发现不喜欢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当时是什么事？做了之后为什么不喜欢？② 请描述一次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别人觉得你擅长，但你自己不觉得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别人为什么觉得你擅长？你自己为什么不觉得？③ 你有没有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做到一半就想放弃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的经历？当时是什么事？为什么想放弃？</a:t>
                      </a:r>
                    </a:p>
                  </a:txBody>
                  <a:tcPr marL="72000" marR="72000" marT="36000" marB="36000" anchor="ctr"/>
                </a:tc>
                <a:extLst>
                  <a:ext uri="{0D108BD9-81ED-4DB2-BD59-A6C34878D82A}">
                    <a16:rowId xmlns:a16="http://schemas.microsoft.com/office/drawing/2014/main" val="4071308713"/>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真实</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矛盾</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你说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全面发展很重要</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那你上周的时间是怎么分配的？有多少时间花在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对保研有用的事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上？多少时间花在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其他事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上？② 你有没有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知道应该做但没做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的事？请举一个具体例子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当时知道应该做什么？为什么没做？③ 如果让你给自己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德智体美劳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五个方面各打一个分，你会怎么打？为什么？</a:t>
                      </a:r>
                    </a:p>
                  </a:txBody>
                  <a:tcPr marL="72000" marR="72000" marT="36000" marB="36000" anchor="ctr"/>
                </a:tc>
                <a:extLst>
                  <a:ext uri="{0D108BD9-81ED-4DB2-BD59-A6C34878D82A}">
                    <a16:rowId xmlns:a16="http://schemas.microsoft.com/office/drawing/2014/main" val="1259245512"/>
                  </a:ext>
                </a:extLst>
              </a:tr>
            </a:tbl>
          </a:graphicData>
        </a:graphic>
      </p:graphicFrame>
      <p:sp>
        <p:nvSpPr>
          <p:cNvPr id="2" name="矩形 1"/>
          <p:cNvSpPr/>
          <p:nvPr/>
        </p:nvSpPr>
        <p:spPr>
          <a:xfrm>
            <a:off x="891186" y="1635646"/>
            <a:ext cx="7128792" cy="292709"/>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元认知诊断提问框</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架</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35808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830651130"/>
              </p:ext>
            </p:extLst>
          </p:nvPr>
        </p:nvGraphicFramePr>
        <p:xfrm>
          <a:off x="971600" y="3733234"/>
          <a:ext cx="7353222" cy="1238396"/>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2595563012"/>
                    </a:ext>
                  </a:extLst>
                </a:gridCol>
                <a:gridCol w="1296144">
                  <a:extLst>
                    <a:ext uri="{9D8B030D-6E8A-4147-A177-3AD203B41FA5}">
                      <a16:colId xmlns:a16="http://schemas.microsoft.com/office/drawing/2014/main" val="2702870106"/>
                    </a:ext>
                  </a:extLst>
                </a:gridCol>
                <a:gridCol w="2456678">
                  <a:extLst>
                    <a:ext uri="{9D8B030D-6E8A-4147-A177-3AD203B41FA5}">
                      <a16:colId xmlns:a16="http://schemas.microsoft.com/office/drawing/2014/main" val="2008803654"/>
                    </a:ext>
                  </a:extLst>
                </a:gridCol>
              </a:tblGrid>
              <a:tr h="25506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诊断结论</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行为证据（来自角色扮演）</a:t>
                      </a:r>
                    </a:p>
                  </a:txBody>
                  <a:tcPr marL="72000" marR="72000" marT="36000" marB="36000" anchor="ctr"/>
                </a:tc>
                <a:extLst>
                  <a:ext uri="{0D108BD9-81ED-4DB2-BD59-A6C34878D82A}">
                    <a16:rowId xmlns:a16="http://schemas.microsoft.com/office/drawing/2014/main" val="174513558"/>
                  </a:ext>
                </a:extLst>
              </a:tr>
              <a:tr h="167632">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a:t>
                      </a: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该学生使用了什么学习策略？</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10944172"/>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这些策略在什么情境下有效？</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220622111"/>
                  </a:ext>
                </a:extLst>
              </a:tr>
              <a:tr h="264416">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这些策略在什么情境下失效？</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071308713"/>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缺失了什么关键策略？</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259245512"/>
                  </a:ext>
                </a:extLst>
              </a:tr>
            </a:tbl>
          </a:graphicData>
        </a:graphic>
      </p:graphicFrame>
      <p:sp>
        <p:nvSpPr>
          <p:cNvPr id="2" name="矩形 1"/>
          <p:cNvSpPr/>
          <p:nvPr/>
        </p:nvSpPr>
        <p:spPr>
          <a:xfrm>
            <a:off x="891186" y="1635646"/>
            <a:ext cx="7128792" cy="210519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诊断研究员任务：</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元认知诊断提问框架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进行访谈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记录关键信息，每条记录应包含：受访者身份、具体情境、具体描述（原话优先）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为后续《元认知知识缺口诊断表》提供行为证据</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钟） ：</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各小组基于角色扮演获得的行为证据，填写《元认知知识缺口诊断表》：</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《元认知知识缺口诊断表》模板：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41220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88177604"/>
              </p:ext>
            </p:extLst>
          </p:nvPr>
        </p:nvGraphicFramePr>
        <p:xfrm>
          <a:off x="899592" y="1707654"/>
          <a:ext cx="7353222" cy="2206312"/>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2595563012"/>
                    </a:ext>
                  </a:extLst>
                </a:gridCol>
                <a:gridCol w="1296144">
                  <a:extLst>
                    <a:ext uri="{9D8B030D-6E8A-4147-A177-3AD203B41FA5}">
                      <a16:colId xmlns:a16="http://schemas.microsoft.com/office/drawing/2014/main" val="2702870106"/>
                    </a:ext>
                  </a:extLst>
                </a:gridCol>
                <a:gridCol w="2456678">
                  <a:extLst>
                    <a:ext uri="{9D8B030D-6E8A-4147-A177-3AD203B41FA5}">
                      <a16:colId xmlns:a16="http://schemas.microsoft.com/office/drawing/2014/main" val="2008803654"/>
                    </a:ext>
                  </a:extLst>
                </a:gridCol>
              </a:tblGrid>
              <a:tr h="26441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诊断结论</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行为证据（来自角色扮演）</a:t>
                      </a:r>
                    </a:p>
                  </a:txBody>
                  <a:tcPr marL="72000" marR="72000" marT="36000" marB="36000" anchor="ctr"/>
                </a:tc>
                <a:extLst>
                  <a:ext uri="{0D108BD9-81ED-4DB2-BD59-A6C34878D82A}">
                    <a16:rowId xmlns:a16="http://schemas.microsoft.com/office/drawing/2014/main" val="174513558"/>
                  </a:ext>
                </a:extLst>
              </a:tr>
              <a:tr h="167632">
                <a:tc rowSpan="4">
                  <a:txBody>
                    <a:bodyPr/>
                    <a:lstStyle/>
                    <a:p>
                      <a:pPr marL="0" algn="ctr" defTabSz="914400" rtl="0" eaLnBrk="1" latinLnBrk="0" hangingPunct="1">
                        <a:spcAft>
                          <a:spcPts val="0"/>
                        </a:spcAft>
                      </a:pP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该学生如何理解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10944172"/>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这种理解是否准确？</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220622111"/>
                  </a:ext>
                </a:extLst>
              </a:tr>
              <a:tr h="264416">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是否知道不同活动对认知能力的要求差异？</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071308713"/>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何时、为何使用何种策略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259245512"/>
                  </a:ext>
                </a:extLst>
              </a:tr>
              <a:tr h="216024">
                <a:tc rowSpan="4">
                  <a:txBody>
                    <a:bodyPr/>
                    <a:lstStyle/>
                    <a:p>
                      <a:pPr marL="0" algn="ctr" defTabSz="914400" rtl="0" eaLnBrk="1" latinLnBrk="0" hangingPunct="1">
                        <a:spcAft>
                          <a:spcPts val="0"/>
                        </a:spcAft>
                      </a:pP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该学生对自己的优势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劣势判断是否准确？</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905085963"/>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是否存在自我认知偏差？</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14234350"/>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是否了解自己的真实兴趣与动机？</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520639740"/>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是否知道自己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在什么情况下容易放弃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918837891"/>
                  </a:ext>
                </a:extLst>
              </a:tr>
            </a:tbl>
          </a:graphicData>
        </a:graphic>
      </p:graphicFrame>
      <p:sp>
        <p:nvSpPr>
          <p:cNvPr id="3" name="矩形 2"/>
          <p:cNvSpPr/>
          <p:nvPr/>
        </p:nvSpPr>
        <p:spPr>
          <a:xfrm>
            <a:off x="892604" y="3901475"/>
            <a:ext cx="7783851" cy="1132618"/>
          </a:xfrm>
          <a:prstGeom prst="rect">
            <a:avLst/>
          </a:prstGeom>
        </p:spPr>
        <p:txBody>
          <a:bodyPr wrap="square">
            <a:spAutoFit/>
          </a:bodyPr>
          <a:lstStyle/>
          <a:p>
            <a:pPr algn="just">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注：</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行为证据来自于本组自行设计的角色扮演场景，须含受访者身份、具体场景、目标学生原话或具体行为。</a:t>
            </a:r>
          </a:p>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引</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导问题示例</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在刚才的角色扮演中，目标学生提到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这是策略性知识缺口、任务性知识缺口还是自我性知识缺口？为什么？</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72746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918614" y="1629664"/>
            <a:ext cx="7469810" cy="3136243"/>
          </a:xfrm>
          <a:prstGeom prst="rect">
            <a:avLst/>
          </a:prstGeom>
        </p:spPr>
        <p:txBody>
          <a:bodyPr wrap="square">
            <a:spAutoFit/>
          </a:bodyPr>
          <a:lstStyle/>
          <a:p>
            <a:pPr algn="just">
              <a:lnSpc>
                <a:spcPct val="120000"/>
              </a:lnSpc>
              <a:spcBef>
                <a:spcPts val="600"/>
              </a:spcBef>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只学要考的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这个策略在什么情境下有效？在什么情境下失效？请引用角色扮演中的具体对话</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不知道自己对什么感兴趣，也不知道组织活动能锻炼什么能力</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这两句话分别对应哪种知识缺口？请引用角色扮演中的具体对话。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不知道组织活动能锻炼什么能力</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这是任务性知识缺口还是自我性知识缺口？请引用角色扮演中的具体对话。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各</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小组完成</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元认知知识缺口诊断表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，每条诊断结论均须有本组自行设计的角色扮演场景中的具体对话或行为作为证据；保存作为方案组成部分。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第三阶段：元认知技能缺口诊断（</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延</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续第二阶段自行设计的具体场景，通过角色扮演具象化目标学生的元认知技能困境，运用元认知技能三维框架诊断其计划、监控、评估与调节技能缺口；诊断结论须以本组角色扮演中目标学生的具体行为或对话为证据。</a:t>
            </a:r>
          </a:p>
        </p:txBody>
      </p:sp>
    </p:spTree>
    <p:extLst>
      <p:ext uri="{BB962C8B-B14F-4D97-AF65-F5344CB8AC3E}">
        <p14:creationId xmlns:p14="http://schemas.microsoft.com/office/powerpoint/2010/main" val="1050742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918614" y="1629664"/>
            <a:ext cx="7469810" cy="612475"/>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法导入</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 ：</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教师讲解元认知技能三维框架：</a:t>
            </a:r>
          </a:p>
        </p:txBody>
      </p:sp>
      <p:graphicFrame>
        <p:nvGraphicFramePr>
          <p:cNvPr id="5" name="表格 4"/>
          <p:cNvGraphicFramePr>
            <a:graphicFrameLocks noGrp="1"/>
          </p:cNvGraphicFramePr>
          <p:nvPr>
            <p:extLst>
              <p:ext uri="{D42A27DB-BD31-4B8C-83A1-F6EECF244321}">
                <p14:modId xmlns:p14="http://schemas.microsoft.com/office/powerpoint/2010/main" val="3318502105"/>
              </p:ext>
            </p:extLst>
          </p:nvPr>
        </p:nvGraphicFramePr>
        <p:xfrm>
          <a:off x="899592" y="2211710"/>
          <a:ext cx="7128792" cy="1800200"/>
        </p:xfrm>
        <a:graphic>
          <a:graphicData uri="http://schemas.openxmlformats.org/drawingml/2006/table">
            <a:tbl>
              <a:tblPr firstRow="1" firstCol="1" bandRow="1">
                <a:tableStyleId>{5C22544A-7EE6-4342-B048-85BDC9FD1C3A}</a:tableStyleId>
              </a:tblPr>
              <a:tblGrid>
                <a:gridCol w="648072">
                  <a:extLst>
                    <a:ext uri="{9D8B030D-6E8A-4147-A177-3AD203B41FA5}">
                      <a16:colId xmlns:a16="http://schemas.microsoft.com/office/drawing/2014/main" val="1914101662"/>
                    </a:ext>
                  </a:extLst>
                </a:gridCol>
                <a:gridCol w="2520280">
                  <a:extLst>
                    <a:ext uri="{9D8B030D-6E8A-4147-A177-3AD203B41FA5}">
                      <a16:colId xmlns:a16="http://schemas.microsoft.com/office/drawing/2014/main" val="1209153042"/>
                    </a:ext>
                  </a:extLst>
                </a:gridCol>
                <a:gridCol w="3960440">
                  <a:extLst>
                    <a:ext uri="{9D8B030D-6E8A-4147-A177-3AD203B41FA5}">
                      <a16:colId xmlns:a16="http://schemas.microsoft.com/office/drawing/2014/main" val="2008803654"/>
                    </a:ext>
                  </a:extLst>
                </a:gridCol>
              </a:tblGrid>
              <a:tr h="356659">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核心任务</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extLst>
                  <a:ext uri="{0D108BD9-81ED-4DB2-BD59-A6C34878D82A}">
                    <a16:rowId xmlns:a16="http://schemas.microsoft.com/office/drawing/2014/main" val="174513558"/>
                  </a:ext>
                </a:extLst>
              </a:tr>
              <a:tr h="42866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在学习开始前，明确目标、激活已有知识、选择策略、分配资源</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该学生是否有明确的发展目标？是否制定了实现目标的计划？是否选择了合适的策略？是否合理分配了资源？</a:t>
                      </a:r>
                    </a:p>
                  </a:txBody>
                  <a:tcPr marL="72000" marR="72000" marT="36000" marB="36000" anchor="ctr"/>
                </a:tc>
                <a:extLst>
                  <a:ext uri="{0D108BD9-81ED-4DB2-BD59-A6C34878D82A}">
                    <a16:rowId xmlns:a16="http://schemas.microsoft.com/office/drawing/2014/main" val="3845462762"/>
                  </a:ext>
                </a:extLst>
              </a:tr>
              <a:tr h="51081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在学习过程中，实时追踪理解程度和进度，评估策略有效性</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该学生是否在过程中追踪理解程度？是否评估策略有效性？是否及时发现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方法无效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自我提问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的习惯？</a:t>
                      </a:r>
                    </a:p>
                  </a:txBody>
                  <a:tcPr marL="72000" marR="72000" marT="36000" marB="36000" anchor="ctr"/>
                </a:tc>
                <a:extLst>
                  <a:ext uri="{0D108BD9-81ED-4DB2-BD59-A6C34878D82A}">
                    <a16:rowId xmlns:a16="http://schemas.microsoft.com/office/drawing/2014/main" val="3755180311"/>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与调节</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学习结束后，对学习成果与策略效率进行反思，并根据评估结果调整后续行动</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该学生是否在结束后进行复盘？是否能从失败中提取有效信息？是否能根据评估结果调整策略？是否能将经验迁移到新情境？</a:t>
                      </a:r>
                    </a:p>
                  </a:txBody>
                  <a:tcPr marL="72000" marR="72000" marT="36000" marB="36000" anchor="ctr"/>
                </a:tc>
                <a:extLst>
                  <a:ext uri="{0D108BD9-81ED-4DB2-BD59-A6C34878D82A}">
                    <a16:rowId xmlns:a16="http://schemas.microsoft.com/office/drawing/2014/main" val="2672521626"/>
                  </a:ext>
                </a:extLst>
              </a:tr>
            </a:tbl>
          </a:graphicData>
        </a:graphic>
      </p:graphicFrame>
      <p:sp>
        <p:nvSpPr>
          <p:cNvPr id="2" name="矩形 1"/>
          <p:cNvSpPr/>
          <p:nvPr/>
        </p:nvSpPr>
        <p:spPr>
          <a:xfrm>
            <a:off x="872389" y="4036831"/>
            <a:ext cx="7502219" cy="1055674"/>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场景延续说明（</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本阶段沿用第二阶段各小组自行设计的具体场景，不重新设计场</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景</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二阶段诊断的是目标学生在这些场景中的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认知内容</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（知道什么），第三阶段诊断的是目标学生在同一场景中的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行为过程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（做了什么、怎么做的、结果如何</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。两</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个阶段的场景须保持一致，以便后续劝学策略与可衡量行动同时对应知识缺口与技能缺口。</a:t>
            </a:r>
          </a:p>
        </p:txBody>
      </p:sp>
    </p:spTree>
    <p:extLst>
      <p:ext uri="{BB962C8B-B14F-4D97-AF65-F5344CB8AC3E}">
        <p14:creationId xmlns:p14="http://schemas.microsoft.com/office/powerpoint/2010/main" val="2431623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664112"/>
            <a:ext cx="7344816" cy="61247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角色扮演（</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9" name="表格 8"/>
          <p:cNvGraphicFramePr>
            <a:graphicFrameLocks noGrp="1"/>
          </p:cNvGraphicFramePr>
          <p:nvPr>
            <p:extLst>
              <p:ext uri="{D42A27DB-BD31-4B8C-83A1-F6EECF244321}">
                <p14:modId xmlns:p14="http://schemas.microsoft.com/office/powerpoint/2010/main" val="4076047170"/>
              </p:ext>
            </p:extLst>
          </p:nvPr>
        </p:nvGraphicFramePr>
        <p:xfrm>
          <a:off x="899592" y="2276587"/>
          <a:ext cx="5616624" cy="1199376"/>
        </p:xfrm>
        <a:graphic>
          <a:graphicData uri="http://schemas.openxmlformats.org/drawingml/2006/table">
            <a:tbl>
              <a:tblPr firstRow="1" firstCol="1" bandRow="1">
                <a:tableStyleId>{5C22544A-7EE6-4342-B048-85BDC9FD1C3A}</a:tableStyleId>
              </a:tblPr>
              <a:tblGrid>
                <a:gridCol w="151216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3528392">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目标学生</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扮演</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只学有用的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学生，接受访谈</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目标学生的室友</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同学</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扮演与目标学生日常接触的室友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同学，提供旁观视角</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诊断研究员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使用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元认知技能诊断提问框架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进行访谈，记录关键信息</a:t>
                      </a:r>
                    </a:p>
                  </a:txBody>
                  <a:tcPr marL="68580" marR="68580" marT="0" marB="0" anchor="ctr"/>
                </a:tc>
                <a:extLst>
                  <a:ext uri="{0D108BD9-81ED-4DB2-BD59-A6C34878D82A}">
                    <a16:rowId xmlns:a16="http://schemas.microsoft.com/office/drawing/2014/main" val="2672521626"/>
                  </a:ext>
                </a:extLst>
              </a:tr>
            </a:tbl>
          </a:graphicData>
        </a:graphic>
      </p:graphicFrame>
      <p:sp>
        <p:nvSpPr>
          <p:cNvPr id="2" name="矩形 1"/>
          <p:cNvSpPr/>
          <p:nvPr/>
        </p:nvSpPr>
        <p:spPr>
          <a:xfrm>
            <a:off x="899592" y="3475963"/>
            <a:ext cx="7560840" cy="1575816"/>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访谈说明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本访谈的目的是通过具象化的场景追问，获得可用于</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元认知技能缺口诊断</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行为证据</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。元认知技能不是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计划、监控、评估与调节是行为过程，而非知识内容。请诊断研究员注意以</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下</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四</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聚焦行为过程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：追问受访者在具体场景中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结果如何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知道什么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。例如，不问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你知道应该制定计划吗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请描述一次你制定计划的具体经历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当时是什么事？计划怎么定的？最后执行了吗？</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12525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128792" cy="187435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追</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问技能缺口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：当受访者描述一个行为过程后，追问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这个环节你做了吗？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如果没做，为什么？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如果做了，效果如何？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目标是定位计划、监控、评估与调节中的具体技能缺口。</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证据记录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：每条记录应包含受访者身份、具体情境、具体行为描述（原话优先）。这些记录将直接用于后续《元认知技能缺口诊断表》的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行为证据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栏，请务必记录具体行为细节，而非概括性结论</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场</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景来源：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每条行为证据须标明来自第二阶段已设计的具体场景，并引用目标学生的原话或具体行为；不得重新设计场景，也不得直接照搬画像中的通用描述。</a:t>
            </a: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访</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谈流程：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28911311"/>
              </p:ext>
            </p:extLst>
          </p:nvPr>
        </p:nvGraphicFramePr>
        <p:xfrm>
          <a:off x="987917" y="3547078"/>
          <a:ext cx="7065190" cy="1399338"/>
        </p:xfrm>
        <a:graphic>
          <a:graphicData uri="http://schemas.openxmlformats.org/drawingml/2006/table">
            <a:tbl>
              <a:tblPr firstRow="1" firstCol="1" bandRow="1">
                <a:tableStyleId>{5C22544A-7EE6-4342-B048-85BDC9FD1C3A}</a:tableStyleId>
              </a:tblPr>
              <a:tblGrid>
                <a:gridCol w="65647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832648">
                  <a:extLst>
                    <a:ext uri="{9D8B030D-6E8A-4147-A177-3AD203B41FA5}">
                      <a16:colId xmlns:a16="http://schemas.microsoft.com/office/drawing/2014/main" val="2008803654"/>
                    </a:ext>
                  </a:extLst>
                </a:gridCol>
              </a:tblGrid>
              <a:tr h="39122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轮次</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操作</a:t>
                      </a:r>
                    </a:p>
                  </a:txBody>
                  <a:tcPr marL="72000" marR="72000" marT="36000" marB="36000" anchor="ctr"/>
                </a:tc>
                <a:extLst>
                  <a:ext uri="{0D108BD9-81ED-4DB2-BD59-A6C34878D82A}">
                    <a16:rowId xmlns:a16="http://schemas.microsoft.com/office/drawing/2014/main" val="174513558"/>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位诊断研究员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分别访谈：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位室友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同学。每位受访者均获得完整的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分钟深度访谈。</a:t>
                      </a:r>
                    </a:p>
                  </a:txBody>
                  <a:tcPr marL="72000" marR="72000" marT="36000" marB="36000" anchor="ctr"/>
                </a:tc>
                <a:extLst>
                  <a:ext uri="{0D108BD9-81ED-4DB2-BD59-A6C34878D82A}">
                    <a16:rowId xmlns:a16="http://schemas.microsoft.com/office/drawing/2014/main" val="3845462762"/>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角色轮换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从未担任过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位成员接替成为诊断研究员，原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位诊断研究员转为受访者，再次实现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访谈。</a:t>
                      </a:r>
                    </a:p>
                  </a:txBody>
                  <a:tcPr marL="72000" marR="72000" marT="36000" marB="36000" anchor="ctr"/>
                </a:tc>
                <a:extLst>
                  <a:ext uri="{0D108BD9-81ED-4DB2-BD59-A6C34878D82A}">
                    <a16:rowId xmlns:a16="http://schemas.microsoft.com/office/drawing/2014/main" val="3755180311"/>
                  </a:ext>
                </a:extLst>
              </a:tr>
            </a:tbl>
          </a:graphicData>
        </a:graphic>
      </p:graphicFrame>
    </p:spTree>
    <p:extLst>
      <p:ext uri="{BB962C8B-B14F-4D97-AF65-F5344CB8AC3E}">
        <p14:creationId xmlns:p14="http://schemas.microsoft.com/office/powerpoint/2010/main" val="24710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638364873"/>
              </p:ext>
            </p:extLst>
          </p:nvPr>
        </p:nvGraphicFramePr>
        <p:xfrm>
          <a:off x="891186" y="1989453"/>
          <a:ext cx="7353222" cy="2958561"/>
        </p:xfrm>
        <a:graphic>
          <a:graphicData uri="http://schemas.openxmlformats.org/drawingml/2006/table">
            <a:tbl>
              <a:tblPr firstRow="1" firstCol="1" bandRow="1">
                <a:tableStyleId>{5C22544A-7EE6-4342-B048-85BDC9FD1C3A}</a:tableStyleId>
              </a:tblPr>
              <a:tblGrid>
                <a:gridCol w="800494">
                  <a:extLst>
                    <a:ext uri="{9D8B030D-6E8A-4147-A177-3AD203B41FA5}">
                      <a16:colId xmlns:a16="http://schemas.microsoft.com/office/drawing/2014/main" val="1914101662"/>
                    </a:ext>
                  </a:extLst>
                </a:gridCol>
                <a:gridCol w="6552728">
                  <a:extLst>
                    <a:ext uri="{9D8B030D-6E8A-4147-A177-3AD203B41FA5}">
                      <a16:colId xmlns:a16="http://schemas.microsoft.com/office/drawing/2014/main" val="2008803654"/>
                    </a:ext>
                  </a:extLst>
                </a:gridCol>
              </a:tblGrid>
              <a:tr h="39122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引导性问题</a:t>
                      </a:r>
                    </a:p>
                  </a:txBody>
                  <a:tcPr marL="72000" marR="72000" marT="36000" marB="36000" anchor="ctr"/>
                </a:tc>
                <a:extLst>
                  <a:ext uri="{0D108BD9-81ED-4DB2-BD59-A6C34878D82A}">
                    <a16:rowId xmlns:a16="http://schemas.microsoft.com/office/drawing/2014/main" val="174513558"/>
                  </a:ext>
                </a:extLst>
              </a:tr>
              <a:tr h="623119">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请描述一次你制定计划的具体经历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当时是什么事？计划怎么定的？最后执行了吗？② 请描述一次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当时定了什么计划？为什么没执行？③ 你最近一次选择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用什么方法学习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是什么时候？当时为什么选这个方法？</a:t>
                      </a:r>
                    </a:p>
                  </a:txBody>
                  <a:tcPr marL="72000" marR="72000" marT="36000" marB="36000" anchor="ctr"/>
                </a:tc>
                <a:extLst>
                  <a:ext uri="{0D108BD9-81ED-4DB2-BD59-A6C34878D82A}">
                    <a16:rowId xmlns:a16="http://schemas.microsoft.com/office/drawing/2014/main" val="1710944172"/>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监控技能</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请描述一次你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以为自己懂了，考试才发现没懂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当时是什么内容？你当时怎么判断自己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懂了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？② 你平时怎么检查自己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是不是真的学会了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？请举一个具体例子。③ 你有没有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学到一半发现方法不对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的经历？当时是什么事？你怎么发现的？</a:t>
                      </a:r>
                    </a:p>
                  </a:txBody>
                  <a:tcPr marL="72000" marR="72000" marT="36000" marB="36000" anchor="ctr"/>
                </a:tc>
                <a:extLst>
                  <a:ext uri="{0D108BD9-81ED-4DB2-BD59-A6C34878D82A}">
                    <a16:rowId xmlns:a16="http://schemas.microsoft.com/office/drawing/2014/main" val="4220622111"/>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请描述一次你考完试后复盘的具体经历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当时复盘了什么？发现了什么问题？下次做了什么调整？② 请描述一次你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失败后换了个方法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的经历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当时是什么事？原来用什么方法？后来换了什么方法？结果如何？③ 你有没有把某个方法从一门课用到另一门课的经历？请举一个具体例子。</a:t>
                      </a:r>
                    </a:p>
                  </a:txBody>
                  <a:tcPr marL="72000" marR="72000" marT="36000" marB="36000" anchor="ctr"/>
                </a:tc>
                <a:extLst>
                  <a:ext uri="{0D108BD9-81ED-4DB2-BD59-A6C34878D82A}">
                    <a16:rowId xmlns:a16="http://schemas.microsoft.com/office/drawing/2014/main" val="4071308713"/>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真实矛盾</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 你说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要全面发展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那你上周的时间是怎么分配的？有多少时间花在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对保研有用的事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上？多少时间花在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其他事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上？② 你有没有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知道应该做但没做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的事？请举一个具体例子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当时知道应该做什么？为什么没做？③ 如果让你给自己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计划、监控、评估与调节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三个方面各打一个分，你会怎么打？为什么？</a:t>
                      </a:r>
                    </a:p>
                  </a:txBody>
                  <a:tcPr marL="72000" marR="72000" marT="36000" marB="36000" anchor="ctr"/>
                </a:tc>
                <a:extLst>
                  <a:ext uri="{0D108BD9-81ED-4DB2-BD59-A6C34878D82A}">
                    <a16:rowId xmlns:a16="http://schemas.microsoft.com/office/drawing/2014/main" val="1259245512"/>
                  </a:ext>
                </a:extLst>
              </a:tr>
            </a:tbl>
          </a:graphicData>
        </a:graphic>
      </p:graphicFrame>
      <p:sp>
        <p:nvSpPr>
          <p:cNvPr id="2" name="矩形 1"/>
          <p:cNvSpPr/>
          <p:nvPr/>
        </p:nvSpPr>
        <p:spPr>
          <a:xfrm>
            <a:off x="891186" y="1635646"/>
            <a:ext cx="7128792" cy="31393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知</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技能</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诊</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断提问框</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架</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99842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1186" y="1635646"/>
            <a:ext cx="7128792" cy="2007024"/>
          </a:xfrm>
          <a:prstGeom prst="rect">
            <a:avLst/>
          </a:prstGeom>
        </p:spPr>
        <p:txBody>
          <a:bodyPr wrap="square">
            <a:spAutoFit/>
          </a:bodyPr>
          <a:lstStyle/>
          <a:p>
            <a:pPr>
              <a:lnSpc>
                <a:spcPct val="120000"/>
              </a:lnSpc>
              <a:spcBef>
                <a:spcPts val="5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诊断研究员任务：</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元认知技能诊断提问框架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进行访谈</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记录关键信息，每条记录应包含：受访者身份、具体情境、具体描述（原话优先）</a:t>
            </a: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为后续《元认知技能缺口诊断表》提供行为证据</a:t>
            </a:r>
          </a:p>
          <a:p>
            <a:pPr>
              <a:lnSpc>
                <a:spcPct val="120000"/>
              </a:lnSpc>
              <a:spcBef>
                <a:spcPts val="5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钟） ：</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5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各小组基于角色扮演获得的行为证据，填写《元认知技能缺口诊断表》：</a:t>
            </a:r>
          </a:p>
          <a:p>
            <a:pPr>
              <a:lnSpc>
                <a:spcPct val="120000"/>
              </a:lnSpc>
              <a:spcBef>
                <a:spcPts val="5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《元认知技能缺口诊断表》模板：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280114343"/>
              </p:ext>
            </p:extLst>
          </p:nvPr>
        </p:nvGraphicFramePr>
        <p:xfrm>
          <a:off x="971600" y="3637610"/>
          <a:ext cx="7353222" cy="1238396"/>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2595563012"/>
                    </a:ext>
                  </a:extLst>
                </a:gridCol>
                <a:gridCol w="1296144">
                  <a:extLst>
                    <a:ext uri="{9D8B030D-6E8A-4147-A177-3AD203B41FA5}">
                      <a16:colId xmlns:a16="http://schemas.microsoft.com/office/drawing/2014/main" val="2702870106"/>
                    </a:ext>
                  </a:extLst>
                </a:gridCol>
                <a:gridCol w="2456678">
                  <a:extLst>
                    <a:ext uri="{9D8B030D-6E8A-4147-A177-3AD203B41FA5}">
                      <a16:colId xmlns:a16="http://schemas.microsoft.com/office/drawing/2014/main" val="2008803654"/>
                    </a:ext>
                  </a:extLst>
                </a:gridCol>
              </a:tblGrid>
              <a:tr h="25506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诊断结论</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据</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4513558"/>
                  </a:ext>
                </a:extLst>
              </a:tr>
              <a:tr h="167632">
                <a:tc rowSpan="4">
                  <a:txBody>
                    <a:bodyPr/>
                    <a:lstStyle/>
                    <a:p>
                      <a:pPr marL="0" algn="ct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该学生是否有明确的发展目标？</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10944172"/>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是否制定了实现目标的计划？</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220622111"/>
                  </a:ext>
                </a:extLst>
              </a:tr>
              <a:tr h="264416">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是否选择了合适的策略？</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071308713"/>
                  </a:ext>
                </a:extLst>
              </a:tr>
              <a:tr h="2160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是否合理分配了资源？</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259245512"/>
                  </a:ext>
                </a:extLst>
              </a:tr>
            </a:tbl>
          </a:graphicData>
        </a:graphic>
      </p:graphicFrame>
      <p:sp>
        <p:nvSpPr>
          <p:cNvPr id="3" name="矩形 2"/>
          <p:cNvSpPr/>
          <p:nvPr/>
        </p:nvSpPr>
        <p:spPr>
          <a:xfrm>
            <a:off x="971600" y="4829568"/>
            <a:ext cx="7920880" cy="313932"/>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注：</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行为证据来</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自</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于</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第二阶段已设计的角色扮演场</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景</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须</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含受访者身份、具体场景、目标学生原话或具体行为。</a:t>
            </a:r>
            <a:endParaRPr lang="zh-CN" altLang="zh-CN" sz="1400" kern="100">
              <a:effectLst/>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93758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741944907"/>
              </p:ext>
            </p:extLst>
          </p:nvPr>
        </p:nvGraphicFramePr>
        <p:xfrm>
          <a:off x="899592" y="1707654"/>
          <a:ext cx="7353222" cy="2206312"/>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2595563012"/>
                    </a:ext>
                  </a:extLst>
                </a:gridCol>
                <a:gridCol w="1296144">
                  <a:extLst>
                    <a:ext uri="{9D8B030D-6E8A-4147-A177-3AD203B41FA5}">
                      <a16:colId xmlns:a16="http://schemas.microsoft.com/office/drawing/2014/main" val="2702870106"/>
                    </a:ext>
                  </a:extLst>
                </a:gridCol>
                <a:gridCol w="2456678">
                  <a:extLst>
                    <a:ext uri="{9D8B030D-6E8A-4147-A177-3AD203B41FA5}">
                      <a16:colId xmlns:a16="http://schemas.microsoft.com/office/drawing/2014/main" val="2008803654"/>
                    </a:ext>
                  </a:extLst>
                </a:gridCol>
              </a:tblGrid>
              <a:tr h="26441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诊断结论</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行为证据（来自角色扮演）</a:t>
                      </a:r>
                    </a:p>
                  </a:txBody>
                  <a:tcPr marL="72000" marR="72000" marT="36000" marB="36000" anchor="ctr"/>
                </a:tc>
                <a:extLst>
                  <a:ext uri="{0D108BD9-81ED-4DB2-BD59-A6C34878D82A}">
                    <a16:rowId xmlns:a16="http://schemas.microsoft.com/office/drawing/2014/main" val="174513558"/>
                  </a:ext>
                </a:extLst>
              </a:tr>
              <a:tr h="167632">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监控技能</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该学生是否在过程中追踪理解程度？</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10944172"/>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是否评估策略有效性？</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220622111"/>
                  </a:ext>
                </a:extLst>
              </a:tr>
              <a:tr h="264416">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是否及时发现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方法无效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071308713"/>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自我提问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的习惯？</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259245512"/>
                  </a:ext>
                </a:extLst>
              </a:tr>
              <a:tr h="216024">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该学生是否在结束后进行复盘？</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905085963"/>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是否能从失败中提取有效信息？</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14234350"/>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是否能根据评估结果调整策略？</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520639740"/>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是否能将经验迁移到新情境？</a:t>
                      </a:r>
                    </a:p>
                  </a:txBody>
                  <a:tcPr marL="68580" marR="68580" marT="0" marB="0" anchor="ctr"/>
                </a:tc>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918837891"/>
                  </a:ext>
                </a:extLst>
              </a:tr>
            </a:tbl>
          </a:graphicData>
        </a:graphic>
      </p:graphicFrame>
      <p:sp>
        <p:nvSpPr>
          <p:cNvPr id="3" name="矩形 2"/>
          <p:cNvSpPr/>
          <p:nvPr/>
        </p:nvSpPr>
        <p:spPr>
          <a:xfrm>
            <a:off x="892604" y="3901475"/>
            <a:ext cx="7783851" cy="1132618"/>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引导问题示例</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在刚才的角色扮演中，目标学生说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请分析：是计划本身的问题（计划技能缺口），还是执行过程中未追踪进度的问题（监控技能缺口）？请引用角色扮演中的具体对话。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考完试不复盘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这是评估与调节技能缺口的什么表现？请引用角色扮演中的具体对话。</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38858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707654"/>
            <a:ext cx="7783851" cy="3136243"/>
          </a:xfrm>
          <a:prstGeom prst="rect">
            <a:avLst/>
          </a:prstGeom>
        </p:spPr>
        <p:txBody>
          <a:bodyPr wrap="square">
            <a:spAutoFit/>
          </a:bodyPr>
          <a:lstStyle/>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不知道如何将考试策略迁移到其他场景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这是计划技能缺口还是评估与调节技能缺口？请引用角色扮演中的具体对话。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学到一半发现方法不对，但已经来不及改了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这是监控技能缺口还是评估与调节技能缺口？请引用角色扮演中的具体对话。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各小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组完成《元认知技能缺口诊断表》，每条诊断结论均须有第二阶段已设计的角色扮演场景中的具体行为或对话作为证据；保存作为方案组成部分。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第四阶段：劝学策略设计（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b="1"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段目</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标</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基</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于前两阶段的诊断，围绕本组在第二、第三阶段已设计的具体场景，设计针对性的劝学策略，并通过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角色扮演验证策略的可行性，确保策略具体、可执行、可衡量、自己认同、有用，并能从具体场景中提炼可迁移的策略原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则</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场景延续说明：</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本</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阶段沿用第二、第三阶段各小组自行设计的具体场景，不重新设计场景。每条策略须围绕第二、第三阶段已设计的具体场景展开，并引用目标学生的具体对话或行</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为</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56014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83851" cy="91101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作流程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教师讲解劝学策略设计原则：</a:t>
            </a:r>
          </a:p>
        </p:txBody>
      </p:sp>
      <p:graphicFrame>
        <p:nvGraphicFramePr>
          <p:cNvPr id="5" name="表格 4"/>
          <p:cNvGraphicFramePr>
            <a:graphicFrameLocks noGrp="1"/>
          </p:cNvGraphicFramePr>
          <p:nvPr>
            <p:extLst>
              <p:ext uri="{D42A27DB-BD31-4B8C-83A1-F6EECF244321}">
                <p14:modId xmlns:p14="http://schemas.microsoft.com/office/powerpoint/2010/main" val="1224385196"/>
              </p:ext>
            </p:extLst>
          </p:nvPr>
        </p:nvGraphicFramePr>
        <p:xfrm>
          <a:off x="899592" y="2590149"/>
          <a:ext cx="6120680" cy="2186178"/>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1914101662"/>
                    </a:ext>
                  </a:extLst>
                </a:gridCol>
                <a:gridCol w="4968552">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原则</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诊断对应原则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每条策略必须对应一个诊断出的缺口</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场景具象化原则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每条策略必须围绕本组角色扮演中获得的具象化场景展开</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可操作性原则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策略须具体、可执行、可衡量</a:t>
                      </a:r>
                    </a:p>
                  </a:txBody>
                  <a:tcPr marL="68580" marR="68580" marT="0" marB="0" anchor="ctr"/>
                </a:tc>
                <a:extLst>
                  <a:ext uri="{0D108BD9-81ED-4DB2-BD59-A6C34878D82A}">
                    <a16:rowId xmlns:a16="http://schemas.microsoft.com/office/drawing/2014/main" val="267252162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伦理原则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策略须尊重学生自主性，不强制、不说教</a:t>
                      </a:r>
                    </a:p>
                  </a:txBody>
                  <a:tcPr marL="68580" marR="68580" marT="0" marB="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迁移原则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策略须帮助学生将非功利活动中的能力迁移到功利场景</a:t>
                      </a:r>
                    </a:p>
                  </a:txBody>
                  <a:tcPr marL="68580" marR="68580" marT="0" marB="0" anchor="ctr"/>
                </a:tc>
                <a:extLst>
                  <a:ext uri="{0D108BD9-81ED-4DB2-BD59-A6C34878D82A}">
                    <a16:rowId xmlns:a16="http://schemas.microsoft.com/office/drawing/2014/main" val="168022767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自我认同原则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策略须设计者自己认同、觉得有用</a:t>
                      </a:r>
                    </a:p>
                  </a:txBody>
                  <a:tcPr marL="68580" marR="68580" marT="0" marB="0" anchor="ctr"/>
                </a:tc>
                <a:extLst>
                  <a:ext uri="{0D108BD9-81ED-4DB2-BD59-A6C34878D82A}">
                    <a16:rowId xmlns:a16="http://schemas.microsoft.com/office/drawing/2014/main" val="3766751648"/>
                  </a:ext>
                </a:extLst>
              </a:tr>
              <a:tr h="31397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须从具体场景策略中提炼可迁移的策略原则，能举一反三应用于其他场景</a:t>
                      </a:r>
                    </a:p>
                  </a:txBody>
                  <a:tcPr marL="68580" marR="68580" marT="0" marB="0" anchor="ctr"/>
                </a:tc>
                <a:extLst>
                  <a:ext uri="{0D108BD9-81ED-4DB2-BD59-A6C34878D82A}">
                    <a16:rowId xmlns:a16="http://schemas.microsoft.com/office/drawing/2014/main" val="1496211302"/>
                  </a:ext>
                </a:extLst>
              </a:tr>
            </a:tbl>
          </a:graphicData>
        </a:graphic>
      </p:graphicFrame>
      <p:sp>
        <p:nvSpPr>
          <p:cNvPr id="2" name="矩形 1"/>
          <p:cNvSpPr/>
          <p:nvPr/>
        </p:nvSpPr>
        <p:spPr>
          <a:xfrm>
            <a:off x="899592" y="4778098"/>
            <a:ext cx="1867565" cy="313932"/>
          </a:xfrm>
          <a:prstGeom prst="rect">
            <a:avLst/>
          </a:prstGeom>
        </p:spPr>
        <p:txBody>
          <a:bodyPr wrap="square">
            <a:spAutoFit/>
          </a:bodyPr>
          <a:lstStyle/>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62148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22407"/>
            <a:ext cx="7783851" cy="3399392"/>
          </a:xfrm>
          <a:prstGeom prst="rect">
            <a:avLst/>
          </a:prstGeom>
        </p:spPr>
        <p:txBody>
          <a:bodyPr wrap="square">
            <a:spAutoFit/>
          </a:bodyPr>
          <a:lstStyle/>
          <a:p>
            <a:pPr>
              <a:lnSpc>
                <a:spcPct val="120000"/>
              </a:lnSpc>
              <a:spcBef>
                <a:spcPts val="3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骤一：策略初稿设计（</a:t>
            </a: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本步骤的《劝学策略表》以前两阶段的诊断结果为基础。请各小组先回顾</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《元认知知识缺口诊断表》（第二阶段产出）：确认策略性知识缺口、任务性知识缺口、自我性知识缺口的诊断结论与行为证据。</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《元认知技能缺口诊断表》（第三阶段产出）：确认计划技能缺口、监控技能缺口、评估与调节技能缺口的诊断结论与行为证据。</a:t>
            </a:r>
          </a:p>
          <a:p>
            <a:pPr>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策略设计须围绕本组在第二、第三阶段已设计的具体场景展开。例如：</a:t>
            </a:r>
          </a:p>
          <a:p>
            <a:pPr>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若本组场景为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竞赛场景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不能保研加分的竞赛不值得参加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，策略设计应围绕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如何帮助该学生看到竞赛中隐含的可迁移能力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，而非泛泛地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帮助对方看到非功利活动中的可迁移策略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若本组场景为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体育场景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体测前突击锻炼就够了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，策略设计应围绕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如何帮助该学生解决日常锻炼计划执行中的具体障碍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，而非泛泛地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引导对方制定可验证的探索计划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各小组须使用本组在第二、第三阶段实际设计的具体场景，不得直接照搬示例。</a:t>
            </a:r>
          </a:p>
          <a:p>
            <a:pPr>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每条具体场景策略设计完成后，须从第二、第三阶段已设计的具体场景中提炼可迁移的策略原则。可迁移策略不是具体场景策略的重复，而是从具体策略中抽象出的方法论原则，可应用于其他场景。</a:t>
            </a:r>
          </a:p>
        </p:txBody>
      </p:sp>
    </p:spTree>
    <p:extLst>
      <p:ext uri="{BB962C8B-B14F-4D97-AF65-F5344CB8AC3E}">
        <p14:creationId xmlns:p14="http://schemas.microsoft.com/office/powerpoint/2010/main" val="403354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520262" y="1622407"/>
            <a:ext cx="8163182" cy="313932"/>
          </a:xfrm>
          <a:prstGeom prst="rect">
            <a:avLst/>
          </a:prstGeom>
        </p:spPr>
        <p:txBody>
          <a:bodyPr wrap="square">
            <a:spAutoFit/>
          </a:bodyPr>
          <a:lstStyle/>
          <a:p>
            <a:pPr algn="ct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劝学策略表》模</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板</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190032535"/>
              </p:ext>
            </p:extLst>
          </p:nvPr>
        </p:nvGraphicFramePr>
        <p:xfrm>
          <a:off x="505995" y="1936339"/>
          <a:ext cx="8191715" cy="2874009"/>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1914101662"/>
                    </a:ext>
                  </a:extLst>
                </a:gridCol>
                <a:gridCol w="1368152">
                  <a:extLst>
                    <a:ext uri="{9D8B030D-6E8A-4147-A177-3AD203B41FA5}">
                      <a16:colId xmlns:a16="http://schemas.microsoft.com/office/drawing/2014/main" val="2008803654"/>
                    </a:ext>
                  </a:extLst>
                </a:gridCol>
                <a:gridCol w="1296144">
                  <a:extLst>
                    <a:ext uri="{9D8B030D-6E8A-4147-A177-3AD203B41FA5}">
                      <a16:colId xmlns:a16="http://schemas.microsoft.com/office/drawing/2014/main" val="1806864461"/>
                    </a:ext>
                  </a:extLst>
                </a:gridCol>
                <a:gridCol w="1675475">
                  <a:extLst>
                    <a:ext uri="{9D8B030D-6E8A-4147-A177-3AD203B41FA5}">
                      <a16:colId xmlns:a16="http://schemas.microsoft.com/office/drawing/2014/main" val="4177397467"/>
                    </a:ext>
                  </a:extLst>
                </a:gridCol>
                <a:gridCol w="1988335">
                  <a:extLst>
                    <a:ext uri="{9D8B030D-6E8A-4147-A177-3AD203B41FA5}">
                      <a16:colId xmlns:a16="http://schemas.microsoft.com/office/drawing/2014/main" val="1997137714"/>
                    </a:ext>
                  </a:extLst>
                </a:gridCol>
                <a:gridCol w="1143529">
                  <a:extLst>
                    <a:ext uri="{9D8B030D-6E8A-4147-A177-3AD203B41FA5}">
                      <a16:colId xmlns:a16="http://schemas.microsoft.com/office/drawing/2014/main" val="2063335641"/>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诊断出的缺口</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本组场景</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具体场景策略</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可迁移策略</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预期效果</a:t>
                      </a:r>
                    </a:p>
                  </a:txBody>
                  <a:tcPr marL="72000" marR="72000" marT="36000" marB="36000" anchor="ctr"/>
                </a:tc>
                <a:extLst>
                  <a:ext uri="{0D108BD9-81ED-4DB2-BD59-A6C34878D82A}">
                    <a16:rowId xmlns:a16="http://schemas.microsoft.com/office/drawing/2014/main" val="174513558"/>
                  </a:ext>
                </a:extLst>
              </a:tr>
              <a:tr h="64176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策略性知识缺口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不知道如何将非功利活动转化为有利于持续发展的能力</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用本组目标学生的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案例，展示资源协调策略如何迁移到科研</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当目标学生认为某活动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时，用他亲身经历的案例，展示该活动中隐含的可迁移能力</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对方能说出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个有利于持续发展的策略</a:t>
                      </a:r>
                    </a:p>
                  </a:txBody>
                  <a:tcPr marL="72000" marR="72000" marT="36000" marB="36000" anchor="ctr"/>
                </a:tc>
                <a:extLst>
                  <a:ext uri="{0D108BD9-81ED-4DB2-BD59-A6C34878D82A}">
                    <a16:rowId xmlns:a16="http://schemas.microsoft.com/office/drawing/2014/main" val="3845462762"/>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任务性知识缺口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不知道不同活动对认知能力的要求差异</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不知道组织活动能锻炼什么能力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用任务分析表，对比本组目标学生提到的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刷题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的认知要求</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当目标学生不理解某活动的价值时，用任务分析表对比不同活动的认知要求差异</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对方能准确描述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种活动的认知差异</a:t>
                      </a:r>
                    </a:p>
                  </a:txBody>
                  <a:tcPr marL="72000" marR="72000" marT="36000" marB="36000" anchor="ctr"/>
                </a:tc>
                <a:extLst>
                  <a:ext uri="{0D108BD9-81ED-4DB2-BD59-A6C34878D82A}">
                    <a16:rowId xmlns:a16="http://schemas.microsoft.com/office/drawing/2014/main" val="3755180311"/>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自我性知识缺口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不知道自己的真实兴趣与优势</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不知道自己对什么感兴趣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小步试错</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计划，让对方在低风险情境中检验兴趣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当目标学生不了解自己的兴趣时，设计低风险试错计划，让对方在行动中检验</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对方能说出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我在什么情境下最有动力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72521626"/>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不会制定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非功利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的探索计划</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引导对方制定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次非功利小行动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的可验证探索计划</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时，将大计划拆解为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次小行动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对方能按计划执行并记录</a:t>
                      </a:r>
                    </a:p>
                  </a:txBody>
                  <a:tcPr marL="72000" marR="72000" marT="36000" marB="36000" anchor="ctr"/>
                </a:tc>
                <a:extLst>
                  <a:ext uri="{0D108BD9-81ED-4DB2-BD59-A6C34878D82A}">
                    <a16:rowId xmlns:a16="http://schemas.microsoft.com/office/drawing/2014/main" val="3030293127"/>
                  </a:ext>
                </a:extLst>
              </a:tr>
            </a:tbl>
          </a:graphicData>
        </a:graphic>
      </p:graphicFrame>
      <p:sp>
        <p:nvSpPr>
          <p:cNvPr id="2" name="矩形 1"/>
          <p:cNvSpPr/>
          <p:nvPr/>
        </p:nvSpPr>
        <p:spPr>
          <a:xfrm>
            <a:off x="899592" y="4843704"/>
            <a:ext cx="6984776" cy="261610"/>
          </a:xfrm>
          <a:prstGeom prst="rect">
            <a:avLst/>
          </a:prstGeom>
        </p:spPr>
        <p:txBody>
          <a:bodyPr wrap="square">
            <a:spAutoFit/>
          </a:bodyPr>
          <a:lstStyle/>
          <a:p>
            <a:r>
              <a:rPr lang="zh-CN" altLang="en-US" sz="1100" b="1" smtClean="0">
                <a:latin typeface="Times New Roman" panose="02020603050405020304" pitchFamily="18" charset="0"/>
                <a:ea typeface="仿宋" panose="02010609060101010101" pitchFamily="49" charset="-122"/>
                <a:cs typeface="Times New Roman" panose="02020603050405020304" pitchFamily="18" charset="0"/>
              </a:rPr>
              <a:t>注：</a:t>
            </a:r>
            <a:r>
              <a:rPr lang="zh-CN" altLang="zh-CN" sz="1100" b="1" kern="100" smtClean="0">
                <a:latin typeface="Times New Roman" panose="02020603050405020304" pitchFamily="18" charset="0"/>
                <a:cs typeface="Times New Roman" panose="02020603050405020304" pitchFamily="18" charset="0"/>
              </a:rPr>
              <a:t> </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a:latin typeface="Times New Roman" panose="02020603050405020304" pitchFamily="18" charset="0"/>
                <a:ea typeface="仿宋" panose="02010609060101010101" pitchFamily="49" charset="-122"/>
                <a:cs typeface="Times New Roman" panose="02020603050405020304" pitchFamily="18" charset="0"/>
              </a:rPr>
              <a:t>本组场景</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a:latin typeface="Times New Roman" panose="02020603050405020304" pitchFamily="18" charset="0"/>
                <a:ea typeface="仿宋" panose="02010609060101010101" pitchFamily="49" charset="-122"/>
                <a:cs typeface="Times New Roman" panose="02020603050405020304" pitchFamily="18" charset="0"/>
              </a:rPr>
              <a:t>来自于第二、第三阶段各小组自行设计的具体场景；</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a:latin typeface="Times New Roman" panose="02020603050405020304" pitchFamily="18" charset="0"/>
                <a:ea typeface="仿宋" panose="02010609060101010101" pitchFamily="49" charset="-122"/>
                <a:cs typeface="Times New Roman" panose="02020603050405020304" pitchFamily="18" charset="0"/>
              </a:rPr>
              <a:t>可迁移策略</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a:latin typeface="Times New Roman" panose="02020603050405020304" pitchFamily="18" charset="0"/>
                <a:ea typeface="仿宋" panose="02010609060101010101" pitchFamily="49" charset="-122"/>
                <a:cs typeface="Times New Roman" panose="02020603050405020304" pitchFamily="18" charset="0"/>
              </a:rPr>
              <a:t>需从具体场景</a:t>
            </a:r>
            <a:r>
              <a:rPr lang="zh-CN" altLang="zh-CN" sz="1100">
                <a:latin typeface="Times New Roman" panose="02020603050405020304" pitchFamily="18" charset="0"/>
                <a:ea typeface="仿宋" panose="02010609060101010101" pitchFamily="49" charset="-122"/>
                <a:cs typeface="Times New Roman" panose="02020603050405020304" pitchFamily="18" charset="0"/>
              </a:rPr>
              <a:t>策</a:t>
            </a:r>
            <a:r>
              <a:rPr lang="zh-CN" altLang="zh-CN" sz="1100" smtClean="0">
                <a:latin typeface="Times New Roman" panose="02020603050405020304" pitchFamily="18" charset="0"/>
                <a:ea typeface="仿宋" panose="02010609060101010101" pitchFamily="49" charset="-122"/>
                <a:cs typeface="Times New Roman" panose="02020603050405020304" pitchFamily="18" charset="0"/>
              </a:rPr>
              <a:t>略</a:t>
            </a:r>
            <a:r>
              <a:rPr lang="zh-CN" altLang="zh-CN" sz="1100">
                <a:latin typeface="Times New Roman" panose="02020603050405020304" pitchFamily="18" charset="0"/>
                <a:ea typeface="仿宋" panose="02010609060101010101" pitchFamily="49" charset="-122"/>
                <a:cs typeface="Times New Roman" panose="02020603050405020304" pitchFamily="18" charset="0"/>
              </a:rPr>
              <a:t>中提炼。</a:t>
            </a:r>
            <a:endParaRPr lang="zh-CN" altLang="en-US" sz="1100"/>
          </a:p>
        </p:txBody>
      </p:sp>
    </p:spTree>
    <p:extLst>
      <p:ext uri="{BB962C8B-B14F-4D97-AF65-F5344CB8AC3E}">
        <p14:creationId xmlns:p14="http://schemas.microsoft.com/office/powerpoint/2010/main" val="683090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539552" y="1622407"/>
            <a:ext cx="8143891" cy="313932"/>
          </a:xfrm>
          <a:prstGeom prst="rect">
            <a:avLst/>
          </a:prstGeom>
        </p:spPr>
        <p:txBody>
          <a:bodyPr wrap="square">
            <a:spAutoFit/>
          </a:bodyPr>
          <a:lstStyle/>
          <a:p>
            <a:pPr>
              <a:lnSpc>
                <a:spcPct val="120000"/>
              </a:lnSpc>
              <a:spcBef>
                <a:spcPts val="600"/>
              </a:spcBef>
            </a:pP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续</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劝学策略表》模</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板</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cs typeface="Times New Roman" panose="02020603050405020304" pitchFamily="18" charset="0"/>
              </a:rPr>
              <a:t> “</a:t>
            </a:r>
            <a:r>
              <a:rPr lang="zh-CN" altLang="zh-CN" sz="1200" kern="100">
                <a:latin typeface="Times New Roman" panose="02020603050405020304" pitchFamily="18" charset="0"/>
                <a:cs typeface="Times New Roman" panose="02020603050405020304" pitchFamily="18" charset="0"/>
              </a:rPr>
              <a:t>本组场景”来自于角色扮演；“可迁移策略”需从具体策略中提炼 </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317049145"/>
              </p:ext>
            </p:extLst>
          </p:nvPr>
        </p:nvGraphicFramePr>
        <p:xfrm>
          <a:off x="395537" y="1939113"/>
          <a:ext cx="8316440" cy="1326805"/>
        </p:xfrm>
        <a:graphic>
          <a:graphicData uri="http://schemas.openxmlformats.org/drawingml/2006/table">
            <a:tbl>
              <a:tblPr firstRow="1" firstCol="1" bandRow="1">
                <a:tableStyleId>{5C22544A-7EE6-4342-B048-85BDC9FD1C3A}</a:tableStyleId>
              </a:tblPr>
              <a:tblGrid>
                <a:gridCol w="844805">
                  <a:extLst>
                    <a:ext uri="{9D8B030D-6E8A-4147-A177-3AD203B41FA5}">
                      <a16:colId xmlns:a16="http://schemas.microsoft.com/office/drawing/2014/main" val="1914101662"/>
                    </a:ext>
                  </a:extLst>
                </a:gridCol>
                <a:gridCol w="1368152">
                  <a:extLst>
                    <a:ext uri="{9D8B030D-6E8A-4147-A177-3AD203B41FA5}">
                      <a16:colId xmlns:a16="http://schemas.microsoft.com/office/drawing/2014/main" val="2008803654"/>
                    </a:ext>
                  </a:extLst>
                </a:gridCol>
                <a:gridCol w="1296144">
                  <a:extLst>
                    <a:ext uri="{9D8B030D-6E8A-4147-A177-3AD203B41FA5}">
                      <a16:colId xmlns:a16="http://schemas.microsoft.com/office/drawing/2014/main" val="1806864461"/>
                    </a:ext>
                  </a:extLst>
                </a:gridCol>
                <a:gridCol w="1387443">
                  <a:extLst>
                    <a:ext uri="{9D8B030D-6E8A-4147-A177-3AD203B41FA5}">
                      <a16:colId xmlns:a16="http://schemas.microsoft.com/office/drawing/2014/main" val="4177397467"/>
                    </a:ext>
                  </a:extLst>
                </a:gridCol>
                <a:gridCol w="2140949">
                  <a:extLst>
                    <a:ext uri="{9D8B030D-6E8A-4147-A177-3AD203B41FA5}">
                      <a16:colId xmlns:a16="http://schemas.microsoft.com/office/drawing/2014/main" val="1997137714"/>
                    </a:ext>
                  </a:extLst>
                </a:gridCol>
                <a:gridCol w="1278947">
                  <a:extLst>
                    <a:ext uri="{9D8B030D-6E8A-4147-A177-3AD203B41FA5}">
                      <a16:colId xmlns:a16="http://schemas.microsoft.com/office/drawing/2014/main" val="2063335641"/>
                    </a:ext>
                  </a:extLst>
                </a:gridCol>
              </a:tblGrid>
              <a:tr h="3446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诊断出的缺口</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本组场景</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具体场景策略</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可迁移策略</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预期效果</a:t>
                      </a:r>
                    </a:p>
                  </a:txBody>
                  <a:tcPr marL="72000" marR="72000" marT="36000" marB="36000" anchor="ctr"/>
                </a:tc>
                <a:extLst>
                  <a:ext uri="{0D108BD9-81ED-4DB2-BD59-A6C34878D82A}">
                    <a16:rowId xmlns:a16="http://schemas.microsoft.com/office/drawing/2014/main" val="174513558"/>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控</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能缺口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不会判断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非功利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活动是否学到东西</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不知道怎么判断自己学到了什么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引导对方建立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每周自我提问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清单</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不知道怎么判断自己学到了什么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时，提供结构化自我提问清单</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对方能及时发现方法无效</a:t>
                      </a:r>
                    </a:p>
                  </a:txBody>
                  <a:tcPr marL="72000" marR="72000" marT="36000" marB="36000" anchor="ctr"/>
                </a:tc>
                <a:extLst>
                  <a:ext uri="{0D108BD9-81ED-4DB2-BD59-A6C34878D82A}">
                    <a16:rowId xmlns:a16="http://schemas.microsoft.com/office/drawing/2014/main" val="168022767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不会从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非功利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活动中提取有效经验</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考完试不复盘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引导对方建立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KPT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复盘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习惯</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不复盘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时，提供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KPT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复盘框架，降低复盘门槛</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对方能根据复盘调整策略</a:t>
                      </a:r>
                    </a:p>
                  </a:txBody>
                  <a:tcPr marL="72000" marR="72000" marT="36000" marB="36000" anchor="ctr"/>
                </a:tc>
                <a:extLst>
                  <a:ext uri="{0D108BD9-81ED-4DB2-BD59-A6C34878D82A}">
                    <a16:rowId xmlns:a16="http://schemas.microsoft.com/office/drawing/2014/main" val="3766751648"/>
                  </a:ext>
                </a:extLst>
              </a:tr>
            </a:tbl>
          </a:graphicData>
        </a:graphic>
      </p:graphicFrame>
      <p:sp>
        <p:nvSpPr>
          <p:cNvPr id="8" name="矩形 7"/>
          <p:cNvSpPr/>
          <p:nvPr/>
        </p:nvSpPr>
        <p:spPr>
          <a:xfrm>
            <a:off x="899592" y="3471443"/>
            <a:ext cx="7344816" cy="292709"/>
          </a:xfrm>
          <a:prstGeom prst="rect">
            <a:avLst/>
          </a:prstGeom>
          <a:ln w="25400">
            <a:noFill/>
          </a:ln>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9" name="表格 8"/>
          <p:cNvGraphicFramePr>
            <a:graphicFrameLocks noGrp="1"/>
          </p:cNvGraphicFramePr>
          <p:nvPr>
            <p:extLst>
              <p:ext uri="{D42A27DB-BD31-4B8C-83A1-F6EECF244321}">
                <p14:modId xmlns:p14="http://schemas.microsoft.com/office/powerpoint/2010/main" val="1693412963"/>
              </p:ext>
            </p:extLst>
          </p:nvPr>
        </p:nvGraphicFramePr>
        <p:xfrm>
          <a:off x="899592" y="3795886"/>
          <a:ext cx="6264696" cy="1152128"/>
        </p:xfrm>
        <a:graphic>
          <a:graphicData uri="http://schemas.openxmlformats.org/drawingml/2006/table">
            <a:tbl>
              <a:tblPr firstRow="1" firstCol="1" bandRow="1">
                <a:tableStyleId>{5C22544A-7EE6-4342-B048-85BDC9FD1C3A}</a:tableStyleId>
              </a:tblPr>
              <a:tblGrid>
                <a:gridCol w="151216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4176464">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策略设计主持人</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主持讨论，确保每条策略对应一个诊断缺口</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策略设计员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分别负责策略性知识、任务性知识、自我性知识缺口的策略设计</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技能策略设计员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分别负责计划、监控、评估与调节技能缺口的策略设计</a:t>
                      </a:r>
                    </a:p>
                  </a:txBody>
                  <a:tcPr marL="68580" marR="68580" marT="0" marB="0" anchor="ctr"/>
                </a:tc>
                <a:extLst>
                  <a:ext uri="{0D108BD9-81ED-4DB2-BD59-A6C34878D82A}">
                    <a16:rowId xmlns:a16="http://schemas.microsoft.com/office/drawing/2014/main" val="2672521626"/>
                  </a:ext>
                </a:extLst>
              </a:tr>
            </a:tbl>
          </a:graphicData>
        </a:graphic>
      </p:graphicFrame>
    </p:spTree>
    <p:extLst>
      <p:ext uri="{BB962C8B-B14F-4D97-AF65-F5344CB8AC3E}">
        <p14:creationId xmlns:p14="http://schemas.microsoft.com/office/powerpoint/2010/main" val="39306093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1186" y="1635646"/>
            <a:ext cx="7128792" cy="262533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步骤二：策略验证</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目标学生角色扮演（</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验证规则：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由组内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名成员扮演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，对每条策略进行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接受度测试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测试问题：</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这条策略，你愿意执行吗？为什么？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这条策略，你觉得有用吗？为什么？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如果只能选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条策略执行，你选哪条？为什么？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策略设计员根据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的反馈，当场修订策略。若目标学生反馈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不愿意执行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觉得没用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，策略设计员可用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5Why</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法追问原因，追溯目标学生不愿意执行或觉得没用的根本原因，据此调整策略。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验证流程</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311538055"/>
              </p:ext>
            </p:extLst>
          </p:nvPr>
        </p:nvGraphicFramePr>
        <p:xfrm>
          <a:off x="891186" y="4260980"/>
          <a:ext cx="7065190" cy="903058"/>
        </p:xfrm>
        <a:graphic>
          <a:graphicData uri="http://schemas.openxmlformats.org/drawingml/2006/table">
            <a:tbl>
              <a:tblPr firstRow="1" firstCol="1" bandRow="1">
                <a:tableStyleId>{5C22544A-7EE6-4342-B048-85BDC9FD1C3A}</a:tableStyleId>
              </a:tblPr>
              <a:tblGrid>
                <a:gridCol w="65647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832648">
                  <a:extLst>
                    <a:ext uri="{9D8B030D-6E8A-4147-A177-3AD203B41FA5}">
                      <a16:colId xmlns:a16="http://schemas.microsoft.com/office/drawing/2014/main" val="2008803654"/>
                    </a:ext>
                  </a:extLst>
                </a:gridCol>
              </a:tblGrid>
              <a:tr h="32699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轮次</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操作</a:t>
                      </a:r>
                    </a:p>
                  </a:txBody>
                  <a:tcPr marL="72000" marR="72000" marT="36000" marB="3600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分工测试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条策略（每人测试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条），每条策略约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分钟，回答</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个测试问题</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策略设计员根据反馈修订策略，标注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验证后修订点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bl>
          </a:graphicData>
        </a:graphic>
      </p:graphicFrame>
    </p:spTree>
    <p:extLst>
      <p:ext uri="{BB962C8B-B14F-4D97-AF65-F5344CB8AC3E}">
        <p14:creationId xmlns:p14="http://schemas.microsoft.com/office/powerpoint/2010/main" val="1441881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1186" y="1635646"/>
            <a:ext cx="7128792" cy="88979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步骤三：策略优先级排序与自我迁移（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优先级排序：</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的反馈，确定策略优先级：</a:t>
            </a:r>
          </a:p>
        </p:txBody>
      </p:sp>
      <p:graphicFrame>
        <p:nvGraphicFramePr>
          <p:cNvPr id="8" name="表格 7"/>
          <p:cNvGraphicFramePr>
            <a:graphicFrameLocks noGrp="1"/>
          </p:cNvGraphicFramePr>
          <p:nvPr>
            <p:extLst>
              <p:ext uri="{D42A27DB-BD31-4B8C-83A1-F6EECF244321}">
                <p14:modId xmlns:p14="http://schemas.microsoft.com/office/powerpoint/2010/main" val="972669750"/>
              </p:ext>
            </p:extLst>
          </p:nvPr>
        </p:nvGraphicFramePr>
        <p:xfrm>
          <a:off x="903175" y="2562677"/>
          <a:ext cx="5697038" cy="1191090"/>
        </p:xfrm>
        <a:graphic>
          <a:graphicData uri="http://schemas.openxmlformats.org/drawingml/2006/table">
            <a:tbl>
              <a:tblPr firstRow="1" firstCol="1" bandRow="1">
                <a:tableStyleId>{5C22544A-7EE6-4342-B048-85BDC9FD1C3A}</a:tableStyleId>
              </a:tblPr>
              <a:tblGrid>
                <a:gridCol w="1016518">
                  <a:extLst>
                    <a:ext uri="{9D8B030D-6E8A-4147-A177-3AD203B41FA5}">
                      <a16:colId xmlns:a16="http://schemas.microsoft.com/office/drawing/2014/main" val="1914101662"/>
                    </a:ext>
                  </a:extLst>
                </a:gridCol>
                <a:gridCol w="2304256">
                  <a:extLst>
                    <a:ext uri="{9D8B030D-6E8A-4147-A177-3AD203B41FA5}">
                      <a16:colId xmlns:a16="http://schemas.microsoft.com/office/drawing/2014/main" val="1209153042"/>
                    </a:ext>
                  </a:extLst>
                </a:gridCol>
                <a:gridCol w="2376264">
                  <a:extLst>
                    <a:ext uri="{9D8B030D-6E8A-4147-A177-3AD203B41FA5}">
                      <a16:colId xmlns:a16="http://schemas.microsoft.com/office/drawing/2014/main" val="2008803654"/>
                    </a:ext>
                  </a:extLst>
                </a:gridCol>
              </a:tblGrid>
              <a:tr h="32699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优先级</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判断依据</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优先执行</a:t>
                      </a:r>
                    </a:p>
                  </a:txBody>
                  <a:tcPr marL="68580" marR="68580" marT="0" marB="0" anchor="ctr"/>
                </a:tc>
                <a:tc>
                  <a:txBody>
                    <a:bodyPr/>
                    <a:lstStyle/>
                    <a:p>
                      <a:pPr algn="ctr">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目标学生最愿意执行、最有用的</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次优执行</a:t>
                      </a:r>
                    </a:p>
                  </a:txBody>
                  <a:tcPr marL="68580" marR="68580" marT="0" marB="0" anchor="ctr"/>
                </a:tc>
                <a:tc>
                  <a:txBody>
                    <a:bodyPr/>
                    <a:lstStyle/>
                    <a:p>
                      <a:pPr algn="ctr">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目标学生愿意执行但需要条件的</a:t>
                      </a:r>
                    </a:p>
                  </a:txBody>
                  <a:tcPr marL="68580" marR="68580" marT="0" marB="0" anchor="ctr"/>
                </a:tc>
                <a:extLst>
                  <a:ext uri="{0D108BD9-81ED-4DB2-BD59-A6C34878D82A}">
                    <a16:rowId xmlns:a16="http://schemas.microsoft.com/office/drawing/2014/main" val="195720158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暂缓执行</a:t>
                      </a:r>
                    </a:p>
                  </a:txBody>
                  <a:tcPr marL="68580" marR="68580" marT="0" marB="0" anchor="ctr"/>
                </a:tc>
                <a:tc>
                  <a:txBody>
                    <a:bodyPr/>
                    <a:lstStyle/>
                    <a:p>
                      <a:pPr algn="ctr">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目标学生不愿意执行或觉得没用的</a:t>
                      </a:r>
                    </a:p>
                  </a:txBody>
                  <a:tcPr marL="68580" marR="68580" marT="0" marB="0" anchor="ctr"/>
                </a:tc>
                <a:extLst>
                  <a:ext uri="{0D108BD9-81ED-4DB2-BD59-A6C34878D82A}">
                    <a16:rowId xmlns:a16="http://schemas.microsoft.com/office/drawing/2014/main" val="2213797309"/>
                  </a:ext>
                </a:extLst>
              </a:tr>
            </a:tbl>
          </a:graphicData>
        </a:graphic>
      </p:graphicFrame>
      <p:sp>
        <p:nvSpPr>
          <p:cNvPr id="9" name="矩形 8"/>
          <p:cNvSpPr/>
          <p:nvPr/>
        </p:nvSpPr>
        <p:spPr>
          <a:xfrm>
            <a:off x="899592" y="3791003"/>
            <a:ext cx="7128792" cy="120956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自我迁移：</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各小组讨论两个问题：</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这些可迁移策略中，哪条对我自己最适用？为什么？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如果换一个目标学生（如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只做对评奖有用的事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的同学），这条可迁移策略是否还适用？如何调整？</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87545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1" y="2933335"/>
            <a:ext cx="7128792" cy="210519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这条策略对应的是哪个诊断缺口？如果没有对应，这条策略就是无效的。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这条策略是否围绕本组角色扮演中获得的具象化场景？还是泛泛的通用策略？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这条策略是否引用了本组目标学生的具体对话或行为？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从这条具体场景策略中，能否提炼出可迁移的策略原则？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如果换一个目标学生、换一个场景，这条可迁移策略是否还适用？如何调整？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这条策略是否尊重学生自主性？有没有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你应该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的说教语气？</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908132410"/>
              </p:ext>
            </p:extLst>
          </p:nvPr>
        </p:nvGraphicFramePr>
        <p:xfrm>
          <a:off x="899591" y="1990937"/>
          <a:ext cx="3816425" cy="903058"/>
        </p:xfrm>
        <a:graphic>
          <a:graphicData uri="http://schemas.openxmlformats.org/drawingml/2006/table">
            <a:tbl>
              <a:tblPr firstRow="1" firstCol="1" bandRow="1">
                <a:tableStyleId>{5C22544A-7EE6-4342-B048-85BDC9FD1C3A}</a:tableStyleId>
              </a:tblPr>
              <a:tblGrid>
                <a:gridCol w="2304257">
                  <a:extLst>
                    <a:ext uri="{9D8B030D-6E8A-4147-A177-3AD203B41FA5}">
                      <a16:colId xmlns:a16="http://schemas.microsoft.com/office/drawing/2014/main" val="1914101662"/>
                    </a:ext>
                  </a:extLst>
                </a:gridCol>
                <a:gridCol w="1512168">
                  <a:extLst>
                    <a:ext uri="{9D8B030D-6E8A-4147-A177-3AD203B41FA5}">
                      <a16:colId xmlns:a16="http://schemas.microsoft.com/office/drawing/2014/main" val="1209153042"/>
                    </a:ext>
                  </a:extLst>
                </a:gridCol>
              </a:tblGrid>
              <a:tr h="32699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记录项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extLst>
                  <a:ext uri="{0D108BD9-81ED-4DB2-BD59-A6C34878D82A}">
                    <a16:rowId xmlns:a16="http://schemas.microsoft.com/office/drawing/2014/main" val="174513558"/>
                  </a:ext>
                </a:extLst>
              </a:tr>
              <a:tr h="288032">
                <a:tc>
                  <a:txBody>
                    <a:bodyPr/>
                    <a:lstStyle/>
                    <a:p>
                      <a:pPr marL="0" algn="l" defTabSz="914400" rtl="0" eaLnBrk="1" latinLnBrk="0" hangingPunct="1">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对我自己最适用的可迁移策略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策略名称与选择理由</a:t>
                      </a:r>
                    </a:p>
                  </a:txBody>
                  <a:tcPr marL="68580" marR="68580" marT="0" marB="0" anchor="ctr"/>
                </a:tc>
                <a:extLst>
                  <a:ext uri="{0D108BD9-81ED-4DB2-BD59-A6C34878D82A}">
                    <a16:rowId xmlns:a16="http://schemas.microsoft.com/office/drawing/2014/main" val="3845462762"/>
                  </a:ext>
                </a:extLst>
              </a:tr>
              <a:tr h="288032">
                <a:tc>
                  <a:txBody>
                    <a:bodyPr/>
                    <a:lstStyle/>
                    <a:p>
                      <a:pPr marL="0" algn="l" defTabSz="914400" rtl="0" eaLnBrk="1" latinLnBrk="0" hangingPunct="1">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该策略迁移到其他场景的调整方案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新场景与调整方式</a:t>
                      </a:r>
                    </a:p>
                  </a:txBody>
                  <a:tcPr marL="68580" marR="68580" marT="0" marB="0" anchor="ctr"/>
                </a:tc>
                <a:extLst>
                  <a:ext uri="{0D108BD9-81ED-4DB2-BD59-A6C34878D82A}">
                    <a16:rowId xmlns:a16="http://schemas.microsoft.com/office/drawing/2014/main" val="1957201583"/>
                  </a:ext>
                </a:extLst>
              </a:tr>
            </a:tbl>
          </a:graphicData>
        </a:graphic>
      </p:graphicFrame>
      <p:sp>
        <p:nvSpPr>
          <p:cNvPr id="9" name="矩形 8"/>
          <p:cNvSpPr/>
          <p:nvPr/>
        </p:nvSpPr>
        <p:spPr>
          <a:xfrm>
            <a:off x="899591" y="1652512"/>
            <a:ext cx="7115607" cy="313932"/>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《劝学策略表》末尾记录：</a:t>
            </a:r>
          </a:p>
        </p:txBody>
      </p:sp>
    </p:spTree>
    <p:extLst>
      <p:ext uri="{BB962C8B-B14F-4D97-AF65-F5344CB8AC3E}">
        <p14:creationId xmlns:p14="http://schemas.microsoft.com/office/powerpoint/2010/main" val="3652185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707654"/>
            <a:ext cx="7128792" cy="3145476"/>
          </a:xfrm>
          <a:prstGeom prst="rect">
            <a:avLst/>
          </a:prstGeom>
        </p:spPr>
        <p:txBody>
          <a:bodyPr wrap="square">
            <a:spAutoFit/>
          </a:bodyPr>
          <a:lstStyle/>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这条策略的衡量标准是否可观测？能不能说清楚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做到什么程度算成功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这条策略我不愿意执行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是策略的问题还是目标学生的问题？如何调整？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条策略中，哪条对我自己最适用？为什么？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各</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小组完成《劝学策略表》（含优先级与验证后修订点），每条策略均须对应第二、第三阶段已设计的具体场景与诊断出的缺口；保存作为方案组成部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第五阶段：可衡量行动设计（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：将第四阶段验证后的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优先执行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策略，转化为目标学生可执行的可衡量行动，明确开始时间、衡量标准、执行条件与备选方案，并围绕本组角色扮演中获得的具象化场景展开。</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教师讲解可衡量行动设计原则：</a:t>
            </a:r>
          </a:p>
        </p:txBody>
      </p:sp>
    </p:spTree>
    <p:extLst>
      <p:ext uri="{BB962C8B-B14F-4D97-AF65-F5344CB8AC3E}">
        <p14:creationId xmlns:p14="http://schemas.microsoft.com/office/powerpoint/2010/main" val="3286758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4791" y="1650870"/>
            <a:ext cx="7128792" cy="292709"/>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师讲解可衡量行动设计原则：</a:t>
            </a:r>
          </a:p>
        </p:txBody>
      </p:sp>
      <p:graphicFrame>
        <p:nvGraphicFramePr>
          <p:cNvPr id="3" name="表格 2"/>
          <p:cNvGraphicFramePr>
            <a:graphicFrameLocks noGrp="1"/>
          </p:cNvGraphicFramePr>
          <p:nvPr>
            <p:extLst>
              <p:ext uri="{D42A27DB-BD31-4B8C-83A1-F6EECF244321}">
                <p14:modId xmlns:p14="http://schemas.microsoft.com/office/powerpoint/2010/main" val="3654964265"/>
              </p:ext>
            </p:extLst>
          </p:nvPr>
        </p:nvGraphicFramePr>
        <p:xfrm>
          <a:off x="910071" y="1958802"/>
          <a:ext cx="5678153" cy="1968992"/>
        </p:xfrm>
        <a:graphic>
          <a:graphicData uri="http://schemas.openxmlformats.org/drawingml/2006/table">
            <a:tbl>
              <a:tblPr firstRow="1" firstCol="1" bandRow="1">
                <a:tableStyleId>{5C22544A-7EE6-4342-B048-85BDC9FD1C3A}</a:tableStyleId>
              </a:tblPr>
              <a:tblGrid>
                <a:gridCol w="1213657">
                  <a:extLst>
                    <a:ext uri="{9D8B030D-6E8A-4147-A177-3AD203B41FA5}">
                      <a16:colId xmlns:a16="http://schemas.microsoft.com/office/drawing/2014/main" val="692523490"/>
                    </a:ext>
                  </a:extLst>
                </a:gridCol>
                <a:gridCol w="4464496">
                  <a:extLst>
                    <a:ext uri="{9D8B030D-6E8A-4147-A177-3AD203B41FA5}">
                      <a16:colId xmlns:a16="http://schemas.microsoft.com/office/drawing/2014/main" val="419674769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原则</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7514775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策略对应原则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每项行动必须对应一条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优先执行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的劝学策略</a:t>
                      </a:r>
                    </a:p>
                  </a:txBody>
                  <a:tcPr marL="68580" marR="68580" marT="0" marB="0" anchor="ctr"/>
                </a:tc>
                <a:extLst>
                  <a:ext uri="{0D108BD9-81ED-4DB2-BD59-A6C34878D82A}">
                    <a16:rowId xmlns:a16="http://schemas.microsoft.com/office/drawing/2014/main" val="206265795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场景具象化原则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每项行动须围绕本组角色扮演中获得的具象化场景展开</a:t>
                      </a:r>
                    </a:p>
                  </a:txBody>
                  <a:tcPr marL="68580" marR="68580" marT="0" marB="0" anchor="ctr"/>
                </a:tc>
                <a:extLst>
                  <a:ext uri="{0D108BD9-81ED-4DB2-BD59-A6C34878D82A}">
                    <a16:rowId xmlns:a16="http://schemas.microsoft.com/office/drawing/2014/main" val="228868693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可衡量原则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行动须包含明确的衡量标准，能说清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做到什么程度算完成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08170001"/>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行动须明确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在什么条件下执行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，考虑目标学生的真实情况</a:t>
                      </a:r>
                    </a:p>
                  </a:txBody>
                  <a:tcPr marL="68580" marR="68580" marT="0" marB="0" anchor="ctr"/>
                </a:tc>
                <a:extLst>
                  <a:ext uri="{0D108BD9-81ED-4DB2-BD59-A6C34878D82A}">
                    <a16:rowId xmlns:a16="http://schemas.microsoft.com/office/drawing/2014/main" val="63940191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备选方案原则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行动须包含</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如果目标学生不执行，怎么办</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的备选方案</a:t>
                      </a:r>
                    </a:p>
                  </a:txBody>
                  <a:tcPr marL="68580" marR="68580" marT="0" marB="0" anchor="ctr"/>
                </a:tc>
                <a:extLst>
                  <a:ext uri="{0D108BD9-81ED-4DB2-BD59-A6C34878D82A}">
                    <a16:rowId xmlns:a16="http://schemas.microsoft.com/office/drawing/2014/main" val="2924654888"/>
                  </a:ext>
                </a:extLst>
              </a:tr>
              <a:tr h="38481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可迁移原则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行动须体现第四阶段提炼的可迁移策略，能举一反三应用于其他场景</a:t>
                      </a:r>
                    </a:p>
                  </a:txBody>
                  <a:tcPr marL="68580" marR="68580" marT="0" marB="0" anchor="ctr"/>
                </a:tc>
                <a:extLst>
                  <a:ext uri="{0D108BD9-81ED-4DB2-BD59-A6C34878D82A}">
                    <a16:rowId xmlns:a16="http://schemas.microsoft.com/office/drawing/2014/main" val="2019504034"/>
                  </a:ext>
                </a:extLst>
              </a:tr>
            </a:tbl>
          </a:graphicData>
        </a:graphic>
      </p:graphicFrame>
    </p:spTree>
    <p:extLst>
      <p:ext uri="{BB962C8B-B14F-4D97-AF65-F5344CB8AC3E}">
        <p14:creationId xmlns:p14="http://schemas.microsoft.com/office/powerpoint/2010/main" val="7158186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4791" y="1650870"/>
            <a:ext cx="7128792" cy="59125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步骤一：确定进入行动设计的策略（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各小组回顾第四阶段的策略优先级排序，确定进入行动设计的策略：</a:t>
            </a:r>
          </a:p>
        </p:txBody>
      </p:sp>
      <p:graphicFrame>
        <p:nvGraphicFramePr>
          <p:cNvPr id="3" name="表格 2"/>
          <p:cNvGraphicFramePr>
            <a:graphicFrameLocks noGrp="1"/>
          </p:cNvGraphicFramePr>
          <p:nvPr>
            <p:extLst>
              <p:ext uri="{D42A27DB-BD31-4B8C-83A1-F6EECF244321}">
                <p14:modId xmlns:p14="http://schemas.microsoft.com/office/powerpoint/2010/main" val="3315693967"/>
              </p:ext>
            </p:extLst>
          </p:nvPr>
        </p:nvGraphicFramePr>
        <p:xfrm>
          <a:off x="908944" y="2211710"/>
          <a:ext cx="5678152" cy="2016224"/>
        </p:xfrm>
        <a:graphic>
          <a:graphicData uri="http://schemas.openxmlformats.org/drawingml/2006/table">
            <a:tbl>
              <a:tblPr firstRow="1" firstCol="1" bandRow="1">
                <a:tableStyleId>{5C22544A-7EE6-4342-B048-85BDC9FD1C3A}</a:tableStyleId>
              </a:tblPr>
              <a:tblGrid>
                <a:gridCol w="2078880">
                  <a:extLst>
                    <a:ext uri="{9D8B030D-6E8A-4147-A177-3AD203B41FA5}">
                      <a16:colId xmlns:a16="http://schemas.microsoft.com/office/drawing/2014/main" val="592161052"/>
                    </a:ext>
                  </a:extLst>
                </a:gridCol>
                <a:gridCol w="1584176">
                  <a:extLst>
                    <a:ext uri="{9D8B030D-6E8A-4147-A177-3AD203B41FA5}">
                      <a16:colId xmlns:a16="http://schemas.microsoft.com/office/drawing/2014/main" val="692523490"/>
                    </a:ext>
                  </a:extLst>
                </a:gridCol>
                <a:gridCol w="2015096">
                  <a:extLst>
                    <a:ext uri="{9D8B030D-6E8A-4147-A177-3AD203B41FA5}">
                      <a16:colId xmlns:a16="http://schemas.microsoft.com/office/drawing/2014/main" val="419674769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优先级</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是否进入行动设计</a:t>
                      </a:r>
                    </a:p>
                  </a:txBody>
                  <a:tcPr marL="72000" marR="72000" marT="36000" marB="36000" anchor="ctr"/>
                </a:tc>
                <a:extLst>
                  <a:ext uri="{0D108BD9-81ED-4DB2-BD59-A6C34878D82A}">
                    <a16:rowId xmlns:a16="http://schemas.microsoft.com/office/drawing/2014/main" val="7514775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（策略性知识缺口）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优先执行</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06265795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（任务性知识缺口）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优先执行</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28868693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（自我性知识缺口）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次优执行</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可选</a:t>
                      </a:r>
                    </a:p>
                  </a:txBody>
                  <a:tcPr marL="72000" marR="72000" marT="36000" marB="36000" anchor="ctr"/>
                </a:tc>
                <a:extLst>
                  <a:ext uri="{0D108BD9-81ED-4DB2-BD59-A6C34878D82A}">
                    <a16:rowId xmlns:a16="http://schemas.microsoft.com/office/drawing/2014/main" val="2808170001"/>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次优执行</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可选</a:t>
                      </a:r>
                    </a:p>
                  </a:txBody>
                  <a:tcPr marL="72000" marR="72000" marT="36000" marB="36000" anchor="ctr"/>
                </a:tc>
                <a:extLst>
                  <a:ext uri="{0D108BD9-81ED-4DB2-BD59-A6C34878D82A}">
                    <a16:rowId xmlns:a16="http://schemas.microsoft.com/office/drawing/2014/main" val="63940191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（监控技能缺口）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暂缓执行</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924654888"/>
                  </a:ext>
                </a:extLst>
              </a:tr>
              <a:tr h="38481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（评估与调节技能缺口）</a:t>
                      </a:r>
                    </a:p>
                  </a:txBody>
                  <a:tcPr marL="72000" marR="72000" marT="36000" marB="3600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暂缓执行</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019504034"/>
                  </a:ext>
                </a:extLst>
              </a:tr>
            </a:tbl>
          </a:graphicData>
        </a:graphic>
      </p:graphicFrame>
      <p:sp>
        <p:nvSpPr>
          <p:cNvPr id="4" name="矩形 3"/>
          <p:cNvSpPr/>
          <p:nvPr/>
        </p:nvSpPr>
        <p:spPr>
          <a:xfrm>
            <a:off x="908944" y="4227934"/>
            <a:ext cx="5940152" cy="889795"/>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建议</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：选取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优先执行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的策略进入行动设计。</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步骤二：行动设计（</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各小组针对选定的策略，填写《可衡量行动表》</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44508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410491003"/>
              </p:ext>
            </p:extLst>
          </p:nvPr>
        </p:nvGraphicFramePr>
        <p:xfrm>
          <a:off x="226153" y="2067867"/>
          <a:ext cx="8712968" cy="3008901"/>
        </p:xfrm>
        <a:graphic>
          <a:graphicData uri="http://schemas.openxmlformats.org/drawingml/2006/table">
            <a:tbl>
              <a:tblPr firstRow="1" firstCol="1" bandRow="1">
                <a:tableStyleId>{5C22544A-7EE6-4342-B048-85BDC9FD1C3A}</a:tableStyleId>
              </a:tblPr>
              <a:tblGrid>
                <a:gridCol w="1008111">
                  <a:extLst>
                    <a:ext uri="{9D8B030D-6E8A-4147-A177-3AD203B41FA5}">
                      <a16:colId xmlns:a16="http://schemas.microsoft.com/office/drawing/2014/main" val="1914101662"/>
                    </a:ext>
                  </a:extLst>
                </a:gridCol>
                <a:gridCol w="1656184">
                  <a:extLst>
                    <a:ext uri="{9D8B030D-6E8A-4147-A177-3AD203B41FA5}">
                      <a16:colId xmlns:a16="http://schemas.microsoft.com/office/drawing/2014/main" val="2008803654"/>
                    </a:ext>
                  </a:extLst>
                </a:gridCol>
                <a:gridCol w="864096">
                  <a:extLst>
                    <a:ext uri="{9D8B030D-6E8A-4147-A177-3AD203B41FA5}">
                      <a16:colId xmlns:a16="http://schemas.microsoft.com/office/drawing/2014/main" val="1806864461"/>
                    </a:ext>
                  </a:extLst>
                </a:gridCol>
                <a:gridCol w="792089">
                  <a:extLst>
                    <a:ext uri="{9D8B030D-6E8A-4147-A177-3AD203B41FA5}">
                      <a16:colId xmlns:a16="http://schemas.microsoft.com/office/drawing/2014/main" val="4177397467"/>
                    </a:ext>
                  </a:extLst>
                </a:gridCol>
                <a:gridCol w="1296144">
                  <a:extLst>
                    <a:ext uri="{9D8B030D-6E8A-4147-A177-3AD203B41FA5}">
                      <a16:colId xmlns:a16="http://schemas.microsoft.com/office/drawing/2014/main" val="1997137714"/>
                    </a:ext>
                  </a:extLst>
                </a:gridCol>
                <a:gridCol w="720080">
                  <a:extLst>
                    <a:ext uri="{9D8B030D-6E8A-4147-A177-3AD203B41FA5}">
                      <a16:colId xmlns:a16="http://schemas.microsoft.com/office/drawing/2014/main" val="2063335641"/>
                    </a:ext>
                  </a:extLst>
                </a:gridCol>
                <a:gridCol w="720080">
                  <a:extLst>
                    <a:ext uri="{9D8B030D-6E8A-4147-A177-3AD203B41FA5}">
                      <a16:colId xmlns:a16="http://schemas.microsoft.com/office/drawing/2014/main" val="246508318"/>
                    </a:ext>
                  </a:extLst>
                </a:gridCol>
                <a:gridCol w="864096">
                  <a:extLst>
                    <a:ext uri="{9D8B030D-6E8A-4147-A177-3AD203B41FA5}">
                      <a16:colId xmlns:a16="http://schemas.microsoft.com/office/drawing/2014/main" val="3338118689"/>
                    </a:ext>
                  </a:extLst>
                </a:gridCol>
                <a:gridCol w="792088">
                  <a:extLst>
                    <a:ext uri="{9D8B030D-6E8A-4147-A177-3AD203B41FA5}">
                      <a16:colId xmlns:a16="http://schemas.microsoft.com/office/drawing/2014/main" val="4201143468"/>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对应策略</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本组场景</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可迁移策略的应用</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开始时间</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衡量标准</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备选方案</a:t>
                      </a:r>
                    </a:p>
                  </a:txBody>
                  <a:tcPr marL="68580" marR="68580" marT="0" marB="0" anchor="ctr"/>
                </a:tc>
                <a:extLst>
                  <a:ext uri="{0D108BD9-81ED-4DB2-BD59-A6C34878D82A}">
                    <a16:rowId xmlns:a16="http://schemas.microsoft.com/office/drawing/2014/main" val="174513558"/>
                  </a:ext>
                </a:extLst>
              </a:tr>
              <a:tr h="416613">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策略性知识</a:t>
                      </a:r>
                    </a:p>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432048">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任务性知识</a:t>
                      </a:r>
                    </a:p>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不知道组织活动能锻炼什么能力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55180311"/>
                  </a:ext>
                </a:extLst>
              </a:tr>
              <a:tr h="504056">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自我性知识</a:t>
                      </a:r>
                    </a:p>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不知道自己对什么感兴趣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72521626"/>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能</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454767970"/>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能</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不知道怎么判断自己学到了什么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920491203"/>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评估与调节技能缺口策略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考完试不复盘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584156463"/>
                  </a:ext>
                </a:extLst>
              </a:tr>
            </a:tbl>
          </a:graphicData>
        </a:graphic>
      </p:graphicFrame>
      <p:sp>
        <p:nvSpPr>
          <p:cNvPr id="9" name="矩形 8"/>
          <p:cNvSpPr/>
          <p:nvPr/>
        </p:nvSpPr>
        <p:spPr>
          <a:xfrm>
            <a:off x="920867" y="1598410"/>
            <a:ext cx="7323541" cy="461665"/>
          </a:xfrm>
          <a:prstGeom prst="rect">
            <a:avLst/>
          </a:prstGeom>
        </p:spPr>
        <p:txBody>
          <a:bodyPr wrap="square">
            <a:spAutoFit/>
          </a:bodyPr>
          <a:lstStyle/>
          <a:p>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《可衡量行动表》模</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板</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各小组根据步骤一</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确定进入行动设计的策略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，填写对应的</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行</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若</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某条策略未进入行动设计，则该行留</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空</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本组场景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来自本组角色扮演中目标学生的具体对话或行</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为</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4041752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920867" y="1598410"/>
            <a:ext cx="7323541" cy="461665"/>
          </a:xfrm>
          <a:prstGeom prst="rect">
            <a:avLst/>
          </a:prstGeom>
        </p:spPr>
        <p:txBody>
          <a:bodyPr wrap="square">
            <a:spAutoFit/>
          </a:bodyPr>
          <a:lstStyle/>
          <a:p>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《可衡量行动表》模</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板</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各小组根据步骤一</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确定进入行动设计的策略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，填写对应的</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行</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若</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某条策略未进入行动设计，则该行留</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空</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本组场景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来自本组角色扮演中目标学生的具体对话或行</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为</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9" name="表格 8"/>
          <p:cNvGraphicFramePr>
            <a:graphicFrameLocks noGrp="1"/>
          </p:cNvGraphicFramePr>
          <p:nvPr>
            <p:extLst>
              <p:ext uri="{D42A27DB-BD31-4B8C-83A1-F6EECF244321}">
                <p14:modId xmlns:p14="http://schemas.microsoft.com/office/powerpoint/2010/main" val="2336733483"/>
              </p:ext>
            </p:extLst>
          </p:nvPr>
        </p:nvGraphicFramePr>
        <p:xfrm>
          <a:off x="611560" y="2107620"/>
          <a:ext cx="8136904" cy="2984410"/>
        </p:xfrm>
        <a:graphic>
          <a:graphicData uri="http://schemas.openxmlformats.org/drawingml/2006/table">
            <a:tbl>
              <a:tblPr firstRow="1" firstCol="1" bandRow="1">
                <a:tableStyleId>{5C22544A-7EE6-4342-B048-85BDC9FD1C3A}</a:tableStyleId>
              </a:tblPr>
              <a:tblGrid>
                <a:gridCol w="1440160">
                  <a:extLst>
                    <a:ext uri="{9D8B030D-6E8A-4147-A177-3AD203B41FA5}">
                      <a16:colId xmlns:a16="http://schemas.microsoft.com/office/drawing/2014/main" val="692523490"/>
                    </a:ext>
                  </a:extLst>
                </a:gridCol>
                <a:gridCol w="6696744">
                  <a:extLst>
                    <a:ext uri="{9D8B030D-6E8A-4147-A177-3AD203B41FA5}">
                      <a16:colId xmlns:a16="http://schemas.microsoft.com/office/drawing/2014/main" val="419674769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栏目</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206265795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来自第四阶段</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优先执行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的策略名称（如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用本组案例展示可迁移能力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），而非缺口类型</a:t>
                      </a:r>
                    </a:p>
                  </a:txBody>
                  <a:tcPr marL="68580" marR="68580" marT="0" marB="0" anchor="ctr"/>
                </a:tc>
                <a:extLst>
                  <a:ext uri="{0D108BD9-81ED-4DB2-BD59-A6C34878D82A}">
                    <a16:rowId xmlns:a16="http://schemas.microsoft.com/office/drawing/2014/main" val="228868693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本组场景</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来自本组角色扮演中目标学生的具体对话或行为（如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808170001"/>
                  </a:ext>
                </a:extLst>
              </a:tr>
              <a:tr h="24810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将策略转化为具体行动（如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建立学习机会日志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639401910"/>
                  </a:ext>
                </a:extLst>
              </a:tr>
              <a:tr h="39212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行动的具体操作方式，须围绕本组角色扮演中获得的具象化场景展开（如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针对本组目标学生提到的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每周记录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次组织活动中学到的能力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285523241"/>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可迁移策略的应用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说明该行动如何体现第四阶段提炼的可迁移策略（如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当目标学生认为某活动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时，用他亲身经历的案例，展示该活动中隐含的可迁移能力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924654888"/>
                  </a:ext>
                </a:extLst>
              </a:tr>
              <a:tr h="28071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开始时间</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明确的时间点（如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下周一</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本周三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19636949"/>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衡量标准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可观测的完成标准（如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连续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天记录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927067164"/>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在什么条件下执行（如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每天睡前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周末复盘时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550072564"/>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备选方案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如果目标学生不执行，怎么办（如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若连续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天未记录，改为每周记录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019504034"/>
                  </a:ext>
                </a:extLst>
              </a:tr>
            </a:tbl>
          </a:graphicData>
        </a:graphic>
      </p:graphicFrame>
    </p:spTree>
    <p:extLst>
      <p:ext uri="{BB962C8B-B14F-4D97-AF65-F5344CB8AC3E}">
        <p14:creationId xmlns:p14="http://schemas.microsoft.com/office/powerpoint/2010/main" val="1091709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292709"/>
          </a:xfrm>
          <a:prstGeom prst="rect">
            <a:avLst/>
          </a:prstGeom>
          <a:ln w="25400">
            <a:noFill/>
          </a:ln>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10" name="表格 9"/>
          <p:cNvGraphicFramePr>
            <a:graphicFrameLocks noGrp="1"/>
          </p:cNvGraphicFramePr>
          <p:nvPr>
            <p:extLst>
              <p:ext uri="{D42A27DB-BD31-4B8C-83A1-F6EECF244321}">
                <p14:modId xmlns:p14="http://schemas.microsoft.com/office/powerpoint/2010/main" val="1312158608"/>
              </p:ext>
            </p:extLst>
          </p:nvPr>
        </p:nvGraphicFramePr>
        <p:xfrm>
          <a:off x="899592" y="1952144"/>
          <a:ext cx="4392488" cy="1440160"/>
        </p:xfrm>
        <a:graphic>
          <a:graphicData uri="http://schemas.openxmlformats.org/drawingml/2006/table">
            <a:tbl>
              <a:tblPr firstRow="1" firstCol="1" bandRow="1">
                <a:tableStyleId>{5C22544A-7EE6-4342-B048-85BDC9FD1C3A}</a:tableStyleId>
              </a:tblPr>
              <a:tblGrid>
                <a:gridCol w="1224136">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2592288">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行动设计主持人</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主持讨论，确保行动对应策略</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行动设计员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分别负责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条策略的行动设计</a:t>
                      </a:r>
                    </a:p>
                  </a:txBody>
                  <a:tcPr marL="68580" marR="68580" marT="0" marB="0" anchor="ctr"/>
                </a:tc>
                <a:extLst>
                  <a:ext uri="{0D108BD9-81ED-4DB2-BD59-A6C34878D82A}">
                    <a16:rowId xmlns:a16="http://schemas.microsoft.com/office/drawing/2014/main" val="6510958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衡量标准审核员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审核每项行动的衡量标准是否可观测</a:t>
                      </a:r>
                    </a:p>
                  </a:txBody>
                  <a:tcPr marL="68580" marR="68580" marT="0" marB="0" anchor="ctr"/>
                </a:tc>
                <a:extLst>
                  <a:ext uri="{0D108BD9-81ED-4DB2-BD59-A6C34878D82A}">
                    <a16:rowId xmlns:a16="http://schemas.microsoft.com/office/drawing/2014/main" val="203538477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执行条件审核员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审核每项行动的执行条件是否合理</a:t>
                      </a:r>
                    </a:p>
                  </a:txBody>
                  <a:tcPr marL="68580" marR="68580" marT="0" marB="0" anchor="ctr"/>
                </a:tc>
                <a:extLst>
                  <a:ext uri="{0D108BD9-81ED-4DB2-BD59-A6C34878D82A}">
                    <a16:rowId xmlns:a16="http://schemas.microsoft.com/office/drawing/2014/main" val="3755180311"/>
                  </a:ext>
                </a:extLst>
              </a:tr>
            </a:tbl>
          </a:graphicData>
        </a:graphic>
      </p:graphicFrame>
      <p:sp>
        <p:nvSpPr>
          <p:cNvPr id="2" name="矩形 1"/>
          <p:cNvSpPr/>
          <p:nvPr/>
        </p:nvSpPr>
        <p:spPr>
          <a:xfrm>
            <a:off x="899592" y="3424038"/>
            <a:ext cx="5112568" cy="612475"/>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步骤三：行动验证</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目标学生角色扮演（</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由组内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名成员扮演</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目标学生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，对每项行动进行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可行性测试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3" name="表格 2"/>
          <p:cNvGraphicFramePr>
            <a:graphicFrameLocks noGrp="1"/>
          </p:cNvGraphicFramePr>
          <p:nvPr>
            <p:extLst>
              <p:ext uri="{D42A27DB-BD31-4B8C-83A1-F6EECF244321}">
                <p14:modId xmlns:p14="http://schemas.microsoft.com/office/powerpoint/2010/main" val="1003135498"/>
              </p:ext>
            </p:extLst>
          </p:nvPr>
        </p:nvGraphicFramePr>
        <p:xfrm>
          <a:off x="899592" y="4011964"/>
          <a:ext cx="4680520" cy="1152128"/>
        </p:xfrm>
        <a:graphic>
          <a:graphicData uri="http://schemas.openxmlformats.org/drawingml/2006/table">
            <a:tbl>
              <a:tblPr firstRow="1" firstCol="1" bandRow="1">
                <a:tableStyleId>{5C22544A-7EE6-4342-B048-85BDC9FD1C3A}</a:tableStyleId>
              </a:tblPr>
              <a:tblGrid>
                <a:gridCol w="2880320">
                  <a:extLst>
                    <a:ext uri="{9D8B030D-6E8A-4147-A177-3AD203B41FA5}">
                      <a16:colId xmlns:a16="http://schemas.microsoft.com/office/drawing/2014/main" val="3630970552"/>
                    </a:ext>
                  </a:extLst>
                </a:gridCol>
                <a:gridCol w="1800200">
                  <a:extLst>
                    <a:ext uri="{9D8B030D-6E8A-4147-A177-3AD203B41FA5}">
                      <a16:colId xmlns:a16="http://schemas.microsoft.com/office/drawing/2014/main" val="2082041169"/>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测试问题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目的</a:t>
                      </a:r>
                    </a:p>
                  </a:txBody>
                  <a:tcPr marL="72000" marR="72000" marT="36000" marB="36000" anchor="ctr"/>
                </a:tc>
                <a:extLst>
                  <a:ext uri="{0D108BD9-81ED-4DB2-BD59-A6C34878D82A}">
                    <a16:rowId xmlns:a16="http://schemas.microsoft.com/office/drawing/2014/main" val="2937389975"/>
                  </a:ext>
                </a:extLst>
              </a:tr>
              <a:tr h="288032">
                <a:tc>
                  <a:txBody>
                    <a:bodyPr/>
                    <a:lstStyle/>
                    <a:p>
                      <a:pPr marL="0" algn="l" defTabSz="914400" rtl="0" eaLnBrk="1" latinLnBrk="0" hangingPunct="1">
                        <a:spcAft>
                          <a:spcPts val="0"/>
                        </a:spcAft>
                      </a:pP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这项行动，你能坚持吗？为什么？</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测试执行条件是否合理</a:t>
                      </a:r>
                    </a:p>
                  </a:txBody>
                  <a:tcPr marL="72000" marR="72000" marT="36000" marB="36000" anchor="ctr"/>
                </a:tc>
                <a:extLst>
                  <a:ext uri="{0D108BD9-81ED-4DB2-BD59-A6C34878D82A}">
                    <a16:rowId xmlns:a16="http://schemas.microsoft.com/office/drawing/2014/main" val="2213498345"/>
                  </a:ext>
                </a:extLst>
              </a:tr>
              <a:tr h="288032">
                <a:tc>
                  <a:txBody>
                    <a:bodyPr/>
                    <a:lstStyle/>
                    <a:p>
                      <a:pPr marL="0" algn="l" defTabSz="914400" rtl="0" eaLnBrk="1" latinLnBrk="0" hangingPunct="1">
                        <a:spcAft>
                          <a:spcPts val="0"/>
                        </a:spcAft>
                      </a:pP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如果某天太忙，你会怎么办？</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测试备选方案是否可行</a:t>
                      </a:r>
                    </a:p>
                  </a:txBody>
                  <a:tcPr marL="72000" marR="72000" marT="36000" marB="36000" anchor="ctr"/>
                </a:tc>
                <a:extLst>
                  <a:ext uri="{0D108BD9-81ED-4DB2-BD59-A6C34878D82A}">
                    <a16:rowId xmlns:a16="http://schemas.microsoft.com/office/drawing/2014/main" val="127503733"/>
                  </a:ext>
                </a:extLst>
              </a:tr>
              <a:tr h="288032">
                <a:tc>
                  <a:txBody>
                    <a:bodyPr/>
                    <a:lstStyle/>
                    <a:p>
                      <a:pPr marL="0" algn="l" defTabSz="914400" rtl="0" eaLnBrk="1" latinLnBrk="0" hangingPunct="1">
                        <a:spcAft>
                          <a:spcPts val="0"/>
                        </a:spcAft>
                      </a:pP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这项行动的衡量标准，你觉得能做到吗？</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测试衡量标准是否可观测</a:t>
                      </a:r>
                    </a:p>
                  </a:txBody>
                  <a:tcPr marL="72000" marR="72000" marT="36000" marB="36000" anchor="ctr"/>
                </a:tc>
                <a:extLst>
                  <a:ext uri="{0D108BD9-81ED-4DB2-BD59-A6C34878D82A}">
                    <a16:rowId xmlns:a16="http://schemas.microsoft.com/office/drawing/2014/main" val="1793781994"/>
                  </a:ext>
                </a:extLst>
              </a:tr>
            </a:tbl>
          </a:graphicData>
        </a:graphic>
      </p:graphicFrame>
    </p:spTree>
    <p:extLst>
      <p:ext uri="{BB962C8B-B14F-4D97-AF65-F5344CB8AC3E}">
        <p14:creationId xmlns:p14="http://schemas.microsoft.com/office/powerpoint/2010/main" val="2035657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292709"/>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验</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证流程</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548130626"/>
              </p:ext>
            </p:extLst>
          </p:nvPr>
        </p:nvGraphicFramePr>
        <p:xfrm>
          <a:off x="899592" y="1974500"/>
          <a:ext cx="7065190" cy="903058"/>
        </p:xfrm>
        <a:graphic>
          <a:graphicData uri="http://schemas.openxmlformats.org/drawingml/2006/table">
            <a:tbl>
              <a:tblPr firstRow="1" firstCol="1" bandRow="1">
                <a:tableStyleId>{5C22544A-7EE6-4342-B048-85BDC9FD1C3A}</a:tableStyleId>
              </a:tblPr>
              <a:tblGrid>
                <a:gridCol w="656478">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832648">
                  <a:extLst>
                    <a:ext uri="{9D8B030D-6E8A-4147-A177-3AD203B41FA5}">
                      <a16:colId xmlns:a16="http://schemas.microsoft.com/office/drawing/2014/main" val="2008803654"/>
                    </a:ext>
                  </a:extLst>
                </a:gridCol>
              </a:tblGrid>
              <a:tr h="32699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轮次</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操作</a:t>
                      </a:r>
                    </a:p>
                  </a:txBody>
                  <a:tcPr marL="72000" marR="72000" marT="36000" marB="3600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目标学生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分工测试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项行动（每人测试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项），每项行动约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轮</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行动设计员根据反馈修订行动，标注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验证后修订点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bl>
          </a:graphicData>
        </a:graphic>
      </p:graphicFrame>
      <p:sp>
        <p:nvSpPr>
          <p:cNvPr id="11" name="矩形 10"/>
          <p:cNvSpPr/>
          <p:nvPr/>
        </p:nvSpPr>
        <p:spPr>
          <a:xfrm>
            <a:off x="899592" y="2888106"/>
            <a:ext cx="7344816" cy="2105192"/>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这项行动对应的是哪条策略？如果没有对应，这项行动就是无效的。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这项行动是否围绕本组角色扮演中获得的具象化场景？还是泛泛的通用行动？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这项行动是否体现了第四阶段提炼的可迁移策略？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这项行动的衡量标准是否可观测？能不能说清楚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做到什么程度算完成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这项行动的开始时间是否明确？是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下周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还是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下周一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这项行动的执行条件是否合理？如果目标学生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太忙了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，这项行动还能执行吗？</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00971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89720" y="1635646"/>
            <a:ext cx="7786736" cy="2105192"/>
          </a:xfrm>
          <a:prstGeom prst="rect">
            <a:avLst/>
          </a:prstGeom>
          <a:ln w="25400">
            <a:noFill/>
          </a:ln>
        </p:spPr>
        <p:txBody>
          <a:bodyPr wrap="square">
            <a:spAutoFit/>
          </a:bodyPr>
          <a:lstStyle/>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如果目标学生不执行，备选方案是什么？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各小组完成《可衡量行动表》，保存作为方案组成部分。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第六阶段：方案整合与竞标准备（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：将前五阶段成果整合至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号图纸，准备竞标展示，确保四模块均体现本组角色扮演中获得的具象化场景。</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步骤一：方案整合（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各小组将前五阶段的成果整合到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号图纸上：</a:t>
            </a:r>
          </a:p>
        </p:txBody>
      </p:sp>
      <p:graphicFrame>
        <p:nvGraphicFramePr>
          <p:cNvPr id="10" name="表格 9"/>
          <p:cNvGraphicFramePr>
            <a:graphicFrameLocks noGrp="1"/>
          </p:cNvGraphicFramePr>
          <p:nvPr>
            <p:extLst>
              <p:ext uri="{D42A27DB-BD31-4B8C-83A1-F6EECF244321}">
                <p14:modId xmlns:p14="http://schemas.microsoft.com/office/powerpoint/2010/main" val="778645587"/>
              </p:ext>
            </p:extLst>
          </p:nvPr>
        </p:nvGraphicFramePr>
        <p:xfrm>
          <a:off x="971600" y="3740837"/>
          <a:ext cx="7488832" cy="1284714"/>
        </p:xfrm>
        <a:graphic>
          <a:graphicData uri="http://schemas.openxmlformats.org/drawingml/2006/table">
            <a:tbl>
              <a:tblPr firstRow="1" firstCol="1" bandRow="1">
                <a:tableStyleId>{5C22544A-7EE6-4342-B048-85BDC9FD1C3A}</a:tableStyleId>
              </a:tblPr>
              <a:tblGrid>
                <a:gridCol w="504056">
                  <a:extLst>
                    <a:ext uri="{9D8B030D-6E8A-4147-A177-3AD203B41FA5}">
                      <a16:colId xmlns:a16="http://schemas.microsoft.com/office/drawing/2014/main" val="1914101662"/>
                    </a:ext>
                  </a:extLst>
                </a:gridCol>
                <a:gridCol w="1440160">
                  <a:extLst>
                    <a:ext uri="{9D8B030D-6E8A-4147-A177-3AD203B41FA5}">
                      <a16:colId xmlns:a16="http://schemas.microsoft.com/office/drawing/2014/main" val="1209153042"/>
                    </a:ext>
                  </a:extLst>
                </a:gridCol>
                <a:gridCol w="5544616">
                  <a:extLst>
                    <a:ext uri="{9D8B030D-6E8A-4147-A177-3AD203B41FA5}">
                      <a16:colId xmlns:a16="http://schemas.microsoft.com/office/drawing/2014/main" val="2008803654"/>
                    </a:ext>
                  </a:extLst>
                </a:gridCol>
              </a:tblGrid>
              <a:tr h="19906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位置</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要求</a:t>
                      </a:r>
                    </a:p>
                  </a:txBody>
                  <a:tcPr marL="68580" marR="68580" marT="0" marB="0" anchor="ctr"/>
                </a:tc>
                <a:extLst>
                  <a:ext uri="{0D108BD9-81ED-4DB2-BD59-A6C34878D82A}">
                    <a16:rowId xmlns:a16="http://schemas.microsoft.com/office/drawing/2014/main" val="174513558"/>
                  </a:ext>
                </a:extLst>
              </a:tr>
              <a:tr h="19906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左上</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元认知知识缺口诊断</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三类缺口各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项，有行为证据支撑，标注本组角色扮演中的具体场景</a:t>
                      </a: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右上</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元认知技能缺口诊断</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三维缺口各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项，有行为证据支撑，标注本组角色扮演中的具体场景</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左下</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劝学策略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每条策略对应一个诊断缺口，围绕本组角色扮演中的具体场景，含可迁移策略、预期效果与衡量标准，标注验证后修订点</a:t>
                      </a:r>
                    </a:p>
                  </a:txBody>
                  <a:tcPr marL="68580" marR="68580" marT="0" marB="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右下</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可衡量行动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行动对应策略名称，围绕本组角色扮演中的具体场景，行动具体、可执行、可衡量，含可迁移策略的应用、开始时间、执行条件与备选方案，标注验证后修订点</a:t>
                      </a:r>
                    </a:p>
                  </a:txBody>
                  <a:tcPr marL="68580" marR="68580" marT="0" marB="0" anchor="ctr"/>
                </a:tc>
                <a:extLst>
                  <a:ext uri="{0D108BD9-81ED-4DB2-BD59-A6C34878D82A}">
                    <a16:rowId xmlns:a16="http://schemas.microsoft.com/office/drawing/2014/main" val="1680227670"/>
                  </a:ext>
                </a:extLst>
              </a:tr>
            </a:tbl>
          </a:graphicData>
        </a:graphic>
      </p:graphicFrame>
    </p:spTree>
    <p:extLst>
      <p:ext uri="{BB962C8B-B14F-4D97-AF65-F5344CB8AC3E}">
        <p14:creationId xmlns:p14="http://schemas.microsoft.com/office/powerpoint/2010/main" val="25084801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615150"/>
            <a:ext cx="7344816" cy="2105192"/>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视觉优化要求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使用不同颜色区分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诊断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关键诊断结论用方框或下划线突出</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本组角色扮演中的具体场景用引号标注（如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目标学生说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组织活动是浪费时间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图纸整体布局整洁、信息层级清晰、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秒内可快速定位各模块</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步骤二：陈述准备（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各小组推选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竞标陈述人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，准备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分钟方案陈</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述</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陈</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述结构建议</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10" name="表格 9"/>
          <p:cNvGraphicFramePr>
            <a:graphicFrameLocks noGrp="1"/>
          </p:cNvGraphicFramePr>
          <p:nvPr>
            <p:extLst>
              <p:ext uri="{D42A27DB-BD31-4B8C-83A1-F6EECF244321}">
                <p14:modId xmlns:p14="http://schemas.microsoft.com/office/powerpoint/2010/main" val="4220426143"/>
              </p:ext>
            </p:extLst>
          </p:nvPr>
        </p:nvGraphicFramePr>
        <p:xfrm>
          <a:off x="971600" y="3651870"/>
          <a:ext cx="7488832" cy="1509896"/>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1914101662"/>
                    </a:ext>
                  </a:extLst>
                </a:gridCol>
                <a:gridCol w="792088">
                  <a:extLst>
                    <a:ext uri="{9D8B030D-6E8A-4147-A177-3AD203B41FA5}">
                      <a16:colId xmlns:a16="http://schemas.microsoft.com/office/drawing/2014/main" val="1209153042"/>
                    </a:ext>
                  </a:extLst>
                </a:gridCol>
                <a:gridCol w="5904656">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时间段</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68580" marR="68580" marT="0" marB="0" anchor="ctr"/>
                </a:tc>
                <a:extLst>
                  <a:ext uri="{0D108BD9-81ED-4DB2-BD59-A6C34878D82A}">
                    <a16:rowId xmlns:a16="http://schemas.microsoft.com/office/drawing/2014/main" val="174513558"/>
                  </a:ext>
                </a:extLst>
              </a:tr>
              <a:tr h="199065">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前</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诊断结论</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我们通过角色扮演发现，目标学生说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个元认知知识缺口和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个元认知技能缺口，核心缺口是。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劝学策略</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针对核心缺口，我们围绕目标学生提到的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场景，设计了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条劝学策略，优先执行的是，可迁移策略是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可衡量行动</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我们设计了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项可衡量行动，核心行动是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，衡量标准是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，如果目标学生不执行，备选方案是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后</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方案亮点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本方案最大亮点是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80227670"/>
                  </a:ext>
                </a:extLst>
              </a:tr>
            </a:tbl>
          </a:graphicData>
        </a:graphic>
      </p:graphicFrame>
    </p:spTree>
    <p:extLst>
      <p:ext uri="{BB962C8B-B14F-4D97-AF65-F5344CB8AC3E}">
        <p14:creationId xmlns:p14="http://schemas.microsoft.com/office/powerpoint/2010/main" val="4208506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292709"/>
          </a:xfrm>
          <a:prstGeom prst="rect">
            <a:avLst/>
          </a:prstGeom>
          <a:ln w="25400">
            <a:noFill/>
          </a:ln>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9" name="表格 8"/>
          <p:cNvGraphicFramePr>
            <a:graphicFrameLocks noGrp="1"/>
          </p:cNvGraphicFramePr>
          <p:nvPr>
            <p:extLst>
              <p:ext uri="{D42A27DB-BD31-4B8C-83A1-F6EECF244321}">
                <p14:modId xmlns:p14="http://schemas.microsoft.com/office/powerpoint/2010/main" val="2534648272"/>
              </p:ext>
            </p:extLst>
          </p:nvPr>
        </p:nvGraphicFramePr>
        <p:xfrm>
          <a:off x="899592" y="1952144"/>
          <a:ext cx="5472608" cy="1440160"/>
        </p:xfrm>
        <a:graphic>
          <a:graphicData uri="http://schemas.openxmlformats.org/drawingml/2006/table">
            <a:tbl>
              <a:tblPr firstRow="1" firstCol="1" bandRow="1">
                <a:tableStyleId>{5C22544A-7EE6-4342-B048-85BDC9FD1C3A}</a:tableStyleId>
              </a:tblPr>
              <a:tblGrid>
                <a:gridCol w="1224136">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3672408">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方案架构师</a:t>
                      </a:r>
                    </a:p>
                  </a:txBody>
                  <a:tcPr marL="68580" marR="68580" marT="0" marB="0" anchor="ctr"/>
                </a:tc>
                <a:tc>
                  <a:txBody>
                    <a:bodyPr/>
                    <a:lstStyle/>
                    <a:p>
                      <a:pPr algn="ctr">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主持讨论，确保四模块完整、布局合理、</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30</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秒可定位</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内容整合员</a:t>
                      </a:r>
                    </a:p>
                  </a:txBody>
                  <a:tcPr marL="68580" marR="68580" marT="0" marB="0" anchor="ctr"/>
                </a:tc>
                <a:tc>
                  <a:txBody>
                    <a:bodyPr/>
                    <a:lstStyle/>
                    <a:p>
                      <a:pPr algn="ctr">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将前五阶段成果抄绘至</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号图纸对应位置，确保数据一致</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10958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视觉优化员</a:t>
                      </a:r>
                    </a:p>
                  </a:txBody>
                  <a:tcPr marL="68580" marR="68580" marT="0" marB="0" anchor="ctr"/>
                </a:tc>
                <a:tc>
                  <a:txBody>
                    <a:bodyPr/>
                    <a:lstStyle/>
                    <a:p>
                      <a:pPr algn="ctr">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颜色区分、关键结论突出、图纸布局整洁</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3538477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陈述人</a:t>
                      </a:r>
                    </a:p>
                  </a:txBody>
                  <a:tcPr marL="68580" marR="68580" marT="0" marB="0" anchor="ctr"/>
                </a:tc>
                <a:tc>
                  <a:txBody>
                    <a:bodyPr/>
                    <a:lstStyle/>
                    <a:p>
                      <a:pPr algn="ctr">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根据陈述结构模板准备</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分钟陈述，在组内试讲</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次</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bl>
          </a:graphicData>
        </a:graphic>
      </p:graphicFrame>
      <p:sp>
        <p:nvSpPr>
          <p:cNvPr id="2" name="矩形 1"/>
          <p:cNvSpPr/>
          <p:nvPr/>
        </p:nvSpPr>
        <p:spPr>
          <a:xfrm>
            <a:off x="899592" y="3507854"/>
            <a:ext cx="5472608" cy="292709"/>
          </a:xfrm>
          <a:prstGeom prst="rect">
            <a:avLst/>
          </a:prstGeom>
        </p:spPr>
        <p:txBody>
          <a:bodyPr wrap="square">
            <a:spAutoFit/>
          </a:bodyPr>
          <a:lstStyle/>
          <a:p>
            <a:pPr>
              <a:lnSpc>
                <a:spcPct val="120000"/>
              </a:lnSpc>
              <a:spcBef>
                <a:spcPts val="600"/>
              </a:spcBef>
              <a:spcAft>
                <a:spcPts val="0"/>
              </a:spcAft>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号图纸整合，准备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分钟竞标陈述。</a:t>
            </a:r>
          </a:p>
        </p:txBody>
      </p:sp>
    </p:spTree>
    <p:extLst>
      <p:ext uri="{BB962C8B-B14F-4D97-AF65-F5344CB8AC3E}">
        <p14:creationId xmlns:p14="http://schemas.microsoft.com/office/powerpoint/2010/main" val="28359313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1132618"/>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第七阶段：竞标评审（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：通过竞标评审，建立劝学方案质量的集体判断标准，确保方案在诊断准确性、诊断系统性、策略可操作性、策略场景性、策略可迁移性、策略伦理、方案完整性七个维度上达到共识。</a:t>
            </a: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审标准公布（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分钟，陈述前）</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687089442"/>
              </p:ext>
            </p:extLst>
          </p:nvPr>
        </p:nvGraphicFramePr>
        <p:xfrm>
          <a:off x="899592" y="2803861"/>
          <a:ext cx="7200800" cy="2233410"/>
        </p:xfrm>
        <a:graphic>
          <a:graphicData uri="http://schemas.openxmlformats.org/drawingml/2006/table">
            <a:tbl>
              <a:tblPr firstRow="1" firstCol="1" bandRow="1">
                <a:tableStyleId>{5C22544A-7EE6-4342-B048-85BDC9FD1C3A}</a:tableStyleId>
              </a:tblPr>
              <a:tblGrid>
                <a:gridCol w="1296144">
                  <a:extLst>
                    <a:ext uri="{9D8B030D-6E8A-4147-A177-3AD203B41FA5}">
                      <a16:colId xmlns:a16="http://schemas.microsoft.com/office/drawing/2014/main" val="1914101662"/>
                    </a:ext>
                  </a:extLst>
                </a:gridCol>
                <a:gridCol w="576064">
                  <a:extLst>
                    <a:ext uri="{9D8B030D-6E8A-4147-A177-3AD203B41FA5}">
                      <a16:colId xmlns:a16="http://schemas.microsoft.com/office/drawing/2014/main" val="1209153042"/>
                    </a:ext>
                  </a:extLst>
                </a:gridCol>
                <a:gridCol w="5328592">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评审维度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权重</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72000" marR="72000" marT="36000" marB="3600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诊断准确性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元认知知识缺口与技能缺口诊断是否准确？是否有行为证据支撑？</a:t>
                      </a: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诊断系统性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是否覆盖元认知知识三类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技能三维？</a:t>
                      </a:r>
                    </a:p>
                  </a:txBody>
                  <a:tcPr marL="72000" marR="72000" marT="36000" marB="3600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劝学策略可操作性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策略是否自己认同、有用、具体、可执行、可衡量？</a:t>
                      </a:r>
                    </a:p>
                  </a:txBody>
                  <a:tcPr marL="72000" marR="72000" marT="36000" marB="36000" anchor="ctr"/>
                </a:tc>
                <a:extLst>
                  <a:ext uri="{0D108BD9-81ED-4DB2-BD59-A6C34878D82A}">
                    <a16:rowId xmlns:a16="http://schemas.microsoft.com/office/drawing/2014/main" val="267252162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劝学策略场景性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策略是否围绕本组角色扮演中获得的具象化场景？是否引用了目标学生的具体对话？</a:t>
                      </a:r>
                    </a:p>
                  </a:txBody>
                  <a:tcPr marL="72000" marR="72000" marT="36000" marB="3600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劝学策略可迁移性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是否从具体场景策略中提炼了可迁移策略？能否举一反三应用于其他场景？</a:t>
                      </a:r>
                    </a:p>
                  </a:txBody>
                  <a:tcPr marL="72000" marR="72000" marT="36000" marB="36000" anchor="ctr"/>
                </a:tc>
                <a:extLst>
                  <a:ext uri="{0D108BD9-81ED-4DB2-BD59-A6C34878D82A}">
                    <a16:rowId xmlns:a16="http://schemas.microsoft.com/office/drawing/2014/main" val="168022767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劝学策略伦理</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是否尊重学生自主性？是否避免说教？</a:t>
                      </a:r>
                    </a:p>
                  </a:txBody>
                  <a:tcPr marL="72000" marR="72000" marT="36000" marB="36000" anchor="ctr"/>
                </a:tc>
                <a:extLst>
                  <a:ext uri="{0D108BD9-81ED-4DB2-BD59-A6C34878D82A}">
                    <a16:rowId xmlns:a16="http://schemas.microsoft.com/office/drawing/2014/main" val="3766751648"/>
                  </a:ext>
                </a:extLst>
              </a:tr>
              <a:tr h="31397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方案完整性</a:t>
                      </a:r>
                    </a:p>
                  </a:txBody>
                  <a:tcPr marL="72000" marR="72000" marT="36000" marB="3600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是否包含诊断、策略、行动？</a:t>
                      </a:r>
                    </a:p>
                  </a:txBody>
                  <a:tcPr marL="72000" marR="72000" marT="36000" marB="36000" anchor="ctr"/>
                </a:tc>
                <a:extLst>
                  <a:ext uri="{0D108BD9-81ED-4DB2-BD59-A6C34878D82A}">
                    <a16:rowId xmlns:a16="http://schemas.microsoft.com/office/drawing/2014/main" val="1496211302"/>
                  </a:ext>
                </a:extLst>
              </a:tr>
            </a:tbl>
          </a:graphicData>
        </a:graphic>
      </p:graphicFrame>
    </p:spTree>
    <p:extLst>
      <p:ext uri="{BB962C8B-B14F-4D97-AF65-F5344CB8AC3E}">
        <p14:creationId xmlns:p14="http://schemas.microsoft.com/office/powerpoint/2010/main" val="2509745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1114857"/>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评审团构成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：教师担任评标委员会主任，各小组推选的陈述人共同组成评标委员会，依据评审标准对各组方案进行评价。</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步骤一：小组陈述（</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分钟陈述。陈述人按照以下逻辑组织发言：</a:t>
            </a:r>
          </a:p>
        </p:txBody>
      </p:sp>
      <p:graphicFrame>
        <p:nvGraphicFramePr>
          <p:cNvPr id="9" name="表格 8"/>
          <p:cNvGraphicFramePr>
            <a:graphicFrameLocks noGrp="1"/>
          </p:cNvGraphicFramePr>
          <p:nvPr>
            <p:extLst>
              <p:ext uri="{D42A27DB-BD31-4B8C-83A1-F6EECF244321}">
                <p14:modId xmlns:p14="http://schemas.microsoft.com/office/powerpoint/2010/main" val="1350349711"/>
              </p:ext>
            </p:extLst>
          </p:nvPr>
        </p:nvGraphicFramePr>
        <p:xfrm>
          <a:off x="899592" y="2858933"/>
          <a:ext cx="7488832" cy="1509896"/>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1914101662"/>
                    </a:ext>
                  </a:extLst>
                </a:gridCol>
                <a:gridCol w="792088">
                  <a:extLst>
                    <a:ext uri="{9D8B030D-6E8A-4147-A177-3AD203B41FA5}">
                      <a16:colId xmlns:a16="http://schemas.microsoft.com/office/drawing/2014/main" val="1209153042"/>
                    </a:ext>
                  </a:extLst>
                </a:gridCol>
                <a:gridCol w="5904656">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时间段</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68580" marR="68580" marT="0" marB="0" anchor="ctr"/>
                </a:tc>
                <a:extLst>
                  <a:ext uri="{0D108BD9-81ED-4DB2-BD59-A6C34878D82A}">
                    <a16:rowId xmlns:a16="http://schemas.microsoft.com/office/drawing/2014/main" val="174513558"/>
                  </a:ext>
                </a:extLst>
              </a:tr>
              <a:tr h="199065">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前</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诊断结论</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我们通过角色扮演发现，目标学生说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，诊断出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个元认知知识缺口和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个元认知技能缺口，核心缺口是。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劝学策略</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针对核心缺口，我们围绕目标学生提到的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场景，设计了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条劝学策略，优先执行的是，可迁移策略是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可衡量行动</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我们设计了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项可衡量行动，核心行动是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，衡量标准是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，如果目标学生不执行，备选方案是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3029312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后</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方案亮点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本方案最大亮点是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80227670"/>
                  </a:ext>
                </a:extLst>
              </a:tr>
            </a:tbl>
          </a:graphicData>
        </a:graphic>
      </p:graphicFrame>
    </p:spTree>
    <p:extLst>
      <p:ext uri="{BB962C8B-B14F-4D97-AF65-F5344CB8AC3E}">
        <p14:creationId xmlns:p14="http://schemas.microsoft.com/office/powerpoint/2010/main" val="32334777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591252"/>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步骤二：评审团提问与答辩（</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评审团对各组方案提出质疑，陈述人应答。建议从以下角度切入：</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255177995"/>
              </p:ext>
            </p:extLst>
          </p:nvPr>
        </p:nvGraphicFramePr>
        <p:xfrm>
          <a:off x="899592" y="2235567"/>
          <a:ext cx="7848872" cy="2403315"/>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1914101662"/>
                    </a:ext>
                  </a:extLst>
                </a:gridCol>
                <a:gridCol w="6840760">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72000" marR="72000" marT="36000" marB="3600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诊断准确性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你们诊断出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策略性知识缺口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，但行为证据是什么？能否具体说明？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诊断系统性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你们覆盖了元认知知识三类，但元认知技能三维中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监控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维度是否有诊断？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55180311"/>
                  </a:ext>
                </a:extLst>
              </a:tr>
              <a:tr h="33618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策略可操作性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你们设计的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每周自我提问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策略，如果对方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太忙了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，还能执行吗？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30293127"/>
                  </a:ext>
                </a:extLst>
              </a:tr>
              <a:tr h="26417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策略场景性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你们的策略是否围绕本组角色扮演中目标学生的具体场景？能否引用目标学生的原话？</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680227670"/>
                  </a:ext>
                </a:extLst>
              </a:tr>
              <a:tr h="31256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策略可迁移性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你们的可迁移策略，如果换一个目标学生（如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只做对评奖有用的事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的同学），是否还适用？如何调整？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273221242"/>
                  </a:ext>
                </a:extLst>
              </a:tr>
              <a:tr h="28895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策略伦理</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你们的策略中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帮助对方看到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，是否隐含</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对方需要被帮助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的预设？这是否尊重学生自主性？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828080470"/>
                  </a:ext>
                </a:extLst>
              </a:tr>
              <a:tr h="3373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方案完整性</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你们的可衡量行动中，衡量标准是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完成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完成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的质量如何判断？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66751648"/>
                  </a:ext>
                </a:extLst>
              </a:tr>
            </a:tbl>
          </a:graphicData>
        </a:graphic>
      </p:graphicFrame>
    </p:spTree>
    <p:extLst>
      <p:ext uri="{BB962C8B-B14F-4D97-AF65-F5344CB8AC3E}">
        <p14:creationId xmlns:p14="http://schemas.microsoft.com/office/powerpoint/2010/main" val="36390134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598410"/>
            <a:ext cx="8064896" cy="3597908"/>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步骤三：教师讲评（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教师汇总分数宣布最优方案，并围绕以下核心要点进行讲评：</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元认知知识三类与技能三维的对应关系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诊断是否覆盖完整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劝学策略的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诊断对应原则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每条策略是否对应一个诊断缺口</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劝学策略的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场景具象化原则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策略是否围绕本组角色扮演中的具体场景</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劝学策略的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可迁移原则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是否从具体场景策略中提炼了可迁移策略</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劝学策略的伦理原则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是否尊重学生自主性，避免说教</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可衡量行动的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可观测性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衡量标准是否可观测、可执行</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从各组方案中提炼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优秀劝学方案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的共性标准，形成班级共识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：评审团完成各组成绩评定；班级产生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最优劝学方案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第八阶段：元认知知识精讲（</a:t>
            </a: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：将劝学方案演练中的实践体验抽象为元认知的核心概念框架，完成从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具体经验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抽象原理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的认知跃迁</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96985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612475"/>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作流程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步骤一：元认知知识三类（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688648724"/>
              </p:ext>
            </p:extLst>
          </p:nvPr>
        </p:nvGraphicFramePr>
        <p:xfrm>
          <a:off x="467544" y="2274179"/>
          <a:ext cx="8070034" cy="2025763"/>
        </p:xfrm>
        <a:graphic>
          <a:graphicData uri="http://schemas.openxmlformats.org/drawingml/2006/table">
            <a:tbl>
              <a:tblPr firstRow="1" firstCol="1" bandRow="1">
                <a:tableStyleId>{5C22544A-7EE6-4342-B048-85BDC9FD1C3A}</a:tableStyleId>
              </a:tblPr>
              <a:tblGrid>
                <a:gridCol w="792087">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1209153042"/>
                    </a:ext>
                  </a:extLst>
                </a:gridCol>
                <a:gridCol w="4541643">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定义</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解读</a:t>
                      </a:r>
                    </a:p>
                  </a:txBody>
                  <a:tcPr marL="72000" marR="72000" marT="36000" marB="36000" anchor="ctr"/>
                </a:tc>
                <a:extLst>
                  <a:ext uri="{0D108BD9-81ED-4DB2-BD59-A6C34878D82A}">
                    <a16:rowId xmlns:a16="http://schemas.microsoft.com/office/drawing/2014/main" val="174513558"/>
                  </a:ext>
                </a:extLst>
              </a:tr>
              <a:tr h="51359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关于学习、思维和解决问题的一般策略的知识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策略不是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对不对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的问题，而是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在什么情境下有效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的问题。元认知能力强的人，不是拥有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最好的策略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什么情境用什么策略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845462762"/>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关于不同认知任务的难度差异、认知要求以及何时适当使用策略的条件性知识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不同活动训练不同认知能力。只做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对保研有用的事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不努力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训练的能力过于单一</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755180311"/>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对自己在认知和学习方面的强项和弱项的了解，以及关于自我动机的信念</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人容易高估或低估自己。元认知能力强的人，不是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没有偏差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，而是能通过持续反思修正偏差。</a:t>
                      </a:r>
                    </a:p>
                  </a:txBody>
                  <a:tcPr marL="72000" marR="72000" marT="36000" marB="36000" anchor="ctr"/>
                </a:tc>
                <a:extLst>
                  <a:ext uri="{0D108BD9-81ED-4DB2-BD59-A6C34878D82A}">
                    <a16:rowId xmlns:a16="http://schemas.microsoft.com/office/drawing/2014/main" val="3030293127"/>
                  </a:ext>
                </a:extLst>
              </a:tr>
            </a:tbl>
          </a:graphicData>
        </a:graphic>
      </p:graphicFrame>
      <p:sp>
        <p:nvSpPr>
          <p:cNvPr id="2" name="矩形 1"/>
          <p:cNvSpPr/>
          <p:nvPr/>
        </p:nvSpPr>
        <p:spPr>
          <a:xfrm>
            <a:off x="899592" y="4443958"/>
            <a:ext cx="7488832" cy="553998"/>
          </a:xfrm>
          <a:prstGeom prst="rect">
            <a:avLst/>
          </a:prstGeom>
        </p:spPr>
        <p:txBody>
          <a:bodyPr wrap="square">
            <a:spAutoFit/>
          </a:bodyPr>
          <a:lstStyle/>
          <a:p>
            <a:pPr algn="just">
              <a:lnSpc>
                <a:spcPct val="125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三类知识共同揭示了一个原理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元认知不是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知道更多</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知道自己知道什么、不知道什么、在什么情境下用什么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5150670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612475"/>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作流程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骤</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二</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知</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技能</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三</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568504992"/>
              </p:ext>
            </p:extLst>
          </p:nvPr>
        </p:nvGraphicFramePr>
        <p:xfrm>
          <a:off x="899592" y="2339755"/>
          <a:ext cx="7416824" cy="2025763"/>
        </p:xfrm>
        <a:graphic>
          <a:graphicData uri="http://schemas.openxmlformats.org/drawingml/2006/table">
            <a:tbl>
              <a:tblPr firstRow="1" firstCol="1" bandRow="1">
                <a:tableStyleId>{5C22544A-7EE6-4342-B048-85BDC9FD1C3A}</a:tableStyleId>
              </a:tblPr>
              <a:tblGrid>
                <a:gridCol w="792087">
                  <a:extLst>
                    <a:ext uri="{9D8B030D-6E8A-4147-A177-3AD203B41FA5}">
                      <a16:colId xmlns:a16="http://schemas.microsoft.com/office/drawing/2014/main" val="1914101662"/>
                    </a:ext>
                  </a:extLst>
                </a:gridCol>
                <a:gridCol w="2160241">
                  <a:extLst>
                    <a:ext uri="{9D8B030D-6E8A-4147-A177-3AD203B41FA5}">
                      <a16:colId xmlns:a16="http://schemas.microsoft.com/office/drawing/2014/main" val="1209153042"/>
                    </a:ext>
                  </a:extLst>
                </a:gridCol>
                <a:gridCol w="4464496">
                  <a:extLst>
                    <a:ext uri="{9D8B030D-6E8A-4147-A177-3AD203B41FA5}">
                      <a16:colId xmlns:a16="http://schemas.microsoft.com/office/drawing/2014/main" val="2008803654"/>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定义</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解读</a:t>
                      </a:r>
                    </a:p>
                  </a:txBody>
                  <a:tcPr marL="72000" marR="72000" marT="36000" marB="36000" anchor="ctr"/>
                </a:tc>
                <a:extLst>
                  <a:ext uri="{0D108BD9-81ED-4DB2-BD59-A6C34878D82A}">
                    <a16:rowId xmlns:a16="http://schemas.microsoft.com/office/drawing/2014/main" val="174513558"/>
                  </a:ext>
                </a:extLst>
              </a:tr>
              <a:tr h="51359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明确目标、激活已有知识、选择策略、分配资源</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计划不是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定目标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将目标转化为可执行的行动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。没有计划的努力，是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随机努力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3845462762"/>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实时追踪理解程度和进度，评估策略有效性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监控不是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判断方法是否有效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。没有监控的努力，是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盲目努力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3755180311"/>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估</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与</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调节</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对学习成果与策略效率进行反思，并根据评估结果调整后续行动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评估不是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打分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提取有效信息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；调节不是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换个方法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根据评估结果调整策略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。没有评估与调节的努力，是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重复努力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3030293127"/>
                  </a:ext>
                </a:extLst>
              </a:tr>
            </a:tbl>
          </a:graphicData>
        </a:graphic>
      </p:graphicFrame>
      <p:sp>
        <p:nvSpPr>
          <p:cNvPr id="9" name="矩形 8"/>
          <p:cNvSpPr/>
          <p:nvPr/>
        </p:nvSpPr>
        <p:spPr>
          <a:xfrm>
            <a:off x="899592" y="4443958"/>
            <a:ext cx="7416824" cy="553998"/>
          </a:xfrm>
          <a:prstGeom prst="rect">
            <a:avLst/>
          </a:prstGeom>
        </p:spPr>
        <p:txBody>
          <a:bodyPr wrap="square">
            <a:spAutoFit/>
          </a:bodyPr>
          <a:lstStyle/>
          <a:p>
            <a:pPr algn="just">
              <a:lnSpc>
                <a:spcPct val="125000"/>
              </a:lnSpc>
              <a:spcBef>
                <a:spcPts val="600"/>
              </a:spcBef>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三</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维技能共同揭示了一个原理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元认知不是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天赋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可以训练的行为习惯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被要求反思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自主反思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，需要刻意练习</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53136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329936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诊断他人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诊断自己</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请各组用一句话总结：在诊断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只学有用的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同学的过程中，你们对自己有什么新发现？</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知识缺口示例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我们发现自己也有类似的元认知知识缺口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我们发现自己也在用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没用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来判断活动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我们发现自己也不知道如何将非功利活动转化为有利于持续发展的能力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技能缺口示例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我们发现自己也缺乏计划、监控、评估与调节的习惯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我们发现自己也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考完试不复盘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步骤四：总结三条核心认知（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430642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71243"/>
            <a:ext cx="7344816" cy="2991588"/>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认</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知一：元认知知识是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关于认知的知识</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策略性知识回答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用什么方法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，任务性知识回答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何时为何用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，自我性知识回答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我擅长什么、我想要什么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。三类知识共同构成学习者对自身认知的系统性认识。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认知二：元认知技能是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管理认知的能力</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计划、监控、评估与调节，四者构成元认知的完整循环。从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被要求反思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自主反思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，需要元认知技能的持续训练。</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认知三：</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视一切价值创造活动为学习机会</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的元认知逻辑。</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只学对保研有用的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把一切活动转化为有利于持续发展的能力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。元认知能力是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有利于持续发展的底层能力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，不依赖具体场景。从具体场景中提炼可迁移的策略原则，是元认知能力从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走向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的关键路径。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：学生在图纸或笔记本上记录三条核心认知，作为个人学习笔记。</a:t>
            </a:r>
          </a:p>
        </p:txBody>
      </p:sp>
    </p:spTree>
    <p:extLst>
      <p:ext uri="{BB962C8B-B14F-4D97-AF65-F5344CB8AC3E}">
        <p14:creationId xmlns:p14="http://schemas.microsoft.com/office/powerpoint/2010/main" val="40195960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707654"/>
            <a:ext cx="7056784" cy="3123932"/>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元认知知识三类</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（策略性、任务性、自我性）</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；元认知技能三维</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（计划、监控、评估与调节）</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；劝学策略与诊断缺口的对应关系</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；劝学策略的场景具象化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；从具体场景策略中提炼可迁移</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策略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；可衡量行动的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可观测性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目标学生画像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中提取元认知知识缺口的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能力；将元认知技能三维缺口与目标学生的具体行为建立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对应</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关系；从角色扮演的具体场景中提炼诊断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；劝学策略设计中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尊重自主性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有效引导</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平衡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；从具体场景策略中提炼可迁移</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策略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；可衡量行动的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可观测性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可执行性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统一</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矩形 8"/>
          <p:cNvSpPr/>
          <p:nvPr/>
        </p:nvSpPr>
        <p:spPr>
          <a:xfrm>
            <a:off x="899592" y="1136745"/>
            <a:ext cx="309634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rPr>
              <a:t>设计劝学方案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8798931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35646"/>
            <a:ext cx="7128792" cy="3056221"/>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创客训练营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课程学习反思报告的撰</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写</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元认知知识三类框架与元认知技能三维框架，对自身在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创客训练营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课程全周期中的学习经历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进行</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系统性反思，</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自己的元认知知识缺口与技能缺口，</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包含元认知知识自我诊断、元认知技能自我诊断、自我发展行动方案与反思陈述在内的《课程学习反思报告》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学生个体</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《课程学习反思报告》，该报告包含元认知知识自我诊断、元认知技能自我诊断、自我发展行动方案、课程学习元认知反思陈述四部分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《课程学习反思报告》的撰写。活动</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四个阶段。</a:t>
            </a:r>
          </a:p>
        </p:txBody>
      </p:sp>
    </p:spTree>
    <p:extLst>
      <p:ext uri="{BB962C8B-B14F-4D97-AF65-F5344CB8AC3E}">
        <p14:creationId xmlns:p14="http://schemas.microsoft.com/office/powerpoint/2010/main" val="6047045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71243"/>
            <a:ext cx="7344816" cy="1486882"/>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第一阶段：元认知知识自我诊断</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：运用元认知知识三类框架，对自身在课程中的学习经历进行诊断。</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辅助工具：</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KPT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复盘</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方法说明</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KPT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复盘模型的结构与应用方法如下：</a:t>
            </a: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3536884475"/>
              </p:ext>
            </p:extLst>
          </p:nvPr>
        </p:nvGraphicFramePr>
        <p:xfrm>
          <a:off x="359532" y="3215852"/>
          <a:ext cx="8208911" cy="1369570"/>
        </p:xfrm>
        <a:graphic>
          <a:graphicData uri="http://schemas.openxmlformats.org/drawingml/2006/table">
            <a:tbl>
              <a:tblPr firstRow="1" firstCol="1" bandRow="1">
                <a:tableStyleId>{5C22544A-7EE6-4342-B048-85BDC9FD1C3A}</a:tableStyleId>
              </a:tblPr>
              <a:tblGrid>
                <a:gridCol w="1008773">
                  <a:extLst>
                    <a:ext uri="{9D8B030D-6E8A-4147-A177-3AD203B41FA5}">
                      <a16:colId xmlns:a16="http://schemas.microsoft.com/office/drawing/2014/main" val="1914101662"/>
                    </a:ext>
                  </a:extLst>
                </a:gridCol>
                <a:gridCol w="2087570">
                  <a:extLst>
                    <a:ext uri="{9D8B030D-6E8A-4147-A177-3AD203B41FA5}">
                      <a16:colId xmlns:a16="http://schemas.microsoft.com/office/drawing/2014/main" val="1209153042"/>
                    </a:ext>
                  </a:extLst>
                </a:gridCol>
                <a:gridCol w="2736304">
                  <a:extLst>
                    <a:ext uri="{9D8B030D-6E8A-4147-A177-3AD203B41FA5}">
                      <a16:colId xmlns:a16="http://schemas.microsoft.com/office/drawing/2014/main" val="2737365304"/>
                    </a:ext>
                  </a:extLst>
                </a:gridCol>
                <a:gridCol w="2376264">
                  <a:extLst>
                    <a:ext uri="{9D8B030D-6E8A-4147-A177-3AD203B41FA5}">
                      <a16:colId xmlns:a16="http://schemas.microsoft.com/office/drawing/2014/main" val="293731273"/>
                    </a:ext>
                  </a:extLst>
                </a:gridCol>
              </a:tblGrid>
              <a:tr h="36145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含义</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引导问题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常见错误</a:t>
                      </a: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K</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Keep</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哪些做法有效，值得继续保持</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在课程中，我做了什么，结果很好？</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列出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团队合作很好</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等泛化表述</a:t>
                      </a:r>
                    </a:p>
                  </a:txBody>
                  <a:tcPr marL="72000" marR="72000" marT="36000" marB="36000" anchor="ctr"/>
                </a:tc>
                <a:extLst>
                  <a:ext uri="{0D108BD9-81ED-4DB2-BD59-A6C34878D82A}">
                    <a16:rowId xmlns:a16="http://schemas.microsoft.com/office/drawing/2014/main" val="3755180311"/>
                  </a:ext>
                </a:extLst>
              </a:tr>
              <a:tr h="36004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Problem</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哪些方面出现了问题或不足</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在课程中，我遇到了什么困难或失败？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只列问题不思改进</a:t>
                      </a:r>
                    </a:p>
                  </a:txBody>
                  <a:tcPr marL="72000" marR="72000" marT="36000" marB="36000" anchor="ctr"/>
                </a:tc>
                <a:extLst>
                  <a:ext uri="{0D108BD9-81ED-4DB2-BD59-A6C34878D82A}">
                    <a16:rowId xmlns:a16="http://schemas.microsoft.com/office/drawing/2014/main" val="3923666232"/>
                  </a:ext>
                </a:extLst>
              </a:tr>
              <a:tr h="36004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Try</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下次可以尝试什么不同的做法</a:t>
                      </a:r>
                    </a:p>
                  </a:txBody>
                  <a:tcPr marL="72000" marR="72000" marT="36000" marB="3600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基于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K</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P</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，我下次会怎么做？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加强沟通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等模糊措施</a:t>
                      </a:r>
                    </a:p>
                  </a:txBody>
                  <a:tcPr marL="72000" marR="72000" marT="36000" marB="36000" anchor="ctr"/>
                </a:tc>
                <a:extLst>
                  <a:ext uri="{0D108BD9-81ED-4DB2-BD59-A6C34878D82A}">
                    <a16:rowId xmlns:a16="http://schemas.microsoft.com/office/drawing/2014/main" val="2623981190"/>
                  </a:ext>
                </a:extLst>
              </a:tr>
            </a:tbl>
          </a:graphicData>
        </a:graphic>
      </p:graphicFrame>
      <p:sp>
        <p:nvSpPr>
          <p:cNvPr id="11" name="矩形 10"/>
          <p:cNvSpPr/>
          <p:nvPr/>
        </p:nvSpPr>
        <p:spPr>
          <a:xfrm>
            <a:off x="899592" y="4643149"/>
            <a:ext cx="7056784" cy="292709"/>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关键原则：</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每个条目必须有具体的事例支撑，避免</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团队合作很好</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时间管理需要改进</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等泛化表述</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97037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2730989"/>
            <a:ext cx="7344816" cy="591252"/>
          </a:xfrm>
          <a:prstGeom prst="rect">
            <a:avLst/>
          </a:prstGeom>
          <a:ln w="25400">
            <a:noFill/>
          </a:ln>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复盘完成后，将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K</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的内容作为诊断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策略性知识缺口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任务性知识缺口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自我性知识缺口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的行为证据。</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《元认知知识自我诊断表》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935596" y="1626863"/>
            <a:ext cx="7056784" cy="292709"/>
          </a:xfrm>
          <a:prstGeom prst="rect">
            <a:avLst/>
          </a:prstGeom>
        </p:spPr>
        <p:txBody>
          <a:bodyPr wrap="square">
            <a:spAutoFit/>
          </a:bodyPr>
          <a:lstStyle/>
          <a:p>
            <a:pPr algn="just">
              <a:lnSpc>
                <a:spcPct val="120000"/>
              </a:lnSpc>
              <a:spcBef>
                <a:spcPts val="600"/>
              </a:spcBef>
              <a:spcAft>
                <a:spcPts val="0"/>
              </a:spcAft>
            </a:pP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 KPT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复盘表</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0039988"/>
              </p:ext>
            </p:extLst>
          </p:nvPr>
        </p:nvGraphicFramePr>
        <p:xfrm>
          <a:off x="935596" y="1971586"/>
          <a:ext cx="7848872" cy="754511"/>
        </p:xfrm>
        <a:graphic>
          <a:graphicData uri="http://schemas.openxmlformats.org/drawingml/2006/table">
            <a:tbl>
              <a:tblPr firstRow="1" firstCol="1" bandRow="1">
                <a:tableStyleId>{5C22544A-7EE6-4342-B048-85BDC9FD1C3A}</a:tableStyleId>
              </a:tblPr>
              <a:tblGrid>
                <a:gridCol w="2448272">
                  <a:extLst>
                    <a:ext uri="{9D8B030D-6E8A-4147-A177-3AD203B41FA5}">
                      <a16:colId xmlns:a16="http://schemas.microsoft.com/office/drawing/2014/main" val="280743708"/>
                    </a:ext>
                  </a:extLst>
                </a:gridCol>
                <a:gridCol w="2736304">
                  <a:extLst>
                    <a:ext uri="{9D8B030D-6E8A-4147-A177-3AD203B41FA5}">
                      <a16:colId xmlns:a16="http://schemas.microsoft.com/office/drawing/2014/main" val="909094087"/>
                    </a:ext>
                  </a:extLst>
                </a:gridCol>
                <a:gridCol w="2664296">
                  <a:extLst>
                    <a:ext uri="{9D8B030D-6E8A-4147-A177-3AD203B41FA5}">
                      <a16:colId xmlns:a16="http://schemas.microsoft.com/office/drawing/2014/main" val="3786701437"/>
                    </a:ext>
                  </a:extLst>
                </a:gridCol>
              </a:tblGrid>
              <a:tr h="466479">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K</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Keep</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我使用了哪些有效的学习策略？</a:t>
                      </a:r>
                    </a:p>
                  </a:txBody>
                  <a:tcPr marL="68580" marR="68580" marT="0" marB="0" anchor="ctr"/>
                </a:tc>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Problem</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我在哪些方面遇到了困难或不足？</a:t>
                      </a:r>
                    </a:p>
                  </a:txBody>
                  <a:tcPr marL="68580" marR="68580" marT="0" marB="0" anchor="ctr"/>
                </a:tc>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Try</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下次我可以尝试什么不同的做法？</a:t>
                      </a:r>
                    </a:p>
                  </a:txBody>
                  <a:tcPr marL="68580" marR="68580" marT="0" marB="0" anchor="ctr"/>
                </a:tc>
                <a:extLst>
                  <a:ext uri="{0D108BD9-81ED-4DB2-BD59-A6C34878D82A}">
                    <a16:rowId xmlns:a16="http://schemas.microsoft.com/office/drawing/2014/main" val="943916239"/>
                  </a:ext>
                </a:extLst>
              </a:tr>
              <a:tr h="288032">
                <a:tc>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275334084"/>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067830687"/>
              </p:ext>
            </p:extLst>
          </p:nvPr>
        </p:nvGraphicFramePr>
        <p:xfrm>
          <a:off x="899592" y="3350694"/>
          <a:ext cx="7200800" cy="1525312"/>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1914101662"/>
                    </a:ext>
                  </a:extLst>
                </a:gridCol>
                <a:gridCol w="2880320">
                  <a:extLst>
                    <a:ext uri="{9D8B030D-6E8A-4147-A177-3AD203B41FA5}">
                      <a16:colId xmlns:a16="http://schemas.microsoft.com/office/drawing/2014/main" val="2008803654"/>
                    </a:ext>
                  </a:extLst>
                </a:gridCol>
                <a:gridCol w="1512168">
                  <a:extLst>
                    <a:ext uri="{9D8B030D-6E8A-4147-A177-3AD203B41FA5}">
                      <a16:colId xmlns:a16="http://schemas.microsoft.com/office/drawing/2014/main" val="1806864461"/>
                    </a:ext>
                  </a:extLst>
                </a:gridCol>
                <a:gridCol w="2088232">
                  <a:extLst>
                    <a:ext uri="{9D8B030D-6E8A-4147-A177-3AD203B41FA5}">
                      <a16:colId xmlns:a16="http://schemas.microsoft.com/office/drawing/2014/main" val="417739746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自我诊断</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行为证据（来自课程经历）</a:t>
                      </a:r>
                    </a:p>
                  </a:txBody>
                  <a:tcPr marL="68580" marR="68580" marT="0" marB="0" anchor="ctr"/>
                </a:tc>
                <a:extLst>
                  <a:ext uri="{0D108BD9-81ED-4DB2-BD59-A6C34878D82A}">
                    <a16:rowId xmlns:a16="http://schemas.microsoft.com/office/drawing/2014/main" val="174513558"/>
                  </a:ext>
                </a:extLst>
              </a:tr>
              <a:tr h="301176">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策略性知识缺</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我在课程中使用了哪些学习策略？</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360040">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这些策略在什么情境下有效？</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55180311"/>
                  </a:ext>
                </a:extLst>
              </a:tr>
              <a:tr h="144016">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这些策略在什么情境下失效？</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72521626"/>
                  </a:ext>
                </a:extLst>
              </a:tr>
              <a:tr h="3364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我缺失了什么关键策略？</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30293127"/>
                  </a:ext>
                </a:extLst>
              </a:tr>
            </a:tbl>
          </a:graphicData>
        </a:graphic>
      </p:graphicFrame>
    </p:spTree>
    <p:extLst>
      <p:ext uri="{BB962C8B-B14F-4D97-AF65-F5344CB8AC3E}">
        <p14:creationId xmlns:p14="http://schemas.microsoft.com/office/powerpoint/2010/main" val="2883363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827320763"/>
              </p:ext>
            </p:extLst>
          </p:nvPr>
        </p:nvGraphicFramePr>
        <p:xfrm>
          <a:off x="902544" y="1747900"/>
          <a:ext cx="7200800" cy="287100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1914101662"/>
                    </a:ext>
                  </a:extLst>
                </a:gridCol>
                <a:gridCol w="2880320">
                  <a:extLst>
                    <a:ext uri="{9D8B030D-6E8A-4147-A177-3AD203B41FA5}">
                      <a16:colId xmlns:a16="http://schemas.microsoft.com/office/drawing/2014/main" val="2008803654"/>
                    </a:ext>
                  </a:extLst>
                </a:gridCol>
                <a:gridCol w="1512168">
                  <a:extLst>
                    <a:ext uri="{9D8B030D-6E8A-4147-A177-3AD203B41FA5}">
                      <a16:colId xmlns:a16="http://schemas.microsoft.com/office/drawing/2014/main" val="1806864461"/>
                    </a:ext>
                  </a:extLst>
                </a:gridCol>
                <a:gridCol w="2088232">
                  <a:extLst>
                    <a:ext uri="{9D8B030D-6E8A-4147-A177-3AD203B41FA5}">
                      <a16:colId xmlns:a16="http://schemas.microsoft.com/office/drawing/2014/main" val="417739746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自我诊断</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行为证据（来自课程经历）</a:t>
                      </a:r>
                    </a:p>
                  </a:txBody>
                  <a:tcPr marL="68580" marR="68580" marT="0" marB="0" anchor="ctr"/>
                </a:tc>
                <a:extLst>
                  <a:ext uri="{0D108BD9-81ED-4DB2-BD59-A6C34878D82A}">
                    <a16:rowId xmlns:a16="http://schemas.microsoft.com/office/drawing/2014/main" val="174513558"/>
                  </a:ext>
                </a:extLst>
              </a:tr>
              <a:tr h="301176">
                <a:tc rowSpan="4">
                  <a:txBody>
                    <a:bodyPr/>
                    <a:lstStyle/>
                    <a:p>
                      <a:pPr marL="0" algn="ct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知识缺</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我如何理解不同学习任务的要求差异？</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360040">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这种理解是否准确？</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55180311"/>
                  </a:ext>
                </a:extLst>
              </a:tr>
              <a:tr h="144016">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我是否知道不同活动对认知能力的要求差异？</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72521626"/>
                  </a:ext>
                </a:extLst>
              </a:tr>
              <a:tr h="3364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我是否知道</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何时、为何使用何种策略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30293127"/>
                  </a:ext>
                </a:extLst>
              </a:tr>
              <a:tr h="336424">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性知识缺口</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我对自己的优势</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劣势判断是否准确？</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656578186"/>
                  </a:ext>
                </a:extLst>
              </a:tr>
              <a:tr h="3364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我是否存在自我认知偏差？</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53681375"/>
                  </a:ext>
                </a:extLst>
              </a:tr>
              <a:tr h="3364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我是否了解自己的真实兴趣与动机？</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67971530"/>
                  </a:ext>
                </a:extLst>
              </a:tr>
              <a:tr h="336424">
                <a:tc vMerge="1">
                  <a:txBody>
                    <a:bodyPr/>
                    <a:lstStyle/>
                    <a:p>
                      <a:pPr marL="0" algn="ctr" defTabSz="914400" rtl="0" eaLnBrk="1" latinLnBrk="0" hangingPunct="1">
                        <a:spcAft>
                          <a:spcPts val="0"/>
                        </a:spcAft>
                      </a:pP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我是否知道自己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在什么情况下容易放弃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484041760"/>
                  </a:ext>
                </a:extLst>
              </a:tr>
            </a:tbl>
          </a:graphicData>
        </a:graphic>
      </p:graphicFrame>
    </p:spTree>
    <p:extLst>
      <p:ext uri="{BB962C8B-B14F-4D97-AF65-F5344CB8AC3E}">
        <p14:creationId xmlns:p14="http://schemas.microsoft.com/office/powerpoint/2010/main" val="21704491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78626"/>
            <a:ext cx="7344816" cy="329936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在课程中，我有没有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用了某个策略但效果不好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以为某活动没用，后来发现其实有用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以为某活动很简单，做了才发现很难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以为自己感兴趣，但实际做了发现不喜欢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第二阶段：元认知技能自我诊断</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：运用元认知技能三维框架，对自身在课程中的学习行为进行诊断。</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辅助工具：</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5Why</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归因</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方法说明</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5Why</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归因法通过连续追问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，追溯问题的根本原因。其操作要点如下：</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从表象问题出发，连续追问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，通常追问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层，直至触及认知或行为层面的根本变</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化</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922089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78626"/>
            <a:ext cx="7344816" cy="1209562"/>
          </a:xfrm>
          <a:prstGeom prst="rect">
            <a:avLst/>
          </a:prstGeom>
          <a:ln w="25400">
            <a:noFill/>
          </a:ln>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一层追问应基于上一层的原因，逻辑连贯，避免跳跃</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根因应指向认知或行为层面的深层转变，而非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时间不够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不够努力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等表象原因</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5Why</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归因表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请选择一个你感受最深的技能缺口，用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5Why</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法追问根本原因：</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351818568"/>
              </p:ext>
            </p:extLst>
          </p:nvPr>
        </p:nvGraphicFramePr>
        <p:xfrm>
          <a:off x="899592" y="2946478"/>
          <a:ext cx="3780634" cy="1987818"/>
        </p:xfrm>
        <a:graphic>
          <a:graphicData uri="http://schemas.openxmlformats.org/drawingml/2006/table">
            <a:tbl>
              <a:tblPr firstRow="1" firstCol="1" bandRow="1">
                <a:tableStyleId>{5C22544A-7EE6-4342-B048-85BDC9FD1C3A}</a:tableStyleId>
              </a:tblPr>
              <a:tblGrid>
                <a:gridCol w="756298">
                  <a:extLst>
                    <a:ext uri="{9D8B030D-6E8A-4147-A177-3AD203B41FA5}">
                      <a16:colId xmlns:a16="http://schemas.microsoft.com/office/drawing/2014/main" val="1209153042"/>
                    </a:ext>
                  </a:extLst>
                </a:gridCol>
                <a:gridCol w="3024336">
                  <a:extLst>
                    <a:ext uri="{9D8B030D-6E8A-4147-A177-3AD203B41FA5}">
                      <a16:colId xmlns:a16="http://schemas.microsoft.com/office/drawing/2014/main" val="2737365304"/>
                    </a:ext>
                  </a:extLst>
                </a:gridCol>
              </a:tblGrid>
              <a:tr h="311657">
                <a:tc>
                  <a:txBody>
                    <a:bodyPr/>
                    <a:lstStyle/>
                    <a:p>
                      <a:pPr marL="0" algn="ctr" defTabSz="914400" rtl="0" eaLnBrk="1" latinLnBrk="0" hangingPunct="1">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追问层次</a:t>
                      </a:r>
                    </a:p>
                  </a:txBody>
                  <a:tcPr marL="72000" marR="72000" marT="36000" marB="36000" anchor="ctr"/>
                </a:tc>
                <a:tc>
                  <a:txBody>
                    <a:bodyPr/>
                    <a:lstStyle/>
                    <a:p>
                      <a:pPr marL="0" algn="ctr" defTabSz="914400" rtl="0" eaLnBrk="1" latinLnBrk="0" hangingPunct="1">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追问内容</a:t>
                      </a:r>
                    </a:p>
                  </a:txBody>
                  <a:tcPr marL="72000" marR="72000" marT="36000" marB="36000" anchor="ctr"/>
                </a:tc>
                <a:extLst>
                  <a:ext uri="{0D108BD9-81ED-4DB2-BD59-A6C34878D82A}">
                    <a16:rowId xmlns:a16="http://schemas.microsoft.com/office/drawing/2014/main" val="174513558"/>
                  </a:ext>
                </a:extLst>
              </a:tr>
              <a:tr h="361458">
                <a:tc>
                  <a:txBody>
                    <a:bodyPr/>
                    <a:lstStyle/>
                    <a:p>
                      <a:pPr marL="0" algn="ctr" defTabSz="914400" rtl="0" eaLnBrk="1" latinLnBrk="0" hangingPunct="1">
                        <a:spcAft>
                          <a:spcPts val="0"/>
                        </a:spcAft>
                      </a:pPr>
                      <a:r>
                        <a:rPr lang="en-US"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Why1</a:t>
                      </a:r>
                      <a:endPar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为什么会出现这个技能缺口？</a:t>
                      </a: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en-US"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Why2</a:t>
                      </a:r>
                      <a:endPar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为什么会出现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[Why1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的原因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755180311"/>
                  </a:ext>
                </a:extLst>
              </a:tr>
              <a:tr h="360040">
                <a:tc>
                  <a:txBody>
                    <a:bodyPr/>
                    <a:lstStyle/>
                    <a:p>
                      <a:pPr marL="0" algn="ctr" defTabSz="914400" rtl="0" eaLnBrk="1" latinLnBrk="0" hangingPunct="1">
                        <a:spcAft>
                          <a:spcPts val="0"/>
                        </a:spcAft>
                      </a:pPr>
                      <a:r>
                        <a:rPr lang="en-US"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Why3</a:t>
                      </a:r>
                      <a:endPar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为什么会出现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[Why2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的原因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923666232"/>
                  </a:ext>
                </a:extLst>
              </a:tr>
              <a:tr h="360040">
                <a:tc>
                  <a:txBody>
                    <a:bodyPr/>
                    <a:lstStyle/>
                    <a:p>
                      <a:pPr marL="0" algn="ctr" defTabSz="914400" rtl="0" eaLnBrk="1" latinLnBrk="0" hangingPunct="1">
                        <a:spcAft>
                          <a:spcPts val="0"/>
                        </a:spcAft>
                      </a:pPr>
                      <a:r>
                        <a:rPr lang="en-US"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Why4</a:t>
                      </a:r>
                      <a:endPar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为什么会出现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[Why3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的原因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2623981190"/>
                  </a:ext>
                </a:extLst>
              </a:tr>
              <a:tr h="306591">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根因</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Why4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中提炼的认知或行为层面的根本原因</a:t>
                      </a:r>
                    </a:p>
                  </a:txBody>
                  <a:tcPr marL="72000" marR="72000" marT="36000" marB="36000" anchor="ctr"/>
                </a:tc>
                <a:extLst>
                  <a:ext uri="{0D108BD9-81ED-4DB2-BD59-A6C34878D82A}">
                    <a16:rowId xmlns:a16="http://schemas.microsoft.com/office/drawing/2014/main" val="3581391431"/>
                  </a:ext>
                </a:extLst>
              </a:tr>
            </a:tbl>
          </a:graphicData>
        </a:graphic>
      </p:graphicFrame>
      <p:sp>
        <p:nvSpPr>
          <p:cNvPr id="2" name="矩形 1"/>
          <p:cNvSpPr/>
          <p:nvPr/>
        </p:nvSpPr>
        <p:spPr>
          <a:xfrm>
            <a:off x="4932040" y="3579862"/>
            <a:ext cx="3672408" cy="757130"/>
          </a:xfrm>
          <a:prstGeom prst="rect">
            <a:avLst/>
          </a:prstGeom>
        </p:spPr>
        <p:txBody>
          <a:bodyPr wrap="square">
            <a:spAutoFit/>
          </a:bodyPr>
          <a:lstStyle/>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归因完成后，将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5Why</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归因表中提到的课程经历作为诊断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计划技能缺口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监控技能缺口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评估与调节技能缺口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的行为证据，将根因作为诊断结论的参考。</a:t>
            </a:r>
          </a:p>
        </p:txBody>
      </p:sp>
    </p:spTree>
    <p:extLst>
      <p:ext uri="{BB962C8B-B14F-4D97-AF65-F5344CB8AC3E}">
        <p14:creationId xmlns:p14="http://schemas.microsoft.com/office/powerpoint/2010/main" val="3560873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27438"/>
            <a:ext cx="7344816" cy="292709"/>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元认知知识自我诊断表》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2894533926"/>
              </p:ext>
            </p:extLst>
          </p:nvPr>
        </p:nvGraphicFramePr>
        <p:xfrm>
          <a:off x="899592" y="1923678"/>
          <a:ext cx="7200800" cy="3240360"/>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1914101662"/>
                    </a:ext>
                  </a:extLst>
                </a:gridCol>
                <a:gridCol w="2880320">
                  <a:extLst>
                    <a:ext uri="{9D8B030D-6E8A-4147-A177-3AD203B41FA5}">
                      <a16:colId xmlns:a16="http://schemas.microsoft.com/office/drawing/2014/main" val="2008803654"/>
                    </a:ext>
                  </a:extLst>
                </a:gridCol>
                <a:gridCol w="1512168">
                  <a:extLst>
                    <a:ext uri="{9D8B030D-6E8A-4147-A177-3AD203B41FA5}">
                      <a16:colId xmlns:a16="http://schemas.microsoft.com/office/drawing/2014/main" val="1806864461"/>
                    </a:ext>
                  </a:extLst>
                </a:gridCol>
                <a:gridCol w="2088232">
                  <a:extLst>
                    <a:ext uri="{9D8B030D-6E8A-4147-A177-3AD203B41FA5}">
                      <a16:colId xmlns:a16="http://schemas.microsoft.com/office/drawing/2014/main" val="4177397467"/>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诊断问题</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自我诊断</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行为证据（来自课程经历）</a:t>
                      </a:r>
                    </a:p>
                  </a:txBody>
                  <a:tcPr marL="68580" marR="68580" marT="0" marB="0" anchor="ctr"/>
                </a:tc>
                <a:extLst>
                  <a:ext uri="{0D108BD9-81ED-4DB2-BD59-A6C34878D82A}">
                    <a16:rowId xmlns:a16="http://schemas.microsoft.com/office/drawing/2014/main" val="174513558"/>
                  </a:ext>
                </a:extLst>
              </a:tr>
              <a:tr h="216024">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p>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我在课程中是否有明确的学习目标？</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264416">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我是否制定了实现目标的计划？</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55180311"/>
                  </a:ext>
                </a:extLst>
              </a:tr>
              <a:tr h="144016">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我是否选择了合适的策略？</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72521626"/>
                  </a:ext>
                </a:extLst>
              </a:tr>
              <a:tr h="264416">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我是否合理分配了资源？</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30293127"/>
                  </a:ext>
                </a:extLst>
              </a:tr>
              <a:tr h="216024">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监控技能</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我在课程中是否追踪自己的理解程度？</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48684899"/>
                  </a:ext>
                </a:extLst>
              </a:tr>
              <a:tr h="192408">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我是否评估策略有效性？</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0147302"/>
                  </a:ext>
                </a:extLst>
              </a:tr>
              <a:tr h="168792">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我是否及时发现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方法无效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016167459"/>
                  </a:ext>
                </a:extLst>
              </a:tr>
              <a:tr h="21718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自我提问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的习惯？</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53668527"/>
                  </a:ext>
                </a:extLst>
              </a:tr>
              <a:tr h="193568">
                <a:tc rowSpan="4">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能</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我在课程结束后是否进行复盘？</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910693099"/>
                  </a:ext>
                </a:extLst>
              </a:tr>
              <a:tr h="241960">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我是否能从失败中提取有效信息？</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533616398"/>
                  </a:ext>
                </a:extLst>
              </a:tr>
              <a:tr h="216024">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我是否能根据评估结果调整策略？</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54626332"/>
                  </a:ext>
                </a:extLst>
              </a:tr>
              <a:tr h="264416">
                <a:tc vMerge="1">
                  <a:txBody>
                    <a:bodyPr/>
                    <a:lstStyle/>
                    <a:p>
                      <a:endParaRPr lang="zh-CN" altLang="en-US"/>
                    </a:p>
                  </a:txBody>
                  <a:tcP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我是否能将经验迁移到新情境？</a:t>
                      </a: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931573504"/>
                  </a:ext>
                </a:extLst>
              </a:tr>
            </a:tbl>
          </a:graphicData>
        </a:graphic>
      </p:graphicFrame>
    </p:spTree>
    <p:extLst>
      <p:ext uri="{BB962C8B-B14F-4D97-AF65-F5344CB8AC3E}">
        <p14:creationId xmlns:p14="http://schemas.microsoft.com/office/powerpoint/2010/main" val="7194266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27438"/>
            <a:ext cx="7344816" cy="2702278"/>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我在课程中有没有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定了计划但没执行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以为自己懂了，后来发现没懂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学到一半发现方法不对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我有没有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失败后换了个方法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的经历？当时是什么事？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第三阶段：自我发展行动方案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：基于前两阶段的诊断，设计针对自身元认知缺口的可衡量行动</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《自我发展行动表》 </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“我的具体场景”来自于课程经历</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447546655"/>
              </p:ext>
            </p:extLst>
          </p:nvPr>
        </p:nvGraphicFramePr>
        <p:xfrm>
          <a:off x="323528" y="4100489"/>
          <a:ext cx="8676480" cy="847525"/>
        </p:xfrm>
        <a:graphic>
          <a:graphicData uri="http://schemas.openxmlformats.org/drawingml/2006/table">
            <a:tbl>
              <a:tblPr firstRow="1" firstCol="1" bandRow="1">
                <a:tableStyleId>{5C22544A-7EE6-4342-B048-85BDC9FD1C3A}</a:tableStyleId>
              </a:tblPr>
              <a:tblGrid>
                <a:gridCol w="1030650">
                  <a:extLst>
                    <a:ext uri="{9D8B030D-6E8A-4147-A177-3AD203B41FA5}">
                      <a16:colId xmlns:a16="http://schemas.microsoft.com/office/drawing/2014/main" val="1914101662"/>
                    </a:ext>
                  </a:extLst>
                </a:gridCol>
                <a:gridCol w="1777662">
                  <a:extLst>
                    <a:ext uri="{9D8B030D-6E8A-4147-A177-3AD203B41FA5}">
                      <a16:colId xmlns:a16="http://schemas.microsoft.com/office/drawing/2014/main" val="2008803654"/>
                    </a:ext>
                  </a:extLst>
                </a:gridCol>
                <a:gridCol w="936104">
                  <a:extLst>
                    <a:ext uri="{9D8B030D-6E8A-4147-A177-3AD203B41FA5}">
                      <a16:colId xmlns:a16="http://schemas.microsoft.com/office/drawing/2014/main" val="1806864461"/>
                    </a:ext>
                  </a:extLst>
                </a:gridCol>
                <a:gridCol w="936104">
                  <a:extLst>
                    <a:ext uri="{9D8B030D-6E8A-4147-A177-3AD203B41FA5}">
                      <a16:colId xmlns:a16="http://schemas.microsoft.com/office/drawing/2014/main" val="4177397467"/>
                    </a:ext>
                  </a:extLst>
                </a:gridCol>
                <a:gridCol w="864096">
                  <a:extLst>
                    <a:ext uri="{9D8B030D-6E8A-4147-A177-3AD203B41FA5}">
                      <a16:colId xmlns:a16="http://schemas.microsoft.com/office/drawing/2014/main" val="1997137714"/>
                    </a:ext>
                  </a:extLst>
                </a:gridCol>
                <a:gridCol w="864096">
                  <a:extLst>
                    <a:ext uri="{9D8B030D-6E8A-4147-A177-3AD203B41FA5}">
                      <a16:colId xmlns:a16="http://schemas.microsoft.com/office/drawing/2014/main" val="2574851463"/>
                    </a:ext>
                  </a:extLst>
                </a:gridCol>
                <a:gridCol w="1080120">
                  <a:extLst>
                    <a:ext uri="{9D8B030D-6E8A-4147-A177-3AD203B41FA5}">
                      <a16:colId xmlns:a16="http://schemas.microsoft.com/office/drawing/2014/main" val="57431561"/>
                    </a:ext>
                  </a:extLst>
                </a:gridCol>
                <a:gridCol w="1187648">
                  <a:extLst>
                    <a:ext uri="{9D8B030D-6E8A-4147-A177-3AD203B41FA5}">
                      <a16:colId xmlns:a16="http://schemas.microsoft.com/office/drawing/2014/main" val="2063335641"/>
                    </a:ext>
                  </a:extLst>
                </a:gridCol>
              </a:tblGrid>
              <a:tr h="3446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对应缺口</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我的具体场景</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开始时间</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衡量标准</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备选方案</a:t>
                      </a:r>
                    </a:p>
                  </a:txBody>
                  <a:tcPr marL="68580" marR="68580" marT="0" marB="0" anchor="ctr" anchorCtr="1"/>
                </a:tc>
                <a:extLst>
                  <a:ext uri="{0D108BD9-81ED-4DB2-BD59-A6C34878D82A}">
                    <a16:rowId xmlns:a16="http://schemas.microsoft.com/office/drawing/2014/main" val="174513558"/>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性</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在设计思维工作坊中，我没有先访谈就画图，导致方案偏离用户需求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680227670"/>
                  </a:ext>
                </a:extLst>
              </a:tr>
            </a:tbl>
          </a:graphicData>
        </a:graphic>
      </p:graphicFrame>
    </p:spTree>
    <p:extLst>
      <p:ext uri="{BB962C8B-B14F-4D97-AF65-F5344CB8AC3E}">
        <p14:creationId xmlns:p14="http://schemas.microsoft.com/office/powerpoint/2010/main" val="37747990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645217323"/>
              </p:ext>
            </p:extLst>
          </p:nvPr>
        </p:nvGraphicFramePr>
        <p:xfrm>
          <a:off x="179512" y="1707654"/>
          <a:ext cx="8676480" cy="3384376"/>
        </p:xfrm>
        <a:graphic>
          <a:graphicData uri="http://schemas.openxmlformats.org/drawingml/2006/table">
            <a:tbl>
              <a:tblPr firstRow="1" firstCol="1" bandRow="1">
                <a:tableStyleId>{5C22544A-7EE6-4342-B048-85BDC9FD1C3A}</a:tableStyleId>
              </a:tblPr>
              <a:tblGrid>
                <a:gridCol w="1030650">
                  <a:extLst>
                    <a:ext uri="{9D8B030D-6E8A-4147-A177-3AD203B41FA5}">
                      <a16:colId xmlns:a16="http://schemas.microsoft.com/office/drawing/2014/main" val="1914101662"/>
                    </a:ext>
                  </a:extLst>
                </a:gridCol>
                <a:gridCol w="2137702">
                  <a:extLst>
                    <a:ext uri="{9D8B030D-6E8A-4147-A177-3AD203B41FA5}">
                      <a16:colId xmlns:a16="http://schemas.microsoft.com/office/drawing/2014/main" val="2008803654"/>
                    </a:ext>
                  </a:extLst>
                </a:gridCol>
                <a:gridCol w="1008112">
                  <a:extLst>
                    <a:ext uri="{9D8B030D-6E8A-4147-A177-3AD203B41FA5}">
                      <a16:colId xmlns:a16="http://schemas.microsoft.com/office/drawing/2014/main" val="1806864461"/>
                    </a:ext>
                  </a:extLst>
                </a:gridCol>
                <a:gridCol w="1008112">
                  <a:extLst>
                    <a:ext uri="{9D8B030D-6E8A-4147-A177-3AD203B41FA5}">
                      <a16:colId xmlns:a16="http://schemas.microsoft.com/office/drawing/2014/main" val="4177397467"/>
                    </a:ext>
                  </a:extLst>
                </a:gridCol>
                <a:gridCol w="792088">
                  <a:extLst>
                    <a:ext uri="{9D8B030D-6E8A-4147-A177-3AD203B41FA5}">
                      <a16:colId xmlns:a16="http://schemas.microsoft.com/office/drawing/2014/main" val="1997137714"/>
                    </a:ext>
                  </a:extLst>
                </a:gridCol>
                <a:gridCol w="792088">
                  <a:extLst>
                    <a:ext uri="{9D8B030D-6E8A-4147-A177-3AD203B41FA5}">
                      <a16:colId xmlns:a16="http://schemas.microsoft.com/office/drawing/2014/main" val="2574851463"/>
                    </a:ext>
                  </a:extLst>
                </a:gridCol>
                <a:gridCol w="864120">
                  <a:extLst>
                    <a:ext uri="{9D8B030D-6E8A-4147-A177-3AD203B41FA5}">
                      <a16:colId xmlns:a16="http://schemas.microsoft.com/office/drawing/2014/main" val="57431561"/>
                    </a:ext>
                  </a:extLst>
                </a:gridCol>
                <a:gridCol w="1043608">
                  <a:extLst>
                    <a:ext uri="{9D8B030D-6E8A-4147-A177-3AD203B41FA5}">
                      <a16:colId xmlns:a16="http://schemas.microsoft.com/office/drawing/2014/main" val="2063335641"/>
                    </a:ext>
                  </a:extLst>
                </a:gridCol>
              </a:tblGrid>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对应缺口</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我的具体场景</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行动</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开始时间</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衡量标准</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执行条件</a:t>
                      </a:r>
                    </a:p>
                  </a:txBody>
                  <a:tcPr marL="68580" marR="68580" marT="0" marB="0" anchor="ctr" anchorCtr="1"/>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备选方案</a:t>
                      </a:r>
                    </a:p>
                  </a:txBody>
                  <a:tcPr marL="68580" marR="68580" marT="0" marB="0" anchor="ctr" anchorCtr="1"/>
                </a:tc>
                <a:extLst>
                  <a:ext uri="{0D108BD9-81ED-4DB2-BD59-A6C34878D82A}">
                    <a16:rowId xmlns:a16="http://schemas.microsoft.com/office/drawing/2014/main" val="174513558"/>
                  </a:ext>
                </a:extLst>
              </a:tr>
              <a:tr h="79208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任务性知</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在创新方法工作坊中，我误以为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刷题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组织活动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是一回事，没有意识到两者训练的是不同能力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241383543"/>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自我性知</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识</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在选题评审中，我以为自己对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教育</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很感兴趣，但深入做下去发现其实并不喜欢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798010414"/>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计划技能缺口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在项目管理工作坊中，我制定了甘特图但没有按计划执行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333052879"/>
                  </a:ext>
                </a:extLst>
              </a:tr>
              <a:tr h="6480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监控技能缺口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在原型测试阶段，我以为自己理解了用户反馈，但实际并未真正掌握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11863867"/>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评估与调节技能缺口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在结题评审后，我没有复盘，直到写反思报告时才发现同样的问题重复出现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651875528"/>
                  </a:ext>
                </a:extLst>
              </a:tr>
            </a:tbl>
          </a:graphicData>
        </a:graphic>
      </p:graphicFrame>
    </p:spTree>
    <p:extLst>
      <p:ext uri="{BB962C8B-B14F-4D97-AF65-F5344CB8AC3E}">
        <p14:creationId xmlns:p14="http://schemas.microsoft.com/office/powerpoint/2010/main" val="10069575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27438"/>
            <a:ext cx="7344816" cy="292709"/>
          </a:xfrm>
          <a:prstGeom prst="rect">
            <a:avLst/>
          </a:prstGeom>
          <a:ln w="25400">
            <a:noFill/>
          </a:ln>
        </p:spPr>
        <p:txBody>
          <a:bodyPr wrap="square">
            <a:spAutoFit/>
          </a:bodyPr>
          <a:lstStyle/>
          <a:p>
            <a:pPr>
              <a:lnSpc>
                <a:spcPct val="120000"/>
              </a:lnSpc>
              <a:spcBef>
                <a:spcPts val="600"/>
              </a:spcBef>
            </a:pP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填写说明</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115231708"/>
              </p:ext>
            </p:extLst>
          </p:nvPr>
        </p:nvGraphicFramePr>
        <p:xfrm>
          <a:off x="899592" y="1949175"/>
          <a:ext cx="6552728" cy="2907591"/>
        </p:xfrm>
        <a:graphic>
          <a:graphicData uri="http://schemas.openxmlformats.org/drawingml/2006/table">
            <a:tbl>
              <a:tblPr firstRow="1" firstCol="1" bandRow="1">
                <a:tableStyleId>{5C22544A-7EE6-4342-B048-85BDC9FD1C3A}</a:tableStyleId>
              </a:tblPr>
              <a:tblGrid>
                <a:gridCol w="1080120">
                  <a:extLst>
                    <a:ext uri="{9D8B030D-6E8A-4147-A177-3AD203B41FA5}">
                      <a16:colId xmlns:a16="http://schemas.microsoft.com/office/drawing/2014/main" val="1209153042"/>
                    </a:ext>
                  </a:extLst>
                </a:gridCol>
                <a:gridCol w="5472608">
                  <a:extLst>
                    <a:ext uri="{9D8B030D-6E8A-4147-A177-3AD203B41FA5}">
                      <a16:colId xmlns:a16="http://schemas.microsoft.com/office/drawing/2014/main" val="2737365304"/>
                    </a:ext>
                  </a:extLst>
                </a:gridCol>
              </a:tblGrid>
              <a:tr h="311657">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栏目</a:t>
                      </a:r>
                    </a:p>
                  </a:txBody>
                  <a:tcPr marL="72000" marR="72000" marT="36000" marB="36000" anchor="ctr"/>
                </a:tc>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72000" marR="72000" marT="36000" marB="36000" anchor="ctr"/>
                </a:tc>
                <a:extLst>
                  <a:ext uri="{0D108BD9-81ED-4DB2-BD59-A6C34878D82A}">
                    <a16:rowId xmlns:a16="http://schemas.microsoft.com/office/drawing/2014/main" val="174513558"/>
                  </a:ext>
                </a:extLst>
              </a:tr>
              <a:tr h="361458">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对应缺口</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来自前两阶段诊断出的元认知知识缺口或技能缺口</a:t>
                      </a:r>
                    </a:p>
                  </a:txBody>
                  <a:tcPr marL="72000" marR="72000" marT="36000" marB="36000" anchor="ctr"/>
                </a:tc>
                <a:extLst>
                  <a:ext uri="{0D108BD9-81ED-4DB2-BD59-A6C34878D82A}">
                    <a16:rowId xmlns:a16="http://schemas.microsoft.com/office/drawing/2014/main" val="3845462762"/>
                  </a:ext>
                </a:extLst>
              </a:tr>
              <a:tr h="288032">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我的具体场景</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来自课程经历中的具体事件（如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在设计思维工作坊中，我没有先访谈就画图</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755180311"/>
                  </a:ext>
                </a:extLst>
              </a:tr>
              <a:tr h="360040">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行动</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将策略转化为具体行动（如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建立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先访谈后画图</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检查清单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923666232"/>
                  </a:ext>
                </a:extLst>
              </a:tr>
              <a:tr h="360040">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行动的具体操作方式，须围绕自身课程经历中的具体场景展开</a:t>
                      </a:r>
                    </a:p>
                  </a:txBody>
                  <a:tcPr marL="72000" marR="72000" marT="36000" marB="36000" anchor="ctr"/>
                </a:tc>
                <a:extLst>
                  <a:ext uri="{0D108BD9-81ED-4DB2-BD59-A6C34878D82A}">
                    <a16:rowId xmlns:a16="http://schemas.microsoft.com/office/drawing/2014/main" val="2623981190"/>
                  </a:ext>
                </a:extLst>
              </a:tr>
              <a:tr h="306591">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开始时间</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明确的时间点（如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下周一</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本周三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2740959037"/>
                  </a:ext>
                </a:extLst>
              </a:tr>
              <a:tr h="306591">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衡量标准</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可观测的完成标准（如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连续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周执行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495263729"/>
                  </a:ext>
                </a:extLst>
              </a:tr>
              <a:tr h="306591">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执行条件</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在什么条件下执行（如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每次设计工作坊开始前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3330615302"/>
                  </a:ext>
                </a:extLst>
              </a:tr>
              <a:tr h="306591">
                <a:tc>
                  <a:txBody>
                    <a:bodyPr/>
                    <a:lstStyle/>
                    <a:p>
                      <a:pPr marL="0" algn="ctr" defTabSz="914400" rtl="0" eaLnBrk="1" latinLnBrk="0" hangingPunct="1">
                        <a:spcAft>
                          <a:spcPts val="0"/>
                        </a:spcAft>
                      </a:pPr>
                      <a:r>
                        <a:rPr lang="zh-CN" sz="1100" b="1" kern="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备选方案</a:t>
                      </a:r>
                    </a:p>
                  </a:txBody>
                  <a:tcPr marL="72000" marR="72000" marT="36000" marB="3600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如果某天太忙无法执行，怎么办（如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若某天未执行，周末补做并记录原因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1190662426"/>
                  </a:ext>
                </a:extLst>
              </a:tr>
            </a:tbl>
          </a:graphicData>
        </a:graphic>
      </p:graphicFrame>
    </p:spTree>
    <p:extLst>
      <p:ext uri="{BB962C8B-B14F-4D97-AF65-F5344CB8AC3E}">
        <p14:creationId xmlns:p14="http://schemas.microsoft.com/office/powerpoint/2010/main" val="40534640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566815"/>
            <a:ext cx="7344816" cy="357668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这项行动对应的是哪个诊断缺口？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这项行动是否围绕我的课程经历中的具体场景？还是泛泛的通用行动？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这项行动的衡量标准是否可观测？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如果某天太忙，这项行动还能执行吗？备选方案是什么？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第四阶段：反思总结</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：撰写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课程学习元认知反思陈述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字以内），回答：</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通过本次课程学习，我对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自己如何学习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的理解发生了什么根本性变化？请用具体事例说明。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课程前，我以为自己是如何学习的？课程后，我发现自己实际上是如何学习的？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我最大的元认知发现是什么？请用课程中的具体事例说明。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这个发现将如何影响我未来的学习？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54649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723213"/>
            <a:ext cx="7200800" cy="2015936"/>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元认知知识三类框架的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自我</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应用；元认知技能三维框架的自我</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；从课程学习经历中提取元认知诊断的行为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；自我发展行动的可观测性</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项目经验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学习过程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的反思视角</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；区分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知识缺口</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技能缺口</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的自我</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诊断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能力；从课程经历中提取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能说明元认知缺口</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的具体行为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；自我发展行动中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执行条件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备选方案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课程</a:t>
            </a:r>
            <a:r>
              <a:rPr lang="zh-CN" altLang="zh-CN" sz="2400" b="1" smtClean="0">
                <a:solidFill>
                  <a:srgbClr val="FFFF00"/>
                </a:solidFill>
                <a:latin typeface="微软雅黑" panose="020B0503020204020204" pitchFamily="34" charset="-122"/>
                <a:ea typeface="微软雅黑" panose="020B0503020204020204" pitchFamily="34" charset="-122"/>
              </a:rPr>
              <a:t>学习</a:t>
            </a:r>
            <a:r>
              <a:rPr lang="zh-CN" altLang="en-US" sz="2400" b="1" smtClean="0">
                <a:solidFill>
                  <a:srgbClr val="FFFF00"/>
                </a:solidFill>
                <a:latin typeface="微软雅黑" panose="020B0503020204020204" pitchFamily="34" charset="-122"/>
                <a:ea typeface="微软雅黑" panose="020B0503020204020204" pitchFamily="34" charset="-122"/>
              </a:rPr>
              <a:t>反思</a:t>
            </a:r>
            <a:r>
              <a:rPr lang="zh-CN" altLang="zh-CN" sz="2400" b="1" smtClean="0">
                <a:solidFill>
                  <a:srgbClr val="FFFF00"/>
                </a:solidFill>
                <a:latin typeface="微软雅黑" panose="020B0503020204020204" pitchFamily="34" charset="-122"/>
                <a:ea typeface="微软雅黑" panose="020B0503020204020204" pitchFamily="34" charset="-122"/>
              </a:rPr>
              <a:t>报告</a:t>
            </a:r>
            <a:r>
              <a:rPr lang="zh-CN" altLang="en-US" sz="2400" b="1" smtClean="0">
                <a:solidFill>
                  <a:srgbClr val="FFFF00"/>
                </a:solidFill>
                <a:latin typeface="微软雅黑" panose="020B0503020204020204" pitchFamily="34" charset="-122"/>
                <a:ea typeface="微软雅黑" panose="020B0503020204020204" pitchFamily="34" charset="-122"/>
              </a:rPr>
              <a:t>的撰写</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010645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719293"/>
            <a:ext cx="7394669" cy="907941"/>
          </a:xfrm>
          <a:prstGeom prst="rect">
            <a:avLst/>
          </a:prstGeom>
          <a:ln w="25400">
            <a:noFill/>
          </a:ln>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 </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创</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客竞赛作品海报：</a:t>
            </a:r>
            <a:r>
              <a:rPr lang="en-US" altLang="zh-CN" sz="2000" b="1" smtClean="0">
                <a:latin typeface="Arial Black" panose="020B0A04020102020204" pitchFamily="34" charset="0"/>
                <a:ea typeface="仿宋" panose="02010609060101010101" pitchFamily="49" charset="-122"/>
                <a:cs typeface="Times New Roman" panose="02020603050405020304" pitchFamily="18" charset="0"/>
              </a:rPr>
              <a:t>1</a:t>
            </a:r>
            <a:r>
              <a:rPr lang="zh-CN" altLang="en-US" sz="2000" b="1">
                <a:latin typeface="Arial Black" panose="020B0A04020102020204" pitchFamily="34" charset="0"/>
                <a:ea typeface="仿宋" panose="02010609060101010101" pitchFamily="49" charset="-122"/>
                <a:cs typeface="Times New Roman" panose="02020603050405020304" pitchFamily="18" charset="0"/>
              </a:rPr>
              <a:t>份</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（电</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子版，竞赛团队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b="1">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课程学习反思报告</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2000" b="1" smtClean="0">
                <a:latin typeface="Arial Black" panose="020B0A04020102020204" pitchFamily="34" charset="0"/>
                <a:ea typeface="仿宋" panose="02010609060101010101" pitchFamily="49" charset="-122"/>
                <a:cs typeface="Times New Roman" panose="02020603050405020304" pitchFamily="18" charset="0"/>
              </a:rPr>
              <a:t>1</a:t>
            </a:r>
            <a:r>
              <a:rPr lang="zh-CN" altLang="en-US" sz="2000" b="1">
                <a:latin typeface="Arial Black" panose="020B0A04020102020204" pitchFamily="34" charset="0"/>
                <a:ea typeface="仿宋" panose="02010609060101010101" pitchFamily="49" charset="-122"/>
                <a:cs typeface="Times New Roman" panose="02020603050405020304" pitchFamily="18" charset="0"/>
              </a:rPr>
              <a:t>份</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（电子版，</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个体</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899592" y="2715766"/>
            <a:ext cx="7416824" cy="830997"/>
          </a:xfrm>
          <a:prstGeom prst="rect">
            <a:avLst/>
          </a:prstGeom>
        </p:spPr>
        <p:txBody>
          <a:bodyPr wrap="square">
            <a:spAutoFit/>
          </a:bodyPr>
          <a:lstStyle/>
          <a:p>
            <a:pPr>
              <a:lnSpc>
                <a:spcPct val="120000"/>
              </a:lnSpc>
              <a:spcBef>
                <a:spcPts val="600"/>
              </a:spcBef>
              <a:buClr>
                <a:srgbClr val="0070C0"/>
              </a:buClr>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09</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28</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22</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交</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微软雅黑" panose="020B0503020204020204" pitchFamily="34" charset="-122"/>
                <a:ea typeface="微软雅黑" panose="020B0503020204020204" pitchFamily="34" charset="-122"/>
              </a:rPr>
              <a:t>终身学习工作坊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endParaRPr lang="zh-CN" altLang="en-US" sz="1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任务清单及成果提交要求</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7612275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611560" y="987574"/>
            <a:ext cx="7975241" cy="1224136"/>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600" b="1" dirty="0">
                <a:solidFill>
                  <a:srgbClr val="C00000"/>
                </a:solidFill>
                <a:latin typeface="微软雅黑" panose="020B0503020204020204" pitchFamily="34" charset="-122"/>
                <a:ea typeface="微软雅黑" panose="020B0503020204020204" pitchFamily="34" charset="-122"/>
              </a:rPr>
              <a:t>元认知：反省与指导自己思维的过程！</a:t>
            </a:r>
            <a:endParaRPr lang="en-US" altLang="zh-CN" sz="3600" b="1" dirty="0">
              <a:solidFill>
                <a:srgbClr val="C00000"/>
              </a:solidFill>
              <a:latin typeface="微软雅黑" panose="020B0503020204020204" pitchFamily="34" charset="-122"/>
              <a:ea typeface="微软雅黑" panose="020B0503020204020204" pitchFamily="34" charset="-122"/>
            </a:endParaRPr>
          </a:p>
          <a:p>
            <a:pPr>
              <a:lnSpc>
                <a:spcPct val="120000"/>
              </a:lnSpc>
            </a:pPr>
            <a:r>
              <a:rPr lang="en-US" altLang="zh-CN" sz="2000" b="1"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(National Researh Council,2001,P.78)</a:t>
            </a:r>
            <a:endParaRPr lang="zh-CN" altLang="en-US" sz="2000" b="1"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标题 1"/>
          <p:cNvSpPr txBox="1">
            <a:spLocks/>
          </p:cNvSpPr>
          <p:nvPr/>
        </p:nvSpPr>
        <p:spPr>
          <a:xfrm>
            <a:off x="6454684" y="4299942"/>
            <a:ext cx="2064334" cy="556268"/>
          </a:xfrm>
          <a:prstGeom prst="rect">
            <a:avLst/>
          </a:prstGeom>
          <a:ln w="25400">
            <a:noFill/>
          </a:ln>
        </p:spPr>
        <p:txBody>
          <a:bodyPr lIns="91430" tIns="45715" rIns="91430"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296">
              <a:lnSpc>
                <a:spcPct val="120000"/>
              </a:lnSpc>
              <a:spcBef>
                <a:spcPts val="600"/>
              </a:spcBef>
              <a:defRPr/>
            </a:pPr>
            <a:r>
              <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课件中的未标明出处的图片均</a:t>
            </a:r>
            <a:r>
              <a:rPr lang="zh-CN" altLang="en-US" sz="1200" b="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来</a:t>
            </a:r>
            <a:r>
              <a:rPr lang="zh-CN" altLang="en-US" sz="1200" b="1" smtClean="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自</a:t>
            </a:r>
            <a:r>
              <a:rPr lang="zh-CN" altLang="en-US" sz="1200" b="1" smtClean="0">
                <a:solidFill>
                  <a:srgbClr val="0070C0"/>
                </a:solidFill>
                <a:latin typeface="Times New Roman" panose="02020603050405020304" pitchFamily="18" charset="0"/>
                <a:ea typeface="微软雅黑" panose="020B0503020204020204" pitchFamily="34" charset="-122"/>
              </a:rPr>
              <a:t>网</a:t>
            </a:r>
            <a:r>
              <a:rPr lang="zh-CN" altLang="en-US" sz="1200" b="1">
                <a:solidFill>
                  <a:srgbClr val="0070C0"/>
                </a:solidFill>
                <a:latin typeface="Times New Roman" panose="02020603050405020304" pitchFamily="18" charset="0"/>
                <a:ea typeface="微软雅黑" panose="020B0503020204020204" pitchFamily="34" charset="-122"/>
              </a:rPr>
              <a:t>络，仅供教学使用</a:t>
            </a:r>
            <a:endPar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770653" y="2240162"/>
            <a:ext cx="7657053" cy="1169551"/>
          </a:xfrm>
          <a:prstGeom prst="rect">
            <a:avLst/>
          </a:prstGeom>
        </p:spPr>
        <p:txBody>
          <a:bodyPr wrap="square">
            <a:spAutoFit/>
          </a:bodyPr>
          <a:lstStyle/>
          <a:p>
            <a:pPr algn="ctr">
              <a:spcBef>
                <a:spcPts val="600"/>
              </a:spcBef>
            </a:pPr>
            <a:r>
              <a:rPr lang="zh-CN" altLang="en-US" sz="2000" b="1">
                <a:latin typeface="仿宋" panose="02010609060101010101" pitchFamily="49" charset="-122"/>
                <a:ea typeface="仿宋" panose="02010609060101010101" pitchFamily="49" charset="-122"/>
              </a:rPr>
              <a:t>想得清楚，就应该</a:t>
            </a:r>
            <a:r>
              <a:rPr lang="zh-CN" altLang="en-US" sz="2000" b="1" smtClean="0">
                <a:latin typeface="仿宋" panose="02010609060101010101" pitchFamily="49" charset="-122"/>
                <a:ea typeface="仿宋" panose="02010609060101010101" pitchFamily="49" charset="-122"/>
              </a:rPr>
              <a:t>说（写、做）得</a:t>
            </a:r>
            <a:r>
              <a:rPr lang="zh-CN" altLang="en-US" sz="2000" b="1">
                <a:latin typeface="仿宋" panose="02010609060101010101" pitchFamily="49" charset="-122"/>
                <a:ea typeface="仿宋" panose="02010609060101010101" pitchFamily="49" charset="-122"/>
              </a:rPr>
              <a:t>清楚，反之亦然</a:t>
            </a:r>
            <a:endParaRPr lang="en-US" altLang="zh-CN" sz="2000" b="1">
              <a:latin typeface="仿宋" panose="02010609060101010101" pitchFamily="49" charset="-122"/>
              <a:ea typeface="仿宋" panose="02010609060101010101" pitchFamily="49" charset="-122"/>
            </a:endParaRPr>
          </a:p>
          <a:p>
            <a:pPr algn="ctr">
              <a:spcBef>
                <a:spcPts val="600"/>
              </a:spcBef>
            </a:pPr>
            <a:r>
              <a:rPr lang="zh-CN" altLang="en-US" sz="2000" b="1">
                <a:latin typeface="仿宋" panose="02010609060101010101" pitchFamily="49" charset="-122"/>
                <a:ea typeface="仿宋" panose="02010609060101010101" pitchFamily="49" charset="-122"/>
              </a:rPr>
              <a:t>想得清楚之前，必须认知清楚</a:t>
            </a:r>
            <a:endParaRPr lang="en-US" altLang="zh-CN" sz="2000" b="1">
              <a:latin typeface="仿宋" panose="02010609060101010101" pitchFamily="49" charset="-122"/>
              <a:ea typeface="仿宋" panose="02010609060101010101" pitchFamily="49" charset="-122"/>
            </a:endParaRPr>
          </a:p>
          <a:p>
            <a:pPr algn="ctr">
              <a:spcBef>
                <a:spcPts val="600"/>
              </a:spcBef>
            </a:pPr>
            <a:r>
              <a:rPr lang="zh-CN" altLang="zh-CN" sz="2000" b="1">
                <a:latin typeface="仿宋" panose="02010609060101010101" pitchFamily="49" charset="-122"/>
                <a:ea typeface="仿宋" panose="02010609060101010101" pitchFamily="49" charset="-122"/>
              </a:rPr>
              <a:t>知</a:t>
            </a:r>
            <a:r>
              <a:rPr lang="zh-CN" altLang="zh-CN" sz="2000" b="1" smtClean="0">
                <a:latin typeface="仿宋" panose="02010609060101010101" pitchFamily="49" charset="-122"/>
                <a:ea typeface="仿宋" panose="02010609060101010101" pitchFamily="49" charset="-122"/>
              </a:rPr>
              <a:t>道</a:t>
            </a:r>
            <a:r>
              <a:rPr lang="zh-CN" altLang="en-US" sz="2000" b="1" smtClean="0">
                <a:latin typeface="仿宋" panose="02010609060101010101" pitchFamily="49" charset="-122"/>
                <a:ea typeface="仿宋" panose="02010609060101010101" pitchFamily="49" charset="-122"/>
              </a:rPr>
              <a:t>：</a:t>
            </a:r>
            <a:r>
              <a:rPr lang="zh-CN" altLang="zh-CN" sz="2000" b="1" smtClean="0">
                <a:latin typeface="仿宋" panose="02010609060101010101" pitchFamily="49" charset="-122"/>
                <a:ea typeface="仿宋" panose="02010609060101010101" pitchFamily="49" charset="-122"/>
              </a:rPr>
              <a:t>我</a:t>
            </a:r>
            <a:r>
              <a:rPr lang="zh-CN" altLang="zh-CN" sz="2000" b="1">
                <a:latin typeface="仿宋" panose="02010609060101010101" pitchFamily="49" charset="-122"/>
                <a:ea typeface="仿宋" panose="02010609060101010101" pitchFamily="49" charset="-122"/>
              </a:rPr>
              <a:t>擅长什么、我想要什</a:t>
            </a:r>
            <a:r>
              <a:rPr lang="zh-CN" altLang="zh-CN" sz="2000" b="1" smtClean="0">
                <a:latin typeface="仿宋" panose="02010609060101010101" pitchFamily="49" charset="-122"/>
                <a:ea typeface="仿宋" panose="02010609060101010101" pitchFamily="49" charset="-122"/>
              </a:rPr>
              <a:t>么</a:t>
            </a:r>
            <a:r>
              <a:rPr lang="zh-CN" altLang="en-US" sz="2000" b="1" smtClean="0">
                <a:latin typeface="仿宋" panose="02010609060101010101" pitchFamily="49" charset="-122"/>
                <a:ea typeface="仿宋" panose="02010609060101010101" pitchFamily="49" charset="-122"/>
              </a:rPr>
              <a:t>，</a:t>
            </a:r>
            <a:r>
              <a:rPr lang="zh-CN" altLang="zh-CN" sz="2000" b="1" smtClean="0">
                <a:latin typeface="仿宋" panose="02010609060101010101" pitchFamily="49" charset="-122"/>
                <a:ea typeface="仿宋" panose="02010609060101010101" pitchFamily="49" charset="-122"/>
              </a:rPr>
              <a:t>用</a:t>
            </a:r>
            <a:r>
              <a:rPr lang="zh-CN" altLang="zh-CN" sz="2000" b="1">
                <a:latin typeface="仿宋" panose="02010609060101010101" pitchFamily="49" charset="-122"/>
                <a:ea typeface="仿宋" panose="02010609060101010101" pitchFamily="49" charset="-122"/>
              </a:rPr>
              <a:t>什么方</a:t>
            </a:r>
            <a:r>
              <a:rPr lang="zh-CN" altLang="zh-CN" sz="2000" b="1" smtClean="0">
                <a:latin typeface="仿宋" panose="02010609060101010101" pitchFamily="49" charset="-122"/>
                <a:ea typeface="仿宋" panose="02010609060101010101" pitchFamily="49" charset="-122"/>
              </a:rPr>
              <a:t>法</a:t>
            </a:r>
            <a:r>
              <a:rPr lang="zh-CN" altLang="en-US" sz="2000" b="1" smtClean="0">
                <a:latin typeface="仿宋" panose="02010609060101010101" pitchFamily="49" charset="-122"/>
                <a:ea typeface="仿宋" panose="02010609060101010101" pitchFamily="49" charset="-122"/>
              </a:rPr>
              <a:t>，</a:t>
            </a:r>
            <a:r>
              <a:rPr lang="zh-CN" altLang="zh-CN" sz="2000" b="1" smtClean="0">
                <a:latin typeface="仿宋" panose="02010609060101010101" pitchFamily="49" charset="-122"/>
                <a:ea typeface="仿宋" panose="02010609060101010101" pitchFamily="49" charset="-122"/>
              </a:rPr>
              <a:t>何</a:t>
            </a:r>
            <a:r>
              <a:rPr lang="zh-CN" altLang="zh-CN" sz="2000" b="1">
                <a:latin typeface="仿宋" panose="02010609060101010101" pitchFamily="49" charset="-122"/>
                <a:ea typeface="仿宋" panose="02010609060101010101" pitchFamily="49" charset="-122"/>
              </a:rPr>
              <a:t>时为何使</a:t>
            </a:r>
            <a:r>
              <a:rPr lang="zh-CN" altLang="zh-CN" sz="2000" b="1" smtClean="0">
                <a:latin typeface="仿宋" panose="02010609060101010101" pitchFamily="49" charset="-122"/>
                <a:ea typeface="仿宋" panose="02010609060101010101" pitchFamily="49" charset="-122"/>
              </a:rPr>
              <a:t>用</a:t>
            </a:r>
            <a:endParaRPr lang="zh-CN" altLang="en-US" sz="2000" b="1">
              <a:latin typeface="仿宋" panose="02010609060101010101" pitchFamily="49" charset="-122"/>
              <a:ea typeface="仿宋" panose="02010609060101010101" pitchFamily="49" charset="-122"/>
            </a:endParaRPr>
          </a:p>
        </p:txBody>
      </p:sp>
      <p:sp>
        <p:nvSpPr>
          <p:cNvPr id="6" name="矩形 5"/>
          <p:cNvSpPr/>
          <p:nvPr/>
        </p:nvSpPr>
        <p:spPr>
          <a:xfrm>
            <a:off x="861965" y="3637691"/>
            <a:ext cx="7657053" cy="523220"/>
          </a:xfrm>
          <a:prstGeom prst="rect">
            <a:avLst/>
          </a:prstGeom>
        </p:spPr>
        <p:txBody>
          <a:bodyPr wrap="square">
            <a:spAutoFit/>
          </a:bodyPr>
          <a:lstStyle/>
          <a:p>
            <a:r>
              <a:rPr lang="zh-CN" altLang="en-US" sz="2800" b="1">
                <a:solidFill>
                  <a:srgbClr val="C00000"/>
                </a:solidFill>
                <a:latin typeface="微软雅黑" panose="020B0503020204020204" pitchFamily="34" charset="-122"/>
                <a:ea typeface="微软雅黑" panose="020B0503020204020204" pitchFamily="34" charset="-122"/>
              </a:rPr>
              <a:t>我们要对自己的知识和思维多一些意识与责任！</a:t>
            </a:r>
            <a:endParaRPr lang="zh-CN" altLang="en-US" sz="2800">
              <a:solidFill>
                <a:srgbClr val="C00000"/>
              </a:solidFill>
            </a:endParaRPr>
          </a:p>
        </p:txBody>
      </p:sp>
    </p:spTree>
    <p:extLst>
      <p:ext uri="{BB962C8B-B14F-4D97-AF65-F5344CB8AC3E}">
        <p14:creationId xmlns:p14="http://schemas.microsoft.com/office/powerpoint/2010/main" val="31828153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25268</TotalTime>
  <Words>23385</Words>
  <Application>Microsoft Office PowerPoint</Application>
  <PresentationFormat>全屏显示(16:9)</PresentationFormat>
  <Paragraphs>1385</Paragraphs>
  <Slides>75</Slides>
  <Notes>71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75</vt:i4>
      </vt:variant>
    </vt:vector>
  </HeadingPairs>
  <TitlesOfParts>
    <vt:vector size="85" baseType="lpstr">
      <vt:lpstr>等线</vt:lpstr>
      <vt:lpstr>仿宋</vt:lpstr>
      <vt:lpstr>宋体</vt:lpstr>
      <vt:lpstr>微软雅黑</vt:lpstr>
      <vt:lpstr>Arial</vt:lpstr>
      <vt:lpstr>Arial Black</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AutoBVT</dc:creator>
  <cp:lastModifiedBy>hp</cp:lastModifiedBy>
  <cp:revision>688</cp:revision>
  <cp:lastPrinted>2026-09-19T08:49:28Z</cp:lastPrinted>
  <dcterms:created xsi:type="dcterms:W3CDTF">2018-11-04T09:21:11Z</dcterms:created>
  <dcterms:modified xsi:type="dcterms:W3CDTF">2026-09-24T02:49:43Z</dcterms:modified>
</cp:coreProperties>
</file>