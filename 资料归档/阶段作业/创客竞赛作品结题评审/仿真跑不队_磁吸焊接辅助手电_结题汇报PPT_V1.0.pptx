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仪表盘数据来源：中期汇报第 8 页仪表盘（2026-10-06）+ 结题阶段测试记录（2026-10-20）</a:t>
            </a:r>
          </a:p>
          <a:p>
            <a:r>
              <a:t>三阶段并列呈现的目的：让评委看到趋势而非终点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未达预期两项均已给出归因与改进计划（见体验式学习页与可持续转化页）</a:t>
            </a:r>
          </a:p>
          <a:p>
            <a:r>
              <a:t>决策说明：基于任务完成率未达标 → 决策为“先补引导，不加硬件功能”，避免用堆功能掩盖体验问题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主动性的关键不是“加班”，而是不等指派、自己找替代路径：三项行动全部由团队成员自行发起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“状态显示从卖点降级”是本轮最反直觉的主动决策：放弃一个看起来漂亮的卖点，换回成本与用户体验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风险阈值的设定依据：温升 60℃ 来自锂电与手部安全边界；单次试错 ¥500 来自 MVC 原则的 5 倍上限</a:t>
            </a:r>
          </a:p>
          <a:p>
            <a:r>
              <a:t>两条触发记录均为真实事件，不是预案演练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时间戳证据链：18:30 记录 → 21:40 决策 → 10-16~18 执行 → 10-19 复测，四个节点均可追溯到原始文件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图谱的四个环节缺一不可：失败事件（做了什么）→ 归因（为什么）→ 新认知（学到了什么）→ 新指标（改进了什么）</a:t>
            </a:r>
          </a:p>
          <a:p>
            <a:r>
              <a:t>两条链的根因都落在方法层面而非资源层面，这是我们本轮最重要的自我诊断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认知跃迁声明（每位成员一份，含量化偏差率）见结题报告第三章 3.4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动态调整的依据是任务状态看板：每周两日站会时按卡点重新分配 R，而非按原计划固守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贡献值口径公开透明：难度系数由三人共同评定（1–5），完成质量取任务验收通过率，协作系数取互评均值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产出计数口径：同一份问卷在“用户验证数据”只计 1 项，避免重复计数</a:t>
            </a:r>
          </a:p>
          <a:p>
            <a:r>
              <a:t>投入总成本 ¥8,370 = 现金 ¥5,310 + 外部资源估值 ¥3,060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杠杆率 = 置换获得资源的市场估值 ÷ 团队为此投入的成本（按 ¥25/人时折算）</a:t>
            </a:r>
          </a:p>
          <a:p>
            <a:r>
              <a:t>最强案例：6 人时自学专利检索（¥150）替代市场价 ¥1,500 的代理检索，杠杆率 10.0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路径选择依据：功能闭环完成 + 已有真实订单 → 属“成品/准成品”团队，故走路径 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替代方案的共同原则：先保住交付与验证能力，再谈规模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三个问题分别对应“结果挑战 / 过程质疑 / 认知追问”，避免安全型问题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三类证据的划分依据：过程性 = 记录“怎么做的”；结果性 = 记录“产生了什么”；认知性 = 记录“学到了什么”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6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2761488"/>
            <a:ext cx="12191695" cy="54864"/>
          </a:xfrm>
          <a:prstGeom prst="roundRect">
            <a:avLst>
              <a:gd name="adj" fmla="val 6000"/>
            </a:avLst>
          </a:prstGeom>
          <a:solidFill>
            <a:srgbClr val="227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89888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微软雅黑"/>
                <a:ea typeface="微软雅黑"/>
              </a:rPr>
              <a:t>创客竞赛作品结题汇报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29968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C9D6E6"/>
                </a:solidFill>
                <a:latin typeface="微软雅黑"/>
                <a:ea typeface="微软雅黑"/>
              </a:rPr>
              <a:t>磁吸焊接辅助手电 —— 一吸即用、指哪照哪的焊接照明工具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72384"/>
            <a:ext cx="103327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>
                <a:solidFill>
                  <a:srgbClr val="FFFFFF"/>
                </a:solidFill>
                <a:latin typeface="微软雅黑"/>
                <a:ea typeface="微软雅黑"/>
              </a:rPr>
              <a:t>团队名称：1班C组 · 仿真跑不队</a:t>
            </a:r>
          </a:p>
          <a:p>
            <a:pPr algn="l">
              <a:lnSpc>
                <a:spcPct val="150000"/>
              </a:lnSpc>
            </a:pPr>
            <a:r>
              <a:rPr sz="1450" b="0">
                <a:solidFill>
                  <a:srgbClr val="FFFFFF"/>
                </a:solidFill>
                <a:latin typeface="微软雅黑"/>
                <a:ea typeface="微软雅黑"/>
              </a:rPr>
              <a:t>成员与角色（RACI-V）：邵子中 — 负责人 / 经济模型·固件·材料统筹（A）</a:t>
            </a:r>
          </a:p>
          <a:p>
            <a:pPr algn="l">
              <a:lnSpc>
                <a:spcPct val="150000"/>
              </a:lnSpc>
            </a:pPr>
            <a:r>
              <a:rPr sz="1450" b="0">
                <a:solidFill>
                  <a:srgbClr val="FFFFFF"/>
                </a:solidFill>
                <a:latin typeface="微软雅黑"/>
                <a:ea typeface="微软雅黑"/>
              </a:rPr>
              <a:t>　　　　　　　　　　　　李昊桐 — 焊接工艺·实测与可靠性（R）　姜亚楷 — B 端对接·财务监督（R）</a:t>
            </a:r>
          </a:p>
          <a:p>
            <a:pPr algn="l">
              <a:lnSpc>
                <a:spcPct val="150000"/>
              </a:lnSpc>
            </a:pPr>
            <a:r>
              <a:rPr sz="1450" b="0">
                <a:solidFill>
                  <a:srgbClr val="FFFFFF"/>
                </a:solidFill>
                <a:latin typeface="微软雅黑"/>
                <a:ea typeface="微软雅黑"/>
              </a:rPr>
              <a:t>汇报日期：2026 年 10 月 22 日　|　版本：结题汇报 PPT V1.0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30368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9FB4CE"/>
                </a:solidFill>
                <a:latin typeface="微软雅黑"/>
                <a:ea typeface="微软雅黑"/>
              </a:rPr>
              <a:t>本次汇报以「实际行动」领域五项能力为线索，回答三个问题：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9FB4CE"/>
                </a:solidFill>
                <a:latin typeface="微软雅黑"/>
                <a:ea typeface="微软雅黑"/>
              </a:rPr>
              <a:t>① 从选题到结题经历了哪些关键挑战　② 采取了什么行动、动用了什么资源　③ 产生了什么可验证的成果与认知变化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6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3B63"/>
                </a:solidFill>
                <a:latin typeface="微软雅黑"/>
                <a:ea typeface="微软雅黑"/>
              </a:rPr>
              <a:t>价值验证全景图（一）：三阶段核心指标轨迹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7F57"/>
                </a:solidFill>
                <a:latin typeface="微软雅黑"/>
                <a:ea typeface="微软雅黑"/>
              </a:rPr>
              <a:t>EntreComp「实际行动」映射：计划与管理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607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484"/>
                </a:solidFill>
                <a:latin typeface="微软雅黑"/>
                <a:ea typeface="微软雅黑"/>
              </a:rPr>
              <a:t>选题 → 中期 → 结题三节点连续变化 + 计划目标线（数据均可追溯至原始记录）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83096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484"/>
                </a:solidFill>
                <a:latin typeface="微软雅黑"/>
                <a:ea typeface="微软雅黑"/>
              </a:rPr>
              <a:t>仿真跑不队 · 磁吸焊接辅助手电 · 结题汇报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8309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F3B63"/>
                </a:solidFill>
                <a:latin typeface="微软雅黑"/>
                <a:ea typeface="微软雅黑"/>
              </a:rPr>
              <a:t>2</a:t>
            </a:r>
          </a:p>
        </p:txBody>
      </p:sp>
      <p:pic>
        <p:nvPicPr>
          <p:cNvPr id="8" name="Picture 7" descr="图A_三阶段指标轨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81328"/>
            <a:ext cx="11155680" cy="3362807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4590288"/>
          <a:ext cx="11155680" cy="1956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896112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三类对比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关键数据（本期必须呈现）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中期 vs 结题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有效验证数据 157 → 312（＋98.7%）；任务完成率 50% → 78%（＋56%）；意向金支付率 32.3% → 37.3%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计划 vs 实际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达标 3 项（任务按时完成率 96%≥95%、温升 49℃≤60℃、NPS 42≥40）；未达 2 项（任务完成率 78%&lt;85%、单位变动成本 ¥43.0&gt;¥40）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团队均值 vs 最优值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任务完成率均值 78% vs 最优 92%（差 14pp）；单位变动成本均值 ¥43.0 vs 最优 ¥39.6（差 ¥3.4）；完成率均值 96% vs 最优 100%（差 4pp）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632764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微软雅黑"/>
                <a:ea typeface="微软雅黑"/>
              </a:rPr>
              <a:t>每项指标的验证方式与原始记录编号见本页附录（E-01 ~ E-14）。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6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3B63"/>
                </a:solidFill>
                <a:latin typeface="微软雅黑"/>
                <a:ea typeface="微软雅黑"/>
              </a:rPr>
              <a:t>价值验证全景图（二）：计划 vs 实际、均值 vs 最优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7F57"/>
                </a:solidFill>
                <a:latin typeface="微软雅黑"/>
                <a:ea typeface="微软雅黑"/>
              </a:rPr>
              <a:t>EntreComp「实际行动」映射：计划与管理 + 体验式学习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607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484"/>
                </a:solidFill>
                <a:latin typeface="微软雅黑"/>
                <a:ea typeface="微软雅黑"/>
              </a:rPr>
              <a:t>执行偏差与能力分布——两项未达预期指标不回避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83096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484"/>
                </a:solidFill>
                <a:latin typeface="微软雅黑"/>
                <a:ea typeface="微软雅黑"/>
              </a:rPr>
              <a:t>仿真跑不队 · 磁吸焊接辅助手电 · 结题汇报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8309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F3B63"/>
                </a:solidFill>
                <a:latin typeface="微软雅黑"/>
                <a:ea typeface="微软雅黑"/>
              </a:rPr>
              <a:t>3</a:t>
            </a:r>
          </a:p>
        </p:txBody>
      </p:sp>
      <p:pic>
        <p:nvPicPr>
          <p:cNvPr id="8" name="Picture 7" descr="图B_计划与实际对比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928" y="1389888"/>
            <a:ext cx="8778240" cy="3136178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4590288"/>
          <a:ext cx="11155680" cy="1773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920240"/>
                <a:gridCol w="1280160"/>
                <a:gridCol w="1097280"/>
                <a:gridCol w="1737360"/>
                <a:gridCol w="292608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指标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计划（结题目标）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实际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偏差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判定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偏差归因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用户任务完成率</a:t>
                      </a:r>
                    </a:p>
                  </a:txBody>
                  <a:tcPr anchor="ctr" marL="54864" marR="54864" marT="18288" marB="18288">
                    <a:solidFill>
                      <a:srgbClr val="FBE4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85%</a:t>
                      </a:r>
                    </a:p>
                  </a:txBody>
                  <a:tcPr anchor="ctr" marL="54864" marR="54864" marT="18288" marB="18288">
                    <a:solidFill>
                      <a:srgbClr val="FBE4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78%</a:t>
                      </a:r>
                    </a:p>
                  </a:txBody>
                  <a:tcPr anchor="ctr" marL="54864" marR="54864" marT="18288" marB="18288">
                    <a:solidFill>
                      <a:srgbClr val="FBE4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−7pp</a:t>
                      </a:r>
                    </a:p>
                  </a:txBody>
                  <a:tcPr anchor="ctr" marL="54864" marR="54864" marT="18288" marB="18288">
                    <a:solidFill>
                      <a:srgbClr val="FBE4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未达预期</a:t>
                      </a:r>
                    </a:p>
                  </a:txBody>
                  <a:tcPr anchor="ctr" marL="54864" marR="54864" marT="18288" marB="18288">
                    <a:solidFill>
                      <a:srgbClr val="FBE4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引导设计不足（方法问题）</a:t>
                      </a:r>
                    </a:p>
                  </a:txBody>
                  <a:tcPr anchor="ctr" marL="54864" marR="54864" marT="18288" marB="18288">
                    <a:solidFill>
                      <a:srgbClr val="FBE4E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单位变动成本</a:t>
                      </a:r>
                    </a:p>
                  </a:txBody>
                  <a:tcPr anchor="ctr" marL="54864" marR="54864" marT="18288" marB="18288">
                    <a:solidFill>
                      <a:srgbClr val="FBE4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≤¥40</a:t>
                      </a:r>
                    </a:p>
                  </a:txBody>
                  <a:tcPr anchor="ctr" marL="54864" marR="54864" marT="18288" marB="18288">
                    <a:solidFill>
                      <a:srgbClr val="FBE4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¥43.0</a:t>
                      </a:r>
                    </a:p>
                  </a:txBody>
                  <a:tcPr anchor="ctr" marL="54864" marR="54864" marT="18288" marB="18288">
                    <a:solidFill>
                      <a:srgbClr val="FBE4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+7.5%</a:t>
                      </a:r>
                    </a:p>
                  </a:txBody>
                  <a:tcPr anchor="ctr" marL="54864" marR="54864" marT="18288" marB="18288">
                    <a:solidFill>
                      <a:srgbClr val="FBE4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未达预期</a:t>
                      </a:r>
                    </a:p>
                  </a:txBody>
                  <a:tcPr anchor="ctr" marL="54864" marR="54864" marT="18288" marB="18288">
                    <a:solidFill>
                      <a:srgbClr val="FBE4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物流与渠道费率为刚性项（资源约束）</a:t>
                      </a:r>
                    </a:p>
                  </a:txBody>
                  <a:tcPr anchor="ctr" marL="54864" marR="54864" marT="18288" marB="18288">
                    <a:solidFill>
                      <a:srgbClr val="FBE4E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任务按时完成率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95%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96%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＋1pp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达标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站会密度提升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连续工况温升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≤60℃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49℃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−11℃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达标（优于计划）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安全熔断 + 铝基板加厚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NPS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≥40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42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＋2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达标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任务完成率改善带动推荐意愿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6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3B63"/>
                </a:solidFill>
                <a:latin typeface="微软雅黑"/>
                <a:ea typeface="微软雅黑"/>
              </a:rPr>
              <a:t>主动性——破局行动证明（一）：挑战识别与主动行动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7F57"/>
                </a:solidFill>
                <a:latin typeface="微软雅黑"/>
                <a:ea typeface="微软雅黑"/>
              </a:rPr>
              <a:t>EntreComp「实际行动」映射：主动性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83096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484"/>
                </a:solidFill>
                <a:latin typeface="微软雅黑"/>
                <a:ea typeface="微软雅黑"/>
              </a:rPr>
              <a:t>仿真跑不队 · 磁吸焊接辅助手电 · 结题汇报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8309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F3B63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5394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3B63"/>
                </a:solidFill>
                <a:latin typeface="微软雅黑"/>
                <a:ea typeface="微软雅黑"/>
              </a:rPr>
              <a:t>① 挑战识别：三个关键障碍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47088"/>
            <a:ext cx="539496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920" b="1">
                <a:solidFill>
                  <a:srgbClr val="227F57"/>
                </a:solidFill>
                <a:latin typeface="微软雅黑"/>
                <a:ea typeface="微软雅黑"/>
              </a:rPr>
              <a:t>● </a:t>
            </a:r>
            <a:r>
              <a:rPr sz="1150" b="0">
                <a:solidFill>
                  <a:srgbClr val="242933"/>
                </a:solidFill>
                <a:latin typeface="微软雅黑"/>
                <a:ea typeface="微软雅黑"/>
              </a:rPr>
              <a:t>可用性测试招募两天内只招到 3 人（目标 20 人），当时没有任何渠道储备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920" b="1">
                <a:solidFill>
                  <a:srgbClr val="227F57"/>
                </a:solidFill>
                <a:latin typeface="微软雅黑"/>
                <a:ea typeface="微软雅黑"/>
              </a:rPr>
              <a:t>● </a:t>
            </a:r>
            <a:r>
              <a:rPr sz="1150" b="0">
                <a:solidFill>
                  <a:srgbClr val="242933"/>
                </a:solidFill>
                <a:latin typeface="微软雅黑"/>
                <a:ea typeface="微软雅黑"/>
              </a:rPr>
              <a:t>中期测试暴露核心卖点虚化：状态显示需求被高估（25 分钟焊接平均仅 1.6 次查询）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920" b="1">
                <a:solidFill>
                  <a:srgbClr val="227F57"/>
                </a:solidFill>
                <a:latin typeface="微软雅黑"/>
                <a:ea typeface="微软雅黑"/>
              </a:rPr>
              <a:t>● </a:t>
            </a:r>
            <a:r>
              <a:rPr sz="1150" b="0">
                <a:solidFill>
                  <a:srgbClr val="242933"/>
                </a:solidFill>
                <a:latin typeface="微软雅黑"/>
                <a:ea typeface="微软雅黑"/>
              </a:rPr>
              <a:t>B 端渠道无人对接，团队三人此前只接触过 C 端同学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463040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3B63"/>
                </a:solidFill>
                <a:latin typeface="微软雅黑"/>
                <a:ea typeface="微软雅黑"/>
              </a:rPr>
              <a:t>② 主动行动：三项非常规措施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847088"/>
            <a:ext cx="548640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920" b="1">
                <a:solidFill>
                  <a:srgbClr val="227F57"/>
                </a:solidFill>
                <a:latin typeface="微软雅黑"/>
                <a:ea typeface="微软雅黑"/>
              </a:rPr>
              <a:t>● </a:t>
            </a:r>
            <a:r>
              <a:rPr sz="1150" b="0">
                <a:solidFill>
                  <a:srgbClr val="242933"/>
                </a:solidFill>
                <a:latin typeface="微软雅黑"/>
                <a:ea typeface="微软雅黑"/>
              </a:rPr>
              <a:t>不等老师给建议，把招募从“群发海报”改为“线下蹲点 + 价值前置话术”（10 分钟帮你发现焊接的 2 个问题），两天内完成 22 人招募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920" b="1">
                <a:solidFill>
                  <a:srgbClr val="227F57"/>
                </a:solidFill>
                <a:latin typeface="微软雅黑"/>
                <a:ea typeface="微软雅黑"/>
              </a:rPr>
              <a:t>● </a:t>
            </a:r>
            <a:r>
              <a:rPr sz="1150" b="0">
                <a:solidFill>
                  <a:srgbClr val="242933"/>
                </a:solidFill>
                <a:latin typeface="微软雅黑"/>
                <a:ea typeface="微软雅黑"/>
              </a:rPr>
              <a:t>主动把“状态显示”从卖点降级为说明书步骤（3 步开工卡），并把 6 颗状态灯减为 4 颗，腾出 ¥0.4/台成本与 20 人时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920" b="1">
                <a:solidFill>
                  <a:srgbClr val="227F57"/>
                </a:solidFill>
                <a:latin typeface="微软雅黑"/>
                <a:ea typeface="微软雅黑"/>
              </a:rPr>
              <a:t>● </a:t>
            </a:r>
            <a:r>
              <a:rPr sz="1150" b="0">
                <a:solidFill>
                  <a:srgbClr val="242933"/>
                </a:solidFill>
                <a:latin typeface="微软雅黑"/>
                <a:ea typeface="微软雅黑"/>
              </a:rPr>
              <a:t>通过实验室老师牵线，直接对接实训课采购，用“实训课批量工具清单”而不是“产品推销”的方式谈下 22 台首单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663440"/>
            <a:ext cx="11155680" cy="157276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754880"/>
            <a:ext cx="107899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242933"/>
                </a:solidFill>
                <a:latin typeface="微软雅黑"/>
                <a:ea typeface="微软雅黑"/>
              </a:rPr>
              <a:t>③ 行动成果（量化）：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42933"/>
                </a:solidFill>
                <a:latin typeface="微软雅黑"/>
                <a:ea typeface="微软雅黑"/>
              </a:rPr>
              <a:t>　· 招募人数 3 → 22 人（＋633%）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42933"/>
                </a:solidFill>
                <a:latin typeface="微软雅黑"/>
                <a:ea typeface="微软雅黑"/>
              </a:rPr>
              <a:t>　· 任务完成率 50% → 78%（＋28pp）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42933"/>
                </a:solidFill>
                <a:latin typeface="微软雅黑"/>
                <a:ea typeface="微软雅黑"/>
              </a:rPr>
              <a:t>　· B 端首单 22 台、收入 ¥1,298；千片 BOM 报价 ¥37.6（较小批量降 28.1%）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42933"/>
                </a:solidFill>
                <a:latin typeface="微软雅黑"/>
                <a:ea typeface="微软雅黑"/>
              </a:rPr>
              <a:t>证据：招募登记表与测试记录（E-08）、迭代日志 No.14–No.17（E-01）、B 端交付验收单（E-10）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6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3B63"/>
                </a:solidFill>
                <a:latin typeface="微软雅黑"/>
                <a:ea typeface="微软雅黑"/>
              </a:rPr>
              <a:t>主动性——破局行动证明（二）：行动前后的量化改变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7F57"/>
                </a:solidFill>
                <a:latin typeface="微软雅黑"/>
                <a:ea typeface="微软雅黑"/>
              </a:rPr>
              <a:t>EntreComp「实际行动」映射：主动性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83096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484"/>
                </a:solidFill>
                <a:latin typeface="微软雅黑"/>
                <a:ea typeface="微软雅黑"/>
              </a:rPr>
              <a:t>仿真跑不队 · 磁吸焊接辅助手电 · 结题汇报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8309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F3B63"/>
                </a:solidFill>
                <a:latin typeface="微软雅黑"/>
                <a:ea typeface="微软雅黑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7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4612"/>
                <a:gridCol w="1481613"/>
                <a:gridCol w="1481613"/>
                <a:gridCol w="1655921"/>
                <a:gridCol w="3921918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指标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行动前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行动后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变化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对应的主动行动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用户测试招募人数（2 天内）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3 人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22 人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＋633%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线下蹲点 + “10 分钟帮你发现 2 个问题”话术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用户任务完成率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50%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78%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＋28pp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硅胶垫丝印档位刻度 + 说明书改“3 步开工卡”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状态显示相关成本（状态灯）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6 颗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4 颗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−¥0.4/台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把被高估的卖点降级为说明书步骤，腾出成本与 20 人时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B 端订单（首单）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0 台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22 台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＋¥1,298 收入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通过实验室老师牵线，以“实训课批量工具清单”方式对接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千片 BOM 报价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¥52.3（小批）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¥37.6（千片）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−28.1%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B 端订单达成投模门槛后锁定注塑报价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84632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42933"/>
                </a:solidFill>
                <a:latin typeface="微软雅黑"/>
                <a:ea typeface="微软雅黑"/>
              </a:rPr>
              <a:t>证据链：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242933"/>
                </a:solidFill>
                <a:latin typeface="微软雅黑"/>
                <a:ea typeface="微软雅黑"/>
              </a:rPr>
              <a:t>· 过程性：招募登记表与现场照片、迭代日志 No.14–No.17（含每日动作与时间戳）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242933"/>
                </a:solidFill>
                <a:latin typeface="微软雅黑"/>
                <a:ea typeface="微软雅黑"/>
              </a:rPr>
              <a:t>· 结果性：可用性测试观察记录（13 人次）、B 端交付验收单（22 台）、LCSC 与机构件千片报价单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242933"/>
                </a:solidFill>
                <a:latin typeface="微软雅黑"/>
                <a:ea typeface="微软雅黑"/>
              </a:rPr>
              <a:t>· 认知性：“被高估的卖点要敢于降级”这一洞察写入认知迭代日志第 6 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6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3B63"/>
                </a:solidFill>
                <a:latin typeface="微软雅黑"/>
                <a:ea typeface="微软雅黑"/>
              </a:rPr>
              <a:t>应对不确定性——风险熔断机制（一）：预设底线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7F57"/>
                </a:solidFill>
                <a:latin typeface="微软雅黑"/>
                <a:ea typeface="微软雅黑"/>
              </a:rPr>
              <a:t>EntreComp「实际行动」映射：应对不确定性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607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484"/>
                </a:solidFill>
                <a:latin typeface="微软雅黑"/>
                <a:ea typeface="微软雅黑"/>
              </a:rPr>
              <a:t>四条风险阈值在中期就写进计划，不是事后补写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83096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484"/>
                </a:solidFill>
                <a:latin typeface="微软雅黑"/>
                <a:ea typeface="微软雅黑"/>
              </a:rPr>
              <a:t>仿真跑不队 · 磁吸焊接辅助手电 · 结题汇报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8309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F3B63"/>
                </a:solidFill>
                <a:latin typeface="微软雅黑"/>
                <a:ea typeface="微软雅黑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54480"/>
          <a:ext cx="11155678" cy="4041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39"/>
                <a:gridCol w="2103119"/>
                <a:gridCol w="2194560"/>
                <a:gridCol w="493776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风险项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预设阈值（底线）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是否触发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触发后执行的备选方案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连续工况温升</a:t>
                      </a:r>
                    </a:p>
                  </a:txBody>
                  <a:tcPr anchor="ctr" marL="54864" marR="54864" marT="18288" marB="18288">
                    <a:solidFill>
                      <a:srgbClr val="FBE4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&gt;60℃</a:t>
                      </a:r>
                    </a:p>
                  </a:txBody>
                  <a:tcPr anchor="ctr" marL="54864" marR="54864" marT="18288" marB="18288">
                    <a:solidFill>
                      <a:srgbClr val="FBE4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触发（10-15 第 6 小时 61.5℃）</a:t>
                      </a:r>
                    </a:p>
                  </a:txBody>
                  <a:tcPr anchor="ctr" marL="54864" marR="54864" marT="18288" marB="18288">
                    <a:solidFill>
                      <a:srgbClr val="FBE4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暂停演示准备，集中 2 天改造：驱动电流降 10%、铝基板 1.0→1.6mm、涂导热硅脂</a:t>
                      </a:r>
                    </a:p>
                  </a:txBody>
                  <a:tcPr anchor="ctr" marL="54864" marR="54864" marT="18288" marB="18288">
                    <a:solidFill>
                      <a:srgbClr val="FBE4E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B 端确认订单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&lt;20 台（不投模具定金）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未触发（最终 22 台）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按计划投模具定金 ¥3,000，锁定千片 BOM ¥37.6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可用性测试招募</a:t>
                      </a:r>
                    </a:p>
                  </a:txBody>
                  <a:tcPr anchor="ctr" marL="54864" marR="54864" marT="18288" marB="18288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&lt;20 人在 2 天内</a:t>
                      </a:r>
                    </a:p>
                  </a:txBody>
                  <a:tcPr anchor="ctr" marL="54864" marR="54864" marT="18288" marB="18288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触发（首日仅 3 人）</a:t>
                      </a:r>
                    </a:p>
                  </a:txBody>
                  <a:tcPr anchor="ctr" marL="54864" marR="54864" marT="18288" marB="18288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启动备选：图书馆与实训楼门口线下蹲点，话术改为“10 分钟帮你发现焊接的 2 个问题”</a:t>
                      </a:r>
                    </a:p>
                  </a:txBody>
                  <a:tcPr anchor="ctr" marL="54864" marR="54864" marT="18288" marB="18288">
                    <a:solidFill>
                      <a:srgbClr val="FDF3DC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单次试错成本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&gt;¥500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未触发（最高单次 ¥360）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维持 ≤¥500 上限，双周对账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5669280"/>
            <a:ext cx="11155680" cy="56692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76072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F3B63"/>
                </a:solidFill>
                <a:latin typeface="微软雅黑"/>
                <a:ea typeface="微软雅黑"/>
              </a:rPr>
              <a:t>熔断规则：任一阈值触发即日冻结该条线的工作、24 小时内出备选方案；决策记录必须在协作工具中留时间戳，不允许口头决策。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6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3B63"/>
                </a:solidFill>
                <a:latin typeface="微软雅黑"/>
                <a:ea typeface="微软雅黑"/>
              </a:rPr>
              <a:t>应对不确定性——风险熔断机制（二）：触发、执行与效果（含时间戳证据链）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7F57"/>
                </a:solidFill>
                <a:latin typeface="微软雅黑"/>
                <a:ea typeface="微软雅黑"/>
              </a:rPr>
              <a:t>EntreComp「实际行动」映射：应对不确定性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607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484"/>
                </a:solidFill>
                <a:latin typeface="微软雅黑"/>
                <a:ea typeface="微软雅黑"/>
              </a:rPr>
              <a:t>以温升越线为主线，展示“预警 → 决策 → 回升”的完整链条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83096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484"/>
                </a:solidFill>
                <a:latin typeface="微软雅黑"/>
                <a:ea typeface="微软雅黑"/>
              </a:rPr>
              <a:t>仿真跑不队 · 磁吸焊接辅助手电 · 结题汇报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8309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F3B63"/>
                </a:solidFill>
                <a:latin typeface="微软雅黑"/>
                <a:ea typeface="微软雅黑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72768"/>
          <a:ext cx="11155680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5303520"/>
                <a:gridCol w="347472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环节（含时间戳）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实际发生的事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证据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</a:tr>
              <a:tr h="93268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预警（10-15 18:30）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8 小时工况第 6 小时温升 61.5℃（超阈值 1.5℃）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热电偶连续记录表第 12 个记录点（E-07）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93268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决策（10-15 21:40）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判定触发安全熔断：当日冻结演示准备，集中 2 天改造；确定“安全优先于照度”原则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熔断决策会议记录（含 21:40 时间戳，E-02）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执行（10-16 ~ 10-18）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驱动电流降 10%、铝基板 1.0→1.6mm、涂导热硅脂；同步复核用户对照度变化的接受度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改造实物照片、改造清单、照度实测表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93268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效果（10-19 复测）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8 小时工况最高温升 49℃（优于阈值 11℃）；照度 860→780 lux（−9.3%），12/13 人认为照度足够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复测记录曲线（E-07）、可用性测试记录（E-08）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7150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F3B63"/>
                </a:solidFill>
                <a:latin typeface="微软雅黑"/>
                <a:ea typeface="微软雅黑"/>
              </a:rPr>
              <a:t>熔断代价与收益：代价 = 2 天工期 + ¥210 物料；收益 = 避免了“连续 8 小时后外壳烫手”这一类致命安全质疑，并换来 8 小时工况 49℃ 的硬证据（安全性在评审中占 20% 权重）。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6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3B63"/>
                </a:solidFill>
                <a:latin typeface="微软雅黑"/>
                <a:ea typeface="微软雅黑"/>
              </a:rPr>
              <a:t>体验式学习——认知迭代图谱（一）：从失败到新认知的完整路径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7F57"/>
                </a:solidFill>
                <a:latin typeface="微软雅黑"/>
                <a:ea typeface="微软雅黑"/>
              </a:rPr>
              <a:t>EntreComp「实际行动」映射：体验式学习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607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484"/>
                </a:solidFill>
                <a:latin typeface="微软雅黑"/>
                <a:ea typeface="微软雅黑"/>
              </a:rPr>
              <a:t>两条链均为真实失败，不是“成长故事”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83096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484"/>
                </a:solidFill>
                <a:latin typeface="微软雅黑"/>
                <a:ea typeface="微软雅黑"/>
              </a:rPr>
              <a:t>仿真跑不队 · 磁吸焊接辅助手电 · 结题汇报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8309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F3B63"/>
                </a:solidFill>
                <a:latin typeface="微软雅黑"/>
                <a:ea typeface="微软雅黑"/>
              </a:rPr>
              <a:t>8</a:t>
            </a:r>
          </a:p>
        </p:txBody>
      </p:sp>
      <p:pic>
        <p:nvPicPr>
          <p:cNvPr id="8" name="Picture 7" descr="图D_认知迭代图谱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11155680" cy="43772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6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3B63"/>
                </a:solidFill>
                <a:latin typeface="微软雅黑"/>
                <a:ea typeface="微软雅黑"/>
              </a:rPr>
              <a:t>体验式学习——认知迭代图谱（二）：5Why 归因与新指标结果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7F57"/>
                </a:solidFill>
                <a:latin typeface="微软雅黑"/>
                <a:ea typeface="微软雅黑"/>
              </a:rPr>
              <a:t>EntreComp「实际行动」映射：体验式学习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83096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484"/>
                </a:solidFill>
                <a:latin typeface="微软雅黑"/>
                <a:ea typeface="微软雅黑"/>
              </a:rPr>
              <a:t>仿真跑不队 · 磁吸焊接辅助手电 · 结题汇报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8309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F3B63"/>
                </a:solidFill>
                <a:latin typeface="微软雅黑"/>
                <a:ea typeface="微软雅黑"/>
              </a:rP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36192"/>
          <a:ext cx="67665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539496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环节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表象问题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首轮 8 小时连续工况测试温升 61.5℃，超过 ≤60℃ 的自定安全阈值。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Why 1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为什么温度会超标？→ 因为灯板散热面积不足、驱动电流按峰值设定偏高。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Why 2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为什么散热与电流的问题此前没被发现？→ 因为此前所有温升测试都只做到 30 分钟，从未跑满 8 小时。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Why 3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为什么只测 30 分钟？→ 因为测试计划是“按方便”排的：30 分钟能塞进一节课后的空档，8 小时需要占用整天与实验室。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Why 4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为什么允许“按方便”而不是“按真实使用时长”来设计测试？→ 因为团队把测试理解为“证明产品合格”的手续，而不是“逼近真实使用条件”的探针——测出来没问题就收工，没有追问“这个条件是否代表用户”。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根因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测试设计的出发点错了：以“完成测试动作”为目标，而不是以“复现真实使用条件”为目标。根因属方法层面而非资源层面——8 小时测试需要的是整天时间与场地，我们其实拿得到，只是没把它排进计划。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52360" y="1536192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F3B63"/>
                </a:solidFill>
                <a:latin typeface="微软雅黑"/>
                <a:ea typeface="微软雅黑"/>
              </a:rPr>
              <a:t>三条关键认知升级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1883664"/>
            <a:ext cx="420624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840" b="1">
                <a:solidFill>
                  <a:srgbClr val="227F57"/>
                </a:solidFill>
                <a:latin typeface="微软雅黑"/>
                <a:ea typeface="微软雅黑"/>
              </a:rPr>
              <a:t>● </a:t>
            </a:r>
            <a:r>
              <a:rPr sz="1050" b="0">
                <a:solidFill>
                  <a:srgbClr val="242933"/>
                </a:solidFill>
                <a:latin typeface="微软雅黑"/>
                <a:ea typeface="微软雅黑"/>
              </a:rPr>
              <a:t>态度 ≠ 行为：问卷 71.3% vs 意向金 37.3%，39→34 个百分点的落差让我们把指标换成行为口径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840" b="1">
                <a:solidFill>
                  <a:srgbClr val="227F57"/>
                </a:solidFill>
                <a:latin typeface="微软雅黑"/>
                <a:ea typeface="微软雅黑"/>
              </a:rPr>
              <a:t>● </a:t>
            </a:r>
            <a:r>
              <a:rPr sz="1050" b="0">
                <a:solidFill>
                  <a:srgbClr val="242933"/>
                </a:solidFill>
                <a:latin typeface="微软雅黑"/>
                <a:ea typeface="微软雅黑"/>
              </a:rPr>
              <a:t>功能跑通 ≠ 用户会用：验收标准从“功能状态”改为“用户行为指标”，任务完成率成为核心指标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840" b="1">
                <a:solidFill>
                  <a:srgbClr val="227F57"/>
                </a:solidFill>
                <a:latin typeface="微软雅黑"/>
                <a:ea typeface="微软雅黑"/>
              </a:rPr>
              <a:t>● </a:t>
            </a:r>
            <a:r>
              <a:rPr sz="1050" b="0">
                <a:solidFill>
                  <a:srgbClr val="242933"/>
                </a:solidFill>
                <a:latin typeface="微软雅黑"/>
                <a:ea typeface="微软雅黑"/>
              </a:rPr>
              <a:t>测试必须逼近真实工况：建立“最长工况（8 小时）+ 最差环境（下午 3 点靠窗）”双最测试标准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138928"/>
            <a:ext cx="11155680" cy="10972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230368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242933"/>
                </a:solidFill>
                <a:latin typeface="微软雅黑"/>
                <a:ea typeface="微软雅黑"/>
              </a:rPr>
              <a:t>新指标结果（可验证）：连续工况温升 61.5℃ → 49℃（优于阈值 11℃）｜任务完成率 50% → 78%（＋28pp）｜该步骤失败率 58.3% → 7.7%｜新增“双最测试标准”已写入后续每轮迭代的验收清单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242933"/>
                </a:solidFill>
                <a:latin typeface="微软雅黑"/>
                <a:ea typeface="微软雅黑"/>
              </a:rPr>
              <a:t>证据：5Why 原始记录（E-12）、认知迭代日志 9 条（E-13）、温升复测表（E-07）、可用性测试记录（E-08）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6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3B63"/>
                </a:solidFill>
                <a:latin typeface="微软雅黑"/>
                <a:ea typeface="微软雅黑"/>
              </a:rPr>
              <a:t>合作能力——敏捷协作看板（一）：RACI-V 动态分工与调整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7F57"/>
                </a:solidFill>
                <a:latin typeface="微软雅黑"/>
                <a:ea typeface="微软雅黑"/>
              </a:rPr>
              <a:t>EntreComp「实际行动」映射：合作能力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607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484"/>
                </a:solidFill>
                <a:latin typeface="微软雅黑"/>
                <a:ea typeface="微软雅黑"/>
              </a:rPr>
              <a:t>标注与中期相比的调整内容及调整原因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83096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484"/>
                </a:solidFill>
                <a:latin typeface="微软雅黑"/>
                <a:ea typeface="微软雅黑"/>
              </a:rPr>
              <a:t>仿真跑不队 · 磁吸焊接辅助手电 · 结题汇报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8309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F3B63"/>
                </a:solidFill>
                <a:latin typeface="微软雅黑"/>
                <a:ea typeface="微软雅黑"/>
              </a:rPr>
              <a:t>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54480"/>
          <a:ext cx="11155680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914400"/>
                <a:gridCol w="914400"/>
                <a:gridCol w="914400"/>
                <a:gridCol w="594360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任务 / 决策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邵子中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李昊桐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姜亚楷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与中期相比的调整及原因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磁吸机构与整机结构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C（咨询）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R（执行）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I（知悉）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结构件定型后 R 未变，A 从邵转为团队共审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连续工况与安全测试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I（知悉）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R（执行）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C（咨询）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新增任务（中期无连续工况测试项）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任务完成率引导优化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R（执行）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C（咨询）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C（咨询）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新增任务，中期该环节无归属（灰色任务）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B 端对接与交付验收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A（审批）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I（知悉）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R（执行）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姜亚楷由“渠道执行”转为“B 端对接 + 验收”，因 B 端成为主渠道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成本与定价模型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R（执行）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I（知悉）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C（咨询）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邵子中由“建模”转为“模型固化并交棒”，财务监督由姜轮值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结题材料与演示准备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A（审批）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C（咨询）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R（执行）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中期由邵起草，结题改为姜主笔、邵终审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53212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242933"/>
                </a:solidFill>
                <a:latin typeface="微软雅黑"/>
                <a:ea typeface="微软雅黑"/>
              </a:rPr>
              <a:t>V（志愿者 / 支持者）：实验室老师（连续工况测试的场地与安全指导）、上一届学长（模拟答辩评阅）。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242933"/>
                </a:solidFill>
                <a:latin typeface="微软雅黑"/>
                <a:ea typeface="微软雅黑"/>
              </a:rPr>
              <a:t>三处关键调整：B 端对接由姜亚楷接手（主渠道变化）；连续工况测试与引导优化两项任务从“灰色任务”明确到人；财务监督改为轮值，避免“谁建模谁管钱”。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6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3B63"/>
                </a:solidFill>
                <a:latin typeface="微软雅黑"/>
                <a:ea typeface="微软雅黑"/>
              </a:rPr>
              <a:t>合作能力——敏捷协作看板（二）：成员贡献值与协作效能进化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7F57"/>
                </a:solidFill>
                <a:latin typeface="微软雅黑"/>
                <a:ea typeface="微软雅黑"/>
              </a:rPr>
              <a:t>EntreComp「实际行动」映射：合作能力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83096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484"/>
                </a:solidFill>
                <a:latin typeface="微软雅黑"/>
                <a:ea typeface="微软雅黑"/>
              </a:rPr>
              <a:t>仿真跑不队 · 磁吸焊接辅助手电 · 结题汇报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8309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F3B63"/>
                </a:solidFill>
                <a:latin typeface="微软雅黑"/>
                <a:ea typeface="微软雅黑"/>
              </a:rPr>
              <a:t>11</a:t>
            </a:r>
          </a:p>
        </p:txBody>
      </p:sp>
      <p:pic>
        <p:nvPicPr>
          <p:cNvPr id="7" name="Picture 6" descr="图C_贡献值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81328"/>
            <a:ext cx="6858000" cy="2684998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543800" y="1481328"/>
          <a:ext cx="4114798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2878"/>
                <a:gridCol w="715617"/>
                <a:gridCol w="715617"/>
                <a:gridCol w="715617"/>
                <a:gridCol w="805069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成员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难度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质量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协作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贡献值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任务难度系数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4.5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92%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1.15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4.76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任务难度系数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4.2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95%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1.1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4.39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任务难度系数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4.3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90%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1.2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4.64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543800" y="3154680"/>
          <a:ext cx="4114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5950"/>
                <a:gridCol w="685800"/>
                <a:gridCol w="685800"/>
                <a:gridCol w="85725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协作效能指标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中期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结题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变化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任务按时完成率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91%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96%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＋5.5%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团队协作满意度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8.0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9.0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＋12.5%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有效决策响应时间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3.5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1.8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−48.6%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成员贡献值离散度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1.42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1.08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差距缩小 24%（贡献更均衡）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5559552"/>
            <a:ext cx="11155680" cy="713232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650992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F3B63"/>
                </a:solidFill>
                <a:latin typeface="微软雅黑"/>
                <a:ea typeface="微软雅黑"/>
              </a:rPr>
              <a:t>贡献值 = 任务难度系数 × 完成质量 × 协作系数。三人贡献值离散度（最高/最低）由中期 1.42 降至 1.08，差异缩小 24%——这是“轮值 PM + 卡点当日上报”机制的直接结果。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6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3B63"/>
                </a:solidFill>
                <a:latin typeface="微软雅黑"/>
                <a:ea typeface="微软雅黑"/>
              </a:rPr>
              <a:t>计划与管理——资源杠杆率（一）：投入-产出效能核算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7F57"/>
                </a:solidFill>
                <a:latin typeface="微软雅黑"/>
                <a:ea typeface="微软雅黑"/>
              </a:rPr>
              <a:t>EntreComp「实际行动」映射：计划与管理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607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484"/>
                </a:solidFill>
                <a:latin typeface="微软雅黑"/>
                <a:ea typeface="微软雅黑"/>
              </a:rPr>
              <a:t>全周期投入、三类验证产出与效能值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83096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484"/>
                </a:solidFill>
                <a:latin typeface="微软雅黑"/>
                <a:ea typeface="微软雅黑"/>
              </a:rPr>
              <a:t>仿真跑不队 · 磁吸焊接辅助手电 · 结题汇报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8309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F3B63"/>
                </a:solidFill>
                <a:latin typeface="微软雅黑"/>
                <a:ea typeface="微软雅黑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36192"/>
          <a:ext cx="5577840" cy="435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3108960"/>
                <a:gridCol w="128016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成本类型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具体项目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金额 / 量化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经费投入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选题阶段：首轮打样与器件（PCBA 打样、器件、交通）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¥1,180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经费投入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中期阶段：二轮打样、机构件与迭代验证支出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¥2,280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经费投入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结题阶段：试制备料、温升改造与演示物料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¥1,850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时间投入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选题阶段（08-26—09-26，约 4 周）团队累计工时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168 小时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时间投入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中期阶段（09-27—10-08，12 天）团队累计工时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336 小时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时间投入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结题阶段（10-09—10-22，14 天）团队累计工时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216 小时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外部资源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实验室设备使用权（3D 打印机 12 次、示波器与恒温烙铁 6 次）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¥1,260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外部资源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导师与工程师咨询（指导老师 2 次、实验室老师 2 次）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¥1,200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外部资源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社团与创客空间宣传位（3 次）、CNIPA 检索（2 次）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¥600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总投入合计</a:t>
                      </a:r>
                    </a:p>
                  </a:txBody>
                  <a:tcPr anchor="ctr" marL="54864" marR="54864" marT="18288" marB="18288"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¥8,370（含外部资源估算价值）</a:t>
                      </a:r>
                    </a:p>
                  </a:txBody>
                  <a:tcPr anchor="ctr" marL="54864" marR="54864" marT="18288" marB="18288"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现金 ¥5,310 + 外部资源估值 ¥3,060</a:t>
                      </a:r>
                    </a:p>
                  </a:txBody>
                  <a:tcPr anchor="ctr" marL="54864" marR="54864" marT="18288" marB="18288">
                    <a:solidFill>
                      <a:srgbClr val="D9E2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536192"/>
          <a:ext cx="5394959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926080"/>
                <a:gridCol w="1280159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产出类型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具体项目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量化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用户验证数据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有效问卷（选题阶段 126 份 + 中期分层抽样 87 份）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213 份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用户验证数据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深度访谈与行为观察（洞察访谈 3 次 + 民族志观察 15 次 + 可用性测试 12 人次 + 配对 A/B 20 人次 + 盲测 15 人次 + 回访 34 人次）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99 次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产品迭代成果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原型迭代版本数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4 版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产品迭代成果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完成的功能模块数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12 个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产品迭代成果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修复的关键缺陷数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31 个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认知突破成果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被验证/证伪的关键假设数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5 个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认知突破成果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关键洞察条数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9 条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认知突破成果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决策转折点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3 个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产出合计</a:t>
                      </a:r>
                    </a:p>
                  </a:txBody>
                  <a:tcPr anchor="ctr" marL="54864" marR="54864" marT="18288" marB="18288">
                    <a:solidFill>
                      <a:srgbClr val="E6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各类产出数量之和</a:t>
                      </a:r>
                    </a:p>
                  </a:txBody>
                  <a:tcPr anchor="ctr" marL="54864" marR="54864" marT="18288" marB="18288">
                    <a:solidFill>
                      <a:srgbClr val="E6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376 项</a:t>
                      </a:r>
                    </a:p>
                  </a:txBody>
                  <a:tcPr anchor="ctr" marL="54864" marR="54864" marT="18288" marB="18288">
                    <a:solidFill>
                      <a:srgbClr val="E6F2E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5138928"/>
            <a:ext cx="11155680" cy="1133856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230368"/>
            <a:ext cx="107899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242933"/>
                </a:solidFill>
                <a:latin typeface="微软雅黑"/>
                <a:ea typeface="微软雅黑"/>
              </a:rPr>
              <a:t>效能值计算：产出合计 376 项 ÷ 投入总成本 ¥8,370 × 100 = 4.49 项 / ¥100（含外部资源估算）；若只按现金投入 ¥5,310 计 = 7.08 项 / ¥100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242933"/>
                </a:solidFill>
                <a:latin typeface="微软雅黑"/>
                <a:ea typeface="微软雅黑"/>
              </a:rPr>
              <a:t>折算标准：经费为实际现金支出；工时按实际投入记录（全周期 720 人时）；外部资源按校外市场价估算；人力机会成本 ¥18,000 单独列示不计入现金投入。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242933"/>
                </a:solidFill>
                <a:latin typeface="微软雅黑"/>
                <a:ea typeface="微软雅黑"/>
              </a:rPr>
              <a:t>资源杠杆率：外部资源估值 ¥3,060 ÷ 获取它投入的 46 人时（折 ¥1,150）= 2.7 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6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3B63"/>
                </a:solidFill>
                <a:latin typeface="微软雅黑"/>
                <a:ea typeface="微软雅黑"/>
              </a:rPr>
              <a:t>计划与管理——资源杠杆率（二）：关键资源置换案例与方法论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7F57"/>
                </a:solidFill>
                <a:latin typeface="微软雅黑"/>
                <a:ea typeface="微软雅黑"/>
              </a:rPr>
              <a:t>EntreComp「实际行动」映射：计划与管理 + 主动性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83096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484"/>
                </a:solidFill>
                <a:latin typeface="微软雅黑"/>
                <a:ea typeface="微软雅黑"/>
              </a:rPr>
              <a:t>仿真跑不队 · 磁吸焊接辅助手电 · 结题汇报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8309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F3B63"/>
                </a:solidFill>
                <a:latin typeface="微软雅黑"/>
                <a:ea typeface="微软雅黑"/>
              </a:rP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54480"/>
          <a:ext cx="111556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651760"/>
                <a:gridCol w="2926080"/>
                <a:gridCol w="822960"/>
                <a:gridCol w="301752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置换案例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我们付出的（能力 / 时间）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我们换到的（资源）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杠杆率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关键说明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专利检索能力置换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用 6 人时自学 CNIPA 检索方法（折 ¥150）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免费完成 2 轮专利检索，替代市场价约 ¥1,500 的代理检索服务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10.0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检索结论：未发现“磁吸 + 万向悬停 + 可换向磁吸位”组合的同类实用新型，为结构主张提供依据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实验室设备使用权置换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承担实验室 3D 打印件的打印与后处理（24 人时，折 ¥600）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换取 3D 打印机 12 次、示波器与恒温烙铁 6 次使用权（估值 ¥1,260）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2.1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为 V4.0 结构改造与 8 小时工况测试提供条件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渠道能力置换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为社团开放“焊接照明工作坊”2 场（含器材演示，16 人时，折 ¥400）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换取社团宣传位 3 次（估值 ¥600）+ 22 人测试招募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1.5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两场工作坊带来 22 名测试者中的 14 人，且成为 B 端对接的信任背书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4828032"/>
            <a:ext cx="11155680" cy="129844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919472"/>
            <a:ext cx="1078992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242933"/>
                </a:solidFill>
                <a:latin typeface="微软雅黑"/>
                <a:ea typeface="微软雅黑"/>
              </a:rPr>
              <a:t>资源管理方法论（可迁移）：① 优先“能力置换”而非“花钱采购”——本轮 3 次置换共撬动估值 ¥3,360 的外部资源，占全部资源投入的 40.1%；② 把一次性置换固化成模板（检索式模板、实验室预约模板、工作坊流程卡），让资源获取不依赖某个人；③ 每一项资源都要能算出单位产出（本轮每 ¥100 投入对应 4.5 项验证产出）。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6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3B63"/>
                </a:solidFill>
                <a:latin typeface="微软雅黑"/>
                <a:ea typeface="微软雅黑"/>
              </a:rPr>
              <a:t>可持续转化规划（一）：路径 A 项目延续规划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7F57"/>
                </a:solidFill>
                <a:latin typeface="微软雅黑"/>
                <a:ea typeface="微软雅黑"/>
              </a:rPr>
              <a:t>EntreComp「实际行动」映射：计划与管理 + 主动性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607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484"/>
                </a:solidFill>
                <a:latin typeface="微软雅黑"/>
                <a:ea typeface="微软雅黑"/>
              </a:rPr>
              <a:t>本作品已完成功能闭环与 22 台小批量试制交付，选择“项目延续”路径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83096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484"/>
                </a:solidFill>
                <a:latin typeface="微软雅黑"/>
                <a:ea typeface="微软雅黑"/>
              </a:rPr>
              <a:t>仿真跑不队 · 磁吸焊接辅助手电 · 结题汇报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8309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F3B63"/>
                </a:solidFill>
                <a:latin typeface="微软雅黑"/>
                <a:ea typeface="微软雅黑"/>
              </a:rPr>
              <a:t>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54480"/>
          <a:ext cx="11155680" cy="3438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6217920"/>
                <a:gridCol w="1554480"/>
                <a:gridCol w="164592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规划维度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核心内容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行动能力映射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证据呈现形式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</a:tr>
              <a:tr h="102412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短期（结题后 3 个月）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① 完成注塑开模与首批 200 台试产；② 在电工基地设校园自提点，取消快递成本；③ 把“3 步开工卡”随首单发货并回收 30 份使用反馈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应对不确定性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行动计划表 + 资源需求清单（模具定金 ¥3,000 已投，试产 ¥10,000 待筹）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102412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中期（3–12 个月）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覆盖 3–4 所高校的电子工艺实训课，达成 1,232 台（量产定价保本销量）；申请实用新型专利 1 项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计划与管理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里程碑甘特图 + 保本销量对照表（SOM 3,100 台）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102412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长期愿景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做成“校园实训工具 + 焊接工位数据接口”：工具进入实训课标配清单，状态数据按标准协议对接实验室管理系统（OPC 口径）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主动性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愿景陈述 + 关键成功指标（实训课渗透率 ≥20%、数据接口在 1 个实验室试点）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532120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242933"/>
                </a:solidFill>
                <a:latin typeface="微软雅黑"/>
                <a:ea typeface="微软雅黑"/>
              </a:rPr>
              <a:t>转化方向：市场化（C 端小批量 + B 端实训采买并行）+ 学术化（结构点申请实用新型专利 1 项）。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242933"/>
                </a:solidFill>
                <a:latin typeface="微软雅黑"/>
                <a:ea typeface="微软雅黑"/>
              </a:rPr>
              <a:t>关键判断依据：量产定价口径下保本销量 1,232 台 &lt; 3 年 SOM 预期 3,100 台，商业闭环成立；B 端零获客成本是达成规模的关键路径。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6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3B63"/>
                </a:solidFill>
                <a:latin typeface="微软雅黑"/>
                <a:ea typeface="微软雅黑"/>
              </a:rPr>
              <a:t>可持续转化规划（二）：关键资源依赖与替代方案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7F57"/>
                </a:solidFill>
                <a:latin typeface="微软雅黑"/>
                <a:ea typeface="微软雅黑"/>
              </a:rPr>
              <a:t>EntreComp「实际行动」映射：应对不确定性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607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484"/>
                </a:solidFill>
                <a:latin typeface="微软雅黑"/>
                <a:ea typeface="微软雅黑"/>
              </a:rPr>
              <a:t>每项依赖都配替代方案，体现风险意识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83096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484"/>
                </a:solidFill>
                <a:latin typeface="微软雅黑"/>
                <a:ea typeface="微软雅黑"/>
              </a:rPr>
              <a:t>仿真跑不队 · 磁吸焊接辅助手电 · 结题汇报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8309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F3B63"/>
                </a:solidFill>
                <a:latin typeface="微软雅黑"/>
                <a:ea typeface="微软雅黑"/>
              </a:rPr>
              <a:t>15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72768"/>
          <a:ext cx="11155680" cy="4261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657600"/>
                <a:gridCol w="47548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关键资源依赖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主要来源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替代方案（若中断）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</a:tr>
              <a:tr h="96926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注塑模具与首批试产资金 ¥13,000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学校创客空间小额资助 + B 端预付款（22 台已收 ¥1,298）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若资助未获批：退回 3D 打印小批量路径，先交 50 台以内订单，BOM 停在 ¥52.3 并接受毛利 11.2%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96926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与实训课采购的对接关系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实验室老师牵线 + 首单 22 台交付形成的信任背书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若对接中断：转向创客空间与社团的“工具借用 + 使用数据”模式，用使用数据换第二批意向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96926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连续工况下的可靠性数据（8 小时仅测 1 轮）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3 人自测 + 实验室老师指导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若无法增加测试轮次：把首单 22 台作为“长周期使用观察样本”，回收 30 天使用日志代替实验室长测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96926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团队成员的时间与精力（课程考试冲突）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每两日站会校准 + 卡点当日上报机制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若成员时间不足：把非核心工作（包装设计、文案）外包给社团同学，用作品署名与样品置换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80644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F3B63"/>
                </a:solidFill>
                <a:latin typeface="微软雅黑"/>
                <a:ea typeface="微软雅黑"/>
              </a:rPr>
              <a:t>风险意识说明：四项依赖中有两项（资金、渠道关系）是我们无法单独控制的，因此替代方案都指向“缩小规模但不断供”的降级路径，而不是“等资源到位再行动”。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6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3B63"/>
                </a:solidFill>
                <a:latin typeface="微软雅黑"/>
                <a:ea typeface="微软雅黑"/>
              </a:rPr>
              <a:t>三阶问答预判页：3 个最尖锐问题与应对话术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7F57"/>
                </a:solidFill>
                <a:latin typeface="微软雅黑"/>
                <a:ea typeface="微软雅黑"/>
              </a:rPr>
              <a:t>EntreComp「实际行动」映射：应对不确定性 + 体验式学习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607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484"/>
                </a:solidFill>
                <a:latin typeface="微软雅黑"/>
                <a:ea typeface="微软雅黑"/>
              </a:rPr>
              <a:t>问题全部来自项目自身薄弱环节（任务完成率未达标、数据可追溯性、验证方法论）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83096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484"/>
                </a:solidFill>
                <a:latin typeface="微软雅黑"/>
                <a:ea typeface="微软雅黑"/>
              </a:rPr>
              <a:t>仿真跑不队 · 磁吸焊接辅助手电 · 结题汇报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8309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F3B63"/>
                </a:solidFill>
                <a:latin typeface="微软雅黑"/>
                <a:ea typeface="微软雅黑"/>
              </a:rPr>
              <a:t>16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54480"/>
          <a:ext cx="111556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651760"/>
                <a:gridCol w="6035040"/>
                <a:gridCol w="109728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# / 类型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预判问题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应对话术（含数据与证据）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对应能力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</a:tr>
              <a:tr h="146304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1　结果挑战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用户任务完成率 78%，为什么没达到你们自己定的 85%？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补测 12 人次后我们定位到了原因：失败不在硬件，而在引导。7/12 人次第一次使用时找不到“电量档位”怎么看，我们把 4 颗 LED 的指示含义丝印到硅胶垫上、说明书首屏改成“3 步开工卡”后，同一任务的失败率从 58.3% 降到 7.7%。剩下的 7pp 差距我们判断来自“说明书版本未随首单同步发货”，改进计划已排进 10 月底（随首单发货的卡片化版本）。证据：可用性测试原始记录 13 人次、迭代日志 No.14–No.17。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计划与管理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146304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2　过程质疑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你们的有效验证数据从 157 涨到 312，会不会只是把同一批人重复测了很多次？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不是同一批人。312 项里问卷 213 份中选题阶段 126 份、中期分层 87 份是两批独立样本；89 次访谈/测试中，只有 12 人次属于重复参与（同一用户参与可用性测试与回访），占 13.5%。我们保留原始名单与时间戳，重复样本在统计“任务完成率”时已单独剔除。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体验式学习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146304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3　认知追问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通过这个项目，你对“如何验证一个创意是否为真”的理解发生了什么根本性变化？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从“问用户”变成“看用户做”。我们最有说服力的一次自我否定是：问卷说 71.3% 会买，但让他们付 1 元可退意向金时，只有 32.3% 真掏钱——39 个百分点的落差让我们把北极星指标从“态度占比”换成“行为支付率”，并且此后每一条结论都要求能回答“这是态度数据还是行为数据”。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体验式学习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17220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微软雅黑"/>
                <a:ea typeface="微软雅黑"/>
              </a:rPr>
              <a:t>创业者三问自检结论：关键假设 = H-001（付费意愿，行为口径）；最低成本验证 = 1 元可退意向金（¥360 / 48h）；数据决策 = 行为口径 37.3% → 维持小批量 + 转 B 端放量。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6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3B63"/>
                </a:solidFill>
                <a:latin typeface="微软雅黑"/>
                <a:ea typeface="微软雅黑"/>
              </a:rPr>
              <a:t>三类核心证据索引页：过程性 / 结果性 / 认知性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7F57"/>
                </a:solidFill>
                <a:latin typeface="微软雅黑"/>
                <a:ea typeface="微软雅黑"/>
              </a:rPr>
              <a:t>EntreComp「实际行动」映射：体验式学习 + 合作能力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607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484"/>
                </a:solidFill>
                <a:latin typeface="微软雅黑"/>
                <a:ea typeface="微软雅黑"/>
              </a:rPr>
              <a:t>结果性证据中 E-07 / E-09 / E-10 可追溯至原始记录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83096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484"/>
                </a:solidFill>
                <a:latin typeface="微软雅黑"/>
                <a:ea typeface="微软雅黑"/>
              </a:rPr>
              <a:t>仿真跑不队 · 磁吸焊接辅助手电 · 结题汇报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8309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F3B63"/>
                </a:solidFill>
                <a:latin typeface="微软雅黑"/>
                <a:ea typeface="微软雅黑"/>
              </a:rPr>
              <a:t>17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44752"/>
          <a:ext cx="11155679" cy="44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7088"/>
                <a:gridCol w="3687828"/>
                <a:gridCol w="4241002"/>
                <a:gridCol w="829761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证据类型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证据名称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说明 / 可追溯性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编号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过程性证据（≥5 项）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迭代日志 No.01–No.21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记录每轮改造、失败与决策，含时间戳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E-01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熔断决策会议记录（3 次）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含 10-15 21:40 温升熔断决策记录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E-02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RACI-V 分工表（中期版 / 结题版）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含角色调整记录与调整原因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E-03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任务卡看板记录（46 → 62 张）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按时完成率统计的原始数据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E-04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测试与回访排期表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结题阶段每周两场测试/回访的执行记录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E-05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协作工具留痕（飞书文档 7 个页面）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含失败记录单列节，未做删除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E-06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结果性证据（≥3 项，含可追溯原始记录）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8 小时连续工况温升记录表（16 个记录点）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61.5℃ → 49℃，逐 30 分钟记录，可追溯至原始表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E-07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可用性测试观察记录表（13 人次）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任务完成率 50% → 78% 的计算依据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E-08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1 元可退意向金收款记录（62 人受邀 / 22 人支付）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行为口径支付率 37.3%，含退款记录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E-09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B 端首单交付与验收单（22 台）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收入 ¥1,298，含采购方签字与交付清单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E-10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BOM 三档询价单（小批 ¥52.3 / 千片 ¥37.6 / 万片 ¥29.2）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单位经济与保本销量测算的原始报价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E-11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认知性证据（≥2 项）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5Why 归因原始记录（温升与任务完成率两链）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从表象追问到方法层面根因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E-12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认知迭代日志（9 条关键洞察）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如“态度≠行为”“测试时长必须覆盖真实工况”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E-13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GROW 总结与认知跃迁声明（3 份，成员署名）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含量化偏差率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E-14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05332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F3B63"/>
                </a:solidFill>
                <a:latin typeface="微软雅黑"/>
                <a:ea typeface="微软雅黑"/>
              </a:rPr>
              <a:t>可追溯至原始记录的关键验证数据：E-07 8 小时温升连续记录表、E-09 意向金收款记录、E-10 B 端交付验收单。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6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3B63"/>
                </a:solidFill>
                <a:latin typeface="微软雅黑"/>
                <a:ea typeface="微软雅黑"/>
              </a:rPr>
              <a:t>附录：证据清单、数据来源与三可追溯说明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7F57"/>
                </a:solidFill>
                <a:latin typeface="微软雅黑"/>
                <a:ea typeface="微软雅黑"/>
              </a:rPr>
              <a:t>EntreComp「实际行动」映射：—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607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484"/>
                </a:solidFill>
                <a:latin typeface="微软雅黑"/>
                <a:ea typeface="微软雅黑"/>
              </a:rPr>
              <a:t>本页不计入正页页数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83096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484"/>
                </a:solidFill>
                <a:latin typeface="微软雅黑"/>
                <a:ea typeface="微软雅黑"/>
              </a:rPr>
              <a:t>仿真跑不队 · 磁吸焊接辅助手电 · 结题汇报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8309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F3B63"/>
                </a:solidFill>
                <a:latin typeface="微软雅黑"/>
                <a:ea typeface="微软雅黑"/>
              </a:rPr>
              <a:t>18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54480"/>
          <a:ext cx="111556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5120640"/>
                <a:gridCol w="201168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数据 / 记录项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来源（可查）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采集时间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工作用时台账（720 人时，分三阶段）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飞书表格 + 每周站会记录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2026-08-26 — 10-22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现金支出记录（¥5,310）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采购订单、打样结算单、打印发票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2026-08-26 — 10-22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外部资源估值（¥3,060）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校外共享工坊与仪器租赁公开报价、咨询市场价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2026-10-18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8 小时连续工况温升记录（E-07）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热电偶逐 30 分钟记录表（16 个点）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2026-10-15 / 10-19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可用性测试观察记录（E-08）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现场观察表 13 人次（含失败步骤标注）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2026-10-06 / 10-20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1 元意向金收款记录（E-09）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微信收款明细 + 邀请名单 + 退款记录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2026-09-25 / 10-20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B 端交付验收单（E-10）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采购方签字验收单 + 交付清单 22 台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2026-10-20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BOM 三档询价（E-11）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LCSC 批量价页面 + 3 家机构件报价单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2026-09-25 起 30 天有效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照片与视频证据（E-15）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V1.0–V4.0 原型实拍、温升改造前后、演示录屏 3 分 40 秒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2026-08 — 10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F3B63"/>
                </a:solidFill>
                <a:latin typeface="微软雅黑"/>
                <a:ea typeface="微软雅黑"/>
              </a:rPr>
              <a:t>三可追溯：来源可查（文件 / 时间 / 样本量）× 过程可复现（方法 / 配额 / 剔除规则）× 结果可验证（原始记录与截图）。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