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3"/>
  </p:notesMasterIdLst>
  <p:handoutMasterIdLst>
    <p:handoutMasterId r:id="rId114"/>
  </p:handoutMasterIdLst>
  <p:sldIdLst>
    <p:sldId id="780" r:id="rId2"/>
    <p:sldId id="786" r:id="rId3"/>
    <p:sldId id="787" r:id="rId4"/>
    <p:sldId id="256" r:id="rId5"/>
    <p:sldId id="339" r:id="rId6"/>
    <p:sldId id="687" r:id="rId7"/>
    <p:sldId id="688" r:id="rId8"/>
    <p:sldId id="690" r:id="rId9"/>
    <p:sldId id="689" r:id="rId10"/>
    <p:sldId id="571" r:id="rId11"/>
    <p:sldId id="606" r:id="rId12"/>
    <p:sldId id="779" r:id="rId13"/>
    <p:sldId id="607" r:id="rId14"/>
    <p:sldId id="608" r:id="rId15"/>
    <p:sldId id="609" r:id="rId16"/>
    <p:sldId id="610" r:id="rId17"/>
    <p:sldId id="572" r:id="rId18"/>
    <p:sldId id="611" r:id="rId19"/>
    <p:sldId id="612" r:id="rId20"/>
    <p:sldId id="573" r:id="rId21"/>
    <p:sldId id="620" r:id="rId22"/>
    <p:sldId id="621" r:id="rId23"/>
    <p:sldId id="494" r:id="rId24"/>
    <p:sldId id="680" r:id="rId25"/>
    <p:sldId id="691" r:id="rId26"/>
    <p:sldId id="701" r:id="rId27"/>
    <p:sldId id="693" r:id="rId28"/>
    <p:sldId id="694" r:id="rId29"/>
    <p:sldId id="695" r:id="rId30"/>
    <p:sldId id="702" r:id="rId31"/>
    <p:sldId id="703" r:id="rId32"/>
    <p:sldId id="704" r:id="rId33"/>
    <p:sldId id="705" r:id="rId34"/>
    <p:sldId id="706" r:id="rId35"/>
    <p:sldId id="707" r:id="rId36"/>
    <p:sldId id="708" r:id="rId37"/>
    <p:sldId id="709" r:id="rId38"/>
    <p:sldId id="710" r:id="rId39"/>
    <p:sldId id="698" r:id="rId40"/>
    <p:sldId id="699" r:id="rId41"/>
    <p:sldId id="788" r:id="rId42"/>
    <p:sldId id="789" r:id="rId43"/>
    <p:sldId id="711" r:id="rId44"/>
    <p:sldId id="712" r:id="rId45"/>
    <p:sldId id="713" r:id="rId46"/>
    <p:sldId id="714" r:id="rId47"/>
    <p:sldId id="715" r:id="rId48"/>
    <p:sldId id="716" r:id="rId49"/>
    <p:sldId id="717" r:id="rId50"/>
    <p:sldId id="718" r:id="rId51"/>
    <p:sldId id="719" r:id="rId52"/>
    <p:sldId id="720" r:id="rId53"/>
    <p:sldId id="721" r:id="rId54"/>
    <p:sldId id="722" r:id="rId55"/>
    <p:sldId id="723" r:id="rId56"/>
    <p:sldId id="724" r:id="rId57"/>
    <p:sldId id="725" r:id="rId58"/>
    <p:sldId id="726" r:id="rId59"/>
    <p:sldId id="727" r:id="rId60"/>
    <p:sldId id="728" r:id="rId61"/>
    <p:sldId id="729" r:id="rId62"/>
    <p:sldId id="730" r:id="rId63"/>
    <p:sldId id="731" r:id="rId64"/>
    <p:sldId id="732" r:id="rId65"/>
    <p:sldId id="733" r:id="rId66"/>
    <p:sldId id="734" r:id="rId67"/>
    <p:sldId id="735" r:id="rId68"/>
    <p:sldId id="736" r:id="rId69"/>
    <p:sldId id="737" r:id="rId70"/>
    <p:sldId id="738" r:id="rId71"/>
    <p:sldId id="739" r:id="rId72"/>
    <p:sldId id="740" r:id="rId73"/>
    <p:sldId id="741" r:id="rId74"/>
    <p:sldId id="742" r:id="rId75"/>
    <p:sldId id="743" r:id="rId76"/>
    <p:sldId id="744" r:id="rId77"/>
    <p:sldId id="745" r:id="rId78"/>
    <p:sldId id="747" r:id="rId79"/>
    <p:sldId id="746" r:id="rId80"/>
    <p:sldId id="748" r:id="rId81"/>
    <p:sldId id="749" r:id="rId82"/>
    <p:sldId id="750" r:id="rId83"/>
    <p:sldId id="751" r:id="rId84"/>
    <p:sldId id="752" r:id="rId85"/>
    <p:sldId id="753" r:id="rId86"/>
    <p:sldId id="754" r:id="rId87"/>
    <p:sldId id="755" r:id="rId88"/>
    <p:sldId id="756" r:id="rId89"/>
    <p:sldId id="757" r:id="rId90"/>
    <p:sldId id="758" r:id="rId91"/>
    <p:sldId id="759" r:id="rId92"/>
    <p:sldId id="760" r:id="rId93"/>
    <p:sldId id="761" r:id="rId94"/>
    <p:sldId id="762" r:id="rId95"/>
    <p:sldId id="763" r:id="rId96"/>
    <p:sldId id="764" r:id="rId97"/>
    <p:sldId id="765" r:id="rId98"/>
    <p:sldId id="766" r:id="rId99"/>
    <p:sldId id="767" r:id="rId100"/>
    <p:sldId id="768" r:id="rId101"/>
    <p:sldId id="769" r:id="rId102"/>
    <p:sldId id="770" r:id="rId103"/>
    <p:sldId id="771" r:id="rId104"/>
    <p:sldId id="772" r:id="rId105"/>
    <p:sldId id="773" r:id="rId106"/>
    <p:sldId id="774" r:id="rId107"/>
    <p:sldId id="775" r:id="rId108"/>
    <p:sldId id="776" r:id="rId109"/>
    <p:sldId id="778" r:id="rId110"/>
    <p:sldId id="785" r:id="rId111"/>
    <p:sldId id="391" r:id="rId112"/>
  </p:sldIdLst>
  <p:sldSz cx="9144000" cy="5143500" type="screen16x9"/>
  <p:notesSz cx="9926638"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122">
          <p15:clr>
            <a:srgbClr val="A4A3A4"/>
          </p15:clr>
        </p15:guide>
        <p15:guide id="2" pos="312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070A1"/>
    <a:srgbClr val="286D80"/>
    <a:srgbClr val="4B2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0471" autoAdjust="0"/>
  </p:normalViewPr>
  <p:slideViewPr>
    <p:cSldViewPr showGuides="1">
      <p:cViewPr varScale="1">
        <p:scale>
          <a:sx n="136" d="100"/>
          <a:sy n="136" d="100"/>
        </p:scale>
        <p:origin x="1170" y="114"/>
      </p:cViewPr>
      <p:guideLst>
        <p:guide orient="horz" pos="1605"/>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9" d="100"/>
          <a:sy n="79" d="100"/>
        </p:scale>
        <p:origin x="-4074" y="-102"/>
      </p:cViewPr>
      <p:guideLst>
        <p:guide orient="horz" pos="2122"/>
        <p:guide pos="312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543" cy="33988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799" y="0"/>
            <a:ext cx="4301543" cy="339884"/>
          </a:xfrm>
          <a:prstGeom prst="rect">
            <a:avLst/>
          </a:prstGeom>
        </p:spPr>
        <p:txBody>
          <a:bodyPr vert="horz" lIns="91440" tIns="45720" rIns="91440" bIns="45720" rtlCol="0"/>
          <a:lstStyle>
            <a:lvl1pPr algn="r">
              <a:defRPr sz="1200"/>
            </a:lvl1pPr>
          </a:lstStyle>
          <a:p>
            <a:fld id="{3B3E2D12-2F38-4D42-802C-11A388691E45}" type="datetimeFigureOut">
              <a:rPr lang="zh-CN" altLang="en-US" smtClean="0"/>
              <a:t>2026/8/26</a:t>
            </a:fld>
            <a:endParaRPr lang="zh-CN" altLang="en-US"/>
          </a:p>
        </p:txBody>
      </p:sp>
      <p:sp>
        <p:nvSpPr>
          <p:cNvPr id="4" name="页脚占位符 3"/>
          <p:cNvSpPr>
            <a:spLocks noGrp="1"/>
          </p:cNvSpPr>
          <p:nvPr>
            <p:ph type="ftr" sz="quarter" idx="2"/>
          </p:nvPr>
        </p:nvSpPr>
        <p:spPr>
          <a:xfrm>
            <a:off x="1" y="6456612"/>
            <a:ext cx="4301543" cy="33988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799" y="6456612"/>
            <a:ext cx="4301543" cy="339884"/>
          </a:xfrm>
          <a:prstGeom prst="rect">
            <a:avLst/>
          </a:prstGeom>
        </p:spPr>
        <p:txBody>
          <a:bodyPr vert="horz" lIns="91440" tIns="45720" rIns="91440" bIns="45720" rtlCol="0" anchor="b"/>
          <a:lstStyle>
            <a:lvl1pPr algn="r">
              <a:defRPr sz="1200"/>
            </a:lvl1pPr>
          </a:lstStyle>
          <a:p>
            <a:fld id="{093CC510-0883-49F7-8F7A-F1982F114C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553" cy="33972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1755" y="0"/>
            <a:ext cx="4302553" cy="339722"/>
          </a:xfrm>
          <a:prstGeom prst="rect">
            <a:avLst/>
          </a:prstGeom>
        </p:spPr>
        <p:txBody>
          <a:bodyPr vert="horz" lIns="91440" tIns="45720" rIns="91440" bIns="45720" rtlCol="0"/>
          <a:lstStyle>
            <a:lvl1pPr algn="r">
              <a:defRPr sz="1200"/>
            </a:lvl1pPr>
          </a:lstStyle>
          <a:p>
            <a:fld id="{297120EB-600B-4735-BE86-090050C337CD}" type="datetimeFigureOut">
              <a:rPr lang="zh-CN" altLang="en-US" smtClean="0"/>
              <a:t>2026/8/26</a:t>
            </a:fld>
            <a:endParaRPr lang="zh-CN" altLang="en-US"/>
          </a:p>
        </p:txBody>
      </p:sp>
      <p:sp>
        <p:nvSpPr>
          <p:cNvPr id="4" name="幻灯片图像占位符 3"/>
          <p:cNvSpPr>
            <a:spLocks noGrp="1" noRot="1" noChangeAspect="1"/>
          </p:cNvSpPr>
          <p:nvPr>
            <p:ph type="sldImg" idx="2"/>
          </p:nvPr>
        </p:nvSpPr>
        <p:spPr>
          <a:xfrm>
            <a:off x="2697163" y="509588"/>
            <a:ext cx="4532312" cy="25495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99" y="3228978"/>
            <a:ext cx="7940845" cy="305857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869"/>
            <a:ext cx="4302553" cy="33972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1755" y="6456869"/>
            <a:ext cx="4302553" cy="339721"/>
          </a:xfrm>
          <a:prstGeom prst="rect">
            <a:avLst/>
          </a:prstGeom>
        </p:spPr>
        <p:txBody>
          <a:bodyPr vert="horz" lIns="91440" tIns="45720" rIns="91440" bIns="45720" rtlCol="0" anchor="b"/>
          <a:lstStyle>
            <a:lvl1pPr algn="r">
              <a:defRPr sz="1200"/>
            </a:lvl1pPr>
          </a:lstStyle>
          <a:p>
            <a:fld id="{87C88C8B-08D5-4B40-BCC9-A95CA2CAD9C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1</a:t>
            </a:fld>
            <a:endParaRPr lang="zh-CN" altLang="en-US"/>
          </a:p>
        </p:txBody>
      </p:sp>
    </p:spTree>
    <p:extLst>
      <p:ext uri="{BB962C8B-B14F-4D97-AF65-F5344CB8AC3E}">
        <p14:creationId xmlns:p14="http://schemas.microsoft.com/office/powerpoint/2010/main" val="1268806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7163" y="509588"/>
            <a:ext cx="4532312" cy="2549525"/>
          </a:xfrm>
        </p:spPr>
      </p:sp>
      <p:sp>
        <p:nvSpPr>
          <p:cNvPr id="3" name="备注占位符 2"/>
          <p:cNvSpPr>
            <a:spLocks noGrp="1"/>
          </p:cNvSpPr>
          <p:nvPr>
            <p:ph type="body" idx="1"/>
          </p:nvPr>
        </p:nvSpPr>
        <p:spPr/>
        <p:txBody>
          <a:bodyPr/>
          <a:lstStyle/>
          <a:p>
            <a:r>
              <a:rPr lang="zh-CN" altLang="en-US" dirty="0"/>
              <a:t>红字感觉有点晃眼</a:t>
            </a:r>
          </a:p>
        </p:txBody>
      </p:sp>
      <p:sp>
        <p:nvSpPr>
          <p:cNvPr id="4" name="灯片编号占位符 3"/>
          <p:cNvSpPr>
            <a:spLocks noGrp="1"/>
          </p:cNvSpPr>
          <p:nvPr>
            <p:ph type="sldNum" sz="quarter" idx="5"/>
          </p:nvPr>
        </p:nvSpPr>
        <p:spPr/>
        <p:txBody>
          <a:bodyPr/>
          <a:lstStyle/>
          <a:p>
            <a:fld id="{87C88C8B-08D5-4B40-BCC9-A95CA2CAD9C2}"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a:t>
            </a:fld>
            <a:endParaRPr lang="zh-CN" altLang="en-US"/>
          </a:p>
        </p:txBody>
      </p:sp>
    </p:spTree>
    <p:extLst>
      <p:ext uri="{BB962C8B-B14F-4D97-AF65-F5344CB8AC3E}">
        <p14:creationId xmlns:p14="http://schemas.microsoft.com/office/powerpoint/2010/main" val="1954007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a:t>
            </a:fld>
            <a:endParaRPr lang="zh-CN" altLang="en-US"/>
          </a:p>
        </p:txBody>
      </p:sp>
    </p:spTree>
    <p:extLst>
      <p:ext uri="{BB962C8B-B14F-4D97-AF65-F5344CB8AC3E}">
        <p14:creationId xmlns:p14="http://schemas.microsoft.com/office/powerpoint/2010/main" val="2749633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solidFill>
                  <a:srgbClr val="FFFF00"/>
                </a:solidFill>
              </a:rPr>
              <a:t>启动</a:t>
            </a:r>
            <a:r>
              <a:rPr lang="zh-CN" altLang="en-US" smtClean="0"/>
              <a:t>：获得授权，定义一个</a:t>
            </a:r>
            <a:r>
              <a:rPr lang="zh-CN" altLang="en-US" smtClean="0">
                <a:solidFill>
                  <a:srgbClr val="FFFF00"/>
                </a:solidFill>
              </a:rPr>
              <a:t>新项目</a:t>
            </a:r>
            <a:r>
              <a:rPr lang="zh-CN" altLang="en-US" smtClean="0"/>
              <a:t>或现有项目的一个</a:t>
            </a:r>
            <a:r>
              <a:rPr lang="zh-CN" altLang="en-US" smtClean="0">
                <a:solidFill>
                  <a:srgbClr val="FFFF00"/>
                </a:solidFill>
              </a:rPr>
              <a:t>新阶段</a:t>
            </a:r>
            <a:r>
              <a:rPr lang="zh-CN" altLang="en-US" smtClean="0"/>
              <a:t>，正式开始该</a:t>
            </a:r>
            <a:r>
              <a:rPr lang="zh-CN" altLang="en-US" smtClean="0">
                <a:solidFill>
                  <a:srgbClr val="FFFF00"/>
                </a:solidFill>
              </a:rPr>
              <a:t>项目</a:t>
            </a:r>
            <a:r>
              <a:rPr lang="zh-CN" altLang="en-US" smtClean="0"/>
              <a:t>或</a:t>
            </a:r>
            <a:r>
              <a:rPr lang="zh-CN" altLang="en-US" smtClean="0">
                <a:solidFill>
                  <a:srgbClr val="FFFF00"/>
                </a:solidFill>
              </a:rPr>
              <a:t>阶段</a:t>
            </a:r>
            <a:r>
              <a:rPr lang="zh-CN" altLang="en-US" smtClean="0"/>
              <a:t>的一组过程；</a:t>
            </a:r>
            <a:endParaRPr lang="en-US" altLang="zh-CN" smtClean="0"/>
          </a:p>
          <a:p>
            <a:r>
              <a:rPr lang="zh-CN" altLang="en-US" smtClean="0">
                <a:solidFill>
                  <a:srgbClr val="FFFF00"/>
                </a:solidFill>
              </a:rPr>
              <a:t>规划</a:t>
            </a:r>
            <a:r>
              <a:rPr lang="zh-CN" altLang="en-US" smtClean="0"/>
              <a:t>：明确</a:t>
            </a:r>
            <a:r>
              <a:rPr lang="zh-CN" altLang="en-US" smtClean="0">
                <a:solidFill>
                  <a:srgbClr val="FFFF00"/>
                </a:solidFill>
              </a:rPr>
              <a:t>项目范围</a:t>
            </a:r>
            <a:r>
              <a:rPr lang="zh-CN" altLang="en-US" smtClean="0"/>
              <a:t>，</a:t>
            </a:r>
            <a:r>
              <a:rPr lang="zh-CN" altLang="en-US" smtClean="0">
                <a:solidFill>
                  <a:srgbClr val="FFFF00"/>
                </a:solidFill>
              </a:rPr>
              <a:t>优化目标</a:t>
            </a:r>
            <a:r>
              <a:rPr lang="zh-CN" altLang="en-US" smtClean="0"/>
              <a:t>，为实现目标而制定</a:t>
            </a:r>
            <a:r>
              <a:rPr lang="zh-CN" altLang="en-US" smtClean="0">
                <a:solidFill>
                  <a:srgbClr val="FFFF00"/>
                </a:solidFill>
              </a:rPr>
              <a:t>行动方案</a:t>
            </a:r>
            <a:r>
              <a:rPr lang="zh-CN" altLang="en-US" smtClean="0"/>
              <a:t>的一组过程；</a:t>
            </a:r>
            <a:endParaRPr lang="en-US" altLang="zh-CN" smtClean="0"/>
          </a:p>
          <a:p>
            <a:r>
              <a:rPr lang="zh-CN" altLang="en-US" smtClean="0">
                <a:solidFill>
                  <a:srgbClr val="FFFF00"/>
                </a:solidFill>
              </a:rPr>
              <a:t>执行</a:t>
            </a:r>
            <a:r>
              <a:rPr lang="zh-CN" altLang="en-US" smtClean="0"/>
              <a:t>：完成项目管理计划中确定的</a:t>
            </a:r>
            <a:r>
              <a:rPr lang="zh-CN" altLang="en-US" smtClean="0">
                <a:solidFill>
                  <a:srgbClr val="FFFF00"/>
                </a:solidFill>
              </a:rPr>
              <a:t>工作</a:t>
            </a:r>
            <a:r>
              <a:rPr lang="zh-CN" altLang="en-US" smtClean="0"/>
              <a:t>以满足</a:t>
            </a:r>
            <a:r>
              <a:rPr lang="zh-CN" altLang="en-US" smtClean="0">
                <a:solidFill>
                  <a:srgbClr val="FFFF00"/>
                </a:solidFill>
              </a:rPr>
              <a:t>项目规范要求</a:t>
            </a:r>
            <a:r>
              <a:rPr lang="zh-CN" altLang="en-US" smtClean="0"/>
              <a:t>的一组过程；</a:t>
            </a:r>
            <a:endParaRPr lang="en-US" altLang="zh-CN" smtClean="0"/>
          </a:p>
          <a:p>
            <a:r>
              <a:rPr lang="zh-CN" altLang="en-US" smtClean="0">
                <a:solidFill>
                  <a:srgbClr val="FFFF00"/>
                </a:solidFill>
              </a:rPr>
              <a:t>监控</a:t>
            </a:r>
            <a:r>
              <a:rPr lang="zh-CN" altLang="en-US" smtClean="0"/>
              <a:t>：跟踪、审查和调整项目</a:t>
            </a:r>
            <a:r>
              <a:rPr lang="zh-CN" altLang="en-US" smtClean="0">
                <a:solidFill>
                  <a:srgbClr val="FFFF00"/>
                </a:solidFill>
              </a:rPr>
              <a:t>进度</a:t>
            </a:r>
            <a:r>
              <a:rPr lang="zh-CN" altLang="en-US" smtClean="0"/>
              <a:t>与</a:t>
            </a:r>
            <a:r>
              <a:rPr lang="zh-CN" altLang="en-US" smtClean="0">
                <a:solidFill>
                  <a:srgbClr val="FFFF00"/>
                </a:solidFill>
              </a:rPr>
              <a:t>绩效</a:t>
            </a:r>
            <a:r>
              <a:rPr lang="zh-CN" altLang="en-US" smtClean="0"/>
              <a:t>，</a:t>
            </a:r>
            <a:r>
              <a:rPr lang="zh-CN" altLang="en-US" smtClean="0">
                <a:solidFill>
                  <a:srgbClr val="FFFF00"/>
                </a:solidFill>
              </a:rPr>
              <a:t>识别</a:t>
            </a:r>
            <a:r>
              <a:rPr lang="zh-CN" altLang="en-US" smtClean="0"/>
              <a:t>必要的</a:t>
            </a:r>
            <a:r>
              <a:rPr lang="zh-CN" altLang="en-US" smtClean="0">
                <a:solidFill>
                  <a:srgbClr val="FFFF00"/>
                </a:solidFill>
              </a:rPr>
              <a:t>计划变更</a:t>
            </a:r>
            <a:r>
              <a:rPr lang="zh-CN" altLang="en-US" smtClean="0"/>
              <a:t>并启动相应变更的一组过程</a:t>
            </a:r>
            <a:endParaRPr lang="en-US" altLang="zh-CN" smtClean="0"/>
          </a:p>
          <a:p>
            <a:r>
              <a:rPr lang="zh-CN" altLang="en-US" smtClean="0">
                <a:solidFill>
                  <a:srgbClr val="FFFF00"/>
                </a:solidFill>
              </a:rPr>
              <a:t>收尾</a:t>
            </a:r>
            <a:r>
              <a:rPr lang="zh-CN" altLang="en-US" smtClean="0"/>
              <a:t>：为完成所有过程组的所有活动以正式结束</a:t>
            </a:r>
            <a:r>
              <a:rPr lang="zh-CN" altLang="en-US" smtClean="0">
                <a:solidFill>
                  <a:srgbClr val="FFFF00"/>
                </a:solidFill>
              </a:rPr>
              <a:t>项目</a:t>
            </a:r>
            <a:r>
              <a:rPr lang="zh-CN" altLang="en-US" smtClean="0"/>
              <a:t>或</a:t>
            </a:r>
            <a:r>
              <a:rPr lang="zh-CN" altLang="en-US" smtClean="0">
                <a:solidFill>
                  <a:srgbClr val="FFFF00"/>
                </a:solidFill>
              </a:rPr>
              <a:t>阶段</a:t>
            </a:r>
            <a:r>
              <a:rPr lang="zh-CN" altLang="en-US" smtClean="0"/>
              <a:t>或</a:t>
            </a:r>
            <a:r>
              <a:rPr lang="zh-CN" altLang="en-US" smtClean="0">
                <a:solidFill>
                  <a:srgbClr val="FFFF00"/>
                </a:solidFill>
              </a:rPr>
              <a:t>合同责任</a:t>
            </a:r>
            <a:r>
              <a:rPr lang="zh-CN" altLang="en-US" smtClean="0"/>
              <a:t>的一组过程</a:t>
            </a:r>
            <a:endParaRPr lang="en-US" altLang="zh-CN"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8</a:t>
            </a:fld>
            <a:endParaRPr lang="zh-CN" altLang="en-US"/>
          </a:p>
        </p:txBody>
      </p:sp>
    </p:spTree>
    <p:extLst>
      <p:ext uri="{BB962C8B-B14F-4D97-AF65-F5344CB8AC3E}">
        <p14:creationId xmlns:p14="http://schemas.microsoft.com/office/powerpoint/2010/main" val="158310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200" dirty="0" smtClean="0"/>
          </a:p>
        </p:txBody>
      </p:sp>
      <p:sp>
        <p:nvSpPr>
          <p:cNvPr id="4" name="灯片编号占位符 3"/>
          <p:cNvSpPr>
            <a:spLocks noGrp="1"/>
          </p:cNvSpPr>
          <p:nvPr>
            <p:ph type="sldNum" sz="quarter" idx="10"/>
          </p:nvPr>
        </p:nvSpPr>
        <p:spPr/>
        <p:txBody>
          <a:bodyPr/>
          <a:lstStyle/>
          <a:p>
            <a:fld id="{87C88C8B-08D5-4B40-BCC9-A95CA2CAD9C2}" type="slidenum">
              <a:rPr lang="zh-CN" altLang="en-US" smtClean="0"/>
              <a:t>9</a:t>
            </a:fld>
            <a:endParaRPr lang="zh-CN" altLang="en-US"/>
          </a:p>
        </p:txBody>
      </p:sp>
    </p:spTree>
    <p:extLst>
      <p:ext uri="{BB962C8B-B14F-4D97-AF65-F5344CB8AC3E}">
        <p14:creationId xmlns:p14="http://schemas.microsoft.com/office/powerpoint/2010/main" val="1619003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12</a:t>
            </a:fld>
            <a:endParaRPr lang="zh-CN" altLang="en-US"/>
          </a:p>
        </p:txBody>
      </p:sp>
    </p:spTree>
    <p:extLst>
      <p:ext uri="{BB962C8B-B14F-4D97-AF65-F5344CB8AC3E}">
        <p14:creationId xmlns:p14="http://schemas.microsoft.com/office/powerpoint/2010/main" val="1113299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WBS</a:t>
            </a:r>
            <a:r>
              <a:rPr lang="zh-CN" altLang="zh-CN" sz="1200" kern="1200" dirty="0">
                <a:solidFill>
                  <a:schemeClr val="tx1"/>
                </a:solidFill>
                <a:effectLst/>
                <a:latin typeface="+mn-lt"/>
                <a:ea typeface="+mn-ea"/>
                <a:cs typeface="+mn-cs"/>
              </a:rPr>
              <a:t>：将项目可交付成果和项目工作分解为较小的、更易于管理的组成部分，对所要交付内容提供一个结构化视图</a:t>
            </a:r>
          </a:p>
          <a:p>
            <a:r>
              <a:rPr lang="zh-CN" altLang="zh-CN" sz="1200" kern="1200" dirty="0">
                <a:solidFill>
                  <a:schemeClr val="tx1"/>
                </a:solidFill>
                <a:effectLst/>
                <a:latin typeface="+mn-lt"/>
                <a:ea typeface="+mn-ea"/>
                <a:cs typeface="+mn-cs"/>
              </a:rPr>
              <a:t>责任矩阵是以表格形式表示完成工作分解结构中工作细目的个人责任方法</a:t>
            </a:r>
          </a:p>
          <a:p>
            <a:r>
              <a:rPr lang="zh-CN" altLang="zh-CN" sz="1200" kern="1200" dirty="0">
                <a:solidFill>
                  <a:schemeClr val="tx1"/>
                </a:solidFill>
                <a:effectLst/>
                <a:latin typeface="+mn-lt"/>
                <a:ea typeface="+mn-ea"/>
                <a:cs typeface="+mn-cs"/>
              </a:rPr>
              <a:t>概率与影响矩阵是确定风险大小的一种通用方法。通过综合风险的两个维度，即发生概率及该风险对目标的影响来对项目中的风险进行评估</a:t>
            </a: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甘特图：通过条状图来显示项目进度和其他时间相关的系统的内在关系随着时间进展的情况，又称为横道图、条状图</a:t>
            </a:r>
          </a:p>
          <a:p>
            <a:r>
              <a:rPr lang="zh-CN" altLang="zh-CN" sz="1200" kern="1200" dirty="0">
                <a:solidFill>
                  <a:schemeClr val="tx1"/>
                </a:solidFill>
                <a:effectLst/>
                <a:latin typeface="+mn-lt"/>
                <a:ea typeface="+mn-ea"/>
                <a:cs typeface="+mn-cs"/>
              </a:rPr>
              <a:t>燃尽图：用于表示剩余工作量的工作图表，由横轴（</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）和纵轴（</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）组成，横轴表示时间，纵轴表示工作量。这种图表可以直观的预测何时工作将全部完成，常用于软件开发中的敏捷软件开发方式，</a:t>
            </a:r>
          </a:p>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11175"/>
            <a:ext cx="4529138" cy="254793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24</a:t>
            </a:fld>
            <a:endParaRPr lang="zh-CN" altLang="en-US"/>
          </a:p>
        </p:txBody>
      </p:sp>
    </p:spTree>
    <p:extLst>
      <p:ext uri="{BB962C8B-B14F-4D97-AF65-F5344CB8AC3E}">
        <p14:creationId xmlns:p14="http://schemas.microsoft.com/office/powerpoint/2010/main" val="3382558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27</a:t>
            </a:fld>
            <a:endParaRPr lang="zh-CN" altLang="en-US"/>
          </a:p>
        </p:txBody>
      </p:sp>
    </p:spTree>
    <p:extLst>
      <p:ext uri="{BB962C8B-B14F-4D97-AF65-F5344CB8AC3E}">
        <p14:creationId xmlns:p14="http://schemas.microsoft.com/office/powerpoint/2010/main" val="425273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28</a:t>
            </a:fld>
            <a:endParaRPr lang="zh-CN" altLang="en-US"/>
          </a:p>
        </p:txBody>
      </p:sp>
    </p:spTree>
    <p:extLst>
      <p:ext uri="{BB962C8B-B14F-4D97-AF65-F5344CB8AC3E}">
        <p14:creationId xmlns:p14="http://schemas.microsoft.com/office/powerpoint/2010/main" val="1752936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b="0" kern="100" dirty="0">
              <a:solidFill>
                <a:schemeClr val="dk1"/>
              </a:solidFill>
              <a:effectLst/>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29</a:t>
            </a:fld>
            <a:endParaRPr lang="zh-CN" altLang="en-US"/>
          </a:p>
        </p:txBody>
      </p:sp>
    </p:spTree>
    <p:extLst>
      <p:ext uri="{BB962C8B-B14F-4D97-AF65-F5344CB8AC3E}">
        <p14:creationId xmlns:p14="http://schemas.microsoft.com/office/powerpoint/2010/main" val="24875469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b="0" kern="100" dirty="0">
              <a:solidFill>
                <a:schemeClr val="dk1"/>
              </a:solidFill>
              <a:effectLst/>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30</a:t>
            </a:fld>
            <a:endParaRPr lang="zh-CN" altLang="en-US"/>
          </a:p>
        </p:txBody>
      </p:sp>
    </p:spTree>
    <p:extLst>
      <p:ext uri="{BB962C8B-B14F-4D97-AF65-F5344CB8AC3E}">
        <p14:creationId xmlns:p14="http://schemas.microsoft.com/office/powerpoint/2010/main" val="1204003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b="0" kern="100" dirty="0">
              <a:solidFill>
                <a:schemeClr val="dk1"/>
              </a:solidFill>
              <a:effectLst/>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31</a:t>
            </a:fld>
            <a:endParaRPr lang="zh-CN" altLang="en-US"/>
          </a:p>
        </p:txBody>
      </p:sp>
    </p:spTree>
    <p:extLst>
      <p:ext uri="{BB962C8B-B14F-4D97-AF65-F5344CB8AC3E}">
        <p14:creationId xmlns:p14="http://schemas.microsoft.com/office/powerpoint/2010/main" val="2170713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b="0" kern="100" dirty="0">
              <a:solidFill>
                <a:schemeClr val="dk1"/>
              </a:solidFill>
              <a:effectLst/>
              <a:latin typeface="Times New Roman" panose="02020603050405020304" pitchFamily="18" charset="0"/>
              <a:ea typeface="+mn-ea"/>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32</a:t>
            </a:fld>
            <a:endParaRPr lang="zh-CN" altLang="en-US"/>
          </a:p>
        </p:txBody>
      </p:sp>
    </p:spTree>
    <p:extLst>
      <p:ext uri="{BB962C8B-B14F-4D97-AF65-F5344CB8AC3E}">
        <p14:creationId xmlns:p14="http://schemas.microsoft.com/office/powerpoint/2010/main" val="1784666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33</a:t>
            </a:fld>
            <a:endParaRPr lang="zh-CN" altLang="en-US"/>
          </a:p>
        </p:txBody>
      </p:sp>
    </p:spTree>
    <p:extLst>
      <p:ext uri="{BB962C8B-B14F-4D97-AF65-F5344CB8AC3E}">
        <p14:creationId xmlns:p14="http://schemas.microsoft.com/office/powerpoint/2010/main" val="3690341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34</a:t>
            </a:fld>
            <a:endParaRPr lang="zh-CN" altLang="en-US"/>
          </a:p>
        </p:txBody>
      </p:sp>
    </p:spTree>
    <p:extLst>
      <p:ext uri="{BB962C8B-B14F-4D97-AF65-F5344CB8AC3E}">
        <p14:creationId xmlns:p14="http://schemas.microsoft.com/office/powerpoint/2010/main" val="1230033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35</a:t>
            </a:fld>
            <a:endParaRPr lang="zh-CN" altLang="en-US"/>
          </a:p>
        </p:txBody>
      </p:sp>
    </p:spTree>
    <p:extLst>
      <p:ext uri="{BB962C8B-B14F-4D97-AF65-F5344CB8AC3E}">
        <p14:creationId xmlns:p14="http://schemas.microsoft.com/office/powerpoint/2010/main" val="10831281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36</a:t>
            </a:fld>
            <a:endParaRPr lang="zh-CN" altLang="en-US"/>
          </a:p>
        </p:txBody>
      </p:sp>
    </p:spTree>
    <p:extLst>
      <p:ext uri="{BB962C8B-B14F-4D97-AF65-F5344CB8AC3E}">
        <p14:creationId xmlns:p14="http://schemas.microsoft.com/office/powerpoint/2010/main" val="34883124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37</a:t>
            </a:fld>
            <a:endParaRPr lang="zh-CN" altLang="en-US"/>
          </a:p>
        </p:txBody>
      </p:sp>
    </p:spTree>
    <p:extLst>
      <p:ext uri="{BB962C8B-B14F-4D97-AF65-F5344CB8AC3E}">
        <p14:creationId xmlns:p14="http://schemas.microsoft.com/office/powerpoint/2010/main" val="33514052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38</a:t>
            </a:fld>
            <a:endParaRPr lang="zh-CN" altLang="en-US"/>
          </a:p>
        </p:txBody>
      </p:sp>
    </p:spTree>
    <p:extLst>
      <p:ext uri="{BB962C8B-B14F-4D97-AF65-F5344CB8AC3E}">
        <p14:creationId xmlns:p14="http://schemas.microsoft.com/office/powerpoint/2010/main" val="3317410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400843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7C88C8B-08D5-4B40-BCC9-A95CA2CAD9C2}" type="slidenum">
              <a:rPr lang="zh-CN" altLang="en-US" smtClean="0"/>
              <a:t>42</a:t>
            </a:fld>
            <a:endParaRPr lang="zh-CN" altLang="en-US"/>
          </a:p>
        </p:txBody>
      </p:sp>
    </p:spTree>
    <p:extLst>
      <p:ext uri="{BB962C8B-B14F-4D97-AF65-F5344CB8AC3E}">
        <p14:creationId xmlns:p14="http://schemas.microsoft.com/office/powerpoint/2010/main" val="11123014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43</a:t>
            </a:fld>
            <a:endParaRPr lang="zh-CN" altLang="en-US"/>
          </a:p>
        </p:txBody>
      </p:sp>
    </p:spTree>
    <p:extLst>
      <p:ext uri="{BB962C8B-B14F-4D97-AF65-F5344CB8AC3E}">
        <p14:creationId xmlns:p14="http://schemas.microsoft.com/office/powerpoint/2010/main" val="5861541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44</a:t>
            </a:fld>
            <a:endParaRPr lang="zh-CN" altLang="en-US"/>
          </a:p>
        </p:txBody>
      </p:sp>
    </p:spTree>
    <p:extLst>
      <p:ext uri="{BB962C8B-B14F-4D97-AF65-F5344CB8AC3E}">
        <p14:creationId xmlns:p14="http://schemas.microsoft.com/office/powerpoint/2010/main" val="32510783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45</a:t>
            </a:fld>
            <a:endParaRPr lang="zh-CN" altLang="en-US"/>
          </a:p>
        </p:txBody>
      </p:sp>
    </p:spTree>
    <p:extLst>
      <p:ext uri="{BB962C8B-B14F-4D97-AF65-F5344CB8AC3E}">
        <p14:creationId xmlns:p14="http://schemas.microsoft.com/office/powerpoint/2010/main" val="35855581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46</a:t>
            </a:fld>
            <a:endParaRPr lang="zh-CN" altLang="en-US"/>
          </a:p>
        </p:txBody>
      </p:sp>
    </p:spTree>
    <p:extLst>
      <p:ext uri="{BB962C8B-B14F-4D97-AF65-F5344CB8AC3E}">
        <p14:creationId xmlns:p14="http://schemas.microsoft.com/office/powerpoint/2010/main" val="39633423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47</a:t>
            </a:fld>
            <a:endParaRPr lang="zh-CN" altLang="en-US"/>
          </a:p>
        </p:txBody>
      </p:sp>
    </p:spTree>
    <p:extLst>
      <p:ext uri="{BB962C8B-B14F-4D97-AF65-F5344CB8AC3E}">
        <p14:creationId xmlns:p14="http://schemas.microsoft.com/office/powerpoint/2010/main" val="29255249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48</a:t>
            </a:fld>
            <a:endParaRPr lang="zh-CN" altLang="en-US"/>
          </a:p>
        </p:txBody>
      </p:sp>
    </p:spTree>
    <p:extLst>
      <p:ext uri="{BB962C8B-B14F-4D97-AF65-F5344CB8AC3E}">
        <p14:creationId xmlns:p14="http://schemas.microsoft.com/office/powerpoint/2010/main" val="28780079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49</a:t>
            </a:fld>
            <a:endParaRPr lang="zh-CN" altLang="en-US"/>
          </a:p>
        </p:txBody>
      </p:sp>
    </p:spTree>
    <p:extLst>
      <p:ext uri="{BB962C8B-B14F-4D97-AF65-F5344CB8AC3E}">
        <p14:creationId xmlns:p14="http://schemas.microsoft.com/office/powerpoint/2010/main" val="1033598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50</a:t>
            </a:fld>
            <a:endParaRPr lang="zh-CN" altLang="en-US"/>
          </a:p>
        </p:txBody>
      </p:sp>
    </p:spTree>
    <p:extLst>
      <p:ext uri="{BB962C8B-B14F-4D97-AF65-F5344CB8AC3E}">
        <p14:creationId xmlns:p14="http://schemas.microsoft.com/office/powerpoint/2010/main" val="36915757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51</a:t>
            </a:fld>
            <a:endParaRPr lang="zh-CN" altLang="en-US"/>
          </a:p>
        </p:txBody>
      </p:sp>
    </p:spTree>
    <p:extLst>
      <p:ext uri="{BB962C8B-B14F-4D97-AF65-F5344CB8AC3E}">
        <p14:creationId xmlns:p14="http://schemas.microsoft.com/office/powerpoint/2010/main" val="13328199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52</a:t>
            </a:fld>
            <a:endParaRPr lang="zh-CN" altLang="en-US"/>
          </a:p>
        </p:txBody>
      </p:sp>
    </p:spTree>
    <p:extLst>
      <p:ext uri="{BB962C8B-B14F-4D97-AF65-F5344CB8AC3E}">
        <p14:creationId xmlns:p14="http://schemas.microsoft.com/office/powerpoint/2010/main" val="18285603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53</a:t>
            </a:fld>
            <a:endParaRPr lang="zh-CN" altLang="en-US"/>
          </a:p>
        </p:txBody>
      </p:sp>
    </p:spTree>
    <p:extLst>
      <p:ext uri="{BB962C8B-B14F-4D97-AF65-F5344CB8AC3E}">
        <p14:creationId xmlns:p14="http://schemas.microsoft.com/office/powerpoint/2010/main" val="24835918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54</a:t>
            </a:fld>
            <a:endParaRPr lang="zh-CN" altLang="en-US"/>
          </a:p>
        </p:txBody>
      </p:sp>
    </p:spTree>
    <p:extLst>
      <p:ext uri="{BB962C8B-B14F-4D97-AF65-F5344CB8AC3E}">
        <p14:creationId xmlns:p14="http://schemas.microsoft.com/office/powerpoint/2010/main" val="20055752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55</a:t>
            </a:fld>
            <a:endParaRPr lang="zh-CN" altLang="en-US"/>
          </a:p>
        </p:txBody>
      </p:sp>
    </p:spTree>
    <p:extLst>
      <p:ext uri="{BB962C8B-B14F-4D97-AF65-F5344CB8AC3E}">
        <p14:creationId xmlns:p14="http://schemas.microsoft.com/office/powerpoint/2010/main" val="6143201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56</a:t>
            </a:fld>
            <a:endParaRPr lang="zh-CN" altLang="en-US"/>
          </a:p>
        </p:txBody>
      </p:sp>
    </p:spTree>
    <p:extLst>
      <p:ext uri="{BB962C8B-B14F-4D97-AF65-F5344CB8AC3E}">
        <p14:creationId xmlns:p14="http://schemas.microsoft.com/office/powerpoint/2010/main" val="31059218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57</a:t>
            </a:fld>
            <a:endParaRPr lang="zh-CN" altLang="en-US"/>
          </a:p>
        </p:txBody>
      </p:sp>
    </p:spTree>
    <p:extLst>
      <p:ext uri="{BB962C8B-B14F-4D97-AF65-F5344CB8AC3E}">
        <p14:creationId xmlns:p14="http://schemas.microsoft.com/office/powerpoint/2010/main" val="4420854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58</a:t>
            </a:fld>
            <a:endParaRPr lang="zh-CN" altLang="en-US"/>
          </a:p>
        </p:txBody>
      </p:sp>
    </p:spTree>
    <p:extLst>
      <p:ext uri="{BB962C8B-B14F-4D97-AF65-F5344CB8AC3E}">
        <p14:creationId xmlns:p14="http://schemas.microsoft.com/office/powerpoint/2010/main" val="7368250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59</a:t>
            </a:fld>
            <a:endParaRPr lang="zh-CN" altLang="en-US"/>
          </a:p>
        </p:txBody>
      </p:sp>
    </p:spTree>
    <p:extLst>
      <p:ext uri="{BB962C8B-B14F-4D97-AF65-F5344CB8AC3E}">
        <p14:creationId xmlns:p14="http://schemas.microsoft.com/office/powerpoint/2010/main" val="21008415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60</a:t>
            </a:fld>
            <a:endParaRPr lang="zh-CN" altLang="en-US"/>
          </a:p>
        </p:txBody>
      </p:sp>
    </p:spTree>
    <p:extLst>
      <p:ext uri="{BB962C8B-B14F-4D97-AF65-F5344CB8AC3E}">
        <p14:creationId xmlns:p14="http://schemas.microsoft.com/office/powerpoint/2010/main" val="22478259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61</a:t>
            </a:fld>
            <a:endParaRPr lang="zh-CN" altLang="en-US"/>
          </a:p>
        </p:txBody>
      </p:sp>
    </p:spTree>
    <p:extLst>
      <p:ext uri="{BB962C8B-B14F-4D97-AF65-F5344CB8AC3E}">
        <p14:creationId xmlns:p14="http://schemas.microsoft.com/office/powerpoint/2010/main" val="11347387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62</a:t>
            </a:fld>
            <a:endParaRPr lang="zh-CN" altLang="en-US"/>
          </a:p>
        </p:txBody>
      </p:sp>
    </p:spTree>
    <p:extLst>
      <p:ext uri="{BB962C8B-B14F-4D97-AF65-F5344CB8AC3E}">
        <p14:creationId xmlns:p14="http://schemas.microsoft.com/office/powerpoint/2010/main" val="42580063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63</a:t>
            </a:fld>
            <a:endParaRPr lang="zh-CN" altLang="en-US"/>
          </a:p>
        </p:txBody>
      </p:sp>
    </p:spTree>
    <p:extLst>
      <p:ext uri="{BB962C8B-B14F-4D97-AF65-F5344CB8AC3E}">
        <p14:creationId xmlns:p14="http://schemas.microsoft.com/office/powerpoint/2010/main" val="39572512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64</a:t>
            </a:fld>
            <a:endParaRPr lang="zh-CN" altLang="en-US"/>
          </a:p>
        </p:txBody>
      </p:sp>
    </p:spTree>
    <p:extLst>
      <p:ext uri="{BB962C8B-B14F-4D97-AF65-F5344CB8AC3E}">
        <p14:creationId xmlns:p14="http://schemas.microsoft.com/office/powerpoint/2010/main" val="33639611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65</a:t>
            </a:fld>
            <a:endParaRPr lang="zh-CN" altLang="en-US"/>
          </a:p>
        </p:txBody>
      </p:sp>
    </p:spTree>
    <p:extLst>
      <p:ext uri="{BB962C8B-B14F-4D97-AF65-F5344CB8AC3E}">
        <p14:creationId xmlns:p14="http://schemas.microsoft.com/office/powerpoint/2010/main" val="3219803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66</a:t>
            </a:fld>
            <a:endParaRPr lang="zh-CN" altLang="en-US"/>
          </a:p>
        </p:txBody>
      </p:sp>
    </p:spTree>
    <p:extLst>
      <p:ext uri="{BB962C8B-B14F-4D97-AF65-F5344CB8AC3E}">
        <p14:creationId xmlns:p14="http://schemas.microsoft.com/office/powerpoint/2010/main" val="38560181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67</a:t>
            </a:fld>
            <a:endParaRPr lang="zh-CN" altLang="en-US"/>
          </a:p>
        </p:txBody>
      </p:sp>
    </p:spTree>
    <p:extLst>
      <p:ext uri="{BB962C8B-B14F-4D97-AF65-F5344CB8AC3E}">
        <p14:creationId xmlns:p14="http://schemas.microsoft.com/office/powerpoint/2010/main" val="17136366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68</a:t>
            </a:fld>
            <a:endParaRPr lang="zh-CN" altLang="en-US"/>
          </a:p>
        </p:txBody>
      </p:sp>
    </p:spTree>
    <p:extLst>
      <p:ext uri="{BB962C8B-B14F-4D97-AF65-F5344CB8AC3E}">
        <p14:creationId xmlns:p14="http://schemas.microsoft.com/office/powerpoint/2010/main" val="1736742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69</a:t>
            </a:fld>
            <a:endParaRPr lang="zh-CN" altLang="en-US"/>
          </a:p>
        </p:txBody>
      </p:sp>
    </p:spTree>
    <p:extLst>
      <p:ext uri="{BB962C8B-B14F-4D97-AF65-F5344CB8AC3E}">
        <p14:creationId xmlns:p14="http://schemas.microsoft.com/office/powerpoint/2010/main" val="10385383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70</a:t>
            </a:fld>
            <a:endParaRPr lang="zh-CN" altLang="en-US"/>
          </a:p>
        </p:txBody>
      </p:sp>
    </p:spTree>
    <p:extLst>
      <p:ext uri="{BB962C8B-B14F-4D97-AF65-F5344CB8AC3E}">
        <p14:creationId xmlns:p14="http://schemas.microsoft.com/office/powerpoint/2010/main" val="10322876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71</a:t>
            </a:fld>
            <a:endParaRPr lang="zh-CN" altLang="en-US"/>
          </a:p>
        </p:txBody>
      </p:sp>
    </p:spTree>
    <p:extLst>
      <p:ext uri="{BB962C8B-B14F-4D97-AF65-F5344CB8AC3E}">
        <p14:creationId xmlns:p14="http://schemas.microsoft.com/office/powerpoint/2010/main" val="39006210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72</a:t>
            </a:fld>
            <a:endParaRPr lang="zh-CN" altLang="en-US"/>
          </a:p>
        </p:txBody>
      </p:sp>
    </p:spTree>
    <p:extLst>
      <p:ext uri="{BB962C8B-B14F-4D97-AF65-F5344CB8AC3E}">
        <p14:creationId xmlns:p14="http://schemas.microsoft.com/office/powerpoint/2010/main" val="17935215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73</a:t>
            </a:fld>
            <a:endParaRPr lang="zh-CN" altLang="en-US"/>
          </a:p>
        </p:txBody>
      </p:sp>
    </p:spTree>
    <p:extLst>
      <p:ext uri="{BB962C8B-B14F-4D97-AF65-F5344CB8AC3E}">
        <p14:creationId xmlns:p14="http://schemas.microsoft.com/office/powerpoint/2010/main" val="22283491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74</a:t>
            </a:fld>
            <a:endParaRPr lang="zh-CN" altLang="en-US"/>
          </a:p>
        </p:txBody>
      </p:sp>
    </p:spTree>
    <p:extLst>
      <p:ext uri="{BB962C8B-B14F-4D97-AF65-F5344CB8AC3E}">
        <p14:creationId xmlns:p14="http://schemas.microsoft.com/office/powerpoint/2010/main" val="35316513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75</a:t>
            </a:fld>
            <a:endParaRPr lang="zh-CN" altLang="en-US"/>
          </a:p>
        </p:txBody>
      </p:sp>
    </p:spTree>
    <p:extLst>
      <p:ext uri="{BB962C8B-B14F-4D97-AF65-F5344CB8AC3E}">
        <p14:creationId xmlns:p14="http://schemas.microsoft.com/office/powerpoint/2010/main" val="414247231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7C88C8B-08D5-4B40-BCC9-A95CA2CAD9C2}" type="slidenum">
              <a:rPr lang="zh-CN" altLang="en-US" smtClean="0"/>
              <a:t>76</a:t>
            </a:fld>
            <a:endParaRPr lang="zh-CN" altLang="en-US"/>
          </a:p>
        </p:txBody>
      </p:sp>
    </p:spTree>
    <p:extLst>
      <p:ext uri="{BB962C8B-B14F-4D97-AF65-F5344CB8AC3E}">
        <p14:creationId xmlns:p14="http://schemas.microsoft.com/office/powerpoint/2010/main" val="327981942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77</a:t>
            </a:fld>
            <a:endParaRPr lang="zh-CN" altLang="en-US"/>
          </a:p>
        </p:txBody>
      </p:sp>
    </p:spTree>
    <p:extLst>
      <p:ext uri="{BB962C8B-B14F-4D97-AF65-F5344CB8AC3E}">
        <p14:creationId xmlns:p14="http://schemas.microsoft.com/office/powerpoint/2010/main" val="42630336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78</a:t>
            </a:fld>
            <a:endParaRPr lang="zh-CN" altLang="en-US"/>
          </a:p>
        </p:txBody>
      </p:sp>
    </p:spTree>
    <p:extLst>
      <p:ext uri="{BB962C8B-B14F-4D97-AF65-F5344CB8AC3E}">
        <p14:creationId xmlns:p14="http://schemas.microsoft.com/office/powerpoint/2010/main" val="4668936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79</a:t>
            </a:fld>
            <a:endParaRPr lang="zh-CN" altLang="en-US"/>
          </a:p>
        </p:txBody>
      </p:sp>
    </p:spTree>
    <p:extLst>
      <p:ext uri="{BB962C8B-B14F-4D97-AF65-F5344CB8AC3E}">
        <p14:creationId xmlns:p14="http://schemas.microsoft.com/office/powerpoint/2010/main" val="361758923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80</a:t>
            </a:fld>
            <a:endParaRPr lang="zh-CN" altLang="en-US"/>
          </a:p>
        </p:txBody>
      </p:sp>
    </p:spTree>
    <p:extLst>
      <p:ext uri="{BB962C8B-B14F-4D97-AF65-F5344CB8AC3E}">
        <p14:creationId xmlns:p14="http://schemas.microsoft.com/office/powerpoint/2010/main" val="113041072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81</a:t>
            </a:fld>
            <a:endParaRPr lang="zh-CN" altLang="en-US"/>
          </a:p>
        </p:txBody>
      </p:sp>
    </p:spTree>
    <p:extLst>
      <p:ext uri="{BB962C8B-B14F-4D97-AF65-F5344CB8AC3E}">
        <p14:creationId xmlns:p14="http://schemas.microsoft.com/office/powerpoint/2010/main" val="384001726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82</a:t>
            </a:fld>
            <a:endParaRPr lang="zh-CN" altLang="en-US"/>
          </a:p>
        </p:txBody>
      </p:sp>
    </p:spTree>
    <p:extLst>
      <p:ext uri="{BB962C8B-B14F-4D97-AF65-F5344CB8AC3E}">
        <p14:creationId xmlns:p14="http://schemas.microsoft.com/office/powerpoint/2010/main" val="9350159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83</a:t>
            </a:fld>
            <a:endParaRPr lang="zh-CN" altLang="en-US"/>
          </a:p>
        </p:txBody>
      </p:sp>
    </p:spTree>
    <p:extLst>
      <p:ext uri="{BB962C8B-B14F-4D97-AF65-F5344CB8AC3E}">
        <p14:creationId xmlns:p14="http://schemas.microsoft.com/office/powerpoint/2010/main" val="271272904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84</a:t>
            </a:fld>
            <a:endParaRPr lang="zh-CN" altLang="en-US"/>
          </a:p>
        </p:txBody>
      </p:sp>
    </p:spTree>
    <p:extLst>
      <p:ext uri="{BB962C8B-B14F-4D97-AF65-F5344CB8AC3E}">
        <p14:creationId xmlns:p14="http://schemas.microsoft.com/office/powerpoint/2010/main" val="19927183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85</a:t>
            </a:fld>
            <a:endParaRPr lang="zh-CN" altLang="en-US"/>
          </a:p>
        </p:txBody>
      </p:sp>
    </p:spTree>
    <p:extLst>
      <p:ext uri="{BB962C8B-B14F-4D97-AF65-F5344CB8AC3E}">
        <p14:creationId xmlns:p14="http://schemas.microsoft.com/office/powerpoint/2010/main" val="256935546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86</a:t>
            </a:fld>
            <a:endParaRPr lang="zh-CN" altLang="en-US"/>
          </a:p>
        </p:txBody>
      </p:sp>
    </p:spTree>
    <p:extLst>
      <p:ext uri="{BB962C8B-B14F-4D97-AF65-F5344CB8AC3E}">
        <p14:creationId xmlns:p14="http://schemas.microsoft.com/office/powerpoint/2010/main" val="218869076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87</a:t>
            </a:fld>
            <a:endParaRPr lang="zh-CN" altLang="en-US"/>
          </a:p>
        </p:txBody>
      </p:sp>
    </p:spTree>
    <p:extLst>
      <p:ext uri="{BB962C8B-B14F-4D97-AF65-F5344CB8AC3E}">
        <p14:creationId xmlns:p14="http://schemas.microsoft.com/office/powerpoint/2010/main" val="10197269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88</a:t>
            </a:fld>
            <a:endParaRPr lang="zh-CN" altLang="en-US"/>
          </a:p>
        </p:txBody>
      </p:sp>
    </p:spTree>
    <p:extLst>
      <p:ext uri="{BB962C8B-B14F-4D97-AF65-F5344CB8AC3E}">
        <p14:creationId xmlns:p14="http://schemas.microsoft.com/office/powerpoint/2010/main" val="3832203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89</a:t>
            </a:fld>
            <a:endParaRPr lang="zh-CN" altLang="en-US"/>
          </a:p>
        </p:txBody>
      </p:sp>
    </p:spTree>
    <p:extLst>
      <p:ext uri="{BB962C8B-B14F-4D97-AF65-F5344CB8AC3E}">
        <p14:creationId xmlns:p14="http://schemas.microsoft.com/office/powerpoint/2010/main" val="13191314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90</a:t>
            </a:fld>
            <a:endParaRPr lang="zh-CN" altLang="en-US"/>
          </a:p>
        </p:txBody>
      </p:sp>
    </p:spTree>
    <p:extLst>
      <p:ext uri="{BB962C8B-B14F-4D97-AF65-F5344CB8AC3E}">
        <p14:creationId xmlns:p14="http://schemas.microsoft.com/office/powerpoint/2010/main" val="56518032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91</a:t>
            </a:fld>
            <a:endParaRPr lang="zh-CN" altLang="en-US"/>
          </a:p>
        </p:txBody>
      </p:sp>
    </p:spTree>
    <p:extLst>
      <p:ext uri="{BB962C8B-B14F-4D97-AF65-F5344CB8AC3E}">
        <p14:creationId xmlns:p14="http://schemas.microsoft.com/office/powerpoint/2010/main" val="144079928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92</a:t>
            </a:fld>
            <a:endParaRPr lang="zh-CN" altLang="en-US"/>
          </a:p>
        </p:txBody>
      </p:sp>
    </p:spTree>
    <p:extLst>
      <p:ext uri="{BB962C8B-B14F-4D97-AF65-F5344CB8AC3E}">
        <p14:creationId xmlns:p14="http://schemas.microsoft.com/office/powerpoint/2010/main" val="74984694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93</a:t>
            </a:fld>
            <a:endParaRPr lang="zh-CN" altLang="en-US"/>
          </a:p>
        </p:txBody>
      </p:sp>
    </p:spTree>
    <p:extLst>
      <p:ext uri="{BB962C8B-B14F-4D97-AF65-F5344CB8AC3E}">
        <p14:creationId xmlns:p14="http://schemas.microsoft.com/office/powerpoint/2010/main" val="338498230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94</a:t>
            </a:fld>
            <a:endParaRPr lang="zh-CN" altLang="en-US"/>
          </a:p>
        </p:txBody>
      </p:sp>
    </p:spTree>
    <p:extLst>
      <p:ext uri="{BB962C8B-B14F-4D97-AF65-F5344CB8AC3E}">
        <p14:creationId xmlns:p14="http://schemas.microsoft.com/office/powerpoint/2010/main" val="32869679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95</a:t>
            </a:fld>
            <a:endParaRPr lang="zh-CN" altLang="en-US"/>
          </a:p>
        </p:txBody>
      </p:sp>
    </p:spTree>
    <p:extLst>
      <p:ext uri="{BB962C8B-B14F-4D97-AF65-F5344CB8AC3E}">
        <p14:creationId xmlns:p14="http://schemas.microsoft.com/office/powerpoint/2010/main" val="26677128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96</a:t>
            </a:fld>
            <a:endParaRPr lang="zh-CN" altLang="en-US"/>
          </a:p>
        </p:txBody>
      </p:sp>
    </p:spTree>
    <p:extLst>
      <p:ext uri="{BB962C8B-B14F-4D97-AF65-F5344CB8AC3E}">
        <p14:creationId xmlns:p14="http://schemas.microsoft.com/office/powerpoint/2010/main" val="223745831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97</a:t>
            </a:fld>
            <a:endParaRPr lang="zh-CN" altLang="en-US"/>
          </a:p>
        </p:txBody>
      </p:sp>
    </p:spTree>
    <p:extLst>
      <p:ext uri="{BB962C8B-B14F-4D97-AF65-F5344CB8AC3E}">
        <p14:creationId xmlns:p14="http://schemas.microsoft.com/office/powerpoint/2010/main" val="266023924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98</a:t>
            </a:fld>
            <a:endParaRPr lang="zh-CN" altLang="en-US"/>
          </a:p>
        </p:txBody>
      </p:sp>
    </p:spTree>
    <p:extLst>
      <p:ext uri="{BB962C8B-B14F-4D97-AF65-F5344CB8AC3E}">
        <p14:creationId xmlns:p14="http://schemas.microsoft.com/office/powerpoint/2010/main" val="74704660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99</a:t>
            </a:fld>
            <a:endParaRPr lang="zh-CN" altLang="en-US"/>
          </a:p>
        </p:txBody>
      </p:sp>
    </p:spTree>
    <p:extLst>
      <p:ext uri="{BB962C8B-B14F-4D97-AF65-F5344CB8AC3E}">
        <p14:creationId xmlns:p14="http://schemas.microsoft.com/office/powerpoint/2010/main" val="411414302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100</a:t>
            </a:fld>
            <a:endParaRPr lang="zh-CN" altLang="en-US"/>
          </a:p>
        </p:txBody>
      </p:sp>
    </p:spTree>
    <p:extLst>
      <p:ext uri="{BB962C8B-B14F-4D97-AF65-F5344CB8AC3E}">
        <p14:creationId xmlns:p14="http://schemas.microsoft.com/office/powerpoint/2010/main" val="25439696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101</a:t>
            </a:fld>
            <a:endParaRPr lang="zh-CN" altLang="en-US"/>
          </a:p>
        </p:txBody>
      </p:sp>
    </p:spTree>
    <p:extLst>
      <p:ext uri="{BB962C8B-B14F-4D97-AF65-F5344CB8AC3E}">
        <p14:creationId xmlns:p14="http://schemas.microsoft.com/office/powerpoint/2010/main" val="387518482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102</a:t>
            </a:fld>
            <a:endParaRPr lang="zh-CN" altLang="en-US"/>
          </a:p>
        </p:txBody>
      </p:sp>
    </p:spTree>
    <p:extLst>
      <p:ext uri="{BB962C8B-B14F-4D97-AF65-F5344CB8AC3E}">
        <p14:creationId xmlns:p14="http://schemas.microsoft.com/office/powerpoint/2010/main" val="25890469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103</a:t>
            </a:fld>
            <a:endParaRPr lang="zh-CN" altLang="en-US"/>
          </a:p>
        </p:txBody>
      </p:sp>
    </p:spTree>
    <p:extLst>
      <p:ext uri="{BB962C8B-B14F-4D97-AF65-F5344CB8AC3E}">
        <p14:creationId xmlns:p14="http://schemas.microsoft.com/office/powerpoint/2010/main" val="150065908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104</a:t>
            </a:fld>
            <a:endParaRPr lang="zh-CN" altLang="en-US"/>
          </a:p>
        </p:txBody>
      </p:sp>
    </p:spTree>
    <p:extLst>
      <p:ext uri="{BB962C8B-B14F-4D97-AF65-F5344CB8AC3E}">
        <p14:creationId xmlns:p14="http://schemas.microsoft.com/office/powerpoint/2010/main" val="4603190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105</a:t>
            </a:fld>
            <a:endParaRPr lang="zh-CN" altLang="en-US"/>
          </a:p>
        </p:txBody>
      </p:sp>
    </p:spTree>
    <p:extLst>
      <p:ext uri="{BB962C8B-B14F-4D97-AF65-F5344CB8AC3E}">
        <p14:creationId xmlns:p14="http://schemas.microsoft.com/office/powerpoint/2010/main" val="414438740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106</a:t>
            </a:fld>
            <a:endParaRPr lang="zh-CN" altLang="en-US"/>
          </a:p>
        </p:txBody>
      </p:sp>
    </p:spTree>
    <p:extLst>
      <p:ext uri="{BB962C8B-B14F-4D97-AF65-F5344CB8AC3E}">
        <p14:creationId xmlns:p14="http://schemas.microsoft.com/office/powerpoint/2010/main" val="18881294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107</a:t>
            </a:fld>
            <a:endParaRPr lang="zh-CN" altLang="en-US"/>
          </a:p>
        </p:txBody>
      </p:sp>
    </p:spTree>
    <p:extLst>
      <p:ext uri="{BB962C8B-B14F-4D97-AF65-F5344CB8AC3E}">
        <p14:creationId xmlns:p14="http://schemas.microsoft.com/office/powerpoint/2010/main" val="240894384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108</a:t>
            </a:fld>
            <a:endParaRPr lang="zh-CN" altLang="en-US"/>
          </a:p>
        </p:txBody>
      </p:sp>
    </p:spTree>
    <p:extLst>
      <p:ext uri="{BB962C8B-B14F-4D97-AF65-F5344CB8AC3E}">
        <p14:creationId xmlns:p14="http://schemas.microsoft.com/office/powerpoint/2010/main" val="7091573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100" kern="0" dirty="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87C88C8B-08D5-4B40-BCC9-A95CA2CAD9C2}" type="slidenum">
              <a:rPr lang="zh-CN" altLang="en-US" smtClean="0"/>
              <a:t>110</a:t>
            </a:fld>
            <a:endParaRPr lang="zh-CN" altLang="en-US"/>
          </a:p>
        </p:txBody>
      </p:sp>
    </p:spTree>
    <p:extLst>
      <p:ext uri="{BB962C8B-B14F-4D97-AF65-F5344CB8AC3E}">
        <p14:creationId xmlns:p14="http://schemas.microsoft.com/office/powerpoint/2010/main" val="789232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97D94A9-08CE-44DA-A0D5-17BD1D732D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2FAFEFE-9490-4349-BF18-C5E83338C085}" type="datetimeFigureOut">
              <a:rPr lang="zh-CN" altLang="en-US" smtClean="0">
                <a:solidFill>
                  <a:prstClr val="black">
                    <a:tint val="75000"/>
                  </a:prstClr>
                </a:solidFill>
              </a:rPr>
              <a:t>2026/8/26</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4F5B2A14-337C-4A11-92D9-9CF0574820B3}"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C0FA27-47EE-4872-9CCC-05936E0EAC8F}"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4" y="114300"/>
            <a:ext cx="7772400" cy="857250"/>
          </a:xfrm>
        </p:spPr>
        <p:txBody>
          <a:bodyPr lIns="91430" tIns="45715" rIns="91430" bIns="45715"/>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200150"/>
            <a:ext cx="3810000" cy="3371850"/>
          </a:xfrm>
        </p:spPr>
        <p:txBody>
          <a:bodyPr lIns="91430" tIns="45715" rIns="91430" bIns="45715"/>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4" y="1200150"/>
            <a:ext cx="3810000" cy="3371850"/>
          </a:xfrm>
        </p:spPr>
        <p:txBody>
          <a:bodyPr lIns="91430" tIns="45715" rIns="91430" bIns="45715"/>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a:xfrm>
            <a:off x="685803" y="4629150"/>
            <a:ext cx="1905001" cy="342900"/>
          </a:xfrm>
        </p:spPr>
        <p:txBody>
          <a:bodyPr lIns="91430" tIns="45715" rIns="91430" bIns="45715"/>
          <a:lstStyle/>
          <a:p>
            <a:pPr fontAlgn="base">
              <a:spcBef>
                <a:spcPct val="0"/>
              </a:spcBef>
              <a:spcAft>
                <a:spcPct val="0"/>
              </a:spcAft>
              <a:defRPr/>
            </a:pPr>
            <a:endParaRPr kumimoji="1" lang="en-US" altLang="zh-CN" sz="1400" dirty="0">
              <a:latin typeface="+mj-lt"/>
            </a:endParaRPr>
          </a:p>
        </p:txBody>
      </p:sp>
      <p:sp>
        <p:nvSpPr>
          <p:cNvPr id="6" name="页脚占位符 5"/>
          <p:cNvSpPr>
            <a:spLocks noGrp="1"/>
          </p:cNvSpPr>
          <p:nvPr>
            <p:ph type="ftr" sz="quarter" idx="11"/>
          </p:nvPr>
        </p:nvSpPr>
        <p:spPr>
          <a:xfrm>
            <a:off x="3124204" y="4629150"/>
            <a:ext cx="2895600" cy="342900"/>
          </a:xfrm>
        </p:spPr>
        <p:txBody>
          <a:bodyPr lIns="91430" tIns="45715" rIns="91430" bIns="45715"/>
          <a:lstStyle/>
          <a:p>
            <a:pPr algn="ctr" fontAlgn="base">
              <a:spcBef>
                <a:spcPct val="0"/>
              </a:spcBef>
              <a:spcAft>
                <a:spcPct val="0"/>
              </a:spcAft>
              <a:defRPr/>
            </a:pPr>
            <a:endParaRPr kumimoji="1" lang="en-US" altLang="zh-CN" sz="1400" dirty="0">
              <a:latin typeface="+mj-lt"/>
            </a:endParaRPr>
          </a:p>
        </p:txBody>
      </p:sp>
      <p:sp>
        <p:nvSpPr>
          <p:cNvPr id="7" name="灯片编号占位符 6"/>
          <p:cNvSpPr>
            <a:spLocks noGrp="1"/>
          </p:cNvSpPr>
          <p:nvPr>
            <p:ph type="sldNum" sz="quarter" idx="12"/>
          </p:nvPr>
        </p:nvSpPr>
        <p:spPr>
          <a:xfrm>
            <a:off x="6553204" y="4629150"/>
            <a:ext cx="1905001" cy="342900"/>
          </a:xfrm>
        </p:spPr>
        <p:txBody>
          <a:bodyPr lIns="91430" tIns="45715" rIns="91430" bIns="45715"/>
          <a:lstStyle/>
          <a:p>
            <a:pPr lvl="0" algn="r" eaLnBrk="1" fontAlgn="base" hangingPunct="1"/>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extLst>
      <p:ext uri="{BB962C8B-B14F-4D97-AF65-F5344CB8AC3E}">
        <p14:creationId xmlns:p14="http://schemas.microsoft.com/office/powerpoint/2010/main" val="3535457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D0E3B3B-1D3D-49D2-8D53-2796044E017E}" type="datetimeFigureOut">
              <a:rPr lang="zh-CN" altLang="en-US" smtClean="0"/>
              <a:t>2026/8/26</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4C0FA27-47EE-4872-9CCC-05936E0EAC8F}" type="slidenum">
              <a:rPr lang="zh-CN" altLang="en-US" smtClean="0"/>
              <a:t>‹#›</a:t>
            </a:fld>
            <a:endParaRPr lang="zh-CN" altLang="en-US"/>
          </a:p>
        </p:txBody>
      </p:sp>
      <p:pic>
        <p:nvPicPr>
          <p:cNvPr id="7" name="Picture 2"/>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245660" y="28575"/>
            <a:ext cx="862844" cy="843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69721" y="1774641"/>
            <a:ext cx="7560841" cy="369332"/>
          </a:xfrm>
          <a:prstGeom prst="rect">
            <a:avLst/>
          </a:prstGeom>
        </p:spPr>
        <p:txBody>
          <a:bodyPr wrap="square">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欢迎同学们</a:t>
            </a:r>
            <a:r>
              <a:rPr lang="zh-CN" altLang="en-US" b="1" smtClean="0">
                <a:solidFill>
                  <a:srgbClr val="C00000"/>
                </a:solidFill>
                <a:latin typeface="微软雅黑" panose="020B0503020204020204" pitchFamily="34" charset="-122"/>
                <a:ea typeface="微软雅黑" panose="020B0503020204020204" pitchFamily="34" charset="-122"/>
              </a:rPr>
              <a:t>进入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创客训练营</a:t>
            </a:r>
            <a:r>
              <a:rPr lang="en-US" altLang="zh-CN" b="1" smtClean="0">
                <a:solidFill>
                  <a:srgbClr val="C00000"/>
                </a:solidFill>
                <a:latin typeface="微软雅黑" panose="020B0503020204020204" pitchFamily="34" charset="-122"/>
                <a:ea typeface="微软雅黑" panose="020B0503020204020204" pitchFamily="34" charset="-122"/>
              </a:rPr>
              <a:t>》</a:t>
            </a:r>
            <a:r>
              <a:rPr lang="zh-CN" altLang="en-US" b="1" smtClean="0">
                <a:solidFill>
                  <a:srgbClr val="C00000"/>
                </a:solidFill>
                <a:latin typeface="微软雅黑" panose="020B0503020204020204" pitchFamily="34" charset="-122"/>
                <a:ea typeface="微软雅黑" panose="020B0503020204020204" pitchFamily="34" charset="-122"/>
              </a:rPr>
              <a:t>课</a:t>
            </a:r>
            <a:r>
              <a:rPr lang="zh-CN" altLang="en-US" b="1" dirty="0" smtClean="0">
                <a:solidFill>
                  <a:srgbClr val="C00000"/>
                </a:solidFill>
                <a:latin typeface="微软雅黑" panose="020B0503020204020204" pitchFamily="34" charset="-122"/>
                <a:ea typeface="微软雅黑" panose="020B0503020204020204" pitchFamily="34" charset="-122"/>
              </a:rPr>
              <a:t>堂，请</a:t>
            </a:r>
            <a:r>
              <a:rPr lang="zh-CN" altLang="en-US" b="1" smtClean="0">
                <a:solidFill>
                  <a:srgbClr val="C00000"/>
                </a:solidFill>
                <a:latin typeface="微软雅黑" panose="020B0503020204020204" pitchFamily="34" charset="-122"/>
                <a:ea typeface="微软雅黑" panose="020B0503020204020204" pitchFamily="34" charset="-122"/>
              </a:rPr>
              <a:t>同学们按分组信息</a:t>
            </a:r>
            <a:r>
              <a:rPr lang="zh-CN" altLang="en-US" b="1" dirty="0" smtClean="0">
                <a:solidFill>
                  <a:srgbClr val="C00000"/>
                </a:solidFill>
                <a:latin typeface="微软雅黑" panose="020B0503020204020204" pitchFamily="34" charset="-122"/>
                <a:ea typeface="微软雅黑" panose="020B0503020204020204" pitchFamily="34" charset="-122"/>
              </a:rPr>
              <a:t>组入座！</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467544" y="1101973"/>
            <a:ext cx="7848872" cy="446276"/>
          </a:xfrm>
          <a:prstGeom prst="rect">
            <a:avLst/>
          </a:prstGeom>
          <a:solidFill>
            <a:srgbClr val="0070C0"/>
          </a:solidFill>
        </p:spPr>
        <p:txBody>
          <a:bodyPr wrap="square">
            <a:spAutoFit/>
          </a:bodyPr>
          <a:lstStyle/>
          <a:p>
            <a:pPr algn="ctr"/>
            <a:r>
              <a:rPr lang="zh-CN" altLang="en-US" sz="2300" b="1" smtClean="0">
                <a:solidFill>
                  <a:schemeClr val="bg1"/>
                </a:solidFill>
                <a:latin typeface="微软雅黑" panose="020B0503020204020204" pitchFamily="34" charset="-122"/>
                <a:ea typeface="微软雅黑" panose="020B0503020204020204" pitchFamily="34" charset="-122"/>
              </a:rPr>
              <a:t>创客</a:t>
            </a:r>
            <a:r>
              <a:rPr lang="en-US" altLang="zh-CN" sz="2300" b="1" smtClean="0">
                <a:solidFill>
                  <a:schemeClr val="bg1"/>
                </a:solidFill>
                <a:latin typeface="微软雅黑" panose="020B0503020204020204" pitchFamily="34" charset="-122"/>
                <a:ea typeface="微软雅黑" panose="020B0503020204020204" pitchFamily="34" charset="-122"/>
              </a:rPr>
              <a:t>2601</a:t>
            </a:r>
            <a:r>
              <a:rPr lang="zh-CN" altLang="zh-CN" sz="2300" b="1" smtClean="0">
                <a:solidFill>
                  <a:schemeClr val="bg1"/>
                </a:solidFill>
                <a:latin typeface="微软雅黑" panose="020B0503020204020204" pitchFamily="34" charset="-122"/>
                <a:ea typeface="微软雅黑" panose="020B0503020204020204" pitchFamily="34" charset="-122"/>
              </a:rPr>
              <a:t>班</a:t>
            </a:r>
            <a:r>
              <a:rPr lang="zh-CN" altLang="en-US" sz="2300" b="1" smtClean="0">
                <a:solidFill>
                  <a:schemeClr val="bg1"/>
                </a:solidFill>
                <a:latin typeface="微软雅黑" panose="020B0503020204020204" pitchFamily="34" charset="-122"/>
                <a:ea typeface="微软雅黑" panose="020B0503020204020204" pitchFamily="34" charset="-122"/>
              </a:rPr>
              <a:t>“创客训练营”</a:t>
            </a:r>
            <a:r>
              <a:rPr lang="zh-CN" altLang="zh-CN" sz="2300" b="1" smtClean="0">
                <a:solidFill>
                  <a:schemeClr val="bg1"/>
                </a:solidFill>
                <a:latin typeface="微软雅黑" panose="020B0503020204020204" pitchFamily="34" charset="-122"/>
                <a:ea typeface="微软雅黑" panose="020B0503020204020204" pitchFamily="34" charset="-122"/>
              </a:rPr>
              <a:t>课</a:t>
            </a:r>
            <a:r>
              <a:rPr lang="zh-CN" altLang="zh-CN" sz="2300" b="1" dirty="0">
                <a:solidFill>
                  <a:schemeClr val="bg1"/>
                </a:solidFill>
                <a:latin typeface="微软雅黑" panose="020B0503020204020204" pitchFamily="34" charset="-122"/>
                <a:ea typeface="微软雅黑" panose="020B0503020204020204" pitchFamily="34" charset="-122"/>
              </a:rPr>
              <a:t>程分组</a:t>
            </a:r>
            <a:r>
              <a:rPr lang="zh-CN" altLang="zh-CN" sz="2300" b="1" dirty="0" smtClean="0">
                <a:solidFill>
                  <a:schemeClr val="bg1"/>
                </a:solidFill>
                <a:latin typeface="微软雅黑" panose="020B0503020204020204" pitchFamily="34" charset="-122"/>
                <a:ea typeface="微软雅黑" panose="020B0503020204020204" pitchFamily="34" charset="-122"/>
              </a:rPr>
              <a:t>信息</a:t>
            </a:r>
            <a:endParaRPr lang="zh-CN" altLang="en-US" sz="2300" b="1" dirty="0">
              <a:solidFill>
                <a:srgbClr val="FFFF00"/>
              </a:solidFill>
              <a:latin typeface="微软雅黑" panose="020B0503020204020204" pitchFamily="34" charset="-122"/>
              <a:ea typeface="微软雅黑" panose="020B0503020204020204" pitchFamily="34" charset="-122"/>
            </a:endParaRPr>
          </a:p>
        </p:txBody>
      </p:sp>
      <p:sp>
        <p:nvSpPr>
          <p:cNvPr id="19" name="矩形 18"/>
          <p:cNvSpPr/>
          <p:nvPr/>
        </p:nvSpPr>
        <p:spPr>
          <a:xfrm>
            <a:off x="943057" y="1"/>
            <a:ext cx="4349026" cy="743976"/>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44" r="13200" b="14934"/>
          <a:stretch>
            <a:fillRect/>
          </a:stretch>
        </p:blipFill>
        <p:spPr bwMode="auto">
          <a:xfrm>
            <a:off x="2706" y="3118"/>
            <a:ext cx="940351" cy="740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 name="表格 21"/>
          <p:cNvGraphicFramePr>
            <a:graphicFrameLocks noGrp="1"/>
          </p:cNvGraphicFramePr>
          <p:nvPr>
            <p:extLst/>
          </p:nvPr>
        </p:nvGraphicFramePr>
        <p:xfrm>
          <a:off x="179512" y="2430374"/>
          <a:ext cx="1731951" cy="1874142"/>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55589">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韩俊彦</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李孝贤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李往泽</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8384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贾奥然</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姜彧喆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杨清威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4" name="表格 23"/>
          <p:cNvGraphicFramePr>
            <a:graphicFrameLocks noGrp="1"/>
          </p:cNvGraphicFramePr>
          <p:nvPr>
            <p:extLst/>
          </p:nvPr>
        </p:nvGraphicFramePr>
        <p:xfrm>
          <a:off x="19834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李希冰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郑宇洁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齐高雅</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B2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肖佳彤</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陈红旭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   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5" name="表格 24"/>
          <p:cNvGraphicFramePr>
            <a:graphicFrameLocks noGrp="1"/>
          </p:cNvGraphicFramePr>
          <p:nvPr>
            <p:extLst/>
          </p:nvPr>
        </p:nvGraphicFramePr>
        <p:xfrm>
          <a:off x="3783670" y="2430374"/>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邵子中</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姜亚楷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李昊桐</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C2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苏相龙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曹梓誉</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邵晨晨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6" name="表格 25"/>
          <p:cNvGraphicFramePr>
            <a:graphicFrameLocks noGrp="1"/>
          </p:cNvGraphicFramePr>
          <p:nvPr>
            <p:extLst/>
          </p:nvPr>
        </p:nvGraphicFramePr>
        <p:xfrm>
          <a:off x="5583870" y="2415516"/>
          <a:ext cx="1724434" cy="1841694"/>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张一帆</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张丽文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付智阳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D2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胡紫晨</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李佳曙</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李鹏程</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4712542"/>
                  </a:ext>
                </a:extLst>
              </a:tr>
            </a:tbl>
          </a:graphicData>
        </a:graphic>
      </p:graphicFrame>
      <p:graphicFrame>
        <p:nvGraphicFramePr>
          <p:cNvPr id="27" name="表格 26"/>
          <p:cNvGraphicFramePr>
            <a:graphicFrameLocks noGrp="1"/>
          </p:cNvGraphicFramePr>
          <p:nvPr>
            <p:extLst/>
          </p:nvPr>
        </p:nvGraphicFramePr>
        <p:xfrm>
          <a:off x="7384070" y="2430374"/>
          <a:ext cx="1724434" cy="1590297"/>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929121985"/>
                    </a:ext>
                  </a:extLst>
                </a:gridCol>
                <a:gridCol w="648072">
                  <a:extLst>
                    <a:ext uri="{9D8B030D-6E8A-4147-A177-3AD203B41FA5}">
                      <a16:colId xmlns:a16="http://schemas.microsoft.com/office/drawing/2014/main" val="2905829764"/>
                    </a:ext>
                  </a:extLst>
                </a:gridCol>
                <a:gridCol w="500298">
                  <a:extLst>
                    <a:ext uri="{9D8B030D-6E8A-4147-A177-3AD203B41FA5}">
                      <a16:colId xmlns:a16="http://schemas.microsoft.com/office/drawing/2014/main" val="1673921891"/>
                    </a:ext>
                  </a:extLst>
                </a:gridCol>
              </a:tblGrid>
              <a:tr h="123025">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姓    名</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桌号</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5328697"/>
                  </a:ext>
                </a:extLst>
              </a:tr>
              <a:tr h="226695">
                <a:tc row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E1</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徐禛种</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座</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030997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高佳玥</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966853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陈宇辰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0550164"/>
                  </a:ext>
                </a:extLst>
              </a:tr>
              <a:tr h="226695">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E2</a:t>
                      </a:r>
                      <a:r>
                        <a:rPr lang="zh-CN" altLang="en-US" sz="1200" b="1" kern="12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组</a:t>
                      </a: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施建宇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55179321"/>
                  </a:ext>
                </a:extLst>
              </a:tr>
              <a:tr h="226695">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zh-CN" altLang="en-US" sz="12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赵伯兴</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zh-CN" altLang="en-US" sz="1400" b="1" kern="12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44729740"/>
                  </a:ext>
                </a:extLst>
              </a:tr>
            </a:tbl>
          </a:graphicData>
        </a:graphic>
      </p:graphicFrame>
    </p:spTree>
    <p:extLst>
      <p:ext uri="{BB962C8B-B14F-4D97-AF65-F5344CB8AC3E}">
        <p14:creationId xmlns:p14="http://schemas.microsoft.com/office/powerpoint/2010/main" val="3247537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600" y="1708150"/>
            <a:ext cx="6984776" cy="797141"/>
          </a:xfrm>
          <a:prstGeom prst="rect">
            <a:avLst/>
          </a:prstGeom>
        </p:spPr>
        <p:txBody>
          <a:bodyPr wrap="square">
            <a:spAutoFit/>
          </a:bodyPr>
          <a:lstStyle/>
          <a:p>
            <a:pPr lvl="0" algn="l">
              <a:lnSpc>
                <a:spcPct val="120000"/>
              </a:lnSpc>
              <a:spcBef>
                <a:spcPts val="600"/>
              </a:spcBef>
              <a:buClrTx/>
              <a:buSzTx/>
              <a:buFontTx/>
            </a:pPr>
            <a:r>
              <a:rPr lang="en-US" altLang="zh-CN" sz="1400" b="1" dirty="0">
                <a:latin typeface="Times New Roman" panose="02020603050405020304" pitchFamily="18" charset="0"/>
                <a:ea typeface="仿宋" panose="02010609060101010101" pitchFamily="49" charset="-122"/>
                <a:cs typeface="Times New Roman" panose="02020603050405020304" pitchFamily="18" charset="0"/>
              </a:rPr>
              <a:t>SCAMPER </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和六顶思考帽各自发现了什么类型的问题？两种工具之间形成了什么互</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补</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b="1" smtClean="0">
              <a:latin typeface="Times New Roman" panose="02020603050405020304" pitchFamily="18" charset="0"/>
              <a:ea typeface="仿宋" panose="02010609060101010101" pitchFamily="49" charset="-122"/>
              <a:cs typeface="Times New Roman" panose="02020603050405020304" pitchFamily="18" charset="0"/>
            </a:endParaRPr>
          </a:p>
          <a:p>
            <a:pPr lvl="0" algn="l">
              <a:lnSpc>
                <a:spcPct val="120000"/>
              </a:lnSpc>
              <a:spcBef>
                <a:spcPts val="600"/>
              </a:spcBef>
              <a:buClrTx/>
              <a:buSzTx/>
              <a:buFontTx/>
            </a:pPr>
            <a:r>
              <a:rPr lang="en-US" altLang="zh-CN" sz="14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rPr>
              <a:t>陈宇辰</a:t>
            </a:r>
          </a:p>
        </p:txBody>
      </p:sp>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分</a:t>
            </a:r>
            <a:r>
              <a:rPr lang="zh-CN" altLang="zh-CN" sz="2400" b="1" dirty="0">
                <a:solidFill>
                  <a:schemeClr val="bg1"/>
                </a:solidFill>
                <a:latin typeface="微软雅黑" panose="020B0503020204020204" pitchFamily="34" charset="-122"/>
                <a:ea typeface="微软雅黑" panose="020B0503020204020204" pitchFamily="34" charset="-122"/>
              </a:rPr>
              <a:t>享</a:t>
            </a:r>
            <a:r>
              <a:rPr lang="zh-CN" altLang="en-US" sz="2400" b="1" dirty="0">
                <a:solidFill>
                  <a:schemeClr val="bg1"/>
                </a:solidFill>
                <a:latin typeface="微软雅黑" panose="020B0503020204020204" pitchFamily="34" charset="-122"/>
                <a:ea typeface="微软雅黑" panose="020B0503020204020204" pitchFamily="34" charset="-122"/>
              </a:rPr>
              <a:t>课后学习活动优秀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971600" y="2531747"/>
            <a:ext cx="7334195" cy="2158365"/>
          </a:xfrm>
          <a:prstGeom prst="rect">
            <a:avLst/>
          </a:prstGeom>
        </p:spPr>
        <p:txBody>
          <a:bodyPr wrap="square">
            <a:spAutoFit/>
          </a:bodyPr>
          <a:lstStyle/>
          <a:p>
            <a:pPr algn="just">
              <a:lnSpc>
                <a:spcPct val="120000"/>
              </a:lnSpc>
              <a:spcBef>
                <a:spcPts val="600"/>
              </a:spcBef>
            </a:pP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SCAMPER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帮我们从结构维度发现了方案的</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具体改进点</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 —— 例如 </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S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维度揭示了 "手动输入效率低" 的问题，</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E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维度揭示了 "清单太长决策成本高" 的问题，这些都是产品层面可操作的改进。而六顶思考帽中的黑帽让我们意识到，</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SCAMPER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发现的结构问题并非最大风险 —— </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用户对 </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rPr>
              <a:t>AI </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推荐的信任度和安全兜底才是决定方案成败的关键</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。例如，</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SCAMPER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的 </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A </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维度指出了 "推荐算法迁移可靠性" 的技术问题，但黑帽进一步追问："如果推荐错了导致安全事故，责任谁担？" 这将一个技术问题升级为信任和安全的战略问题。两种工具的结合让我们既看到了 "怎么改产品"，也看到了 "改产品之前必须先解决什么根本问题"，避免了只优化结构而忽视核心风险的盲区。</a:t>
            </a:r>
          </a:p>
        </p:txBody>
      </p:sp>
      <p:sp>
        <p:nvSpPr>
          <p:cNvPr id="10" name="标题 1"/>
          <p:cNvSpPr txBox="1"/>
          <p:nvPr/>
        </p:nvSpPr>
        <p:spPr>
          <a:xfrm>
            <a:off x="0" y="1"/>
            <a:ext cx="7236296"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en-US" altLang="zh-CN" sz="2800" b="1">
                <a:solidFill>
                  <a:prstClr val="white"/>
                </a:solidFill>
                <a:latin typeface="微软雅黑" panose="020B0503020204020204" pitchFamily="34" charset="-122"/>
                <a:ea typeface="微软雅黑" panose="020B0503020204020204" pitchFamily="34" charset="-122"/>
              </a:rPr>
              <a:t>0</a:t>
            </a:r>
            <a:r>
              <a:rPr lang="zh-CN" altLang="en-US" sz="2800" b="1">
                <a:solidFill>
                  <a:prstClr val="white"/>
                </a:solidFill>
                <a:latin typeface="微软雅黑" panose="020B0503020204020204" pitchFamily="34" charset="-122"/>
                <a:ea typeface="微软雅黑" panose="020B0503020204020204" pitchFamily="34" charset="-122"/>
              </a:rPr>
              <a:t>、</a:t>
            </a:r>
            <a:r>
              <a:rPr lang="zh-CN" altLang="en-US" sz="2800" b="1" smtClean="0">
                <a:solidFill>
                  <a:schemeClr val="bg1"/>
                </a:solidFill>
                <a:latin typeface="微软雅黑" panose="020B0503020204020204" pitchFamily="34" charset="-122"/>
                <a:ea typeface="微软雅黑" panose="020B0503020204020204" pitchFamily="34" charset="-122"/>
              </a:rPr>
              <a:t>“创新方法工作坊”</a:t>
            </a:r>
            <a:r>
              <a:rPr lang="zh-CN" altLang="en-US" sz="2800" b="1">
                <a:solidFill>
                  <a:schemeClr val="bg1"/>
                </a:solidFill>
                <a:latin typeface="微软雅黑" panose="020B0503020204020204" pitchFamily="34" charset="-122"/>
                <a:ea typeface="微软雅黑" panose="020B0503020204020204" pitchFamily="34" charset="-122"/>
              </a:rPr>
              <a:t>学习反思成果</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74717110"/>
      </p:ext>
    </p:extLst>
  </p:cSld>
  <p:clrMapOvr>
    <a:masterClrMapping/>
  </p:clrMapOvr>
  <p:transition advTm="31939">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599" y="1707654"/>
            <a:ext cx="6768753" cy="461665"/>
          </a:xfrm>
          <a:prstGeom prst="rect">
            <a:avLst/>
          </a:prstGeom>
        </p:spPr>
        <p:txBody>
          <a:bodyPr wrap="square">
            <a:spAutoFit/>
          </a:bodyPr>
          <a:lstStyle/>
          <a:p>
            <a:pPr lvl="0">
              <a:lnSpc>
                <a:spcPct val="120000"/>
              </a:lnSpc>
              <a:spcBef>
                <a:spcPts val="600"/>
              </a:spcBef>
            </a:pP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"从0到1"与"从1到</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N"</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思维方式最大的不同是什么？</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sym typeface="+mn-ea"/>
              </a:rPr>
              <a:t>杨清威</a:t>
            </a:r>
          </a:p>
        </p:txBody>
      </p:sp>
      <p:sp>
        <p:nvSpPr>
          <p:cNvPr id="7" name="矩形 6"/>
          <p:cNvSpPr/>
          <p:nvPr/>
        </p:nvSpPr>
        <p:spPr>
          <a:xfrm>
            <a:off x="971600" y="1131591"/>
            <a:ext cx="5400600" cy="46037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分</a:t>
            </a:r>
            <a:r>
              <a:rPr lang="zh-CN" altLang="zh-CN" sz="2400" b="1" dirty="0">
                <a:solidFill>
                  <a:schemeClr val="bg1"/>
                </a:solidFill>
                <a:latin typeface="微软雅黑" panose="020B0503020204020204" pitchFamily="34" charset="-122"/>
                <a:ea typeface="微软雅黑" panose="020B0503020204020204" pitchFamily="34" charset="-122"/>
              </a:rPr>
              <a:t>享</a:t>
            </a:r>
            <a:r>
              <a:rPr lang="zh-CN" altLang="en-US" sz="2400" b="1" dirty="0">
                <a:solidFill>
                  <a:schemeClr val="bg1"/>
                </a:solidFill>
                <a:latin typeface="微软雅黑" panose="020B0503020204020204" pitchFamily="34" charset="-122"/>
                <a:ea typeface="微软雅黑" panose="020B0503020204020204" pitchFamily="34" charset="-122"/>
              </a:rPr>
              <a:t>课后学习活动优秀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 name="AutoShape 2"/>
          <p:cNvSpPr>
            <a:spLocks noChangeAspect="1" noChangeArrowheads="1"/>
          </p:cNvSpPr>
          <p:nvPr/>
        </p:nvSpPr>
        <p:spPr bwMode="auto">
          <a:xfrm>
            <a:off x="3707904" y="2419350"/>
            <a:ext cx="1016496" cy="10164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a:lnSpc>
                <a:spcPct val="120000"/>
              </a:lnSpc>
              <a:spcBef>
                <a:spcPts val="600"/>
              </a:spcBef>
            </a:pPr>
            <a:endParaRPr lang="zh-CN" altLang="en-US">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971599" y="2419350"/>
            <a:ext cx="7272809" cy="1383030"/>
          </a:xfrm>
          <a:prstGeom prst="rect">
            <a:avLst/>
          </a:prstGeom>
        </p:spPr>
        <p:txBody>
          <a:bodyPr wrap="square">
            <a:spAutoFit/>
          </a:bodyPr>
          <a:lstStyle/>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设计思维工作坊的"从0到1"要求我们相信用户的痛点是真实的，</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思维姿态是开放与共情</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——访谈中我们不质疑"学员是否真的不敢就医"，而是设法听到更多真实声音；本次"从1到</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N"</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的验证要求我们怀疑自己的解决方案是否真的能解决痛点，</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思维姿态是批判与求证</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——我们不再问"用户有多痛"，而是问"我们的方案凭什么能接住这份痛，证据在哪里"。前者是发现问题时的开放，后者是审视方案时的批判，完整创新流程两者缺一不可。</a:t>
            </a:r>
          </a:p>
        </p:txBody>
      </p:sp>
      <p:sp>
        <p:nvSpPr>
          <p:cNvPr id="11" name="标题 1"/>
          <p:cNvSpPr txBox="1"/>
          <p:nvPr/>
        </p:nvSpPr>
        <p:spPr>
          <a:xfrm>
            <a:off x="0" y="1"/>
            <a:ext cx="7236296"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en-US" altLang="zh-CN" sz="2800" b="1">
                <a:solidFill>
                  <a:prstClr val="white"/>
                </a:solidFill>
                <a:latin typeface="微软雅黑" panose="020B0503020204020204" pitchFamily="34" charset="-122"/>
                <a:ea typeface="微软雅黑" panose="020B0503020204020204" pitchFamily="34" charset="-122"/>
              </a:rPr>
              <a:t>0</a:t>
            </a:r>
            <a:r>
              <a:rPr lang="zh-CN" altLang="en-US" sz="2800" b="1">
                <a:solidFill>
                  <a:prstClr val="white"/>
                </a:solidFill>
                <a:latin typeface="微软雅黑" panose="020B0503020204020204" pitchFamily="34" charset="-122"/>
                <a:ea typeface="微软雅黑" panose="020B0503020204020204" pitchFamily="34" charset="-122"/>
              </a:rPr>
              <a:t>、</a:t>
            </a:r>
            <a:r>
              <a:rPr lang="zh-CN" altLang="en-US" sz="2800" b="1" smtClean="0">
                <a:solidFill>
                  <a:schemeClr val="bg1"/>
                </a:solidFill>
                <a:latin typeface="微软雅黑" panose="020B0503020204020204" pitchFamily="34" charset="-122"/>
                <a:ea typeface="微软雅黑" panose="020B0503020204020204" pitchFamily="34" charset="-122"/>
              </a:rPr>
              <a:t>“创新方法工作坊”</a:t>
            </a:r>
            <a:r>
              <a:rPr lang="zh-CN" altLang="en-US" sz="2800" b="1">
                <a:solidFill>
                  <a:schemeClr val="bg1"/>
                </a:solidFill>
                <a:latin typeface="微软雅黑" panose="020B0503020204020204" pitchFamily="34" charset="-122"/>
                <a:ea typeface="微软雅黑" panose="020B0503020204020204" pitchFamily="34" charset="-122"/>
              </a:rPr>
              <a:t>学习反思成果</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7866149"/>
      </p:ext>
    </p:extLst>
  </p:cSld>
  <p:clrMapOvr>
    <a:masterClrMapping/>
  </p:clrMapOvr>
  <p:transition advTm="31939">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9144000" cy="89414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en-US" altLang="zh-CN" sz="4000" b="1" dirty="0">
                <a:solidFill>
                  <a:schemeClr val="accent1"/>
                </a:solidFill>
                <a:latin typeface="微软雅黑" panose="020B0503020204020204" pitchFamily="34" charset="-122"/>
                <a:ea typeface="微软雅黑" panose="020B0503020204020204" pitchFamily="34" charset="-122"/>
              </a:rPr>
              <a:t>   </a:t>
            </a:r>
            <a:endParaRPr lang="zh-CN" altLang="en-US" sz="3600" dirty="0">
              <a:latin typeface="+mn-ea"/>
            </a:endParaRPr>
          </a:p>
        </p:txBody>
      </p:sp>
      <p:sp>
        <p:nvSpPr>
          <p:cNvPr id="4" name="标题 1"/>
          <p:cNvSpPr txBox="1"/>
          <p:nvPr/>
        </p:nvSpPr>
        <p:spPr>
          <a:xfrm>
            <a:off x="0" y="1635646"/>
            <a:ext cx="9144000" cy="1512168"/>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600" b="1" dirty="0">
                <a:solidFill>
                  <a:srgbClr val="0070C0"/>
                </a:solidFill>
                <a:latin typeface="微软雅黑" panose="020B0503020204020204" pitchFamily="34" charset="-122"/>
                <a:ea typeface="微软雅黑" panose="020B0503020204020204" pitchFamily="34" charset="-122"/>
              </a:rPr>
              <a:t>创客训练营</a:t>
            </a:r>
            <a:endParaRPr lang="en-US" altLang="zh-CN" sz="3600" b="1" dirty="0">
              <a:solidFill>
                <a:srgbClr val="0070C0"/>
              </a:solidFill>
              <a:latin typeface="微软雅黑" panose="020B0503020204020204" pitchFamily="34" charset="-122"/>
              <a:ea typeface="微软雅黑" panose="020B0503020204020204" pitchFamily="34" charset="-122"/>
            </a:endParaRPr>
          </a:p>
          <a:p>
            <a:pPr>
              <a:lnSpc>
                <a:spcPct val="120000"/>
              </a:lnSpc>
            </a:pPr>
            <a:r>
              <a:rPr lang="en-US" altLang="zh-CN" sz="3600" b="1" dirty="0">
                <a:solidFill>
                  <a:srgbClr val="0070C0"/>
                </a:solidFill>
                <a:latin typeface="微软雅黑" panose="020B0503020204020204" pitchFamily="34" charset="-122"/>
                <a:ea typeface="微软雅黑" panose="020B0503020204020204" pitchFamily="34" charset="-122"/>
              </a:rPr>
              <a:t>                        </a:t>
            </a:r>
            <a:r>
              <a:rPr lang="en-US" altLang="zh-CN" sz="3200" b="1" dirty="0">
                <a:solidFill>
                  <a:srgbClr val="0070C0"/>
                </a:solidFill>
                <a:latin typeface="微软雅黑" panose="020B0503020204020204" pitchFamily="34" charset="-122"/>
                <a:ea typeface="微软雅黑" panose="020B0503020204020204" pitchFamily="34" charset="-122"/>
              </a:rPr>
              <a:t>——</a:t>
            </a:r>
            <a:r>
              <a:rPr lang="zh-CN" altLang="en-US" sz="3200" b="1" dirty="0">
                <a:solidFill>
                  <a:srgbClr val="0070C0"/>
                </a:solidFill>
                <a:latin typeface="微软雅黑" panose="020B0503020204020204" pitchFamily="34" charset="-122"/>
                <a:ea typeface="微软雅黑" panose="020B0503020204020204" pitchFamily="34" charset="-122"/>
                <a:sym typeface="Times New Roman" panose="02020603050405020304" pitchFamily="18" charset="0"/>
              </a:rPr>
              <a:t>项目管理</a:t>
            </a:r>
            <a:r>
              <a:rPr lang="zh-CN" altLang="en-US" sz="3200" b="1" dirty="0">
                <a:solidFill>
                  <a:srgbClr val="0070C0"/>
                </a:solidFill>
                <a:latin typeface="微软雅黑" panose="020B0503020204020204" pitchFamily="34" charset="-122"/>
                <a:ea typeface="微软雅黑" panose="020B0503020204020204" pitchFamily="34" charset="-122"/>
              </a:rPr>
              <a:t>工作坊</a:t>
            </a:r>
          </a:p>
        </p:txBody>
      </p:sp>
      <p:sp>
        <p:nvSpPr>
          <p:cNvPr id="7" name="标题 1"/>
          <p:cNvSpPr txBox="1"/>
          <p:nvPr/>
        </p:nvSpPr>
        <p:spPr>
          <a:xfrm>
            <a:off x="406078" y="3291830"/>
            <a:ext cx="8352928" cy="1728192"/>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2800" b="1" dirty="0">
                <a:solidFill>
                  <a:schemeClr val="tx2"/>
                </a:solidFill>
                <a:latin typeface="微软雅黑" panose="020B0503020204020204" pitchFamily="34" charset="-122"/>
                <a:ea typeface="微软雅黑" panose="020B0503020204020204" pitchFamily="34" charset="-122"/>
              </a:rPr>
              <a:t>尹  仕</a:t>
            </a:r>
            <a:r>
              <a:rPr lang="en-US" altLang="zh-CN" sz="2800" b="1" dirty="0">
                <a:solidFill>
                  <a:schemeClr val="tx2"/>
                </a:solidFill>
                <a:latin typeface="微软雅黑" panose="020B0503020204020204" pitchFamily="34" charset="-122"/>
                <a:ea typeface="微软雅黑" panose="020B0503020204020204" pitchFamily="34" charset="-122"/>
              </a:rPr>
              <a:t/>
            </a:r>
            <a:br>
              <a:rPr lang="en-US" altLang="zh-CN" sz="2800" b="1" dirty="0">
                <a:solidFill>
                  <a:schemeClr val="tx2"/>
                </a:solidFill>
                <a:latin typeface="微软雅黑" panose="020B0503020204020204" pitchFamily="34" charset="-122"/>
                <a:ea typeface="微软雅黑" panose="020B0503020204020204" pitchFamily="34" charset="-122"/>
              </a:rPr>
            </a:br>
            <a:r>
              <a:rPr lang="zh-CN" altLang="en-US" sz="2800" b="1" dirty="0">
                <a:solidFill>
                  <a:schemeClr val="tx2"/>
                </a:solidFill>
                <a:latin typeface="微软雅黑" panose="020B0503020204020204" pitchFamily="34" charset="-122"/>
                <a:ea typeface="微软雅黑" panose="020B0503020204020204" pitchFamily="34" charset="-122"/>
              </a:rPr>
              <a:t>电气与电子工程学院实验教学中心</a:t>
            </a:r>
            <a:r>
              <a:rPr lang="en-US" altLang="zh-CN" sz="2800" b="1">
                <a:solidFill>
                  <a:schemeClr val="tx2"/>
                </a:solidFill>
                <a:latin typeface="微软雅黑" panose="020B0503020204020204" pitchFamily="34" charset="-122"/>
                <a:ea typeface="微软雅黑" panose="020B0503020204020204" pitchFamily="34" charset="-122"/>
              </a:rPr>
              <a:t/>
            </a:r>
            <a:br>
              <a:rPr lang="en-US" altLang="zh-CN" sz="2800" b="1">
                <a:solidFill>
                  <a:schemeClr val="tx2"/>
                </a:solidFill>
                <a:latin typeface="微软雅黑" panose="020B0503020204020204" pitchFamily="34" charset="-122"/>
                <a:ea typeface="微软雅黑" panose="020B0503020204020204" pitchFamily="34" charset="-122"/>
              </a:rPr>
            </a:br>
            <a:r>
              <a:rPr lang="en-US" altLang="zh-CN" sz="2800" b="1" smtClean="0">
                <a:solidFill>
                  <a:schemeClr val="tx2"/>
                </a:solidFill>
                <a:latin typeface="微软雅黑" panose="020B0503020204020204" pitchFamily="34" charset="-122"/>
                <a:ea typeface="微软雅黑" panose="020B0503020204020204" pitchFamily="34" charset="-122"/>
              </a:rPr>
              <a:t>2026</a:t>
            </a:r>
            <a:r>
              <a:rPr lang="zh-CN" altLang="en-US" sz="2800" b="1" smtClean="0">
                <a:solidFill>
                  <a:schemeClr val="tx2"/>
                </a:solidFill>
                <a:latin typeface="微软雅黑" panose="020B0503020204020204" pitchFamily="34" charset="-122"/>
                <a:ea typeface="微软雅黑" panose="020B0503020204020204" pitchFamily="34" charset="-122"/>
              </a:rPr>
              <a:t>年</a:t>
            </a:r>
            <a:r>
              <a:rPr lang="en-US" altLang="zh-CN" sz="2800" b="1" smtClean="0">
                <a:solidFill>
                  <a:schemeClr val="tx2"/>
                </a:solidFill>
                <a:latin typeface="微软雅黑" panose="020B0503020204020204" pitchFamily="34" charset="-122"/>
                <a:ea typeface="微软雅黑" panose="020B0503020204020204" pitchFamily="34" charset="-122"/>
              </a:rPr>
              <a:t>08</a:t>
            </a:r>
            <a:r>
              <a:rPr lang="zh-CN" altLang="en-US" sz="2800" b="1" smtClean="0">
                <a:solidFill>
                  <a:schemeClr val="tx2"/>
                </a:solidFill>
                <a:latin typeface="微软雅黑" panose="020B0503020204020204" pitchFamily="34" charset="-122"/>
                <a:ea typeface="微软雅黑" panose="020B0503020204020204" pitchFamily="34" charset="-122"/>
              </a:rPr>
              <a:t>月</a:t>
            </a:r>
            <a:r>
              <a:rPr lang="en-US" altLang="zh-CN" sz="2800" b="1">
                <a:solidFill>
                  <a:schemeClr val="tx2"/>
                </a:solidFill>
                <a:latin typeface="微软雅黑" panose="020B0503020204020204" pitchFamily="34" charset="-122"/>
                <a:ea typeface="微软雅黑" panose="020B0503020204020204" pitchFamily="34" charset="-122"/>
              </a:rPr>
              <a:t>2</a:t>
            </a:r>
            <a:r>
              <a:rPr lang="en-US" altLang="zh-CN" sz="2800" b="1" smtClean="0">
                <a:solidFill>
                  <a:schemeClr val="tx2"/>
                </a:solidFill>
                <a:latin typeface="微软雅黑" panose="020B0503020204020204" pitchFamily="34" charset="-122"/>
                <a:ea typeface="微软雅黑" panose="020B0503020204020204" pitchFamily="34" charset="-122"/>
              </a:rPr>
              <a:t>6</a:t>
            </a:r>
            <a:r>
              <a:rPr lang="zh-CN" altLang="en-US" sz="2800" b="1" smtClean="0">
                <a:solidFill>
                  <a:schemeClr val="tx2"/>
                </a:solidFill>
                <a:latin typeface="微软雅黑" panose="020B0503020204020204" pitchFamily="34" charset="-122"/>
                <a:ea typeface="微软雅黑" panose="020B0503020204020204" pitchFamily="34" charset="-122"/>
              </a:rPr>
              <a:t>日</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10" name="矩形 9"/>
          <p:cNvSpPr/>
          <p:nvPr/>
        </p:nvSpPr>
        <p:spPr>
          <a:xfrm>
            <a:off x="1055320" y="1"/>
            <a:ext cx="4349026" cy="830987"/>
          </a:xfrm>
          <a:prstGeom prst="rect">
            <a:avLst/>
          </a:prstGeom>
          <a:solidFill>
            <a:srgbClr val="0070C0"/>
          </a:solidFill>
        </p:spPr>
        <p:txBody>
          <a:bodyPr wrap="square" lIns="91430" tIns="45715" rIns="91430" bIns="45715">
            <a:spAutoFit/>
          </a:bodyPr>
          <a:lstStyle/>
          <a:p>
            <a:pPr>
              <a:lnSpc>
                <a:spcPct val="150000"/>
              </a:lnSpc>
            </a:pP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获得灵感</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让它发生</a:t>
            </a:r>
          </a:p>
        </p:txBody>
      </p:sp>
      <p:pic>
        <p:nvPicPr>
          <p:cNvPr id="1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944" r="13200" b="14934"/>
          <a:stretch>
            <a:fillRect/>
          </a:stretch>
        </p:blipFill>
        <p:spPr bwMode="auto">
          <a:xfrm>
            <a:off x="2705" y="-1"/>
            <a:ext cx="1054737" cy="830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9144000" cy="894149"/>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zh-CN" altLang="en-US" sz="3200" b="1" dirty="0">
                <a:solidFill>
                  <a:schemeClr val="accent1"/>
                </a:solidFill>
                <a:latin typeface="微软雅黑" panose="020B0503020204020204" pitchFamily="34" charset="-122"/>
                <a:ea typeface="微软雅黑" panose="020B0503020204020204" pitchFamily="34" charset="-122"/>
              </a:rPr>
              <a:t>目  录</a:t>
            </a:r>
            <a:endParaRPr lang="zh-CN" altLang="en-US" sz="3200" dirty="0">
              <a:latin typeface="+mn-ea"/>
            </a:endParaRPr>
          </a:p>
        </p:txBody>
      </p:sp>
      <p:pic>
        <p:nvPicPr>
          <p:cNvPr id="2050" name="Picture 2" descr="D:\我的文档\Tencent Files\1326411371\Image\C2C\B85FFCDE3CCE1AA3126F07BC278A4CE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1635647"/>
            <a:ext cx="4094417" cy="2471479"/>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1"/>
          <p:cNvSpPr txBox="1"/>
          <p:nvPr/>
        </p:nvSpPr>
        <p:spPr>
          <a:xfrm>
            <a:off x="1259632" y="1719258"/>
            <a:ext cx="3024336" cy="2304256"/>
          </a:xfr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179705" algn="l">
              <a:lnSpc>
                <a:spcPct val="120000"/>
              </a:lnSpc>
              <a:spcBef>
                <a:spcPts val="600"/>
              </a:spcBef>
            </a:pPr>
            <a:r>
              <a:rPr lang="zh-CN" altLang="en-US" sz="2400" b="1">
                <a:solidFill>
                  <a:srgbClr val="0070C0"/>
                </a:solidFill>
                <a:latin typeface="微软雅黑" panose="020B0503020204020204" pitchFamily="34" charset="-122"/>
                <a:ea typeface="微软雅黑" panose="020B0503020204020204" pitchFamily="34" charset="-122"/>
              </a:rPr>
              <a:t>一、教育教学情境</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二、教育教学目标</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三、教育教学评价</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四、教育教学活动</a:t>
            </a:r>
            <a:r>
              <a:rPr lang="en-US" altLang="zh-CN" sz="2400" b="1">
                <a:solidFill>
                  <a:srgbClr val="0070C0"/>
                </a:solidFill>
                <a:latin typeface="微软雅黑" panose="020B0503020204020204" pitchFamily="34" charset="-122"/>
                <a:ea typeface="微软雅黑" panose="020B0503020204020204" pitchFamily="34" charset="-122"/>
              </a:rPr>
              <a:t/>
            </a:r>
            <a:br>
              <a:rPr lang="en-US" altLang="zh-CN" sz="2400" b="1">
                <a:solidFill>
                  <a:srgbClr val="0070C0"/>
                </a:solidFill>
                <a:latin typeface="微软雅黑" panose="020B0503020204020204" pitchFamily="34" charset="-122"/>
                <a:ea typeface="微软雅黑" panose="020B0503020204020204" pitchFamily="34" charset="-122"/>
              </a:rPr>
            </a:br>
            <a:r>
              <a:rPr lang="zh-CN" altLang="en-US" sz="2400" b="1">
                <a:solidFill>
                  <a:srgbClr val="0070C0"/>
                </a:solidFill>
                <a:latin typeface="微软雅黑" panose="020B0503020204020204" pitchFamily="34" charset="-122"/>
                <a:ea typeface="微软雅黑" panose="020B0503020204020204" pitchFamily="34" charset="-122"/>
              </a:rPr>
              <a:t>五、教育教学组织</a:t>
            </a:r>
            <a:endParaRPr lang="zh-CN" altLang="en-US" sz="24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192689"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1</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项目管理工作坊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设置的情境</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779662"/>
            <a:ext cx="7272809" cy="2754600"/>
          </a:xfrm>
          <a:prstGeom prst="rect">
            <a:avLst/>
          </a:prstGeom>
        </p:spPr>
        <p:txBody>
          <a:bodyPr wrap="square">
            <a:spAutoFit/>
          </a:bodyPr>
          <a:lstStyle/>
          <a:p>
            <a:pPr>
              <a:lnSpc>
                <a:spcPct val="120000"/>
              </a:lnSpc>
              <a:spcBef>
                <a:spcPts val="600"/>
              </a:spcBef>
            </a:pPr>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项目管理工作坊</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创客训练营</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课程的第</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五个</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教学单元</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，旨</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在</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回应</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学</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生在完成设计思维工作</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坊</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做什么</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与</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创新方法工作</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坊</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怎么做得更好</a:t>
            </a:r>
            <a:r>
              <a:rPr lang="zh-CN" altLang="en-US"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后</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所</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面临</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的核心挑战：如何将验证通过的创意方案</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转化</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为可执行的项目计划？如何在有限的时间和资源内按质按量</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完成</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原型开发与验证？如何在团队协作中</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实现</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高效的分工、协调与沟通？如何</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识别</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并</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应对</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项目推进中的各种风险？如何确保项目始终</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处于</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可控状态？</a:t>
            </a:r>
          </a:p>
          <a:p>
            <a:pPr>
              <a:lnSpc>
                <a:spcPct val="120000"/>
              </a:lnSpc>
              <a:spcBef>
                <a:spcPts val="600"/>
              </a:spcBef>
            </a:pP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这</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些命题共同</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指向</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同一个核心能力缺口</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如何高效落地</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”的系统化执行力。项目管理正是回应上述命题的</a:t>
            </a:r>
            <a:r>
              <a:rPr lang="zh-CN" altLang="en-US" sz="2000" b="1">
                <a:latin typeface="Times New Roman" panose="02020603050405020304" pitchFamily="18" charset="0"/>
                <a:ea typeface="仿宋" panose="02010609060101010101" pitchFamily="49" charset="-122"/>
                <a:cs typeface="Times New Roman" panose="02020603050405020304" pitchFamily="18" charset="0"/>
              </a:rPr>
              <a:t>系统化方法</a:t>
            </a:r>
            <a:r>
              <a:rPr lang="zh-CN" altLang="en-US" sz="1400">
                <a:latin typeface="Times New Roman" panose="02020603050405020304" pitchFamily="18" charset="0"/>
                <a:ea typeface="仿宋" panose="02010609060101010101" pitchFamily="49" charset="-122"/>
                <a:cs typeface="Times New Roman" panose="02020603050405020304" pitchFamily="18" charset="0"/>
              </a:rPr>
              <a:t>，与</a:t>
            </a:r>
            <a:r>
              <a:rPr lang="zh-CN" altLang="en-US" sz="1400" b="1">
                <a:latin typeface="Times New Roman" panose="02020603050405020304" pitchFamily="18" charset="0"/>
                <a:ea typeface="仿宋" panose="02010609060101010101" pitchFamily="49" charset="-122"/>
                <a:cs typeface="Times New Roman" panose="02020603050405020304" pitchFamily="18" charset="0"/>
              </a:rPr>
              <a:t>创客竞赛项目</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的开发过程高度契合</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24769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988048" y="1779662"/>
            <a:ext cx="7472384" cy="3167021"/>
          </a:xfrm>
          <a:prstGeom prst="rect">
            <a:avLst/>
          </a:prstGeom>
        </p:spPr>
        <p:txBody>
          <a:bodyPr wrap="square">
            <a:spAutoFit/>
          </a:bodyPr>
          <a:lstStyle/>
          <a:p>
            <a:pPr>
              <a:lnSpc>
                <a:spcPct val="120000"/>
              </a:lnSpc>
              <a:spcBef>
                <a:spcPts val="600"/>
              </a:spcBef>
            </a:pP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项</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目</a:t>
            </a:r>
            <a:r>
              <a:rPr lang="zh-CN" altLang="zh-CN" sz="1400">
                <a:latin typeface="Times New Roman" panose="02020603050405020304" pitchFamily="18" charset="0"/>
                <a:ea typeface="仿宋" panose="02010609060101010101" pitchFamily="49" charset="-122"/>
                <a:cs typeface="Times New Roman" panose="02020603050405020304" pitchFamily="18" charset="0"/>
              </a:rPr>
              <a:t>是为</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创造</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独特的产品、服务或成果而进行的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临时性</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工作。项目管理则是将知识、技能、工具与技术</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应用</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于项目活动，以</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满足</a:t>
            </a:r>
            <a:r>
              <a:rPr lang="zh-CN" altLang="zh-CN" sz="1400">
                <a:latin typeface="Times New Roman" panose="02020603050405020304" pitchFamily="18" charset="0"/>
                <a:ea typeface="仿宋" panose="02010609060101010101" pitchFamily="49" charset="-122"/>
                <a:cs typeface="Times New Roman" panose="02020603050405020304" pitchFamily="18" charset="0"/>
              </a:rPr>
              <a:t>项目要求的过程。其本质特征体现在</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三个</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维度：</a:t>
            </a: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临时性</a:t>
            </a: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项</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目有</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明确</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的起点和终点，不是持续不断的日常运营</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。一</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切规划与执行都服务于在规定时间内</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完成</a:t>
            </a:r>
            <a:r>
              <a:rPr lang="zh-CN" altLang="zh-CN" sz="1400">
                <a:latin typeface="Times New Roman" panose="02020603050405020304" pitchFamily="18" charset="0"/>
                <a:ea typeface="仿宋" panose="02010609060101010101" pitchFamily="49" charset="-122"/>
                <a:cs typeface="Times New Roman" panose="02020603050405020304" pitchFamily="18" charset="0"/>
              </a:rPr>
              <a:t>可交付成果</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独特性</a:t>
            </a: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每</a:t>
            </a:r>
            <a:r>
              <a:rPr lang="zh-CN" altLang="zh-CN" sz="1400">
                <a:latin typeface="Times New Roman" panose="02020603050405020304" pitchFamily="18" charset="0"/>
                <a:ea typeface="仿宋" panose="02010609060101010101" pitchFamily="49" charset="-122"/>
                <a:cs typeface="Times New Roman" panose="02020603050405020304" pitchFamily="18" charset="0"/>
              </a:rPr>
              <a:t>个项目提供的产品或服务都</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具有</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独特性</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。项</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目管理</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需要</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因地制宜</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，而非机械套用模板。</a:t>
            </a:r>
          </a:p>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渐进明细性</a:t>
            </a:r>
            <a:r>
              <a:rPr lang="zh-CN" altLang="zh-CN" sz="14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项</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目规划随着信息的逐步明朗而</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逐步</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细化</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smtClean="0">
                <a:latin typeface="Times New Roman" panose="02020603050405020304" pitchFamily="18" charset="0"/>
                <a:ea typeface="仿宋" panose="02010609060101010101" pitchFamily="49" charset="-122"/>
                <a:cs typeface="Times New Roman" panose="02020603050405020304" pitchFamily="18" charset="0"/>
              </a:rPr>
              <a:t>要</a:t>
            </a:r>
            <a:r>
              <a:rPr lang="zh-CN" altLang="zh-CN" sz="1400" smtClean="0">
                <a:latin typeface="Times New Roman" panose="02020603050405020304" pitchFamily="18" charset="0"/>
                <a:ea typeface="仿宋" panose="02010609060101010101" pitchFamily="49" charset="-122"/>
                <a:cs typeface="Times New Roman" panose="02020603050405020304" pitchFamily="18" charset="0"/>
              </a:rPr>
              <a:t>建</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立</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规划</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执行</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调整</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再规划</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的</a:t>
            </a:r>
            <a:r>
              <a:rPr lang="zh-CN" altLang="zh-CN" sz="2000" b="1">
                <a:latin typeface="Times New Roman" panose="02020603050405020304" pitchFamily="18" charset="0"/>
                <a:ea typeface="仿宋" panose="02010609060101010101" pitchFamily="49" charset="-122"/>
                <a:cs typeface="Times New Roman" panose="02020603050405020304" pitchFamily="18" charset="0"/>
              </a:rPr>
              <a:t>动态</a:t>
            </a:r>
            <a:r>
              <a:rPr lang="zh-CN" altLang="zh-CN" sz="1400">
                <a:latin typeface="Times New Roman" panose="02020603050405020304" pitchFamily="18" charset="0"/>
                <a:ea typeface="仿宋" panose="02010609060101010101" pitchFamily="49" charset="-122"/>
                <a:cs typeface="Times New Roman" panose="02020603050405020304" pitchFamily="18" charset="0"/>
              </a:rPr>
              <a:t>管理意识，而非追求</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一次性完美计划</a:t>
            </a:r>
            <a:r>
              <a:rPr lang="en-US" altLang="zh-CN" sz="1400">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19581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80520" y="1699103"/>
            <a:ext cx="6975856" cy="609398"/>
          </a:xfrm>
          <a:prstGeom prst="rect">
            <a:avLst/>
          </a:prstGeom>
        </p:spPr>
        <p:txBody>
          <a:bodyPr wrap="square">
            <a:spAutoFit/>
          </a:bodyPr>
          <a:lstStyle/>
          <a:p>
            <a:pPr algn="just">
              <a:lnSpc>
                <a:spcPct val="120000"/>
              </a:lnSpc>
              <a:spcBef>
                <a:spcPts val="600"/>
              </a:spcBef>
              <a:spcAft>
                <a:spcPts val="0"/>
              </a:spcAft>
            </a:pP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美国项目管理协会</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PMI</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）在《项目管理知识体系指南》（</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PMBOK®</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指南，以下简称</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PMBOK</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）中将项目管理划分为</a:t>
            </a: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五大过程组与十大知识领域</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a:t>
            </a:r>
          </a:p>
        </p:txBody>
      </p:sp>
      <p:pic>
        <p:nvPicPr>
          <p:cNvPr id="7" name="Picture 2">
            <a:extLst>
              <a:ext uri="{FF2B5EF4-FFF2-40B4-BE49-F238E27FC236}">
                <a16:creationId xmlns:a16="http://schemas.microsoft.com/office/drawing/2014/main" id="{680C460C-4D66-456A-9F37-81A62B7ADC1B}"/>
              </a:ext>
            </a:extLst>
          </p:cNvPr>
          <p:cNvPicPr>
            <a:picLocks noChangeAspect="1" noChangeArrowheads="1"/>
          </p:cNvPicPr>
          <p:nvPr/>
        </p:nvPicPr>
        <p:blipFill>
          <a:blip r:embed="rId3">
            <a:clrChange>
              <a:clrFrom>
                <a:srgbClr val="EEEEEE"/>
              </a:clrFrom>
              <a:clrTo>
                <a:srgbClr val="EEEEEE">
                  <a:alpha val="0"/>
                </a:srgbClr>
              </a:clrTo>
            </a:clrChange>
            <a:extLst>
              <a:ext uri="{28A0092B-C50C-407E-A947-70E740481C1C}">
                <a14:useLocalDpi xmlns:a14="http://schemas.microsoft.com/office/drawing/2010/main" val="0"/>
              </a:ext>
            </a:extLst>
          </a:blip>
          <a:srcRect/>
          <a:stretch>
            <a:fillRect/>
          </a:stretch>
        </p:blipFill>
        <p:spPr bwMode="auto">
          <a:xfrm>
            <a:off x="323528" y="2355726"/>
            <a:ext cx="4640036" cy="273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8">
            <a:extLst>
              <a:ext uri="{FF2B5EF4-FFF2-40B4-BE49-F238E27FC236}">
                <a16:creationId xmlns:a16="http://schemas.microsoft.com/office/drawing/2014/main" id="{AC336493-AC3E-4A69-B5B7-90BAFA53BCB8}"/>
              </a:ext>
            </a:extLst>
          </p:cNvPr>
          <p:cNvPicPr>
            <a:picLocks noChangeAspect="1"/>
          </p:cNvPicPr>
          <p:nvPr/>
        </p:nvPicPr>
        <p:blipFill>
          <a:blip r:embed="rId4"/>
          <a:stretch>
            <a:fillRect/>
          </a:stretch>
        </p:blipFill>
        <p:spPr>
          <a:xfrm>
            <a:off x="5076056" y="2355726"/>
            <a:ext cx="3649708" cy="2375436"/>
          </a:xfrm>
          <a:prstGeom prst="rect">
            <a:avLst/>
          </a:prstGeom>
        </p:spPr>
      </p:pic>
    </p:spTree>
    <p:extLst>
      <p:ext uri="{BB962C8B-B14F-4D97-AF65-F5344CB8AC3E}">
        <p14:creationId xmlns:p14="http://schemas.microsoft.com/office/powerpoint/2010/main" val="2598718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772491463"/>
              </p:ext>
            </p:extLst>
          </p:nvPr>
        </p:nvGraphicFramePr>
        <p:xfrm>
          <a:off x="251520" y="2326978"/>
          <a:ext cx="6624737" cy="2683953"/>
        </p:xfrm>
        <a:graphic>
          <a:graphicData uri="http://schemas.openxmlformats.org/drawingml/2006/table">
            <a:tbl>
              <a:tblPr firstRow="1" firstCol="1" bandRow="1">
                <a:tableStyleId>{5C22544A-7EE6-4342-B048-85BDC9FD1C3A}</a:tableStyleId>
              </a:tblPr>
              <a:tblGrid>
                <a:gridCol w="864097">
                  <a:extLst>
                    <a:ext uri="{9D8B030D-6E8A-4147-A177-3AD203B41FA5}">
                      <a16:colId xmlns:a16="http://schemas.microsoft.com/office/drawing/2014/main" val="2000862555"/>
                    </a:ext>
                  </a:extLst>
                </a:gridCol>
                <a:gridCol w="1152128">
                  <a:extLst>
                    <a:ext uri="{9D8B030D-6E8A-4147-A177-3AD203B41FA5}">
                      <a16:colId xmlns:a16="http://schemas.microsoft.com/office/drawing/2014/main" val="3560122272"/>
                    </a:ext>
                  </a:extLst>
                </a:gridCol>
                <a:gridCol w="4608512">
                  <a:extLst>
                    <a:ext uri="{9D8B030D-6E8A-4147-A177-3AD203B41FA5}">
                      <a16:colId xmlns:a16="http://schemas.microsoft.com/office/drawing/2014/main" val="2415146144"/>
                    </a:ext>
                  </a:extLst>
                </a:gridCol>
              </a:tblGrid>
              <a:tr h="287553">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知识领域</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ctr" defTabSz="914400" rtl="0" eaLnBrk="1" latinLnBrk="0" hangingPunct="1">
                        <a:lnSpc>
                          <a:spcPct val="100000"/>
                        </a:lnSpc>
                        <a:spcAft>
                          <a:spcPts val="0"/>
                        </a:spcAft>
                      </a:pPr>
                      <a:r>
                        <a:rPr lang="zh-CN" sz="1100" b="1" kern="1200">
                          <a:solidFill>
                            <a:schemeClr val="lt1"/>
                          </a:solidFill>
                          <a:effectLst/>
                          <a:latin typeface="微软雅黑" panose="020B0503020204020204" pitchFamily="34" charset="-122"/>
                          <a:ea typeface="微软雅黑" panose="020B0503020204020204" pitchFamily="34" charset="-122"/>
                          <a:cs typeface="+mn-cs"/>
                        </a:rPr>
                        <a:t>核心目标</a:t>
                      </a:r>
                    </a:p>
                  </a:txBody>
                  <a:tcPr marL="72000" marR="72000" marT="36000" marB="36000" anchor="ctr"/>
                </a:tc>
                <a:tc>
                  <a:txBody>
                    <a:bodyPr/>
                    <a:lstStyle/>
                    <a:p>
                      <a:pPr marL="0" algn="ctr" defTabSz="914400" rtl="0" eaLnBrk="1" latinLnBrk="0" hangingPunct="1">
                        <a:lnSpc>
                          <a:spcPct val="100000"/>
                        </a:lnSpc>
                        <a:spcAft>
                          <a:spcPts val="0"/>
                        </a:spcAft>
                      </a:pPr>
                      <a:r>
                        <a:rPr lang="zh-CN" sz="1100" b="1" kern="1200">
                          <a:solidFill>
                            <a:schemeClr val="lt1"/>
                          </a:solidFill>
                          <a:effectLst/>
                          <a:latin typeface="微软雅黑" panose="020B0503020204020204" pitchFamily="34" charset="-122"/>
                          <a:ea typeface="微软雅黑" panose="020B0503020204020204" pitchFamily="34" charset="-122"/>
                          <a:cs typeface="+mn-cs"/>
                        </a:rPr>
                        <a:t>校园场景应用示例</a:t>
                      </a:r>
                    </a:p>
                  </a:txBody>
                  <a:tcPr marL="72000" marR="72000" marT="36000" marB="36000" anchor="ctr"/>
                </a:tc>
                <a:extLst>
                  <a:ext uri="{0D108BD9-81ED-4DB2-BD59-A6C34878D82A}">
                    <a16:rowId xmlns:a16="http://schemas.microsoft.com/office/drawing/2014/main" val="171198270"/>
                  </a:ext>
                </a:extLst>
              </a:tr>
              <a:tr h="216024">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整合管理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协调跨部门工作</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筹办新生迎新晚会（协调学生会、社团及后勤部门）</a:t>
                      </a:r>
                    </a:p>
                  </a:txBody>
                  <a:tcPr marL="72000" marR="72000" marT="36000" marB="36000" anchor="ctr"/>
                </a:tc>
                <a:extLst>
                  <a:ext uri="{0D108BD9-81ED-4DB2-BD59-A6C34878D82A}">
                    <a16:rowId xmlns:a16="http://schemas.microsoft.com/office/drawing/2014/main" val="2057270409"/>
                  </a:ext>
                </a:extLst>
              </a:tr>
              <a:tr h="140401">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范围管理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定义需求边界</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制定班级公众号建设方案（明确内容板块：课程通知</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活动宣传</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同学风采）</a:t>
                      </a:r>
                    </a:p>
                  </a:txBody>
                  <a:tcPr marL="72000" marR="72000" marT="36000" marB="36000" anchor="ctr"/>
                </a:tc>
                <a:extLst>
                  <a:ext uri="{0D108BD9-81ED-4DB2-BD59-A6C34878D82A}">
                    <a16:rowId xmlns:a16="http://schemas.microsoft.com/office/drawing/2014/main" val="386456251"/>
                  </a:ext>
                </a:extLst>
              </a:tr>
              <a:tr h="0">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进度管理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控制时间节点</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期末小组作业计划（设定选题</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分工</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初稿</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终稿的时间节点）</a:t>
                      </a:r>
                    </a:p>
                  </a:txBody>
                  <a:tcPr marL="72000" marR="72000" marT="36000" marB="36000" anchor="ctr"/>
                </a:tc>
                <a:extLst>
                  <a:ext uri="{0D108BD9-81ED-4DB2-BD59-A6C34878D82A}">
                    <a16:rowId xmlns:a16="http://schemas.microsoft.com/office/drawing/2014/main" val="4186305773"/>
                  </a:ext>
                </a:extLst>
              </a:tr>
              <a:tr h="133171">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成本管理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预算控制</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组织班级春游（交通费</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门票</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餐饮的预算分配）</a:t>
                      </a:r>
                    </a:p>
                  </a:txBody>
                  <a:tcPr marL="72000" marR="72000" marT="36000" marB="36000" anchor="ctr"/>
                </a:tc>
                <a:extLst>
                  <a:ext uri="{0D108BD9-81ED-4DB2-BD59-A6C34878D82A}">
                    <a16:rowId xmlns:a16="http://schemas.microsoft.com/office/drawing/2014/main" val="769519430"/>
                  </a:ext>
                </a:extLst>
              </a:tr>
              <a:tr h="129556">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质量管理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成果标准把控</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大学生创新项目结题报告（符合学术规范、查重率低于</a:t>
                      </a:r>
                      <a:r>
                        <a:rPr lang="en-US" sz="1100">
                          <a:effectLst/>
                          <a:latin typeface="Times New Roman" panose="02020603050405020304" pitchFamily="18" charset="0"/>
                          <a:ea typeface="仿宋" panose="02010609060101010101" pitchFamily="49" charset="-122"/>
                          <a:cs typeface="Times New Roman" panose="02020603050405020304" pitchFamily="18" charset="0"/>
                        </a:rPr>
                        <a:t>15%</a:t>
                      </a:r>
                      <a:r>
                        <a:rPr lang="zh-CN" sz="1100">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1419218876"/>
                  </a:ext>
                </a:extLst>
              </a:tr>
              <a:tr h="125941">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资源管理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人员与物资调配</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运动会方阵排练（协调同学时间、租借服装道具）</a:t>
                      </a:r>
                    </a:p>
                  </a:txBody>
                  <a:tcPr marL="72000" marR="72000" marT="36000" marB="36000" anchor="ctr"/>
                </a:tc>
                <a:extLst>
                  <a:ext uri="{0D108BD9-81ED-4DB2-BD59-A6C34878D82A}">
                    <a16:rowId xmlns:a16="http://schemas.microsoft.com/office/drawing/2014/main" val="1557666481"/>
                  </a:ext>
                </a:extLst>
              </a:tr>
              <a:tr h="194334">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沟通管理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信息高效传递</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跨专业组队参赛（建立微信群</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每周例会制度）</a:t>
                      </a:r>
                    </a:p>
                  </a:txBody>
                  <a:tcPr marL="72000" marR="72000" marT="36000" marB="36000" anchor="ctr"/>
                </a:tc>
                <a:extLst>
                  <a:ext uri="{0D108BD9-81ED-4DB2-BD59-A6C34878D82A}">
                    <a16:rowId xmlns:a16="http://schemas.microsoft.com/office/drawing/2014/main" val="4270982214"/>
                  </a:ext>
                </a:extLst>
              </a:tr>
              <a:tr h="190719">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风险管理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预防与应对意外</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户外活动备选场地</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急救包</a:t>
                      </a:r>
                      <a:r>
                        <a:rPr lang="en-US" sz="110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a:effectLst/>
                          <a:latin typeface="Times New Roman" panose="02020603050405020304" pitchFamily="18" charset="0"/>
                          <a:ea typeface="仿宋" panose="02010609060101010101" pitchFamily="49" charset="-122"/>
                          <a:cs typeface="Times New Roman" panose="02020603050405020304" pitchFamily="18" charset="0"/>
                        </a:rPr>
                        <a:t>设备检查清单</a:t>
                      </a:r>
                    </a:p>
                  </a:txBody>
                  <a:tcPr marL="72000" marR="72000" marT="36000" marB="36000" anchor="ctr"/>
                </a:tc>
                <a:extLst>
                  <a:ext uri="{0D108BD9-81ED-4DB2-BD59-A6C34878D82A}">
                    <a16:rowId xmlns:a16="http://schemas.microsoft.com/office/drawing/2014/main" val="603794485"/>
                  </a:ext>
                </a:extLst>
              </a:tr>
              <a:tr h="187104">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采购管理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外部资源获取</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辩论赛物资采购（比价购买奖杯、定制横幅）</a:t>
                      </a:r>
                    </a:p>
                  </a:txBody>
                  <a:tcPr marL="72000" marR="72000" marT="36000" marB="36000" anchor="ctr"/>
                </a:tc>
                <a:extLst>
                  <a:ext uri="{0D108BD9-81ED-4DB2-BD59-A6C34878D82A}">
                    <a16:rowId xmlns:a16="http://schemas.microsoft.com/office/drawing/2014/main" val="3727027774"/>
                  </a:ext>
                </a:extLst>
              </a:tr>
              <a:tr h="0">
                <a:tc>
                  <a:txBody>
                    <a:bodyPr/>
                    <a:lstStyle/>
                    <a:p>
                      <a:pPr algn="ctr">
                        <a:lnSpc>
                          <a:spcPct val="100000"/>
                        </a:lnSpc>
                        <a:spcAft>
                          <a:spcPts val="0"/>
                        </a:spcAft>
                      </a:pPr>
                      <a:r>
                        <a:rPr lang="zh-CN" sz="1100">
                          <a:effectLst/>
                          <a:latin typeface="微软雅黑" panose="020B0503020204020204" pitchFamily="34" charset="-122"/>
                          <a:ea typeface="微软雅黑" panose="020B0503020204020204" pitchFamily="34" charset="-122"/>
                        </a:rPr>
                        <a:t>相关方管理</a:t>
                      </a:r>
                      <a:endParaRPr lang="zh-CN" sz="1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协调各方期望</a:t>
                      </a:r>
                    </a:p>
                  </a:txBody>
                  <a:tcPr marL="72000" marR="72000" marT="36000" marB="36000" anchor="ctr"/>
                </a:tc>
                <a:tc>
                  <a:txBody>
                    <a:bodyPr/>
                    <a:lstStyle/>
                    <a:p>
                      <a:pPr algn="l">
                        <a:lnSpc>
                          <a:spcPct val="100000"/>
                        </a:lnSpc>
                        <a:spcAft>
                          <a:spcPts val="0"/>
                        </a:spcAft>
                      </a:pPr>
                      <a:r>
                        <a:rPr lang="zh-CN" sz="1100">
                          <a:effectLst/>
                          <a:latin typeface="Times New Roman" panose="02020603050405020304" pitchFamily="18" charset="0"/>
                          <a:ea typeface="仿宋" panose="02010609060101010101" pitchFamily="49" charset="-122"/>
                          <a:cs typeface="Times New Roman" panose="02020603050405020304" pitchFamily="18" charset="0"/>
                        </a:rPr>
                        <a:t>宿舍改造项目（收集同学需求、与宿管科沟通施工时间）</a:t>
                      </a:r>
                    </a:p>
                  </a:txBody>
                  <a:tcPr marL="72000" marR="72000" marT="36000" marB="36000" anchor="ctr"/>
                </a:tc>
                <a:extLst>
                  <a:ext uri="{0D108BD9-81ED-4DB2-BD59-A6C34878D82A}">
                    <a16:rowId xmlns:a16="http://schemas.microsoft.com/office/drawing/2014/main" val="943174237"/>
                  </a:ext>
                </a:extLst>
              </a:tr>
            </a:tbl>
          </a:graphicData>
        </a:graphic>
      </p:graphicFrame>
      <p:sp>
        <p:nvSpPr>
          <p:cNvPr id="3" name="矩形 2"/>
          <p:cNvSpPr/>
          <p:nvPr/>
        </p:nvSpPr>
        <p:spPr>
          <a:xfrm>
            <a:off x="971598" y="1699103"/>
            <a:ext cx="6624737" cy="584712"/>
          </a:xfrm>
          <a:prstGeom prst="rect">
            <a:avLst/>
          </a:prstGeom>
        </p:spPr>
        <p:txBody>
          <a:bodyPr wrap="square">
            <a:spAutoFit/>
          </a:bodyPr>
          <a:lstStyle/>
          <a:p>
            <a:pPr algn="just">
              <a:lnSpc>
                <a:spcPct val="120000"/>
              </a:lnSpc>
              <a:spcBef>
                <a:spcPts val="600"/>
              </a:spcBef>
              <a:spcAft>
                <a:spcPts val="0"/>
              </a:spcAft>
            </a:pP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美国项目管理协会</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PMI</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）在《项目管理知识体系指南》（</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PMBOK®</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指南，以下简称</a:t>
            </a:r>
            <a:r>
              <a:rPr lang="en-US" altLang="zh-CN" sz="1400" kern="100">
                <a:latin typeface="Times New Roman" panose="02020603050405020304" pitchFamily="18" charset="0"/>
                <a:ea typeface="仿宋" panose="02010609060101010101" pitchFamily="49" charset="-122"/>
                <a:cs typeface="Times New Roman" panose="02020603050405020304" pitchFamily="18" charset="0"/>
              </a:rPr>
              <a:t>PMBOK</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）中将项目管理划分为</a:t>
            </a: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五大过程组与十大知识领域</a:t>
            </a:r>
            <a:r>
              <a:rPr lang="zh-CN" altLang="zh-CN" sz="1400" kern="100">
                <a:latin typeface="Times New Roman" panose="02020603050405020304" pitchFamily="18" charset="0"/>
                <a:ea typeface="仿宋" panose="02010609060101010101" pitchFamily="49" charset="-122"/>
                <a:cs typeface="Times New Roman" panose="02020603050405020304" pitchFamily="18" charset="0"/>
              </a:rPr>
              <a:t>：</a:t>
            </a:r>
          </a:p>
        </p:txBody>
      </p:sp>
      <p:sp>
        <p:nvSpPr>
          <p:cNvPr id="2" name="矩形 1"/>
          <p:cNvSpPr/>
          <p:nvPr/>
        </p:nvSpPr>
        <p:spPr>
          <a:xfrm>
            <a:off x="6948264" y="2277875"/>
            <a:ext cx="2016223" cy="2733056"/>
          </a:xfrm>
          <a:prstGeom prst="rect">
            <a:avLst/>
          </a:prstGeom>
        </p:spPr>
        <p:txBody>
          <a:bodyPr wrap="square">
            <a:spAutoFit/>
          </a:bodyPr>
          <a:lstStyle/>
          <a:p>
            <a:pPr>
              <a:lnSpc>
                <a:spcPct val="120000"/>
              </a:lnSpc>
              <a:spcBef>
                <a:spcPts val="600"/>
              </a:spcBef>
            </a:pPr>
            <a:r>
              <a:rPr lang="zh-CN" altLang="zh-CN" sz="1100" kern="100">
                <a:latin typeface="Times New Roman" panose="02020603050405020304" pitchFamily="18" charset="0"/>
                <a:ea typeface="仿宋" panose="02010609060101010101" pitchFamily="49" charset="-122"/>
                <a:cs typeface="Times New Roman" panose="02020603050405020304" pitchFamily="18" charset="0"/>
              </a:rPr>
              <a:t>创客竞赛项</a:t>
            </a:r>
            <a:r>
              <a:rPr lang="zh-CN" altLang="zh-CN" sz="1100" kern="100" smtClean="0">
                <a:latin typeface="Times New Roman" panose="02020603050405020304" pitchFamily="18" charset="0"/>
                <a:ea typeface="仿宋" panose="02010609060101010101" pitchFamily="49" charset="-122"/>
                <a:cs typeface="Times New Roman" panose="02020603050405020304" pitchFamily="18" charset="0"/>
              </a:rPr>
              <a:t>目聚</a:t>
            </a:r>
            <a:r>
              <a:rPr lang="zh-CN" altLang="zh-CN" sz="1100" kern="100">
                <a:latin typeface="Times New Roman" panose="02020603050405020304" pitchFamily="18" charset="0"/>
                <a:ea typeface="仿宋" panose="02010609060101010101" pitchFamily="49" charset="-122"/>
                <a:cs typeface="Times New Roman" panose="02020603050405020304" pitchFamily="18" charset="0"/>
              </a:rPr>
              <a:t>焦其中的</a:t>
            </a:r>
            <a:r>
              <a:rPr lang="zh-CN" altLang="zh-CN" sz="1100" b="1" kern="100">
                <a:latin typeface="Times New Roman" panose="02020603050405020304" pitchFamily="18" charset="0"/>
                <a:ea typeface="仿宋" panose="02010609060101010101" pitchFamily="49" charset="-122"/>
                <a:cs typeface="Times New Roman" panose="02020603050405020304" pitchFamily="18" charset="0"/>
              </a:rPr>
              <a:t>七大核心领域</a:t>
            </a:r>
            <a:r>
              <a:rPr lang="en-US" altLang="zh-CN" sz="11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kern="100">
                <a:latin typeface="Times New Roman" panose="02020603050405020304" pitchFamily="18" charset="0"/>
                <a:ea typeface="仿宋" panose="02010609060101010101" pitchFamily="49" charset="-122"/>
                <a:cs typeface="Times New Roman" panose="02020603050405020304" pitchFamily="18" charset="0"/>
              </a:rPr>
              <a:t>范围管理、进度管理、质量管理、资源管理、沟通管理、风险管理、成本管理</a:t>
            </a:r>
            <a:r>
              <a:rPr lang="zh-CN" altLang="zh-CN" sz="11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100" kern="100">
                <a:latin typeface="Times New Roman" panose="02020603050405020304" pitchFamily="18" charset="0"/>
                <a:ea typeface="仿宋" panose="02010609060101010101" pitchFamily="49" charset="-122"/>
                <a:cs typeface="Times New Roman" panose="02020603050405020304" pitchFamily="18" charset="0"/>
              </a:rPr>
              <a:t>其余三个领域的处理方式如下：整合管理贯穿所有过程组而非独立工具化，融入各阶段工具的综合运用中；采购管理在竞赛项目中极少涉及（材料采购简化为资源约束下的配置决策）；干系人管理聚焦于团队内部成员及评审方，融入沟通管理与</a:t>
            </a:r>
            <a:r>
              <a:rPr lang="en-US" altLang="zh-CN" sz="1100" kern="1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100" kern="100">
                <a:latin typeface="Times New Roman" panose="02020603050405020304" pitchFamily="18" charset="0"/>
                <a:ea typeface="仿宋" panose="02010609060101010101" pitchFamily="49" charset="-122"/>
                <a:cs typeface="Times New Roman" panose="02020603050405020304" pitchFamily="18" charset="0"/>
              </a:rPr>
              <a:t>框架之中。</a:t>
            </a:r>
            <a:endParaRPr lang="zh-CN" altLang="en-US" sz="11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755117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779912" y="1995686"/>
            <a:ext cx="1440160" cy="412675"/>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相关方分析</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矩形 7"/>
          <p:cNvSpPr>
            <a:spLocks noChangeAspect="1"/>
          </p:cNvSpPr>
          <p:nvPr/>
        </p:nvSpPr>
        <p:spPr>
          <a:xfrm>
            <a:off x="6516216" y="2016707"/>
            <a:ext cx="1512168" cy="403408"/>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需求分析</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p:cNvSpPr>
            <a:spLocks noChangeAspect="1"/>
          </p:cNvSpPr>
          <p:nvPr/>
        </p:nvSpPr>
        <p:spPr>
          <a:xfrm>
            <a:off x="932446" y="2019902"/>
            <a:ext cx="1440160" cy="388459"/>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SWOT</a:t>
            </a:r>
            <a:endParaRPr lang="en-US" altLang="zh-CN"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3073" name="Picture 1" descr="C:\Users\Administrator\AppData\Roaming\Tencent\Users\1326411371\TIM\WinTemp\RichOle\S~{N}H4Y@`)EM$K_L4E%N{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694550"/>
            <a:ext cx="2828569" cy="211867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AppData\Roaming\Tencent\Users\1326411371\TIM\WinTemp\RichOle\SBD5G6V~9`~9%M9[PI9A[Q9.png"/>
          <p:cNvPicPr>
            <a:picLocks noChangeAspect="1" noChangeArrowheads="1"/>
          </p:cNvPicPr>
          <p:nvPr/>
        </p:nvPicPr>
        <p:blipFill rotWithShape="1">
          <a:blip r:embed="rId4">
            <a:extLst>
              <a:ext uri="{28A0092B-C50C-407E-A947-70E740481C1C}">
                <a14:useLocalDpi xmlns:a14="http://schemas.microsoft.com/office/drawing/2010/main" val="0"/>
              </a:ext>
            </a:extLst>
          </a:blip>
          <a:srcRect t="5507"/>
          <a:stretch>
            <a:fillRect/>
          </a:stretch>
        </p:blipFill>
        <p:spPr bwMode="auto">
          <a:xfrm>
            <a:off x="3183165" y="2718899"/>
            <a:ext cx="2540963" cy="2341271"/>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Administrator\AppData\Roaming\Tencent\Users\1326411371\TIM\WinTemp\RichOle\H)11OH1`L0`UY[{OI_}~PT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2693994"/>
            <a:ext cx="3240360" cy="2366175"/>
          </a:xfrm>
          <a:prstGeom prst="rect">
            <a:avLst/>
          </a:prstGeom>
          <a:noFill/>
          <a:extLst>
            <a:ext uri="{909E8E84-426E-40DD-AFC4-6F175D3DCCD1}">
              <a14:hiddenFill xmlns:a14="http://schemas.microsoft.com/office/drawing/2010/main">
                <a:solidFill>
                  <a:srgbClr val="FFFFFF"/>
                </a:solidFill>
              </a14:hiddenFill>
            </a:ext>
          </a:extLst>
        </p:spPr>
      </p:pic>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2" name="矩形 11"/>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14" name="矩形 13"/>
          <p:cNvSpPr/>
          <p:nvPr/>
        </p:nvSpPr>
        <p:spPr>
          <a:xfrm>
            <a:off x="971599" y="1692071"/>
            <a:ext cx="6624737" cy="307777"/>
          </a:xfrm>
          <a:prstGeom prst="rect">
            <a:avLst/>
          </a:prstGeom>
        </p:spPr>
        <p:txBody>
          <a:bodyPr wrap="square">
            <a:spAutoFit/>
          </a:bodyPr>
          <a:lstStyle/>
          <a:p>
            <a:r>
              <a:rPr lang="zh-CN" altLang="en-US" sz="1400" b="1" kern="100" smtClean="0">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rPr>
              <a:t>准</a:t>
            </a:r>
            <a:r>
              <a:rPr lang="zh-CN" altLang="en-US" sz="1400" b="1" kern="100">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rPr>
              <a:t>备和启动阶段常用工</a:t>
            </a:r>
            <a:r>
              <a:rPr lang="zh-CN" altLang="en-US" sz="1400" b="1" kern="100" smtClean="0">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rPr>
              <a:t>具：</a:t>
            </a:r>
            <a:endParaRPr lang="zh-CN" altLang="en-US" sz="1400" b="1" kern="100" dirty="0">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endParaRPr>
          </a:p>
        </p:txBody>
      </p:sp>
      <p:sp>
        <p:nvSpPr>
          <p:cNvPr id="2" name="矩形 1"/>
          <p:cNvSpPr/>
          <p:nvPr/>
        </p:nvSpPr>
        <p:spPr>
          <a:xfrm>
            <a:off x="3563888" y="2433266"/>
            <a:ext cx="1800493" cy="307777"/>
          </a:xfrm>
          <a:prstGeom prst="rect">
            <a:avLst/>
          </a:prstGeom>
        </p:spPr>
        <p:txBody>
          <a:bodyPr wrap="none">
            <a:spAutoFit/>
          </a:bodyPr>
          <a:lstStyle/>
          <a:p>
            <a:r>
              <a:rPr lang="zh-CN" altLang="en-US" sz="1400" b="1" kern="100">
                <a:latin typeface="Times New Roman" panose="02020603050405020304" pitchFamily="18" charset="0"/>
                <a:ea typeface="仿宋" panose="02010609060101010101" pitchFamily="49" charset="-122"/>
                <a:cs typeface="Times New Roman" panose="02020603050405020304" pitchFamily="18" charset="0"/>
              </a:rPr>
              <a:t>分类识别，差异管理</a:t>
            </a:r>
          </a:p>
        </p:txBody>
      </p:sp>
      <p:sp>
        <p:nvSpPr>
          <p:cNvPr id="3" name="矩形 2"/>
          <p:cNvSpPr/>
          <p:nvPr/>
        </p:nvSpPr>
        <p:spPr>
          <a:xfrm>
            <a:off x="6336049" y="2433787"/>
            <a:ext cx="1800493" cy="307777"/>
          </a:xfrm>
          <a:prstGeom prst="rect">
            <a:avLst/>
          </a:prstGeom>
        </p:spPr>
        <p:txBody>
          <a:bodyPr wrap="none">
            <a:spAutoFit/>
          </a:bodyPr>
          <a:lstStyle/>
          <a:p>
            <a:r>
              <a:rPr lang="zh-CN" altLang="en-US" sz="1400" b="1" kern="100">
                <a:latin typeface="Times New Roman" panose="02020603050405020304" pitchFamily="18" charset="0"/>
                <a:ea typeface="仿宋" panose="02010609060101010101" pitchFamily="49" charset="-122"/>
                <a:cs typeface="Times New Roman" panose="02020603050405020304" pitchFamily="18" charset="0"/>
              </a:rPr>
              <a:t>去伪存</a:t>
            </a:r>
            <a:r>
              <a:rPr lang="zh-CN" altLang="en-US" sz="1400" b="1" kern="100" smtClean="0">
                <a:latin typeface="Times New Roman" panose="02020603050405020304" pitchFamily="18" charset="0"/>
                <a:ea typeface="仿宋" panose="02010609060101010101" pitchFamily="49" charset="-122"/>
                <a:cs typeface="Times New Roman" panose="02020603050405020304" pitchFamily="18" charset="0"/>
              </a:rPr>
              <a:t>真</a:t>
            </a:r>
            <a:r>
              <a:rPr lang="zh-CN" altLang="en-US" sz="14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kern="100" smtClean="0">
                <a:latin typeface="Times New Roman" panose="02020603050405020304" pitchFamily="18" charset="0"/>
                <a:ea typeface="仿宋" panose="02010609060101010101" pitchFamily="49" charset="-122"/>
                <a:cs typeface="Times New Roman" panose="02020603050405020304" pitchFamily="18" charset="0"/>
              </a:rPr>
              <a:t>挖</a:t>
            </a:r>
            <a:r>
              <a:rPr lang="zh-CN" altLang="en-US" sz="1400" b="1" kern="100">
                <a:latin typeface="Times New Roman" panose="02020603050405020304" pitchFamily="18" charset="0"/>
                <a:ea typeface="仿宋" panose="02010609060101010101" pitchFamily="49" charset="-122"/>
                <a:cs typeface="Times New Roman" panose="02020603050405020304" pitchFamily="18" charset="0"/>
              </a:rPr>
              <a:t>掘本</a:t>
            </a:r>
            <a:r>
              <a:rPr lang="zh-CN" altLang="en-US" sz="1400" b="1" kern="100" smtClean="0">
                <a:latin typeface="Times New Roman" panose="02020603050405020304" pitchFamily="18" charset="0"/>
                <a:ea typeface="仿宋" panose="02010609060101010101" pitchFamily="49" charset="-122"/>
                <a:cs typeface="Times New Roman" panose="02020603050405020304" pitchFamily="18" charset="0"/>
              </a:rPr>
              <a:t>质</a:t>
            </a:r>
            <a:endParaRPr lang="zh-CN" altLang="en-US" sz="1400" b="1" kern="1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4" name="矩形 3"/>
          <p:cNvSpPr/>
          <p:nvPr/>
        </p:nvSpPr>
        <p:spPr>
          <a:xfrm>
            <a:off x="791727" y="2466897"/>
            <a:ext cx="1800493" cy="307777"/>
          </a:xfrm>
          <a:prstGeom prst="rect">
            <a:avLst/>
          </a:prstGeom>
        </p:spPr>
        <p:txBody>
          <a:bodyPr wrap="none">
            <a:spAutoFit/>
          </a:bodyPr>
          <a:lstStyle/>
          <a:p>
            <a:r>
              <a:rPr lang="zh-CN" altLang="en-US" sz="1400" b="1" kern="100">
                <a:latin typeface="Times New Roman" panose="02020603050405020304" pitchFamily="18" charset="0"/>
                <a:ea typeface="仿宋" panose="02010609060101010101" pitchFamily="49" charset="-122"/>
                <a:cs typeface="Times New Roman" panose="02020603050405020304" pitchFamily="18" charset="0"/>
              </a:rPr>
              <a:t>战略审视，危机共存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3347862" y="1779662"/>
            <a:ext cx="5112570" cy="295466"/>
          </a:xfrm>
          <a:prstGeom prst="rect">
            <a:avLst/>
          </a:prstGeom>
        </p:spPr>
        <p:txBody>
          <a:bodyPr wrap="square">
            <a:spAutoFit/>
          </a:bodyPr>
          <a:lstStyle/>
          <a:p>
            <a:pPr algn="ctr">
              <a:lnSpc>
                <a:spcPct val="120000"/>
              </a:lnSpc>
              <a:spcBef>
                <a:spcPts val="600"/>
              </a:spcBef>
            </a:pPr>
            <a:r>
              <a:rPr lang="en-US" altLang="zh-CN"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SWOT</a:t>
            </a:r>
            <a:r>
              <a:rPr lang="zh-CN" altLang="en-US" sz="11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分析矩阵</a:t>
            </a:r>
            <a:endParaRPr lang="zh-CN" altLang="en-US" sz="11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2" name="表格 11"/>
          <p:cNvGraphicFramePr>
            <a:graphicFrameLocks noGrp="1"/>
          </p:cNvGraphicFramePr>
          <p:nvPr>
            <p:extLst>
              <p:ext uri="{D42A27DB-BD31-4B8C-83A1-F6EECF244321}">
                <p14:modId xmlns:p14="http://schemas.microsoft.com/office/powerpoint/2010/main" val="1144476006"/>
              </p:ext>
            </p:extLst>
          </p:nvPr>
        </p:nvGraphicFramePr>
        <p:xfrm>
          <a:off x="3347863" y="2165184"/>
          <a:ext cx="5184577" cy="2468443"/>
        </p:xfrm>
        <a:graphic>
          <a:graphicData uri="http://schemas.openxmlformats.org/drawingml/2006/table">
            <a:tbl>
              <a:tblPr firstRow="1" firstCol="1" bandRow="1">
                <a:tableStyleId>{5C22544A-7EE6-4342-B048-85BDC9FD1C3A}</a:tableStyleId>
              </a:tblPr>
              <a:tblGrid>
                <a:gridCol w="720081">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129070">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72000" marR="72000" marT="36000" marB="3600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内部因素（团队可控）</a:t>
                      </a:r>
                    </a:p>
                  </a:txBody>
                  <a:tcPr marL="72000" marR="72000" marT="36000" marB="3600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外部因素（环境条件）</a:t>
                      </a:r>
                    </a:p>
                  </a:txBody>
                  <a:tcPr marL="72000" marR="72000" marT="36000" marB="36000" anchor="ctr"/>
                </a:tc>
                <a:extLst>
                  <a:ext uri="{0D108BD9-81ED-4DB2-BD59-A6C34878D82A}">
                    <a16:rowId xmlns:a16="http://schemas.microsoft.com/office/drawing/2014/main" val="10000"/>
                  </a:ext>
                </a:extLst>
              </a:tr>
              <a:tr h="591010">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势</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S)</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团队成员含机械</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软件</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商业专业学生</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已开发微信小程序原型</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3.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获得校团委创业基金支持</a:t>
                      </a:r>
                    </a:p>
                  </a:txBody>
                  <a:tcPr marL="72000" marR="72000" marT="36000" marB="36000"/>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校园快递量日均超</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万件</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学校推进</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智慧校园</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建设</a:t>
                      </a:r>
                    </a:p>
                  </a:txBody>
                  <a:tcPr marL="72000" marR="72000" marT="36000" marB="36000"/>
                </a:tc>
                <a:extLst>
                  <a:ext uri="{0D108BD9-81ED-4DB2-BD59-A6C34878D82A}">
                    <a16:rowId xmlns:a16="http://schemas.microsoft.com/office/drawing/2014/main" val="10001"/>
                  </a:ext>
                </a:extLst>
              </a:tr>
              <a:tr h="648072">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劣势</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硬件开发经验不足</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缺乏运营资金</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3.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课程时间冲突严重</a:t>
                      </a:r>
                    </a:p>
                  </a:txBody>
                  <a:tcPr marL="72000" marR="72000" marT="36000" marB="36000" anchor="ctr"/>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现有快递中心抵制变革</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学生使用习惯难改变</a:t>
                      </a:r>
                      <a:endParaRPr lang="en-US" alt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p>
                      <a:pPr marL="0" algn="l" defTabSz="914400" rtl="0" eaLnBrk="1" latinLnBrk="0" hangingPunct="1">
                        <a:spcBef>
                          <a:spcPts val="600"/>
                        </a:spcBef>
                        <a:spcAft>
                          <a:spcPts val="0"/>
                        </a:spcAft>
                      </a:pPr>
                      <a:endPar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0002"/>
                  </a:ext>
                </a:extLst>
              </a:tr>
              <a:tr h="429000">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机</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会 </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O)</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可申请大学生创新创业训练计划</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与菜鸟驿站合作试点</a:t>
                      </a:r>
                    </a:p>
                  </a:txBody>
                  <a:tcPr marL="72000" marR="72000" marT="36000" marB="36000" anchor="ctr"/>
                </a:tc>
                <a:tc>
                  <a:txBody>
                    <a:bodyPr/>
                    <a:lstStyle/>
                    <a:p>
                      <a:pPr marL="0" algn="l" defTabSz="914400" rtl="0" eaLnBrk="1" latinLnBrk="0" hangingPunct="1">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新建宿舍区需配套设施</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双十一等高峰期需求爆发</a:t>
                      </a:r>
                    </a:p>
                  </a:txBody>
                  <a:tcPr marL="72000" marR="72000" marT="36000" marB="36000" anchor="ctr"/>
                </a:tc>
                <a:extLst>
                  <a:ext uri="{0D108BD9-81ED-4DB2-BD59-A6C34878D82A}">
                    <a16:rowId xmlns:a16="http://schemas.microsoft.com/office/drawing/2014/main" val="10003"/>
                  </a:ext>
                </a:extLst>
              </a:tr>
              <a:tr h="557673">
                <a:tc>
                  <a:txBody>
                    <a:bodyPr/>
                    <a:lstStyle/>
                    <a:p>
                      <a:pPr marL="0" algn="ctr" defTabSz="914400" rtl="0" eaLnBrk="1" latinLnBrk="0" hangingPunct="1">
                        <a:lnSpc>
                          <a:spcPct val="1000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威</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胁</a:t>
                      </a:r>
                      <a:r>
                        <a:rPr 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algn="l">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商业巨头布局智能快递柜</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设备维护成本高</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algn="l">
                        <a:spcBef>
                          <a:spcPts val="600"/>
                        </a:spcBef>
                        <a:spcAft>
                          <a:spcPts val="0"/>
                        </a:spcAft>
                      </a:pP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校园安全管理政策限制</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b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疫情后快递消杀要求增加</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0004"/>
                  </a:ext>
                </a:extLst>
              </a:tr>
            </a:tbl>
          </a:graphicData>
        </a:graphic>
      </p:graphicFrame>
      <p:sp>
        <p:nvSpPr>
          <p:cNvPr id="7" name="矩形 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779662"/>
            <a:ext cx="2232249" cy="3024336"/>
          </a:xfrm>
          <a:prstGeom prst="rect">
            <a:avLst/>
          </a:prstGeom>
        </p:spPr>
        <p:txBody>
          <a:bodyPr wrap="square">
            <a:noAutofit/>
          </a:bodyPr>
          <a:lstStyle/>
          <a:p>
            <a:pPr>
              <a:lnSpc>
                <a:spcPct val="120000"/>
              </a:lnSpc>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创客竞赛</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SWOT</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分析案</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例</a:t>
            </a:r>
            <a:endParaRPr lang="en-US" altLang="zh-CN"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校</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园智能快递柜项</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目</a:t>
            </a:r>
            <a:endPar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案例背</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景：</a:t>
            </a:r>
            <a:endPar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团队名称</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：快递小分</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队</a:t>
            </a:r>
            <a:endPar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成</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员构成</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：华中科技大学</a:t>
            </a:r>
            <a:r>
              <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2025</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级</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本科</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生</a:t>
            </a:r>
            <a:endPar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项</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目主题</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：基于共享经济的校园智能快递柜系</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统</a:t>
            </a:r>
            <a:endPar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阶</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段进展</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：完成需求调研（覆盖韵苑</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紫菘宿舍区</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500</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份问卷）</a:t>
            </a:r>
            <a:endParaRPr lang="zh-CN" altLang="en-US" sz="12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611560" y="1736339"/>
            <a:ext cx="3744417" cy="276999"/>
          </a:xfrm>
          <a:prstGeom prst="rect">
            <a:avLst/>
          </a:prstGeom>
        </p:spPr>
        <p:txBody>
          <a:bodyPr wrap="square">
            <a:spAutoFit/>
          </a:bodyPr>
          <a:lstStyle/>
          <a:p>
            <a:pPr>
              <a:spcBef>
                <a:spcPts val="600"/>
              </a:spcBef>
              <a:spcAft>
                <a:spcPts val="600"/>
              </a:spcAft>
            </a:pPr>
            <a:r>
              <a:rPr lang="en-US" altLang="zh-CN"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1. SO</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战略（优势</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机会）</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利用优势，抓住机会”</a:t>
            </a:r>
          </a:p>
        </p:txBody>
      </p:sp>
      <p:graphicFrame>
        <p:nvGraphicFramePr>
          <p:cNvPr id="7" name="表格 6"/>
          <p:cNvGraphicFramePr>
            <a:graphicFrameLocks noGrp="1"/>
          </p:cNvGraphicFramePr>
          <p:nvPr>
            <p:extLst>
              <p:ext uri="{D42A27DB-BD31-4B8C-83A1-F6EECF244321}">
                <p14:modId xmlns:p14="http://schemas.microsoft.com/office/powerpoint/2010/main" val="3289186626"/>
              </p:ext>
            </p:extLst>
          </p:nvPr>
        </p:nvGraphicFramePr>
        <p:xfrm>
          <a:off x="611560" y="2104833"/>
          <a:ext cx="3744417" cy="1754785"/>
        </p:xfrm>
        <a:graphic>
          <a:graphicData uri="http://schemas.openxmlformats.org/drawingml/2006/table">
            <a:tbl>
              <a:tblPr firstRow="1" firstCol="1" bandRow="1">
                <a:tableStyleId>{5C22544A-7EE6-4342-B048-85BDC9FD1C3A}</a:tableStyleId>
              </a:tblPr>
              <a:tblGrid>
                <a:gridCol w="720081">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tblGrid>
              <a:tr h="265114">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marL="72000" marR="72000" marT="72000" marB="72000" anchor="ctr"/>
                </a:tc>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72000" marR="72000" marT="72000" marB="72000" anchor="ctr"/>
                </a:tc>
                <a:extLst>
                  <a:ext uri="{0D108BD9-81ED-4DB2-BD59-A6C34878D82A}">
                    <a16:rowId xmlns:a16="http://schemas.microsoft.com/office/drawing/2014/main" val="10000"/>
                  </a:ext>
                </a:extLst>
              </a:tr>
              <a:tr h="316945">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逻辑</a:t>
                      </a:r>
                    </a:p>
                  </a:txBody>
                  <a:tcPr marL="72000" marR="72000" marT="72000" marB="72000" anchor="ctr"/>
                </a:tc>
                <a:tc>
                  <a:txBody>
                    <a:bodyPr/>
                    <a:lstStyle/>
                    <a:p>
                      <a:pPr marL="0" algn="l" defTabSz="914400" rtl="0" eaLnBrk="1" latinLnBrk="0" hangingPunct="1">
                        <a:spcBef>
                          <a:spcPts val="600"/>
                        </a:spcBef>
                        <a:spcAft>
                          <a:spcPts val="0"/>
                        </a:spcAft>
                      </a:pP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内部优势（</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S）+ </a:t>
                      </a: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外部机会（</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O）= </a:t>
                      </a: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进攻型战略</a:t>
                      </a:r>
                    </a:p>
                  </a:txBody>
                  <a:tcPr marL="72000" marR="72000" marT="72000" marB="72000" anchor="ctr"/>
                </a:tc>
                <a:extLst>
                  <a:ext uri="{0D108BD9-81ED-4DB2-BD59-A6C34878D82A}">
                    <a16:rowId xmlns:a16="http://schemas.microsoft.com/office/drawing/2014/main" val="10001"/>
                  </a:ext>
                </a:extLst>
              </a:tr>
              <a:tr h="216024">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策略方向</a:t>
                      </a:r>
                    </a:p>
                  </a:txBody>
                  <a:tcPr marL="72000" marR="72000" marT="72000" marB="72000" anchor="ctr"/>
                </a:tc>
                <a:tc>
                  <a:txBody>
                    <a:bodyPr/>
                    <a:lstStyle/>
                    <a:p>
                      <a:pPr marL="0" algn="l" defTabSz="914400" rtl="0" eaLnBrk="1" latinLnBrk="0" hangingPunct="1">
                        <a:spcBef>
                          <a:spcPts val="600"/>
                        </a:spcBef>
                        <a:spcAft>
                          <a:spcPts val="0"/>
                        </a:spcAft>
                      </a:pP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发挥自身强项，主动出击，抢占先机</a:t>
                      </a:r>
                    </a:p>
                  </a:txBody>
                  <a:tcPr marL="72000" marR="72000" marT="72000" marB="72000" anchor="ctr"/>
                </a:tc>
                <a:extLst>
                  <a:ext uri="{0D108BD9-81ED-4DB2-BD59-A6C34878D82A}">
                    <a16:rowId xmlns:a16="http://schemas.microsoft.com/office/drawing/2014/main" val="10002"/>
                  </a:ext>
                </a:extLst>
              </a:tr>
              <a:tr h="42900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案例解读</a:t>
                      </a:r>
                    </a:p>
                  </a:txBody>
                  <a:tcPr marL="72000" marR="72000" marT="72000" marB="72000" anchor="ctr"/>
                </a:tc>
                <a:tc>
                  <a:txBody>
                    <a:bodyPr/>
                    <a:lstStyle/>
                    <a:p>
                      <a:pPr marL="0" algn="l" defTabSz="914400" rtl="0" eaLnBrk="1" latinLnBrk="0" hangingPunct="1">
                        <a:spcBef>
                          <a:spcPts val="600"/>
                        </a:spcBef>
                        <a:spcAft>
                          <a:spcPts val="0"/>
                        </a:spcAft>
                      </a:pP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对接智慧校园建设需求</a:t>
                      </a:r>
                      <a:r>
                        <a:rPr lang="en-US" alt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这是外部机会；利用跨专业优势开发整合方案</a:t>
                      </a:r>
                      <a:r>
                        <a:rPr lang="en-US" alt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alt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这是内部优势。两者结合，意味着“用我最擅长的能力，去做学校最需要的事情”</a:t>
                      </a:r>
                    </a:p>
                  </a:txBody>
                  <a:tcPr marL="72000" marR="72000" marT="72000" marB="72000" anchor="ctr"/>
                </a:tc>
                <a:extLst>
                  <a:ext uri="{0D108BD9-81ED-4DB2-BD59-A6C34878D82A}">
                    <a16:rowId xmlns:a16="http://schemas.microsoft.com/office/drawing/2014/main" val="10003"/>
                  </a:ext>
                </a:extLst>
              </a:tr>
            </a:tbl>
          </a:graphicData>
        </a:graphic>
      </p:graphicFrame>
      <p:sp>
        <p:nvSpPr>
          <p:cNvPr id="8" name="矩形 7"/>
          <p:cNvSpPr/>
          <p:nvPr/>
        </p:nvSpPr>
        <p:spPr>
          <a:xfrm>
            <a:off x="4644008" y="1731734"/>
            <a:ext cx="4104456" cy="276999"/>
          </a:xfrm>
          <a:prstGeom prst="rect">
            <a:avLst/>
          </a:prstGeom>
        </p:spPr>
        <p:txBody>
          <a:bodyPr wrap="square">
            <a:spAutoFit/>
          </a:bodyPr>
          <a:lstStyle/>
          <a:p>
            <a:r>
              <a:rPr lang="en-US" altLang="zh-CN"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 WO</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战略（劣势</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机会）</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借外部机会，补内部短板”</a:t>
            </a:r>
          </a:p>
        </p:txBody>
      </p:sp>
      <p:graphicFrame>
        <p:nvGraphicFramePr>
          <p:cNvPr id="9" name="表格 8"/>
          <p:cNvGraphicFramePr>
            <a:graphicFrameLocks noGrp="1"/>
          </p:cNvGraphicFramePr>
          <p:nvPr>
            <p:extLst>
              <p:ext uri="{D42A27DB-BD31-4B8C-83A1-F6EECF244321}">
                <p14:modId xmlns:p14="http://schemas.microsoft.com/office/powerpoint/2010/main" val="1642222723"/>
              </p:ext>
            </p:extLst>
          </p:nvPr>
        </p:nvGraphicFramePr>
        <p:xfrm>
          <a:off x="4644008" y="2104833"/>
          <a:ext cx="4032448" cy="1928914"/>
        </p:xfrm>
        <a:graphic>
          <a:graphicData uri="http://schemas.openxmlformats.org/drawingml/2006/table">
            <a:tbl>
              <a:tblPr firstRow="1" firstCol="1" bandRow="1">
                <a:tableStyleId>{5C22544A-7EE6-4342-B048-85BDC9FD1C3A}</a:tableStyleId>
              </a:tblPr>
              <a:tblGrid>
                <a:gridCol w="720081">
                  <a:extLst>
                    <a:ext uri="{9D8B030D-6E8A-4147-A177-3AD203B41FA5}">
                      <a16:colId xmlns:a16="http://schemas.microsoft.com/office/drawing/2014/main" val="20000"/>
                    </a:ext>
                  </a:extLst>
                </a:gridCol>
                <a:gridCol w="3312367">
                  <a:extLst>
                    <a:ext uri="{9D8B030D-6E8A-4147-A177-3AD203B41FA5}">
                      <a16:colId xmlns:a16="http://schemas.microsoft.com/office/drawing/2014/main" val="20001"/>
                    </a:ext>
                  </a:extLst>
                </a:gridCol>
              </a:tblGrid>
              <a:tr h="265114">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72000" marR="72000" marT="36000" marB="36000" anchor="ctr"/>
                </a:tc>
                <a:extLst>
                  <a:ext uri="{0D108BD9-81ED-4DB2-BD59-A6C34878D82A}">
                    <a16:rowId xmlns:a16="http://schemas.microsoft.com/office/drawing/2014/main" val="10000"/>
                  </a:ext>
                </a:extLst>
              </a:tr>
              <a:tr h="291463">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逻辑</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内部劣势（</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W</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外部机会（</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O</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扭转型战略</a:t>
                      </a:r>
                    </a:p>
                  </a:txBody>
                  <a:tcPr marL="72000" marR="72000" marT="36000" marB="36000" anchor="ct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策略方向</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借助外部条件，弥补自身不足，把</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做不到</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变成</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想办法做到</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0002"/>
                  </a:ext>
                </a:extLst>
              </a:tr>
              <a:tr h="42900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案例解读</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硬件开发能力弱</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这是劣势；</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3D</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打印</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开源代码降低了门槛</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这是外部技术机会。用低成本、低门槛的方式解决短板，而不是硬扛。</a:t>
                      </a:r>
                    </a:p>
                  </a:txBody>
                  <a:tcPr marL="72000" marR="72000" marT="36000" marB="360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4306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6" name="矩形 5"/>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2" name="矩形 1"/>
          <p:cNvSpPr/>
          <p:nvPr/>
        </p:nvSpPr>
        <p:spPr>
          <a:xfrm>
            <a:off x="467544" y="1714082"/>
            <a:ext cx="4104456" cy="276999"/>
          </a:xfrm>
          <a:prstGeom prst="rect">
            <a:avLst/>
          </a:prstGeom>
        </p:spPr>
        <p:txBody>
          <a:bodyPr wrap="square">
            <a:spAutoFit/>
          </a:bodyPr>
          <a:lstStyle/>
          <a:p>
            <a:r>
              <a:rPr lang="en-US" altLang="zh-CN"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 </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战略（优势</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威胁）</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用自身优势，对冲外部风险”</a:t>
            </a:r>
          </a:p>
        </p:txBody>
      </p:sp>
      <p:graphicFrame>
        <p:nvGraphicFramePr>
          <p:cNvPr id="7" name="表格 6"/>
          <p:cNvGraphicFramePr>
            <a:graphicFrameLocks noGrp="1"/>
          </p:cNvGraphicFramePr>
          <p:nvPr>
            <p:extLst>
              <p:ext uri="{D42A27DB-BD31-4B8C-83A1-F6EECF244321}">
                <p14:modId xmlns:p14="http://schemas.microsoft.com/office/powerpoint/2010/main" val="72459988"/>
              </p:ext>
            </p:extLst>
          </p:nvPr>
        </p:nvGraphicFramePr>
        <p:xfrm>
          <a:off x="539552" y="2087181"/>
          <a:ext cx="3960440" cy="1979085"/>
        </p:xfrm>
        <a:graphic>
          <a:graphicData uri="http://schemas.openxmlformats.org/drawingml/2006/table">
            <a:tbl>
              <a:tblPr firstRow="1" firstCol="1" bandRow="1">
                <a:tableStyleId>{5C22544A-7EE6-4342-B048-85BDC9FD1C3A}</a:tableStyleId>
              </a:tblPr>
              <a:tblGrid>
                <a:gridCol w="720081">
                  <a:extLst>
                    <a:ext uri="{9D8B030D-6E8A-4147-A177-3AD203B41FA5}">
                      <a16:colId xmlns:a16="http://schemas.microsoft.com/office/drawing/2014/main" val="20000"/>
                    </a:ext>
                  </a:extLst>
                </a:gridCol>
                <a:gridCol w="3240359">
                  <a:extLst>
                    <a:ext uri="{9D8B030D-6E8A-4147-A177-3AD203B41FA5}">
                      <a16:colId xmlns:a16="http://schemas.microsoft.com/office/drawing/2014/main" val="20001"/>
                    </a:ext>
                  </a:extLst>
                </a:gridCol>
              </a:tblGrid>
              <a:tr h="265114">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marL="72000" marR="72000" marT="72000" marB="72000" anchor="ctr"/>
                </a:tc>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72000" marR="72000" marT="72000" marB="72000" anchor="ctr"/>
                </a:tc>
                <a:extLst>
                  <a:ext uri="{0D108BD9-81ED-4DB2-BD59-A6C34878D82A}">
                    <a16:rowId xmlns:a16="http://schemas.microsoft.com/office/drawing/2014/main" val="10000"/>
                  </a:ext>
                </a:extLst>
              </a:tr>
              <a:tr h="316945">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逻辑</a:t>
                      </a:r>
                    </a:p>
                  </a:txBody>
                  <a:tcPr marL="72000" marR="72000" marT="72000" marB="72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内部优势（</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S</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外部威胁（</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防御型战略</a:t>
                      </a:r>
                    </a:p>
                  </a:txBody>
                  <a:tcPr marL="72000" marR="72000" marT="36000" marB="36000" anchor="ct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策略方向</a:t>
                      </a:r>
                    </a:p>
                  </a:txBody>
                  <a:tcPr marL="72000" marR="72000" marT="72000" marB="72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用自己最擅长的领域，构筑护城河，规避外部威胁的直接冲击</a:t>
                      </a:r>
                    </a:p>
                  </a:txBody>
                  <a:tcPr marL="72000" marR="72000" marT="36000" marB="36000" anchor="ctr"/>
                </a:tc>
                <a:extLst>
                  <a:ext uri="{0D108BD9-81ED-4DB2-BD59-A6C34878D82A}">
                    <a16:rowId xmlns:a16="http://schemas.microsoft.com/office/drawing/2014/main" val="10002"/>
                  </a:ext>
                </a:extLst>
              </a:tr>
              <a:tr h="42900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案例解读</a:t>
                      </a:r>
                    </a:p>
                  </a:txBody>
                  <a:tcPr marL="72000" marR="72000" marT="72000" marB="72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竞争对手多</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这是威胁；聚焦</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最后</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100</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米</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细分场景</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这是用差异化定位避开红海竞争。不硬拼，但也不退让。</a:t>
                      </a:r>
                    </a:p>
                  </a:txBody>
                  <a:tcPr marL="72000" marR="72000" marT="36000" marB="36000" anchor="ctr"/>
                </a:tc>
                <a:extLst>
                  <a:ext uri="{0D108BD9-81ED-4DB2-BD59-A6C34878D82A}">
                    <a16:rowId xmlns:a16="http://schemas.microsoft.com/office/drawing/2014/main" val="10003"/>
                  </a:ext>
                </a:extLst>
              </a:tr>
            </a:tbl>
          </a:graphicData>
        </a:graphic>
      </p:graphicFrame>
      <p:sp>
        <p:nvSpPr>
          <p:cNvPr id="8" name="矩形 7"/>
          <p:cNvSpPr/>
          <p:nvPr/>
        </p:nvSpPr>
        <p:spPr>
          <a:xfrm>
            <a:off x="4788023" y="1714082"/>
            <a:ext cx="3672410" cy="276999"/>
          </a:xfrm>
          <a:prstGeom prst="rect">
            <a:avLst/>
          </a:prstGeom>
        </p:spPr>
        <p:txBody>
          <a:bodyPr wrap="square">
            <a:spAutoFit/>
          </a:bodyPr>
          <a:lstStyle/>
          <a:p>
            <a:r>
              <a:rPr lang="en-US" altLang="zh-CN"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4. </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WT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战略（劣势</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威胁）</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双重压力下先求生存”</a:t>
            </a:r>
          </a:p>
        </p:txBody>
      </p:sp>
      <p:graphicFrame>
        <p:nvGraphicFramePr>
          <p:cNvPr id="9" name="表格 8"/>
          <p:cNvGraphicFramePr>
            <a:graphicFrameLocks noGrp="1"/>
          </p:cNvGraphicFramePr>
          <p:nvPr>
            <p:extLst>
              <p:ext uri="{D42A27DB-BD31-4B8C-83A1-F6EECF244321}">
                <p14:modId xmlns:p14="http://schemas.microsoft.com/office/powerpoint/2010/main" val="601431537"/>
              </p:ext>
            </p:extLst>
          </p:nvPr>
        </p:nvGraphicFramePr>
        <p:xfrm>
          <a:off x="4788023" y="2087181"/>
          <a:ext cx="3672409" cy="2195109"/>
        </p:xfrm>
        <a:graphic>
          <a:graphicData uri="http://schemas.openxmlformats.org/drawingml/2006/table">
            <a:tbl>
              <a:tblPr firstRow="1" firstCol="1" bandRow="1">
                <a:tableStyleId>{5C22544A-7EE6-4342-B048-85BDC9FD1C3A}</a:tableStyleId>
              </a:tblPr>
              <a:tblGrid>
                <a:gridCol w="720081">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tblGrid>
              <a:tr h="265114">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a:t>
                      </a:r>
                    </a:p>
                  </a:txBody>
                  <a:tcPr marL="72000" marR="72000" marT="36000" marB="36000" anchor="ctr"/>
                </a:tc>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72000" marR="72000" marT="36000" marB="36000" anchor="ctr"/>
                </a:tc>
                <a:extLst>
                  <a:ext uri="{0D108BD9-81ED-4DB2-BD59-A6C34878D82A}">
                    <a16:rowId xmlns:a16="http://schemas.microsoft.com/office/drawing/2014/main" val="10000"/>
                  </a:ext>
                </a:extLst>
              </a:tr>
              <a:tr h="579495">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逻辑</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内部劣势（</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W</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外部威胁（</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收缩</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保守型战略</a:t>
                      </a:r>
                    </a:p>
                  </a:txBody>
                  <a:tcPr marL="72000" marR="72000" marT="36000" marB="36000" anchor="ctr"/>
                </a:tc>
                <a:extLst>
                  <a:ext uri="{0D108BD9-81ED-4DB2-BD59-A6C34878D82A}">
                    <a16:rowId xmlns:a16="http://schemas.microsoft.com/office/drawing/2014/main" val="10001"/>
                  </a:ext>
                </a:extLst>
              </a:tr>
              <a:tr h="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策略方向</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认清当前局面不占优，先降低风险、保存实力，等待时机</a:t>
                      </a:r>
                    </a:p>
                  </a:txBody>
                  <a:tcPr marL="72000" marR="72000" marT="36000" marB="36000" anchor="ctr"/>
                </a:tc>
                <a:extLst>
                  <a:ext uri="{0D108BD9-81ED-4DB2-BD59-A6C34878D82A}">
                    <a16:rowId xmlns:a16="http://schemas.microsoft.com/office/drawing/2014/main" val="10002"/>
                  </a:ext>
                </a:extLst>
              </a:tr>
              <a:tr h="429000">
                <a:tc>
                  <a:txBody>
                    <a:bodyPr/>
                    <a:lstStyle/>
                    <a:p>
                      <a:pPr marL="0" algn="ctr" defTabSz="914400" rtl="0" eaLnBrk="1" latinLnBrk="0" hangingPunct="1">
                        <a:lnSpc>
                          <a:spcPct val="100000"/>
                        </a:lnSpc>
                        <a:spcAft>
                          <a:spcPts val="0"/>
                        </a:spcAft>
                      </a:pPr>
                      <a:r>
                        <a:rPr lang="zh-CN" alt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案例解读</a:t>
                      </a:r>
                    </a:p>
                  </a:txBody>
                  <a:tcPr marL="72000" marR="72000" marT="36000" marB="36000" anchor="ctr"/>
                </a:tc>
                <a:tc>
                  <a:txBody>
                    <a:bodyPr/>
                    <a:lstStyle/>
                    <a:p>
                      <a:pPr marL="0" algn="l" defTabSz="914400" rtl="0" eaLnBrk="1" latinLnBrk="0" hangingPunct="1">
                        <a:lnSpc>
                          <a:spcPts val="1875"/>
                        </a:lnSpc>
                        <a:spcBef>
                          <a:spcPts val="600"/>
                        </a:spcBef>
                        <a:spcAft>
                          <a:spcPts val="0"/>
                        </a:spcAft>
                      </a:pP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做硬件没优势、市场竞争激烈</a:t>
                      </a:r>
                      <a:r>
                        <a:rPr lang="en-US"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双重压力下，先做一个轻量级软件平台（投入小、风险低），用最小的代价先跑起来。</a:t>
                      </a:r>
                    </a:p>
                  </a:txBody>
                  <a:tcPr marL="72000" marR="72000" marT="36000" marB="3600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71598" y="1635646"/>
            <a:ext cx="5472609" cy="307777"/>
          </a:xfrm>
          <a:prstGeom prst="rect">
            <a:avLst/>
          </a:prstGeom>
        </p:spPr>
        <p:txBody>
          <a:bodyPr wrap="square">
            <a:spAutoFit/>
          </a:bodyPr>
          <a:lstStyle/>
          <a:p>
            <a:pPr>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校园智能快递柜项目需求分析漏斗模</a:t>
            </a:r>
            <a:r>
              <a:rPr lang="zh-CN" altLang="en-US" sz="14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型（</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五层结构）</a:t>
            </a:r>
          </a:p>
        </p:txBody>
      </p:sp>
      <p:pic>
        <p:nvPicPr>
          <p:cNvPr id="2" name="图片 1"/>
          <p:cNvPicPr>
            <a:picLocks noChangeAspect="1"/>
          </p:cNvPicPr>
          <p:nvPr/>
        </p:nvPicPr>
        <p:blipFill>
          <a:blip r:embed="rId3"/>
          <a:stretch>
            <a:fillRect/>
          </a:stretch>
        </p:blipFill>
        <p:spPr>
          <a:xfrm>
            <a:off x="1043608" y="1995686"/>
            <a:ext cx="1351847" cy="3096344"/>
          </a:xfrm>
          <a:prstGeom prst="rect">
            <a:avLst/>
          </a:prstGeom>
        </p:spPr>
      </p:pic>
      <p:sp>
        <p:nvSpPr>
          <p:cNvPr id="4" name="矩形 3"/>
          <p:cNvSpPr/>
          <p:nvPr/>
        </p:nvSpPr>
        <p:spPr>
          <a:xfrm>
            <a:off x="2915816" y="1995686"/>
            <a:ext cx="2520280" cy="2954655"/>
          </a:xfrm>
          <a:prstGeom prst="rect">
            <a:avLst/>
          </a:prstGeom>
        </p:spPr>
        <p:txBody>
          <a:bodyPr wrap="square">
            <a:spAutoFit/>
          </a:bodyPr>
          <a:lstStyle/>
          <a:p>
            <a:pPr>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各层级分析工具与案例应用</a:t>
            </a:r>
            <a:endPar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1.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初始需求收集层</a:t>
            </a:r>
            <a:endPar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工具：</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校园广场随机访谈</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问卷星</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案例数据</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收集</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2358</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条原始需求（含重复）</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典型需求举例：</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希望</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24</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小时取件</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（出现频次</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428</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快递丢失找不到</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（频次</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367</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有效性过滤层</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工具：</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KANO</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模</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型（卡</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诺模</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型）</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筛选标准：</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需求表述具体明确</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至少</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个独立用户提出</a:t>
            </a:r>
          </a:p>
        </p:txBody>
      </p:sp>
      <p:sp>
        <p:nvSpPr>
          <p:cNvPr id="5" name="矩形 4"/>
          <p:cNvSpPr/>
          <p:nvPr/>
        </p:nvSpPr>
        <p:spPr>
          <a:xfrm>
            <a:off x="5652120" y="1995686"/>
            <a:ext cx="2880321" cy="2970365"/>
          </a:xfrm>
          <a:prstGeom prst="rect">
            <a:avLst/>
          </a:prstGeom>
        </p:spPr>
        <p:txBody>
          <a:bodyPr wrap="square">
            <a:spAutoFit/>
          </a:bodyPr>
          <a:lstStyle/>
          <a:p>
            <a:pPr marL="0" lvl="1">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案例结果</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marL="0" lvl="1">
              <a:lnSpc>
                <a:spcPct val="120000"/>
              </a:lnSpc>
              <a:spcBef>
                <a:spcPts val="600"/>
              </a:spcBef>
            </a:pP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保留</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832</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条有效需求</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排除类型举例：</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快</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递柜要好</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看</a:t>
            </a:r>
            <a:r>
              <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过于主观）</a:t>
            </a:r>
            <a:b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希</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望送件</a:t>
            </a:r>
            <a:r>
              <a:rPr lang="zh-CN" altLang="en-US"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到寝室</a:t>
            </a:r>
            <a:r>
              <a:rPr lang="en-US" altLang="zh-CN" sz="1200"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（超出能力）</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核心需求识别层</a:t>
            </a: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工具：</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四象限矩阵（迫切性</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可实现性）</a:t>
            </a:r>
          </a:p>
          <a:p>
            <a:pPr>
              <a:lnSpc>
                <a:spcPct val="120000"/>
              </a:lnSpc>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4.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可实施性评估层</a:t>
            </a:r>
          </a:p>
          <a:p>
            <a:pPr marL="0" lvl="1">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工具：</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SCAMPER</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创新检查表</a:t>
            </a:r>
          </a:p>
          <a:p>
            <a:pPr marL="0" lvl="1">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案例转化：</a:t>
            </a: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代取服务</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学生兼职快递侠</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消毒功能</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紫外线定时消杀</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899592" y="1597945"/>
            <a:ext cx="6899990" cy="307777"/>
          </a:xfrm>
          <a:prstGeom prst="rect">
            <a:avLst/>
          </a:prstGeom>
        </p:spPr>
        <p:txBody>
          <a:bodyPr wrap="square">
            <a:spAutoFit/>
          </a:bodyPr>
          <a:lstStyle/>
          <a:p>
            <a:r>
              <a:rPr lang="zh-CN" altLang="en-US" sz="1400" b="1">
                <a:latin typeface="仿宋" panose="02010609060101010101" pitchFamily="49" charset="-122"/>
                <a:ea typeface="仿宋" panose="02010609060101010101" pitchFamily="49" charset="-122"/>
              </a:rPr>
              <a:t>校园智能快递柜项目相关方分析案例</a:t>
            </a:r>
            <a:endParaRPr lang="zh-CN" altLang="en-US" sz="1400" b="0" i="0">
              <a:solidFill>
                <a:srgbClr val="404040"/>
              </a:solidFill>
              <a:effectLst/>
              <a:latin typeface="仿宋" panose="02010609060101010101" pitchFamily="49" charset="-122"/>
              <a:ea typeface="仿宋" panose="02010609060101010101" pitchFamily="49" charset="-122"/>
              <a:cs typeface="Times New Roman" panose="02020603050405020304" pitchFamily="18" charset="0"/>
            </a:endParaRPr>
          </a:p>
        </p:txBody>
      </p:sp>
      <p:graphicFrame>
        <p:nvGraphicFramePr>
          <p:cNvPr id="12" name="表格 11"/>
          <p:cNvGraphicFramePr>
            <a:graphicFrameLocks noGrp="1"/>
          </p:cNvGraphicFramePr>
          <p:nvPr>
            <p:extLst>
              <p:ext uri="{D42A27DB-BD31-4B8C-83A1-F6EECF244321}">
                <p14:modId xmlns:p14="http://schemas.microsoft.com/office/powerpoint/2010/main" val="3659307323"/>
              </p:ext>
            </p:extLst>
          </p:nvPr>
        </p:nvGraphicFramePr>
        <p:xfrm>
          <a:off x="827584" y="2308830"/>
          <a:ext cx="6480720" cy="2255128"/>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20000"/>
                    </a:ext>
                  </a:extLst>
                </a:gridCol>
                <a:gridCol w="2088232">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864096">
                  <a:extLst>
                    <a:ext uri="{9D8B030D-6E8A-4147-A177-3AD203B41FA5}">
                      <a16:colId xmlns:a16="http://schemas.microsoft.com/office/drawing/2014/main" val="20004"/>
                    </a:ext>
                  </a:extLst>
                </a:gridCol>
              </a:tblGrid>
              <a:tr h="308871">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相关方群体</a:t>
                      </a:r>
                    </a:p>
                  </a:txBody>
                  <a:tcPr marL="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利益诉求</a:t>
                      </a:r>
                    </a:p>
                  </a:txBody>
                  <a:tcPr marL="9525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影响力</a:t>
                      </a:r>
                    </a:p>
                  </a:txBody>
                  <a:tcPr marL="9525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参与度</a:t>
                      </a:r>
                    </a:p>
                  </a:txBody>
                  <a:tcPr marL="95250" marR="95250" marT="95250" marB="95250" anchor="ctr"/>
                </a:tc>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当前态度</a:t>
                      </a:r>
                    </a:p>
                  </a:txBody>
                  <a:tcPr marL="95250" marR="95250" marT="95250" marB="95250" anchor="ctr"/>
                </a:tc>
                <a:extLst>
                  <a:ext uri="{0D108BD9-81ED-4DB2-BD59-A6C34878D82A}">
                    <a16:rowId xmlns:a16="http://schemas.microsoft.com/office/drawing/2014/main" val="10000"/>
                  </a:ext>
                </a:extLst>
              </a:tr>
              <a:tr h="388228">
                <a:tc>
                  <a:txBody>
                    <a:bodyPr/>
                    <a:lstStyle/>
                    <a:p>
                      <a:pPr marL="0" algn="ctr" defTabSz="914400" rtl="0" eaLnBrk="1" latinLnBrk="0" hangingPunct="1">
                        <a:lnSpc>
                          <a:spcPct val="100000"/>
                        </a:lnSpc>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在校学生（用户）</a:t>
                      </a:r>
                    </a:p>
                  </a:txBody>
                  <a:tcPr marL="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24</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小时便捷取件</a:t>
                      </a: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减少丢件</a:t>
                      </a: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支持</a:t>
                      </a:r>
                    </a:p>
                  </a:txBody>
                  <a:tcPr marL="95250" marR="95250" marT="95250" marB="95250" anchor="ctr"/>
                </a:tc>
                <a:extLst>
                  <a:ext uri="{0D108BD9-81ED-4DB2-BD59-A6C34878D82A}">
                    <a16:rowId xmlns:a16="http://schemas.microsoft.com/office/drawing/2014/main" val="10001"/>
                  </a:ext>
                </a:extLst>
              </a:tr>
              <a:tr h="344408">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后勤管理处</a:t>
                      </a:r>
                    </a:p>
                  </a:txBody>
                  <a:tcPr marL="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规范管理</a:t>
                      </a: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降低投诉率</a:t>
                      </a: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中立</a:t>
                      </a:r>
                    </a:p>
                  </a:txBody>
                  <a:tcPr marL="95250" marR="95250" marT="95250" marB="95250" anchor="ctr"/>
                </a:tc>
                <a:extLst>
                  <a:ext uri="{0D108BD9-81ED-4DB2-BD59-A6C34878D82A}">
                    <a16:rowId xmlns:a16="http://schemas.microsoft.com/office/drawing/2014/main" val="10002"/>
                  </a:ext>
                </a:extLst>
              </a:tr>
              <a:tr h="300588">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快递公司</a:t>
                      </a:r>
                    </a:p>
                  </a:txBody>
                  <a:tcPr marL="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提高派件效率</a:t>
                      </a: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降低成本</a:t>
                      </a: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观望</a:t>
                      </a:r>
                    </a:p>
                  </a:txBody>
                  <a:tcPr marL="95250" marR="95250" marT="95250" marB="95250" anchor="ctr"/>
                </a:tc>
                <a:extLst>
                  <a:ext uri="{0D108BD9-81ED-4DB2-BD59-A6C34878D82A}">
                    <a16:rowId xmlns:a16="http://schemas.microsoft.com/office/drawing/2014/main" val="10003"/>
                  </a:ext>
                </a:extLst>
              </a:tr>
              <a:tr h="328776">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学生创业中心</a:t>
                      </a:r>
                    </a:p>
                  </a:txBody>
                  <a:tcPr marL="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培育优秀项目</a:t>
                      </a: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获得竞赛奖项</a:t>
                      </a: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支持</a:t>
                      </a:r>
                    </a:p>
                  </a:txBody>
                  <a:tcPr marL="95250" marR="95250" marT="95250" marB="95250" anchor="ctr"/>
                </a:tc>
                <a:extLst>
                  <a:ext uri="{0D108BD9-81ED-4DB2-BD59-A6C34878D82A}">
                    <a16:rowId xmlns:a16="http://schemas.microsoft.com/office/drawing/2014/main" val="10004"/>
                  </a:ext>
                </a:extLst>
              </a:tr>
              <a:tr h="356964">
                <a:tc>
                  <a:txBody>
                    <a:bodyPr/>
                    <a:lstStyle/>
                    <a:p>
                      <a:pPr algn="ctr">
                        <a:spcAft>
                          <a:spcPts val="0"/>
                        </a:spcAft>
                      </a:pPr>
                      <a:r>
                        <a:rPr lang="zh-CN" sz="12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宿舍管理员</a:t>
                      </a:r>
                    </a:p>
                  </a:txBody>
                  <a:tcPr marL="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不增加工作负担</a:t>
                      </a: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维持秩序</a:t>
                      </a: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en-US"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marL="0" algn="l" defTabSz="914400" rtl="0" eaLnBrk="1" latinLnBrk="0" hangingPunct="1">
                        <a:spcAft>
                          <a:spcPts val="0"/>
                        </a:spcAft>
                      </a:pPr>
                      <a:r>
                        <a:rPr lang="zh-CN" sz="1200" kern="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rPr>
                        <a:t>抵制</a:t>
                      </a:r>
                    </a:p>
                  </a:txBody>
                  <a:tcPr marL="95250" marR="95250" marT="95250" marB="95250" anchor="ctr"/>
                </a:tc>
                <a:extLst>
                  <a:ext uri="{0D108BD9-81ED-4DB2-BD59-A6C34878D82A}">
                    <a16:rowId xmlns:a16="http://schemas.microsoft.com/office/drawing/2014/main" val="10005"/>
                  </a:ext>
                </a:extLst>
              </a:tr>
            </a:tbl>
          </a:graphicData>
        </a:graphic>
      </p:graphicFrame>
      <p:sp>
        <p:nvSpPr>
          <p:cNvPr id="3" name="矩形 2"/>
          <p:cNvSpPr/>
          <p:nvPr/>
        </p:nvSpPr>
        <p:spPr>
          <a:xfrm>
            <a:off x="899592" y="1977660"/>
            <a:ext cx="7118730" cy="276999"/>
          </a:xfrm>
          <a:prstGeom prst="rect">
            <a:avLst/>
          </a:prstGeom>
        </p:spPr>
        <p:txBody>
          <a:bodyPr wrap="square">
            <a:spAutoFit/>
          </a:bodyPr>
          <a:lstStyle/>
          <a:p>
            <a:pPr algn="ctr"/>
            <a:r>
              <a:rPr lang="zh-CN" altLang="en-US" sz="1200" b="1">
                <a:latin typeface="微软雅黑" panose="020B0503020204020204" pitchFamily="34" charset="-122"/>
                <a:ea typeface="微软雅黑" panose="020B0503020204020204" pitchFamily="34" charset="-122"/>
              </a:rPr>
              <a:t>基础相关方识别矩阵</a:t>
            </a:r>
          </a:p>
        </p:txBody>
      </p:sp>
      <p:sp>
        <p:nvSpPr>
          <p:cNvPr id="8" name="矩形 7"/>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950046" y="1687909"/>
            <a:ext cx="6934322" cy="307777"/>
          </a:xfrm>
          <a:prstGeom prst="rect">
            <a:avLst/>
          </a:prstGeom>
        </p:spPr>
        <p:txBody>
          <a:bodyPr wrap="square">
            <a:spAutoFit/>
          </a:bodyPr>
          <a:lstStyle/>
          <a:p>
            <a:r>
              <a:rPr lang="zh-CN" altLang="en-US" sz="1400" b="1">
                <a:latin typeface="仿宋" panose="02010609060101010101" pitchFamily="49" charset="-122"/>
                <a:ea typeface="仿宋" panose="02010609060101010101" pitchFamily="49" charset="-122"/>
              </a:rPr>
              <a:t>校园智能快递柜项目相关方分析案例</a:t>
            </a:r>
            <a:endParaRPr lang="zh-CN" altLang="en-US" sz="1400" b="0" i="0">
              <a:solidFill>
                <a:srgbClr val="404040"/>
              </a:solidFill>
              <a:effectLst/>
              <a:latin typeface="仿宋" panose="02010609060101010101" pitchFamily="49" charset="-122"/>
              <a:ea typeface="仿宋" panose="02010609060101010101" pitchFamily="49" charset="-122"/>
              <a:cs typeface="Times New Roman" panose="02020603050405020304" pitchFamily="18" charset="0"/>
            </a:endParaRPr>
          </a:p>
        </p:txBody>
      </p:sp>
      <p:sp>
        <p:nvSpPr>
          <p:cNvPr id="3" name="矩形 2"/>
          <p:cNvSpPr/>
          <p:nvPr/>
        </p:nvSpPr>
        <p:spPr>
          <a:xfrm>
            <a:off x="899592" y="1977660"/>
            <a:ext cx="2852599" cy="276999"/>
          </a:xfrm>
          <a:prstGeom prst="rect">
            <a:avLst/>
          </a:prstGeom>
        </p:spPr>
        <p:txBody>
          <a:bodyPr wrap="square">
            <a:spAutoFit/>
          </a:bodyPr>
          <a:lstStyle/>
          <a:p>
            <a:pPr algn="ctr"/>
            <a:r>
              <a:rPr lang="zh-CN" altLang="en-US" sz="1200" b="1">
                <a:latin typeface="仿宋" panose="02010609060101010101" pitchFamily="49" charset="-122"/>
                <a:ea typeface="仿宋" panose="02010609060101010101" pitchFamily="49" charset="-122"/>
              </a:rPr>
              <a:t>四象限权力</a:t>
            </a:r>
            <a:r>
              <a:rPr lang="en-US" altLang="zh-CN" sz="1200" b="1">
                <a:latin typeface="仿宋" panose="02010609060101010101" pitchFamily="49" charset="-122"/>
                <a:ea typeface="仿宋" panose="02010609060101010101" pitchFamily="49" charset="-122"/>
              </a:rPr>
              <a:t>-</a:t>
            </a:r>
            <a:r>
              <a:rPr lang="zh-CN" altLang="en-US" sz="1200" b="1">
                <a:latin typeface="仿宋" panose="02010609060101010101" pitchFamily="49" charset="-122"/>
                <a:ea typeface="仿宋" panose="02010609060101010101" pitchFamily="49" charset="-122"/>
              </a:rPr>
              <a:t>利益分析</a:t>
            </a:r>
          </a:p>
        </p:txBody>
      </p:sp>
      <p:pic>
        <p:nvPicPr>
          <p:cNvPr id="4" name="图片 3"/>
          <p:cNvPicPr>
            <a:picLocks noChangeAspect="1"/>
          </p:cNvPicPr>
          <p:nvPr/>
        </p:nvPicPr>
        <p:blipFill>
          <a:blip r:embed="rId3"/>
          <a:stretch>
            <a:fillRect/>
          </a:stretch>
        </p:blipFill>
        <p:spPr>
          <a:xfrm>
            <a:off x="856154" y="2285437"/>
            <a:ext cx="2896037" cy="2734585"/>
          </a:xfrm>
          <a:prstGeom prst="rect">
            <a:avLst/>
          </a:prstGeom>
        </p:spPr>
      </p:pic>
      <p:sp>
        <p:nvSpPr>
          <p:cNvPr id="5" name="矩形 4"/>
          <p:cNvSpPr/>
          <p:nvPr/>
        </p:nvSpPr>
        <p:spPr>
          <a:xfrm>
            <a:off x="4268013" y="1977660"/>
            <a:ext cx="3683492" cy="3016531"/>
          </a:xfrm>
          <a:prstGeom prst="rect">
            <a:avLst/>
          </a:prstGeom>
        </p:spPr>
        <p:txBody>
          <a:bodyPr wrap="square">
            <a:spAutoFit/>
          </a:bodyPr>
          <a:lstStyle/>
          <a:p>
            <a:pPr>
              <a:lnSpc>
                <a:spcPct val="120000"/>
              </a:lnSpc>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参与度提升策略</a:t>
            </a:r>
          </a:p>
          <a:p>
            <a:pPr>
              <a:lnSpc>
                <a:spcPct val="120000"/>
              </a:lnSpc>
              <a:spcBef>
                <a:spcPts val="600"/>
              </a:spcBef>
            </a:pPr>
            <a:r>
              <a:rPr lang="en-US" altLang="zh-CN"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1. </a:t>
            </a:r>
            <a:r>
              <a:rPr lang="zh-CN" altLang="en-US" sz="1200" b="1" smtClean="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抵</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制→中立</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（宿舍管理员）</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方案：</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设计</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无接触</a:t>
            </a:r>
            <a:r>
              <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取件流程（不增加值班负担）</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行动：</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邀请参与柜体位置选址</a:t>
            </a:r>
          </a:p>
          <a:p>
            <a:pPr>
              <a:lnSpc>
                <a:spcPct val="120000"/>
              </a:lnSpc>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2.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观望→支持</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（快递公司）</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方案：</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提供派件效率对比数据</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行动：</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与菜鸟驿站联合试点</a:t>
            </a:r>
          </a:p>
          <a:p>
            <a:pPr>
              <a:lnSpc>
                <a:spcPct val="120000"/>
              </a:lnSpc>
              <a:spcBef>
                <a:spcPts val="600"/>
              </a:spcBef>
            </a:pPr>
            <a:r>
              <a:rPr lang="en-US" altLang="zh-CN"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 </a:t>
            </a: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支持→推动</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（学生创业中心）</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方案：</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定期提交项目进展报告</a:t>
            </a:r>
            <a:endParaRPr lang="en-US" altLang="zh-CN"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en-US" sz="12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行动：</a:t>
            </a:r>
            <a:r>
              <a:rPr lang="zh-CN" altLang="en-US" sz="12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申请入驻创业孵化器</a:t>
            </a:r>
            <a:endParaRPr lang="zh-CN" altLang="en-US" sz="12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934134" y="2041267"/>
            <a:ext cx="1440160" cy="400535"/>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责任矩阵</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矩形 7"/>
          <p:cNvSpPr>
            <a:spLocks noChangeAspect="1"/>
          </p:cNvSpPr>
          <p:nvPr/>
        </p:nvSpPr>
        <p:spPr>
          <a:xfrm>
            <a:off x="6516216" y="2036768"/>
            <a:ext cx="1728192" cy="391541"/>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概率影响矩阵</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p:cNvSpPr>
            <a:spLocks noChangeAspect="1"/>
          </p:cNvSpPr>
          <p:nvPr/>
        </p:nvSpPr>
        <p:spPr>
          <a:xfrm>
            <a:off x="1044356" y="2036768"/>
            <a:ext cx="1440160" cy="377031"/>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WBS</a:t>
            </a:r>
            <a:endParaRPr lang="en-US" altLang="zh-CN"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11" name="图片 10"/>
          <p:cNvPicPr>
            <a:picLocks noChangeAspect="1"/>
          </p:cNvPicPr>
          <p:nvPr/>
        </p:nvPicPr>
        <p:blipFill>
          <a:blip r:embed="rId3"/>
          <a:stretch>
            <a:fillRect/>
          </a:stretch>
        </p:blipFill>
        <p:spPr>
          <a:xfrm>
            <a:off x="179512" y="2907448"/>
            <a:ext cx="3169848" cy="1841192"/>
          </a:xfrm>
          <a:prstGeom prst="rect">
            <a:avLst/>
          </a:prstGeom>
        </p:spPr>
      </p:pic>
      <p:pic>
        <p:nvPicPr>
          <p:cNvPr id="12" name="图片 11"/>
          <p:cNvPicPr>
            <a:picLocks noChangeAspect="1"/>
          </p:cNvPicPr>
          <p:nvPr/>
        </p:nvPicPr>
        <p:blipFill>
          <a:blip r:embed="rId4"/>
          <a:stretch>
            <a:fillRect/>
          </a:stretch>
        </p:blipFill>
        <p:spPr>
          <a:xfrm>
            <a:off x="6012160" y="3065272"/>
            <a:ext cx="2966405" cy="1683368"/>
          </a:xfrm>
          <a:prstGeom prst="rect">
            <a:avLst/>
          </a:prstGeom>
        </p:spPr>
      </p:pic>
      <p:pic>
        <p:nvPicPr>
          <p:cNvPr id="14" name="图片 13"/>
          <p:cNvPicPr>
            <a:picLocks noChangeAspect="1"/>
          </p:cNvPicPr>
          <p:nvPr/>
        </p:nvPicPr>
        <p:blipFill rotWithShape="1">
          <a:blip r:embed="rId5"/>
          <a:srcRect l="4942" t="4023" r="42617" b="4952"/>
          <a:stretch>
            <a:fillRect/>
          </a:stretch>
        </p:blipFill>
        <p:spPr>
          <a:xfrm>
            <a:off x="3440285" y="2907448"/>
            <a:ext cx="2427859" cy="1988650"/>
          </a:xfrm>
          <a:prstGeom prst="rect">
            <a:avLst/>
          </a:prstGeom>
        </p:spPr>
      </p:pic>
      <p:sp>
        <p:nvSpPr>
          <p:cNvPr id="15"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7" name="矩形 16"/>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18" name="矩形 17"/>
          <p:cNvSpPr/>
          <p:nvPr/>
        </p:nvSpPr>
        <p:spPr>
          <a:xfrm>
            <a:off x="950046" y="1687909"/>
            <a:ext cx="6934322" cy="307777"/>
          </a:xfrm>
          <a:prstGeom prst="rect">
            <a:avLst/>
          </a:prstGeom>
        </p:spPr>
        <p:txBody>
          <a:bodyPr wrap="square">
            <a:spAutoFit/>
          </a:bodyPr>
          <a:lstStyle/>
          <a:p>
            <a:r>
              <a:rPr lang="zh-CN" altLang="en-US" sz="1400" b="1" i="0" smtClean="0">
                <a:solidFill>
                  <a:srgbClr val="404040"/>
                </a:solidFill>
                <a:effectLst/>
                <a:latin typeface="仿宋" panose="02010609060101010101" pitchFamily="49" charset="-122"/>
                <a:ea typeface="仿宋" panose="02010609060101010101" pitchFamily="49" charset="-122"/>
                <a:cs typeface="Times New Roman" panose="02020603050405020304" pitchFamily="18" charset="0"/>
              </a:rPr>
              <a:t>规划阶段常用工具</a:t>
            </a:r>
            <a:endParaRPr lang="zh-CN" altLang="en-US" sz="1400" b="1" i="0">
              <a:solidFill>
                <a:srgbClr val="404040"/>
              </a:solidFill>
              <a:effectLst/>
              <a:latin typeface="仿宋" panose="02010609060101010101" pitchFamily="49" charset="-122"/>
              <a:ea typeface="仿宋" panose="02010609060101010101" pitchFamily="49" charset="-122"/>
              <a:cs typeface="Times New Roman" panose="02020603050405020304" pitchFamily="18" charset="0"/>
            </a:endParaRPr>
          </a:p>
        </p:txBody>
      </p:sp>
      <p:sp>
        <p:nvSpPr>
          <p:cNvPr id="2" name="矩形 1"/>
          <p:cNvSpPr/>
          <p:nvPr/>
        </p:nvSpPr>
        <p:spPr>
          <a:xfrm>
            <a:off x="272928" y="2486194"/>
            <a:ext cx="3057247"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化整为零，可分配、可估算、可验收</a:t>
            </a:r>
          </a:p>
        </p:txBody>
      </p:sp>
      <p:sp>
        <p:nvSpPr>
          <p:cNvPr id="3" name="矩形 2"/>
          <p:cNvSpPr/>
          <p:nvPr/>
        </p:nvSpPr>
        <p:spPr>
          <a:xfrm>
            <a:off x="3362252" y="2502900"/>
            <a:ext cx="2698175"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一人一责，事事有主，人人有份</a:t>
            </a:r>
          </a:p>
        </p:txBody>
      </p:sp>
      <p:sp>
        <p:nvSpPr>
          <p:cNvPr id="4" name="矩形 3"/>
          <p:cNvSpPr/>
          <p:nvPr/>
        </p:nvSpPr>
        <p:spPr>
          <a:xfrm>
            <a:off x="6146274" y="2502900"/>
            <a:ext cx="2698175"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用数据说话，聚焦高优先级风险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04368" y="1635646"/>
            <a:ext cx="5539840" cy="600164"/>
          </a:xfrm>
          <a:prstGeom prst="rect">
            <a:avLst/>
          </a:prstGeom>
        </p:spPr>
        <p:txBody>
          <a:bodyPr wrap="square">
            <a:spAutoFit/>
          </a:bodyPr>
          <a:lstStyle/>
          <a:p>
            <a:pPr>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校园智能快递柜项目</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WBS</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分解案例</a:t>
            </a:r>
          </a:p>
          <a:p>
            <a:pPr>
              <a:spcBef>
                <a:spcPts val="600"/>
              </a:spcBef>
            </a:pP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WBS</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基础结构（三级分解）</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355726"/>
            <a:ext cx="9144000" cy="1078046"/>
          </a:xfrm>
          <a:prstGeom prst="rect">
            <a:avLst/>
          </a:prstGeom>
        </p:spPr>
      </p:pic>
      <p:sp>
        <p:nvSpPr>
          <p:cNvPr id="4" name="矩形 3"/>
          <p:cNvSpPr/>
          <p:nvPr/>
        </p:nvSpPr>
        <p:spPr>
          <a:xfrm>
            <a:off x="251520" y="3611466"/>
            <a:ext cx="2448272" cy="1332994"/>
          </a:xfrm>
          <a:prstGeom prst="rect">
            <a:avLst/>
          </a:prstGeom>
        </p:spPr>
        <p:txBody>
          <a:bodyPr wrap="square">
            <a:spAutoFit/>
          </a:bodyPr>
          <a:lstStyle/>
          <a:p>
            <a:pPr>
              <a:lnSpc>
                <a:spcPct val="120000"/>
              </a:lnSpc>
              <a:spcBef>
                <a:spcPts val="600"/>
              </a:spcBef>
            </a:pPr>
            <a:r>
              <a:rPr lang="zh-CN" altLang="en-US" sz="1200" b="1">
                <a:solidFill>
                  <a:srgbClr val="404040"/>
                </a:solidFill>
                <a:latin typeface="Times New Roman" panose="02020603050405020304" pitchFamily="18" charset="0"/>
                <a:cs typeface="Times New Roman" panose="02020603050405020304" pitchFamily="18" charset="0"/>
              </a:rPr>
              <a:t>适配性设计说明</a:t>
            </a:r>
          </a:p>
          <a:p>
            <a:pPr>
              <a:lnSpc>
                <a:spcPct val="120000"/>
              </a:lnSpc>
              <a:spcBef>
                <a:spcPts val="600"/>
              </a:spcBef>
            </a:pPr>
            <a:r>
              <a:rPr lang="en-US" altLang="zh-CN" sz="1200" b="1">
                <a:solidFill>
                  <a:srgbClr val="404040"/>
                </a:solidFill>
                <a:latin typeface="Times New Roman" panose="02020603050405020304" pitchFamily="18" charset="0"/>
                <a:cs typeface="Times New Roman" panose="02020603050405020304" pitchFamily="18" charset="0"/>
              </a:rPr>
              <a:t>1. </a:t>
            </a:r>
            <a:r>
              <a:rPr lang="zh-CN" altLang="en-US" sz="1200" b="1">
                <a:solidFill>
                  <a:srgbClr val="404040"/>
                </a:solidFill>
                <a:latin typeface="Times New Roman" panose="02020603050405020304" pitchFamily="18" charset="0"/>
                <a:cs typeface="Times New Roman" panose="02020603050405020304" pitchFamily="18" charset="0"/>
              </a:rPr>
              <a:t>简化技术层级</a:t>
            </a:r>
            <a:endParaRPr lang="en-US" altLang="zh-CN" sz="1200">
              <a:solidFill>
                <a:srgbClr val="404040"/>
              </a:solidFill>
              <a:latin typeface="Times New Roman" panose="02020603050405020304" pitchFamily="18" charset="0"/>
              <a:cs typeface="Times New Roman" panose="02020603050405020304" pitchFamily="18" charset="0"/>
            </a:endParaRPr>
          </a:p>
          <a:p>
            <a:pPr>
              <a:lnSpc>
                <a:spcPct val="120000"/>
              </a:lnSpc>
              <a:spcBef>
                <a:spcPts val="600"/>
              </a:spcBef>
            </a:pPr>
            <a:r>
              <a:rPr lang="zh-CN" altLang="en-US" sz="1200">
                <a:solidFill>
                  <a:srgbClr val="404040"/>
                </a:solidFill>
                <a:latin typeface="Times New Roman" panose="02020603050405020304" pitchFamily="18" charset="0"/>
                <a:cs typeface="Times New Roman" panose="02020603050405020304" pitchFamily="18" charset="0"/>
              </a:rPr>
              <a:t>将</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数据对接接口</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细化为：</a:t>
            </a:r>
            <a:br>
              <a:rPr lang="zh-CN" altLang="en-US" sz="1200">
                <a:solidFill>
                  <a:srgbClr val="404040"/>
                </a:solidFill>
                <a:latin typeface="Times New Roman" panose="02020603050405020304" pitchFamily="18" charset="0"/>
                <a:cs typeface="Times New Roman" panose="02020603050405020304" pitchFamily="18" charset="0"/>
              </a:rPr>
            </a:br>
            <a:r>
              <a:rPr lang="en-US" altLang="zh-CN" sz="120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快递公司</a:t>
            </a:r>
            <a:r>
              <a:rPr lang="en-US" altLang="zh-CN" sz="1200">
                <a:solidFill>
                  <a:srgbClr val="404040"/>
                </a:solidFill>
                <a:latin typeface="Times New Roman" panose="02020603050405020304" pitchFamily="18" charset="0"/>
                <a:cs typeface="Times New Roman" panose="02020603050405020304" pitchFamily="18" charset="0"/>
              </a:rPr>
              <a:t>API</a:t>
            </a:r>
            <a:r>
              <a:rPr lang="zh-CN" altLang="en-US" sz="1200">
                <a:solidFill>
                  <a:srgbClr val="404040"/>
                </a:solidFill>
                <a:latin typeface="Times New Roman" panose="02020603050405020304" pitchFamily="18" charset="0"/>
                <a:cs typeface="Times New Roman" panose="02020603050405020304" pitchFamily="18" charset="0"/>
              </a:rPr>
              <a:t>对接（菜鸟</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顺丰）</a:t>
            </a:r>
            <a:br>
              <a:rPr lang="zh-CN" altLang="en-US" sz="1200">
                <a:solidFill>
                  <a:srgbClr val="404040"/>
                </a:solidFill>
                <a:latin typeface="Times New Roman" panose="02020603050405020304" pitchFamily="18" charset="0"/>
                <a:cs typeface="Times New Roman" panose="02020603050405020304" pitchFamily="18" charset="0"/>
              </a:rPr>
            </a:br>
            <a:r>
              <a:rPr lang="en-US" altLang="zh-CN" sz="120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校园一卡通系统对接</a:t>
            </a:r>
            <a:endParaRPr lang="zh-CN" altLang="en-US" sz="1200" b="0" i="0">
              <a:solidFill>
                <a:srgbClr val="404040"/>
              </a:solidFill>
              <a:effectLst/>
              <a:latin typeface="Times New Roman" panose="02020603050405020304" pitchFamily="18" charset="0"/>
              <a:cs typeface="Times New Roman" panose="02020603050405020304" pitchFamily="18" charset="0"/>
            </a:endParaRPr>
          </a:p>
        </p:txBody>
      </p:sp>
      <p:sp>
        <p:nvSpPr>
          <p:cNvPr id="7" name="矩形 6"/>
          <p:cNvSpPr/>
          <p:nvPr/>
        </p:nvSpPr>
        <p:spPr>
          <a:xfrm>
            <a:off x="2972087" y="3594669"/>
            <a:ext cx="1584176" cy="800219"/>
          </a:xfrm>
          <a:prstGeom prst="rect">
            <a:avLst/>
          </a:prstGeom>
        </p:spPr>
        <p:txBody>
          <a:bodyPr wrap="square">
            <a:spAutoFit/>
          </a:bodyPr>
          <a:lstStyle/>
          <a:p>
            <a:pPr marL="0" lvl="1">
              <a:spcBef>
                <a:spcPts val="600"/>
              </a:spcBef>
            </a:pPr>
            <a:r>
              <a:rPr lang="zh-CN" altLang="en-US" sz="1200">
                <a:solidFill>
                  <a:srgbClr val="404040"/>
                </a:solidFill>
                <a:latin typeface="Times New Roman" panose="02020603050405020304" pitchFamily="18" charset="0"/>
                <a:cs typeface="Times New Roman" panose="02020603050405020304" pitchFamily="18" charset="0"/>
              </a:rPr>
              <a:t>避免涉及</a:t>
            </a:r>
            <a:r>
              <a:rPr lang="zh-CN" altLang="en-US" sz="1200" smtClean="0">
                <a:solidFill>
                  <a:srgbClr val="404040"/>
                </a:solidFill>
                <a:latin typeface="Times New Roman" panose="02020603050405020304" pitchFamily="18" charset="0"/>
                <a:cs typeface="Times New Roman" panose="02020603050405020304" pitchFamily="18" charset="0"/>
              </a:rPr>
              <a:t>：</a:t>
            </a:r>
            <a:endParaRPr lang="en-US" altLang="zh-CN" sz="1200" smtClean="0">
              <a:solidFill>
                <a:srgbClr val="404040"/>
              </a:solidFill>
              <a:latin typeface="Times New Roman" panose="02020603050405020304" pitchFamily="18" charset="0"/>
              <a:cs typeface="Times New Roman" panose="02020603050405020304" pitchFamily="18" charset="0"/>
            </a:endParaRPr>
          </a:p>
          <a:p>
            <a:pPr marL="0" lvl="1">
              <a:spcBef>
                <a:spcPts val="600"/>
              </a:spcBef>
            </a:pPr>
            <a:r>
              <a:rPr lang="en-US" altLang="zh-CN" sz="1200" smtClean="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机器学习算</a:t>
            </a:r>
            <a:r>
              <a:rPr lang="zh-CN" altLang="en-US" sz="1200" smtClean="0">
                <a:solidFill>
                  <a:srgbClr val="404040"/>
                </a:solidFill>
                <a:latin typeface="Times New Roman" panose="02020603050405020304" pitchFamily="18" charset="0"/>
                <a:cs typeface="Times New Roman" panose="02020603050405020304" pitchFamily="18" charset="0"/>
              </a:rPr>
              <a:t>法</a:t>
            </a:r>
            <a:endParaRPr lang="en-US" altLang="zh-CN" sz="1200" smtClean="0">
              <a:solidFill>
                <a:srgbClr val="404040"/>
              </a:solidFill>
              <a:latin typeface="Times New Roman" panose="02020603050405020304" pitchFamily="18" charset="0"/>
              <a:cs typeface="Times New Roman" panose="02020603050405020304" pitchFamily="18" charset="0"/>
            </a:endParaRPr>
          </a:p>
          <a:p>
            <a:pPr marL="0" lvl="1">
              <a:spcBef>
                <a:spcPts val="600"/>
              </a:spcBef>
            </a:pPr>
            <a:r>
              <a:rPr lang="en-US" altLang="zh-CN" sz="1200" smtClean="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区块链技术</a:t>
            </a:r>
            <a:endParaRPr lang="zh-CN" altLang="en-US" sz="1200" b="0" i="0">
              <a:solidFill>
                <a:srgbClr val="404040"/>
              </a:solidFill>
              <a:effectLst/>
              <a:latin typeface="Times New Roman" panose="02020603050405020304" pitchFamily="18" charset="0"/>
              <a:cs typeface="Times New Roman" panose="02020603050405020304" pitchFamily="18" charset="0"/>
            </a:endParaRPr>
          </a:p>
        </p:txBody>
      </p:sp>
      <p:sp>
        <p:nvSpPr>
          <p:cNvPr id="5" name="矩形 4"/>
          <p:cNvSpPr/>
          <p:nvPr/>
        </p:nvSpPr>
        <p:spPr>
          <a:xfrm>
            <a:off x="4716016" y="3433772"/>
            <a:ext cx="1944216" cy="1538883"/>
          </a:xfrm>
          <a:prstGeom prst="rect">
            <a:avLst/>
          </a:prstGeom>
        </p:spPr>
        <p:txBody>
          <a:bodyPr wrap="square">
            <a:spAutoFit/>
          </a:bodyPr>
          <a:lstStyle/>
          <a:p>
            <a:pPr>
              <a:spcBef>
                <a:spcPts val="600"/>
              </a:spcBef>
            </a:pPr>
            <a:r>
              <a:rPr lang="en-US" altLang="zh-CN" sz="1200" b="1">
                <a:solidFill>
                  <a:srgbClr val="404040"/>
                </a:solidFill>
                <a:latin typeface="Times New Roman" panose="02020603050405020304" pitchFamily="18" charset="0"/>
                <a:cs typeface="Times New Roman" panose="02020603050405020304" pitchFamily="18" charset="0"/>
              </a:rPr>
              <a:t>2. </a:t>
            </a:r>
            <a:r>
              <a:rPr lang="zh-CN" altLang="en-US" sz="1200" b="1">
                <a:solidFill>
                  <a:srgbClr val="404040"/>
                </a:solidFill>
                <a:latin typeface="Times New Roman" panose="02020603050405020304" pitchFamily="18" charset="0"/>
                <a:cs typeface="Times New Roman" panose="02020603050405020304" pitchFamily="18" charset="0"/>
              </a:rPr>
              <a:t>突出校园特色</a:t>
            </a:r>
            <a:endParaRPr lang="zh-CN" altLang="en-US" sz="1200">
              <a:solidFill>
                <a:srgbClr val="404040"/>
              </a:solidFill>
              <a:latin typeface="Times New Roman" panose="02020603050405020304" pitchFamily="18" charset="0"/>
              <a:cs typeface="Times New Roman" panose="02020603050405020304" pitchFamily="18" charset="0"/>
            </a:endParaRPr>
          </a:p>
          <a:p>
            <a:pPr marL="0" lvl="1">
              <a:spcBef>
                <a:spcPts val="600"/>
              </a:spcBef>
            </a:pPr>
            <a:r>
              <a:rPr lang="zh-CN" altLang="en-US" sz="1200">
                <a:solidFill>
                  <a:srgbClr val="404040"/>
                </a:solidFill>
                <a:latin typeface="Times New Roman" panose="02020603050405020304" pitchFamily="18" charset="0"/>
                <a:cs typeface="Times New Roman" panose="02020603050405020304" pitchFamily="18" charset="0"/>
              </a:rPr>
              <a:t>在</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环境适配改造</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中明确：</a:t>
            </a:r>
            <a:br>
              <a:rPr lang="zh-CN" altLang="en-US" sz="1200">
                <a:solidFill>
                  <a:srgbClr val="404040"/>
                </a:solidFill>
                <a:latin typeface="Times New Roman" panose="02020603050405020304" pitchFamily="18" charset="0"/>
                <a:cs typeface="Times New Roman" panose="02020603050405020304" pitchFamily="18" charset="0"/>
              </a:rPr>
            </a:br>
            <a:r>
              <a:rPr lang="en-US" altLang="zh-CN" sz="120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韵苑公寓电力改造</a:t>
            </a:r>
            <a:br>
              <a:rPr lang="zh-CN" altLang="en-US" sz="1200">
                <a:solidFill>
                  <a:srgbClr val="404040"/>
                </a:solidFill>
                <a:latin typeface="Times New Roman" panose="02020603050405020304" pitchFamily="18" charset="0"/>
                <a:cs typeface="Times New Roman" panose="02020603050405020304" pitchFamily="18" charset="0"/>
              </a:rPr>
            </a:br>
            <a:r>
              <a:rPr lang="en-US" altLang="zh-CN" sz="1200">
                <a:solidFill>
                  <a:srgbClr val="404040"/>
                </a:solidFill>
                <a:latin typeface="Times New Roman" panose="02020603050405020304" pitchFamily="18" charset="0"/>
                <a:cs typeface="Times New Roman" panose="02020603050405020304" pitchFamily="18" charset="0"/>
              </a:rPr>
              <a:t>• </a:t>
            </a:r>
            <a:r>
              <a:rPr lang="zh-CN" altLang="en-US" sz="1200">
                <a:solidFill>
                  <a:srgbClr val="404040"/>
                </a:solidFill>
                <a:latin typeface="Times New Roman" panose="02020603050405020304" pitchFamily="18" charset="0"/>
                <a:cs typeface="Times New Roman" panose="02020603050405020304" pitchFamily="18" charset="0"/>
              </a:rPr>
              <a:t>紫菘路口防水处理</a:t>
            </a:r>
          </a:p>
          <a:p>
            <a:pPr marL="0" lvl="1">
              <a:spcBef>
                <a:spcPts val="600"/>
              </a:spcBef>
            </a:pPr>
            <a:r>
              <a:rPr lang="zh-CN" altLang="en-US" sz="1200" b="1">
                <a:solidFill>
                  <a:srgbClr val="404040"/>
                </a:solidFill>
                <a:latin typeface="Times New Roman" panose="02020603050405020304" pitchFamily="18" charset="0"/>
                <a:cs typeface="Times New Roman" panose="02020603050405020304" pitchFamily="18" charset="0"/>
              </a:rPr>
              <a:t>特殊考虑：</a:t>
            </a:r>
            <a:r>
              <a:rPr lang="zh-CN" altLang="en-US" sz="1200">
                <a:solidFill>
                  <a:srgbClr val="404040"/>
                </a:solidFill>
                <a:latin typeface="Times New Roman" panose="02020603050405020304" pitchFamily="18" charset="0"/>
                <a:cs typeface="Times New Roman" panose="02020603050405020304" pitchFamily="18" charset="0"/>
              </a:rPr>
              <a:t/>
            </a:r>
            <a:br>
              <a:rPr lang="zh-CN" altLang="en-US" sz="1200">
                <a:solidFill>
                  <a:srgbClr val="404040"/>
                </a:solidFill>
                <a:latin typeface="Times New Roman" panose="02020603050405020304" pitchFamily="18" charset="0"/>
                <a:cs typeface="Times New Roman" panose="02020603050405020304" pitchFamily="18" charset="0"/>
              </a:rPr>
            </a:br>
            <a:r>
              <a:rPr lang="zh-CN" altLang="en-US" sz="1200">
                <a:solidFill>
                  <a:srgbClr val="404040"/>
                </a:solidFill>
                <a:latin typeface="Times New Roman" panose="02020603050405020304" pitchFamily="18" charset="0"/>
                <a:cs typeface="Times New Roman" panose="02020603050405020304" pitchFamily="18" charset="0"/>
              </a:rPr>
              <a:t>√ 军训期间暂停施工</a:t>
            </a:r>
            <a:br>
              <a:rPr lang="zh-CN" altLang="en-US" sz="1200">
                <a:solidFill>
                  <a:srgbClr val="404040"/>
                </a:solidFill>
                <a:latin typeface="Times New Roman" panose="02020603050405020304" pitchFamily="18" charset="0"/>
                <a:cs typeface="Times New Roman" panose="02020603050405020304" pitchFamily="18" charset="0"/>
              </a:rPr>
            </a:br>
            <a:r>
              <a:rPr lang="zh-CN" altLang="en-US" sz="1200">
                <a:solidFill>
                  <a:srgbClr val="404040"/>
                </a:solidFill>
                <a:latin typeface="Times New Roman" panose="02020603050405020304" pitchFamily="18" charset="0"/>
                <a:cs typeface="Times New Roman" panose="02020603050405020304" pitchFamily="18" charset="0"/>
              </a:rPr>
              <a:t>√ 考试周静音模式</a:t>
            </a:r>
            <a:endParaRPr lang="zh-CN" altLang="en-US" sz="1200" b="0" i="0">
              <a:solidFill>
                <a:srgbClr val="404040"/>
              </a:solidFill>
              <a:effectLst/>
              <a:latin typeface="Times New Roman" panose="02020603050405020304" pitchFamily="18" charset="0"/>
              <a:cs typeface="Times New Roman" panose="02020603050405020304" pitchFamily="18" charset="0"/>
            </a:endParaRPr>
          </a:p>
        </p:txBody>
      </p:sp>
      <p:sp>
        <p:nvSpPr>
          <p:cNvPr id="6" name="矩形 5"/>
          <p:cNvSpPr/>
          <p:nvPr/>
        </p:nvSpPr>
        <p:spPr>
          <a:xfrm>
            <a:off x="6953273" y="3512222"/>
            <a:ext cx="1944216" cy="1431161"/>
          </a:xfrm>
          <a:prstGeom prst="rect">
            <a:avLst/>
          </a:prstGeom>
        </p:spPr>
        <p:txBody>
          <a:bodyPr wrap="square">
            <a:spAutoFit/>
          </a:bodyPr>
          <a:lstStyle/>
          <a:p>
            <a:pPr>
              <a:spcBef>
                <a:spcPts val="600"/>
              </a:spcBef>
            </a:pPr>
            <a:r>
              <a:rPr lang="en-US" altLang="zh-CN" sz="1200" b="1">
                <a:solidFill>
                  <a:srgbClr val="404040"/>
                </a:solidFill>
                <a:latin typeface="Times New Roman" panose="02020603050405020304" pitchFamily="18" charset="0"/>
                <a:cs typeface="Times New Roman" panose="02020603050405020304" pitchFamily="18" charset="0"/>
              </a:rPr>
              <a:t>3. </a:t>
            </a:r>
            <a:r>
              <a:rPr lang="zh-CN" altLang="en-US" sz="1200" b="1">
                <a:solidFill>
                  <a:srgbClr val="404040"/>
                </a:solidFill>
                <a:latin typeface="Times New Roman" panose="02020603050405020304" pitchFamily="18" charset="0"/>
                <a:cs typeface="Times New Roman" panose="02020603050405020304" pitchFamily="18" charset="0"/>
              </a:rPr>
              <a:t>可交付成果标注</a:t>
            </a:r>
            <a:endParaRPr lang="en-US" altLang="zh-CN" sz="1200" b="1">
              <a:solidFill>
                <a:srgbClr val="404040"/>
              </a:solidFill>
              <a:latin typeface="Times New Roman" panose="02020603050405020304" pitchFamily="18" charset="0"/>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cs typeface="Times New Roman" panose="02020603050405020304" pitchFamily="18" charset="0"/>
              </a:rPr>
              <a:t>工作包</a:t>
            </a:r>
            <a:r>
              <a:rPr lang="zh-CN" altLang="en-US" sz="1200">
                <a:solidFill>
                  <a:srgbClr val="404040"/>
                </a:solidFill>
                <a:latin typeface="Times New Roman" panose="02020603050405020304" pitchFamily="18" charset="0"/>
                <a:cs typeface="Times New Roman" panose="02020603050405020304" pitchFamily="18" charset="0"/>
              </a:rPr>
              <a:t>：小程序开发</a:t>
            </a:r>
            <a:endParaRPr lang="en-US" altLang="zh-CN" sz="1200">
              <a:solidFill>
                <a:srgbClr val="404040"/>
              </a:solidFill>
              <a:latin typeface="Times New Roman" panose="02020603050405020304" pitchFamily="18" charset="0"/>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cs typeface="Times New Roman" panose="02020603050405020304" pitchFamily="18" charset="0"/>
              </a:rPr>
              <a:t>交付物</a:t>
            </a:r>
            <a:r>
              <a:rPr lang="zh-CN" altLang="en-US" sz="1200">
                <a:solidFill>
                  <a:srgbClr val="404040"/>
                </a:solidFill>
                <a:latin typeface="Times New Roman" panose="02020603050405020304" pitchFamily="18" charset="0"/>
                <a:cs typeface="Times New Roman" panose="02020603050405020304" pitchFamily="18" charset="0"/>
              </a:rPr>
              <a:t>：</a:t>
            </a:r>
            <a:r>
              <a:rPr lang="en-US" altLang="zh-CN" sz="1200">
                <a:solidFill>
                  <a:srgbClr val="404040"/>
                </a:solidFill>
                <a:latin typeface="Times New Roman" panose="02020603050405020304" pitchFamily="18" charset="0"/>
                <a:cs typeface="Times New Roman" panose="02020603050405020304" pitchFamily="18" charset="0"/>
              </a:rPr>
              <a:t>V1.0</a:t>
            </a:r>
            <a:r>
              <a:rPr lang="zh-CN" altLang="en-US" sz="1200">
                <a:solidFill>
                  <a:srgbClr val="404040"/>
                </a:solidFill>
                <a:latin typeface="Times New Roman" panose="02020603050405020304" pitchFamily="18" charset="0"/>
                <a:cs typeface="Times New Roman" panose="02020603050405020304" pitchFamily="18" charset="0"/>
              </a:rPr>
              <a:t>可运行版本</a:t>
            </a:r>
            <a:endParaRPr lang="en-US" altLang="zh-CN" sz="1200">
              <a:solidFill>
                <a:srgbClr val="404040"/>
              </a:solidFill>
              <a:latin typeface="Times New Roman" panose="02020603050405020304" pitchFamily="18" charset="0"/>
              <a:cs typeface="Times New Roman" panose="02020603050405020304" pitchFamily="18" charset="0"/>
            </a:endParaRPr>
          </a:p>
          <a:p>
            <a:pPr>
              <a:spcBef>
                <a:spcPts val="600"/>
              </a:spcBef>
            </a:pPr>
            <a:r>
              <a:rPr lang="zh-CN" altLang="en-US" sz="1200" b="1">
                <a:solidFill>
                  <a:srgbClr val="404040"/>
                </a:solidFill>
                <a:latin typeface="Times New Roman" panose="02020603050405020304" pitchFamily="18" charset="0"/>
                <a:cs typeface="Times New Roman" panose="02020603050405020304" pitchFamily="18" charset="0"/>
              </a:rPr>
              <a:t>验收标准</a:t>
            </a:r>
            <a:r>
              <a:rPr lang="zh-CN" altLang="en-US" sz="1200">
                <a:solidFill>
                  <a:srgbClr val="404040"/>
                </a:solidFill>
                <a:latin typeface="Times New Roman" panose="02020603050405020304" pitchFamily="18" charset="0"/>
                <a:cs typeface="Times New Roman" panose="02020603050405020304" pitchFamily="18" charset="0"/>
              </a:rPr>
              <a:t>：完成取件</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通知</a:t>
            </a:r>
            <a:r>
              <a:rPr lang="en-US" altLang="zh-CN" sz="1200">
                <a:solidFill>
                  <a:srgbClr val="404040"/>
                </a:solidFill>
                <a:latin typeface="Times New Roman" panose="02020603050405020304" pitchFamily="18" charset="0"/>
                <a:cs typeface="Times New Roman" panose="02020603050405020304" pitchFamily="18" charset="0"/>
              </a:rPr>
              <a:t>/</a:t>
            </a:r>
            <a:r>
              <a:rPr lang="zh-CN" altLang="en-US" sz="1200">
                <a:solidFill>
                  <a:srgbClr val="404040"/>
                </a:solidFill>
                <a:latin typeface="Times New Roman" panose="02020603050405020304" pitchFamily="18" charset="0"/>
                <a:cs typeface="Times New Roman" panose="02020603050405020304" pitchFamily="18" charset="0"/>
              </a:rPr>
              <a:t>支付基础功能</a:t>
            </a:r>
            <a:endParaRPr lang="en-US" altLang="zh-CN" sz="1200">
              <a:solidFill>
                <a:srgbClr val="404040"/>
              </a:solidFill>
              <a:latin typeface="Times New Roman" panose="02020603050405020304" pitchFamily="18" charset="0"/>
              <a:cs typeface="Times New Roman" panose="02020603050405020304" pitchFamily="18" charset="0"/>
            </a:endParaRPr>
          </a:p>
          <a:p>
            <a:endParaRPr lang="zh-CN" altLang="en-US" sz="1200">
              <a:solidFill>
                <a:srgbClr val="404040"/>
              </a:solidFill>
              <a:latin typeface="Times New Roman" panose="02020603050405020304" pitchFamily="18" charset="0"/>
              <a:cs typeface="Times New Roman" panose="02020603050405020304" pitchFamily="18" charset="0"/>
            </a:endParaRPr>
          </a:p>
        </p:txBody>
      </p:sp>
      <p:sp>
        <p:nvSpPr>
          <p:cNvPr id="12" name="矩形 11"/>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3" name="矩形 2"/>
          <p:cNvSpPr/>
          <p:nvPr/>
        </p:nvSpPr>
        <p:spPr>
          <a:xfrm>
            <a:off x="904368" y="1635646"/>
            <a:ext cx="5539840" cy="600164"/>
          </a:xfrm>
          <a:prstGeom prst="rect">
            <a:avLst/>
          </a:prstGeom>
        </p:spPr>
        <p:txBody>
          <a:bodyPr wrap="square">
            <a:spAutoFit/>
          </a:bodyPr>
          <a:lstStyle/>
          <a:p>
            <a:pPr>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校园智能快递柜项目责任矩阵案例（</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RACI</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模型）</a:t>
            </a:r>
          </a:p>
          <a:p>
            <a:pPr>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基础责任矩阵（核心功能模块）</a:t>
            </a:r>
          </a:p>
        </p:txBody>
      </p:sp>
      <p:graphicFrame>
        <p:nvGraphicFramePr>
          <p:cNvPr id="10" name="表格 9"/>
          <p:cNvGraphicFramePr>
            <a:graphicFrameLocks noGrp="1"/>
          </p:cNvGraphicFramePr>
          <p:nvPr>
            <p:extLst>
              <p:ext uri="{D42A27DB-BD31-4B8C-83A1-F6EECF244321}">
                <p14:modId xmlns:p14="http://schemas.microsoft.com/office/powerpoint/2010/main" val="1976232905"/>
              </p:ext>
            </p:extLst>
          </p:nvPr>
        </p:nvGraphicFramePr>
        <p:xfrm>
          <a:off x="899592" y="2359715"/>
          <a:ext cx="5400600" cy="2346568"/>
        </p:xfrm>
        <a:graphic>
          <a:graphicData uri="http://schemas.openxmlformats.org/drawingml/2006/table">
            <a:tbl>
              <a:tblPr firstRow="1" firstCol="1" bandRow="1">
                <a:tableStyleId>{5C22544A-7EE6-4342-B048-85BDC9FD1C3A}</a:tableStyleId>
              </a:tblPr>
              <a:tblGrid>
                <a:gridCol w="1425740">
                  <a:extLst>
                    <a:ext uri="{9D8B030D-6E8A-4147-A177-3AD203B41FA5}">
                      <a16:colId xmlns:a16="http://schemas.microsoft.com/office/drawing/2014/main" val="20000"/>
                    </a:ext>
                  </a:extLst>
                </a:gridCol>
                <a:gridCol w="87851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864096">
                  <a:extLst>
                    <a:ext uri="{9D8B030D-6E8A-4147-A177-3AD203B41FA5}">
                      <a16:colId xmlns:a16="http://schemas.microsoft.com/office/drawing/2014/main" val="20004"/>
                    </a:ext>
                  </a:extLst>
                </a:gridCol>
                <a:gridCol w="720080">
                  <a:extLst>
                    <a:ext uri="{9D8B030D-6E8A-4147-A177-3AD203B41FA5}">
                      <a16:colId xmlns:a16="http://schemas.microsoft.com/office/drawing/2014/main" val="20005"/>
                    </a:ext>
                  </a:extLst>
                </a:gridCol>
              </a:tblGrid>
              <a:tr h="308871">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工作任务</a:t>
                      </a:r>
                    </a:p>
                  </a:txBody>
                  <a:tcPr marL="0" marR="95250" marT="95250" marB="9525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产品经理</a:t>
                      </a:r>
                      <a:endParaRPr lang="en-US" alt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（张三）</a:t>
                      </a:r>
                    </a:p>
                  </a:txBody>
                  <a:tcPr marL="95250" marR="95250" marT="95250" marB="9525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技术组（李四）</a:t>
                      </a:r>
                    </a:p>
                  </a:txBody>
                  <a:tcPr marL="95250" marR="95250" marT="95250" marB="9525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运营组（王五）</a:t>
                      </a:r>
                    </a:p>
                  </a:txBody>
                  <a:tcPr marL="95250" marR="95250" marT="95250" marB="9525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后勤对接（赵六）</a:t>
                      </a:r>
                    </a:p>
                  </a:txBody>
                  <a:tcPr marL="95250" marR="95250" marT="95250" marB="9525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指导</a:t>
                      </a:r>
                      <a:endParaRPr lang="en-US" alt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老师</a:t>
                      </a:r>
                    </a:p>
                  </a:txBody>
                  <a:tcPr marL="95250" marR="95250" marT="95250" marB="95250" anchor="ctr"/>
                </a:tc>
                <a:extLst>
                  <a:ext uri="{0D108BD9-81ED-4DB2-BD59-A6C34878D82A}">
                    <a16:rowId xmlns:a16="http://schemas.microsoft.com/office/drawing/2014/main" val="10000"/>
                  </a:ext>
                </a:extLst>
              </a:tr>
              <a:tr h="38822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小程序用户端开发</a:t>
                      </a:r>
                    </a:p>
                  </a:txBody>
                  <a:tcPr marL="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R</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I</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34440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快递柜硬件安装</a:t>
                      </a:r>
                    </a:p>
                  </a:txBody>
                  <a:tcPr marL="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R</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S</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I</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30058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菜鸟驿站</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API</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对接</a:t>
                      </a:r>
                    </a:p>
                  </a:txBody>
                  <a:tcPr marL="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S</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R</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r h="32877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校园安全审批</a:t>
                      </a:r>
                    </a:p>
                  </a:txBody>
                  <a:tcPr marL="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R</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4"/>
                  </a:ext>
                </a:extLst>
              </a:tr>
              <a:tr h="3569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用户推广活动</a:t>
                      </a:r>
                    </a:p>
                  </a:txBody>
                  <a:tcPr marL="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S</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R</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tc>
                  <a:txBody>
                    <a:bodyPr/>
                    <a:lstStyle/>
                    <a:p>
                      <a:pPr algn="ctr">
                        <a:spcAft>
                          <a:spcPts val="0"/>
                        </a:spcAft>
                      </a:pPr>
                      <a:r>
                        <a:rPr lang="en-US" sz="1100" kern="0">
                          <a:solidFill>
                            <a:srgbClr val="404040"/>
                          </a:solidFill>
                          <a:effectLst/>
                          <a:latin typeface="Arial Black" panose="020B0A04020102020204" pitchFamily="34" charset="0"/>
                          <a:ea typeface="宋体" panose="02010600030101010101" pitchFamily="2" charset="-122"/>
                          <a:cs typeface="Times New Roman" panose="02020603050405020304" pitchFamily="18"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5"/>
                  </a:ext>
                </a:extLst>
              </a:tr>
            </a:tbl>
          </a:graphicData>
        </a:graphic>
      </p:graphicFrame>
      <p:sp>
        <p:nvSpPr>
          <p:cNvPr id="8" name="矩形 7"/>
          <p:cNvSpPr/>
          <p:nvPr/>
        </p:nvSpPr>
        <p:spPr>
          <a:xfrm>
            <a:off x="6516216" y="2359715"/>
            <a:ext cx="1872208" cy="2554545"/>
          </a:xfrm>
          <a:prstGeom prst="rect">
            <a:avLst/>
          </a:prstGeom>
        </p:spPr>
        <p:txBody>
          <a:bodyPr wrap="square">
            <a:spAutoFit/>
          </a:bodyPr>
          <a:lstStyle/>
          <a:p>
            <a:pPr marL="180000" indent="-180000">
              <a:spcBef>
                <a:spcPts val="600"/>
              </a:spcBef>
              <a:buFont typeface="Wingdings" panose="05000000000000000000" pitchFamily="2" charset="2"/>
              <a:buChar char="u"/>
            </a:pP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R</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Responsible</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）：直接执行者</a:t>
            </a:r>
          </a:p>
          <a:p>
            <a:pPr marL="180000" indent="-180000">
              <a:spcBef>
                <a:spcPts val="600"/>
              </a:spcBef>
              <a:buFont typeface="Wingdings" panose="05000000000000000000" pitchFamily="2" charset="2"/>
              <a:buChar char="u"/>
            </a:pP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Accountable</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）：最终责任者</a:t>
            </a:r>
          </a:p>
          <a:p>
            <a:pPr marL="180000" indent="-180000">
              <a:spcBef>
                <a:spcPts val="600"/>
              </a:spcBef>
              <a:buFont typeface="Wingdings" panose="05000000000000000000" pitchFamily="2" charset="2"/>
              <a:buChar char="u"/>
            </a:pP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C</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Consulted</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需咨询对象</a:t>
            </a:r>
          </a:p>
          <a:p>
            <a:pPr marL="180000" indent="-180000">
              <a:spcBef>
                <a:spcPts val="600"/>
              </a:spcBef>
              <a:buFont typeface="Wingdings" panose="05000000000000000000" pitchFamily="2" charset="2"/>
              <a:buChar char="u"/>
            </a:pP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Support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支持配合者</a:t>
            </a:r>
          </a:p>
          <a:p>
            <a:pPr marL="180000" indent="-180000">
              <a:spcBef>
                <a:spcPts val="600"/>
              </a:spcBef>
              <a:buFont typeface="Wingdings" panose="05000000000000000000" pitchFamily="2" charset="2"/>
              <a:buChar char="u"/>
            </a:pP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Informed</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     需知悉人员</a:t>
            </a:r>
            <a:endParaRPr lang="zh-CN" altLang="en-US" sz="14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9" name="矩形 8"/>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934134" y="2027199"/>
            <a:ext cx="1440160" cy="400535"/>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甘特图</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8" name="矩形 7"/>
          <p:cNvSpPr>
            <a:spLocks noChangeAspect="1"/>
          </p:cNvSpPr>
          <p:nvPr/>
        </p:nvSpPr>
        <p:spPr>
          <a:xfrm>
            <a:off x="6516216" y="2022700"/>
            <a:ext cx="1728192" cy="391541"/>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燃尽图</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矩形 9"/>
          <p:cNvSpPr>
            <a:spLocks noChangeAspect="1"/>
          </p:cNvSpPr>
          <p:nvPr/>
        </p:nvSpPr>
        <p:spPr>
          <a:xfrm>
            <a:off x="979706" y="2022700"/>
            <a:ext cx="1440160" cy="377031"/>
          </a:xfrm>
          <a:prstGeom prst="rect">
            <a:avLst/>
          </a:prstGeom>
          <a:noFill/>
          <a:ln w="19050" cap="flat" cmpd="sng" algn="ctr">
            <a:solidFill>
              <a:srgbClr val="2070A1"/>
            </a:solidFill>
            <a:prstDash val="solid"/>
            <a:miter lim="800000"/>
          </a:ln>
          <a:effectLst>
            <a:outerShdw blurRad="508000" dist="254000" dir="8100000" algn="tr" rotWithShape="0">
              <a:prstClr val="black">
                <a:alpha val="30000"/>
              </a:prstClr>
            </a:outerShdw>
          </a:effectLst>
        </p:spPr>
        <p:txBody>
          <a:bodyPr rtlCol="0" anchor="ctr"/>
          <a:lstStyle/>
          <a:p>
            <a:pPr lvl="0" algn="ctr">
              <a:defRPr/>
            </a:pPr>
            <a:r>
              <a:rPr lang="zh-CN" altLang="en-US"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rPr>
              <a:t>冲突管理</a:t>
            </a:r>
            <a:endParaRPr lang="en-US" altLang="zh-CN" sz="1600" b="1" kern="0" spc="300" dirty="0">
              <a:solidFill>
                <a:srgbClr val="2070A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15" name="图片 14"/>
          <p:cNvPicPr>
            <a:picLocks noChangeAspect="1"/>
          </p:cNvPicPr>
          <p:nvPr/>
        </p:nvPicPr>
        <p:blipFill rotWithShape="1">
          <a:blip r:embed="rId3"/>
          <a:srcRect r="16456" b="7157"/>
          <a:stretch>
            <a:fillRect/>
          </a:stretch>
        </p:blipFill>
        <p:spPr>
          <a:xfrm>
            <a:off x="3197957" y="2927393"/>
            <a:ext cx="2912513" cy="1786720"/>
          </a:xfrm>
          <a:prstGeom prst="rect">
            <a:avLst/>
          </a:prstGeom>
        </p:spPr>
      </p:pic>
      <p:pic>
        <p:nvPicPr>
          <p:cNvPr id="16" name="图片 15"/>
          <p:cNvPicPr>
            <a:picLocks noChangeAspect="1"/>
          </p:cNvPicPr>
          <p:nvPr/>
        </p:nvPicPr>
        <p:blipFill>
          <a:blip r:embed="rId4"/>
          <a:stretch>
            <a:fillRect/>
          </a:stretch>
        </p:blipFill>
        <p:spPr>
          <a:xfrm>
            <a:off x="542531" y="2848994"/>
            <a:ext cx="2406817" cy="2009765"/>
          </a:xfrm>
          <a:prstGeom prst="rect">
            <a:avLst/>
          </a:prstGeom>
        </p:spPr>
      </p:pic>
      <p:pic>
        <p:nvPicPr>
          <p:cNvPr id="18" name="图片 17"/>
          <p:cNvPicPr>
            <a:picLocks noChangeAspect="1"/>
          </p:cNvPicPr>
          <p:nvPr/>
        </p:nvPicPr>
        <p:blipFill>
          <a:blip r:embed="rId5"/>
          <a:stretch>
            <a:fillRect/>
          </a:stretch>
        </p:blipFill>
        <p:spPr>
          <a:xfrm>
            <a:off x="6002670" y="2927393"/>
            <a:ext cx="2755284" cy="1852969"/>
          </a:xfrm>
          <a:prstGeom prst="rect">
            <a:avLst/>
          </a:prstGeom>
        </p:spPr>
      </p:pic>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14" name="矩形 13"/>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
        <p:nvSpPr>
          <p:cNvPr id="17" name="矩形 16"/>
          <p:cNvSpPr/>
          <p:nvPr/>
        </p:nvSpPr>
        <p:spPr>
          <a:xfrm>
            <a:off x="950046" y="1687909"/>
            <a:ext cx="6934322" cy="307777"/>
          </a:xfrm>
          <a:prstGeom prst="rect">
            <a:avLst/>
          </a:prstGeom>
        </p:spPr>
        <p:txBody>
          <a:bodyPr wrap="squar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sym typeface="Times New Roman" panose="02020603050405020304" pitchFamily="18" charset="0"/>
              </a:rPr>
              <a:t>执行和监控阶段常用工</a:t>
            </a:r>
            <a:r>
              <a:rPr lang="zh-CN" altLang="en-US" sz="1400" b="1" smtClean="0">
                <a:solidFill>
                  <a:srgbClr val="404040"/>
                </a:solidFill>
                <a:latin typeface="仿宋" panose="02010609060101010101" pitchFamily="49" charset="-122"/>
                <a:ea typeface="仿宋" panose="02010609060101010101" pitchFamily="49" charset="-122"/>
                <a:cs typeface="Times New Roman" panose="02020603050405020304" pitchFamily="18" charset="0"/>
                <a:sym typeface="Times New Roman" panose="02020603050405020304" pitchFamily="18" charset="0"/>
              </a:rPr>
              <a:t>具</a:t>
            </a:r>
            <a:endPar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2" name="矩形 1"/>
          <p:cNvSpPr/>
          <p:nvPr/>
        </p:nvSpPr>
        <p:spPr>
          <a:xfrm>
            <a:off x="3275856" y="2533677"/>
            <a:ext cx="2698175"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看进度</a:t>
            </a:r>
            <a:r>
              <a:rPr lang="en-US" altLang="zh-CN"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a:t>
            </a:r>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计划与实际同框对比</a:t>
            </a:r>
          </a:p>
        </p:txBody>
      </p:sp>
      <p:sp>
        <p:nvSpPr>
          <p:cNvPr id="3" name="矩形 2"/>
          <p:cNvSpPr/>
          <p:nvPr/>
        </p:nvSpPr>
        <p:spPr>
          <a:xfrm>
            <a:off x="6002670" y="2541217"/>
            <a:ext cx="3057247"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看趋势</a:t>
            </a:r>
            <a:r>
              <a:rPr lang="en-US" altLang="zh-CN"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a:t>
            </a:r>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剩余工作量暴露延期风</a:t>
            </a:r>
            <a:r>
              <a:rPr lang="zh-CN" altLang="en-US" sz="1400" b="1" smtClean="0">
                <a:solidFill>
                  <a:srgbClr val="404040"/>
                </a:solidFill>
                <a:latin typeface="仿宋" panose="02010609060101010101" pitchFamily="49" charset="-122"/>
                <a:ea typeface="仿宋" panose="02010609060101010101" pitchFamily="49" charset="-122"/>
                <a:cs typeface="Times New Roman" panose="02020603050405020304" pitchFamily="18" charset="0"/>
              </a:rPr>
              <a:t>险</a:t>
            </a:r>
            <a:endPar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endParaRPr>
          </a:p>
        </p:txBody>
      </p:sp>
      <p:sp>
        <p:nvSpPr>
          <p:cNvPr id="4" name="矩形 3"/>
          <p:cNvSpPr/>
          <p:nvPr/>
        </p:nvSpPr>
        <p:spPr>
          <a:xfrm>
            <a:off x="577681" y="2541216"/>
            <a:ext cx="2698175" cy="307777"/>
          </a:xfrm>
          <a:prstGeom prst="rect">
            <a:avLst/>
          </a:prstGeom>
        </p:spPr>
        <p:txBody>
          <a:bodyPr wrap="none">
            <a:spAutoFit/>
          </a:bodyPr>
          <a:lstStyle/>
          <a:p>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看人际</a:t>
            </a:r>
            <a:r>
              <a:rPr lang="en-US" altLang="zh-CN"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a:t>
            </a:r>
            <a:r>
              <a:rPr lang="zh-CN" altLang="en-US" sz="1400" b="1">
                <a:solidFill>
                  <a:srgbClr val="404040"/>
                </a:solidFill>
                <a:latin typeface="仿宋" panose="02010609060101010101" pitchFamily="49" charset="-122"/>
                <a:ea typeface="仿宋" panose="02010609060101010101" pitchFamily="49" charset="-122"/>
                <a:cs typeface="Times New Roman" panose="02020603050405020304" pitchFamily="18" charset="0"/>
              </a:rPr>
              <a:t>因人而异，因事而变</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4198325" y="2005749"/>
            <a:ext cx="2342670" cy="3118710"/>
          </a:xfrm>
          <a:prstGeom prst="rect">
            <a:avLst/>
          </a:prstGeom>
        </p:spPr>
      </p:pic>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2" name="矩形 1"/>
          <p:cNvSpPr/>
          <p:nvPr/>
        </p:nvSpPr>
        <p:spPr>
          <a:xfrm>
            <a:off x="971599" y="1661797"/>
            <a:ext cx="3024337" cy="600164"/>
          </a:xfrm>
          <a:prstGeom prst="rect">
            <a:avLst/>
          </a:prstGeom>
        </p:spPr>
        <p:txBody>
          <a:bodyPr wrap="square">
            <a:spAutoFit/>
          </a:bodyPr>
          <a:lstStyle/>
          <a:p>
            <a:pPr>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校园智能快递柜项目冲突管理案例</a:t>
            </a:r>
          </a:p>
          <a:p>
            <a:pPr>
              <a:spcBef>
                <a:spcPts val="600"/>
              </a:spcBef>
            </a:pPr>
            <a:r>
              <a:rPr lang="zh-CN" altLang="en-US" sz="1400" b="1">
                <a:latin typeface="Times New Roman" panose="02020603050405020304" pitchFamily="18" charset="0"/>
                <a:ea typeface="仿宋" panose="02010609060101010101" pitchFamily="49" charset="-122"/>
                <a:cs typeface="Times New Roman" panose="02020603050405020304" pitchFamily="18" charset="0"/>
              </a:rPr>
              <a:t>典型冲突场景</a:t>
            </a:r>
            <a:r>
              <a:rPr lang="zh-CN" altLang="en-US" sz="1400" b="1" smtClean="0">
                <a:latin typeface="Times New Roman" panose="02020603050405020304" pitchFamily="18" charset="0"/>
                <a:ea typeface="仿宋" panose="02010609060101010101" pitchFamily="49" charset="-122"/>
                <a:cs typeface="Times New Roman" panose="02020603050405020304" pitchFamily="18" charset="0"/>
              </a:rPr>
              <a:t>库</a:t>
            </a:r>
            <a:endParaRPr lang="zh-CN" altLang="en-US" sz="14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5" name="矩形 4"/>
          <p:cNvSpPr/>
          <p:nvPr/>
        </p:nvSpPr>
        <p:spPr>
          <a:xfrm>
            <a:off x="6372225" y="1995805"/>
            <a:ext cx="2439670" cy="1330960"/>
          </a:xfrm>
          <a:prstGeom prst="rect">
            <a:avLst/>
          </a:prstGeom>
        </p:spPr>
        <p:txBody>
          <a:bodyPr wrap="square">
            <a:spAutoFit/>
          </a:bodyPr>
          <a:lstStyle/>
          <a:p>
            <a:pPr>
              <a:lnSpc>
                <a:spcPct val="120000"/>
              </a:lnSpc>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冲突解决沙盘演练</a:t>
            </a:r>
          </a:p>
          <a:p>
            <a:pPr>
              <a:lnSpc>
                <a:spcPct val="120000"/>
              </a:lnSpc>
              <a:spcBef>
                <a:spcPts val="600"/>
              </a:spcBef>
            </a:pP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情景</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1</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：后勤管理处政策冲突</a:t>
            </a:r>
          </a:p>
          <a:p>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矛盾点：校方要求所有设备离建筑</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10</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米 </a:t>
            </a: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vs </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学生希望宿舍楼内安装</a:t>
            </a:r>
          </a:p>
        </p:txBody>
      </p:sp>
      <p:pic>
        <p:nvPicPr>
          <p:cNvPr id="6" name="图片 5"/>
          <p:cNvPicPr>
            <a:picLocks noChangeAspect="1"/>
          </p:cNvPicPr>
          <p:nvPr/>
        </p:nvPicPr>
        <p:blipFill>
          <a:blip r:embed="rId4"/>
          <a:stretch>
            <a:fillRect/>
          </a:stretch>
        </p:blipFill>
        <p:spPr>
          <a:xfrm>
            <a:off x="709246" y="2413553"/>
            <a:ext cx="3178256" cy="2539196"/>
          </a:xfrm>
          <a:prstGeom prst="rect">
            <a:avLst/>
          </a:prstGeom>
        </p:spPr>
      </p:pic>
      <p:sp>
        <p:nvSpPr>
          <p:cNvPr id="8" name="矩形 7"/>
          <p:cNvSpPr/>
          <p:nvPr/>
        </p:nvSpPr>
        <p:spPr>
          <a:xfrm>
            <a:off x="4198325" y="1623545"/>
            <a:ext cx="1116559" cy="316562"/>
          </a:xfrm>
          <a:prstGeom prst="rect">
            <a:avLst/>
          </a:prstGeom>
        </p:spPr>
        <p:txBody>
          <a:bodyPr wrap="square">
            <a:spAutoFit/>
          </a:bodyPr>
          <a:lstStyle/>
          <a:p>
            <a:pPr>
              <a:lnSpc>
                <a:spcPct val="120000"/>
              </a:lnSpc>
              <a:spcBef>
                <a:spcPts val="600"/>
              </a:spcBef>
            </a:pPr>
            <a:r>
              <a:rPr lang="zh-CN" altLang="en-US" sz="1400" b="1">
                <a:solidFill>
                  <a:srgbClr val="404040"/>
                </a:solidFill>
                <a:latin typeface="仿宋" panose="02010609060101010101" pitchFamily="49" charset="-122"/>
                <a:ea typeface="仿宋" panose="02010609060101010101" pitchFamily="49" charset="-122"/>
              </a:rPr>
              <a:t>解决路径：</a:t>
            </a:r>
          </a:p>
        </p:txBody>
      </p:sp>
      <p:sp>
        <p:nvSpPr>
          <p:cNvPr id="10" name="矩形 9"/>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一、教育教学情境</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290429404"/>
              </p:ext>
            </p:extLst>
          </p:nvPr>
        </p:nvGraphicFramePr>
        <p:xfrm>
          <a:off x="957706" y="2073889"/>
          <a:ext cx="3254254" cy="1432560"/>
        </p:xfrm>
        <a:graphic>
          <a:graphicData uri="http://schemas.openxmlformats.org/drawingml/2006/table">
            <a:tbl>
              <a:tblPr firstRow="1" firstCol="1" bandRow="1">
                <a:tableStyleId>{5C22544A-7EE6-4342-B048-85BDC9FD1C3A}</a:tableStyleId>
              </a:tblPr>
              <a:tblGrid>
                <a:gridCol w="517950">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368152">
                  <a:extLst>
                    <a:ext uri="{9D8B030D-6E8A-4147-A177-3AD203B41FA5}">
                      <a16:colId xmlns:a16="http://schemas.microsoft.com/office/drawing/2014/main" val="20002"/>
                    </a:ext>
                  </a:extLst>
                </a:gridCol>
              </a:tblGrid>
              <a:tr h="30887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等级</a:t>
                      </a:r>
                    </a:p>
                  </a:txBody>
                  <a:tcPr marL="0" marR="95250" marT="95250" marB="9525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表现特征</a:t>
                      </a:r>
                    </a:p>
                  </a:txBody>
                  <a:tcPr marL="95250" marR="95250" marT="95250" marB="9525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应对策略</a:t>
                      </a:r>
                    </a:p>
                  </a:txBody>
                  <a:tcPr marL="95250" marR="95250" marT="95250" marB="95250" anchor="ctr"/>
                </a:tc>
                <a:extLst>
                  <a:ext uri="{0D108BD9-81ED-4DB2-BD59-A6C34878D82A}">
                    <a16:rowId xmlns:a16="http://schemas.microsoft.com/office/drawing/2014/main" val="10000"/>
                  </a:ext>
                </a:extLst>
              </a:tr>
              <a:tr h="283737">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级</a:t>
                      </a:r>
                    </a:p>
                  </a:txBody>
                  <a:tcPr marL="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轻微意见不合</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小组内部投票解决</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1"/>
                  </a:ext>
                </a:extLst>
              </a:tr>
              <a:tr h="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级</a:t>
                      </a:r>
                    </a:p>
                  </a:txBody>
                  <a:tcPr marL="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持续争论影响进度</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队长主持调解会</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2"/>
                  </a:ext>
                </a:extLst>
              </a:tr>
              <a:tr h="300588">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级</a:t>
                      </a:r>
                    </a:p>
                  </a:txBody>
                  <a:tcPr marL="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人身攻击</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消极怠工</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tc>
                  <a:txBody>
                    <a:bodyPr/>
                    <a:lstStyle/>
                    <a:p>
                      <a:pPr algn="l">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指导老师介入</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95250" marR="95250" marT="95250" marB="95250" anchor="ctr"/>
                </a:tc>
                <a:extLst>
                  <a:ext uri="{0D108BD9-81ED-4DB2-BD59-A6C34878D82A}">
                    <a16:rowId xmlns:a16="http://schemas.microsoft.com/office/drawing/2014/main" val="10003"/>
                  </a:ext>
                </a:extLst>
              </a:tr>
            </a:tbl>
          </a:graphicData>
        </a:graphic>
      </p:graphicFrame>
      <p:sp>
        <p:nvSpPr>
          <p:cNvPr id="4" name="矩形 3"/>
          <p:cNvSpPr/>
          <p:nvPr/>
        </p:nvSpPr>
        <p:spPr>
          <a:xfrm>
            <a:off x="962402" y="1672257"/>
            <a:ext cx="2890663" cy="324641"/>
          </a:xfrm>
          <a:prstGeom prst="rect">
            <a:avLst/>
          </a:prstGeom>
        </p:spPr>
        <p:txBody>
          <a:bodyPr wrap="square">
            <a:spAutoFit/>
          </a:bodyPr>
          <a:lstStyle/>
          <a:p>
            <a:pPr>
              <a:lnSpc>
                <a:spcPts val="2145"/>
              </a:lnSpc>
              <a:spcAft>
                <a:spcPts val="300"/>
              </a:spcAft>
            </a:pPr>
            <a:r>
              <a:rPr lang="en-US" altLang="zh-CN" sz="1400" b="1" kern="0">
                <a:solidFill>
                  <a:srgbClr val="404040"/>
                </a:solidFill>
                <a:latin typeface="仿宋" panose="02010609060101010101" pitchFamily="49" charset="-122"/>
                <a:ea typeface="仿宋" panose="02010609060101010101" pitchFamily="49" charset="-122"/>
                <a:cs typeface="Segoe UI" panose="020B0502040204020203" pitchFamily="34" charset="0"/>
              </a:rPr>
              <a:t>1. </a:t>
            </a:r>
            <a:r>
              <a:rPr lang="zh-CN" altLang="zh-CN" sz="1400" b="1" kern="0">
                <a:solidFill>
                  <a:srgbClr val="404040"/>
                </a:solidFill>
                <a:latin typeface="仿宋" panose="02010609060101010101" pitchFamily="49" charset="-122"/>
                <a:ea typeface="仿宋" panose="02010609060101010101" pitchFamily="49" charset="-122"/>
                <a:cs typeface="Segoe UI" panose="020B0502040204020203" pitchFamily="34" charset="0"/>
              </a:rPr>
              <a:t>冲突温度计</a:t>
            </a:r>
            <a:r>
              <a:rPr lang="zh-CN" altLang="zh-CN" sz="1400" kern="0">
                <a:solidFill>
                  <a:srgbClr val="404040"/>
                </a:solidFill>
                <a:latin typeface="仿宋" panose="02010609060101010101" pitchFamily="49" charset="-122"/>
                <a:ea typeface="仿宋" panose="02010609060101010101" pitchFamily="49" charset="-122"/>
                <a:cs typeface="Segoe UI" panose="020B0502040204020203" pitchFamily="34" charset="0"/>
              </a:rPr>
              <a:t>（可视化工具）</a:t>
            </a:r>
            <a:endParaRPr lang="zh-CN" altLang="zh-CN" sz="1100" kern="100">
              <a:effectLst/>
              <a:latin typeface="仿宋" panose="02010609060101010101" pitchFamily="49" charset="-122"/>
              <a:ea typeface="仿宋" panose="02010609060101010101" pitchFamily="49" charset="-122"/>
              <a:cs typeface="Times New Roman" panose="02020603050405020304" pitchFamily="18" charset="0"/>
            </a:endParaRPr>
          </a:p>
        </p:txBody>
      </p:sp>
      <p:sp>
        <p:nvSpPr>
          <p:cNvPr id="9" name="矩形 8"/>
          <p:cNvSpPr/>
          <p:nvPr/>
        </p:nvSpPr>
        <p:spPr>
          <a:xfrm>
            <a:off x="912836" y="3867894"/>
            <a:ext cx="3695783" cy="1015663"/>
          </a:xfrm>
          <a:prstGeom prst="rect">
            <a:avLst/>
          </a:prstGeom>
        </p:spPr>
        <p:txBody>
          <a:bodyPr wrap="square">
            <a:spAutoFit/>
          </a:bodyPr>
          <a:lstStyle/>
          <a:p>
            <a:r>
              <a:rPr lang="zh-CN" altLang="en-US" sz="1400">
                <a:latin typeface="Times New Roman" panose="02020603050405020304" pitchFamily="18" charset="0"/>
                <a:ea typeface="仿宋" panose="02010609060101010101" pitchFamily="49" charset="-122"/>
                <a:cs typeface="Times New Roman" panose="02020603050405020304" pitchFamily="18" charset="0"/>
              </a:rPr>
              <a:t>我们</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团队就</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a:t>
            </a:r>
            <a:r>
              <a:rPr lang="zh-CN" altLang="en-US" sz="1400">
                <a:latin typeface="Times New Roman" panose="02020603050405020304" pitchFamily="18" charset="0"/>
                <a:ea typeface="仿宋" panose="02010609060101010101" pitchFamily="49" charset="-122"/>
                <a:cs typeface="Times New Roman" panose="02020603050405020304" pitchFamily="18" charset="0"/>
              </a:rPr>
              <a:t>问题达成一致：</a:t>
            </a:r>
            <a:r>
              <a:rPr lang="en-US" altLang="zh-CN" sz="1400">
                <a:latin typeface="Times New Roman" panose="02020603050405020304" pitchFamily="18" charset="0"/>
                <a:ea typeface="仿宋" panose="02010609060101010101" pitchFamily="49" charset="-122"/>
                <a:cs typeface="Times New Roman" panose="02020603050405020304" pitchFamily="18" charset="0"/>
              </a:rPr>
              <a:t>1.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共同接受方案：</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__________2.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各自让步内容：</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__________3.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后续监督机制：</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a:t>
            </a:r>
            <a:r>
              <a:rPr lang="zh-CN" altLang="en-US" sz="1400">
                <a:latin typeface="Times New Roman" panose="02020603050405020304" pitchFamily="18" charset="0"/>
                <a:ea typeface="仿宋" panose="02010609060101010101" pitchFamily="49" charset="-122"/>
                <a:cs typeface="Times New Roman" panose="02020603050405020304" pitchFamily="18" charset="0"/>
              </a:rPr>
              <a:t>签字：</a:t>
            </a:r>
            <a:r>
              <a:rPr lang="en-US" altLang="zh-CN" sz="1400">
                <a:latin typeface="Times New Roman" panose="02020603050405020304" pitchFamily="18" charset="0"/>
                <a:ea typeface="仿宋" panose="02010609060101010101" pitchFamily="49" charset="-122"/>
                <a:cs typeface="Times New Roman" panose="02020603050405020304" pitchFamily="18" charset="0"/>
              </a:rPr>
              <a:t>________ </a:t>
            </a:r>
            <a:r>
              <a:rPr lang="zh-CN" altLang="en-US" sz="1400">
                <a:latin typeface="Times New Roman" panose="02020603050405020304" pitchFamily="18" charset="0"/>
                <a:ea typeface="仿宋" panose="02010609060101010101" pitchFamily="49" charset="-122"/>
                <a:cs typeface="Times New Roman" panose="02020603050405020304" pitchFamily="18" charset="0"/>
              </a:rPr>
              <a:t>日期：</a:t>
            </a:r>
            <a:r>
              <a:rPr lang="en-US" altLang="zh-CN">
                <a:latin typeface="Times New Roman" panose="02020603050405020304" pitchFamily="18" charset="0"/>
                <a:ea typeface="仿宋" panose="02010609060101010101" pitchFamily="49" charset="-122"/>
                <a:cs typeface="Times New Roman" panose="02020603050405020304" pitchFamily="18" charset="0"/>
              </a:rPr>
              <a:t>________</a:t>
            </a:r>
            <a:endParaRPr lang="zh-CN" altLang="en-US">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3" name="矩形 12"/>
          <p:cNvSpPr/>
          <p:nvPr/>
        </p:nvSpPr>
        <p:spPr>
          <a:xfrm>
            <a:off x="957706" y="3522086"/>
            <a:ext cx="2907539" cy="361637"/>
          </a:xfrm>
          <a:prstGeom prst="rect">
            <a:avLst/>
          </a:prstGeom>
        </p:spPr>
        <p:txBody>
          <a:bodyPr wrap="square">
            <a:spAutoFit/>
          </a:bodyPr>
          <a:lstStyle/>
          <a:p>
            <a:pPr>
              <a:lnSpc>
                <a:spcPts val="2145"/>
              </a:lnSpc>
              <a:spcAft>
                <a:spcPts val="300"/>
              </a:spcAft>
            </a:pPr>
            <a:r>
              <a:rPr lang="en-US" altLang="zh-CN" sz="1400" b="1" kern="0">
                <a:solidFill>
                  <a:srgbClr val="404040"/>
                </a:solidFill>
                <a:latin typeface="仿宋" panose="02010609060101010101" pitchFamily="49" charset="-122"/>
                <a:ea typeface="仿宋" panose="02010609060101010101" pitchFamily="49" charset="-122"/>
                <a:cs typeface="Segoe UI" panose="020B0502040204020203" pitchFamily="34" charset="0"/>
              </a:rPr>
              <a:t>2. </a:t>
            </a:r>
            <a:r>
              <a:rPr lang="zh-CN" altLang="en-US" sz="1400" b="1" kern="0">
                <a:solidFill>
                  <a:srgbClr val="404040"/>
                </a:solidFill>
                <a:latin typeface="仿宋" panose="02010609060101010101" pitchFamily="49" charset="-122"/>
                <a:ea typeface="仿宋" panose="02010609060101010101" pitchFamily="49" charset="-122"/>
                <a:cs typeface="Segoe UI" panose="020B0502040204020203" pitchFamily="34" charset="0"/>
              </a:rPr>
              <a:t>和解协议书模板</a:t>
            </a:r>
            <a:endParaRPr lang="zh-CN" altLang="zh-CN" sz="1100" kern="100">
              <a:effectLst/>
              <a:latin typeface="仿宋" panose="02010609060101010101" pitchFamily="49" charset="-122"/>
              <a:ea typeface="仿宋" panose="02010609060101010101" pitchFamily="49" charset="-122"/>
              <a:cs typeface="Times New Roman" panose="02020603050405020304" pitchFamily="18" charset="0"/>
            </a:endParaRPr>
          </a:p>
        </p:txBody>
      </p:sp>
      <p:sp>
        <p:nvSpPr>
          <p:cNvPr id="12" name="矩形 11"/>
          <p:cNvSpPr/>
          <p:nvPr/>
        </p:nvSpPr>
        <p:spPr>
          <a:xfrm>
            <a:off x="4499992" y="1672257"/>
            <a:ext cx="3556638" cy="1538883"/>
          </a:xfrm>
          <a:prstGeom prst="rect">
            <a:avLst/>
          </a:prstGeom>
        </p:spPr>
        <p:txBody>
          <a:bodyPr wrap="square">
            <a:spAutoFit/>
          </a:bodyPr>
          <a:lstStyle/>
          <a:p>
            <a:pPr>
              <a:lnSpc>
                <a:spcPct val="120000"/>
              </a:lnSpc>
              <a:spcBef>
                <a:spcPts val="600"/>
              </a:spcBef>
            </a:pP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 </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情绪管理口诀</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endPar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STOP</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原则</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b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Stop</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停 → </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Think</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思 → </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Option</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选 → </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Proceed</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行</a:t>
            </a:r>
            <a:endPar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3F</a:t>
            </a:r>
            <a:r>
              <a:rPr lang="zh-CN" altLang="en-US" sz="1400" b="1">
                <a:solidFill>
                  <a:srgbClr val="404040"/>
                </a:solidFill>
                <a:latin typeface="Times New Roman" panose="02020603050405020304" pitchFamily="18" charset="0"/>
                <a:ea typeface="仿宋" panose="02010609060101010101" pitchFamily="49" charset="-122"/>
                <a:cs typeface="Times New Roman" panose="02020603050405020304" pitchFamily="18" charset="0"/>
              </a:rPr>
              <a:t>倾听法</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a:t>
            </a:r>
            <a:b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b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Fact</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事实 → </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Feeling</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感受 → </a:t>
            </a:r>
            <a:r>
              <a:rPr lang="en-US" altLang="zh-CN"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Focus</a:t>
            </a:r>
            <a:r>
              <a:rPr lang="zh-CN" altLang="en-US" sz="1400">
                <a:solidFill>
                  <a:srgbClr val="404040"/>
                </a:solidFill>
                <a:latin typeface="Times New Roman" panose="02020603050405020304" pitchFamily="18" charset="0"/>
                <a:ea typeface="仿宋" panose="02010609060101010101" pitchFamily="49" charset="-122"/>
                <a:cs typeface="Times New Roman" panose="02020603050405020304" pitchFamily="18" charset="0"/>
              </a:rPr>
              <a:t>意图</a:t>
            </a:r>
            <a:endParaRPr lang="zh-CN" altLang="en-US" sz="1400" b="0" i="0">
              <a:solidFill>
                <a:srgbClr val="404040"/>
              </a:solidFill>
              <a:effectLst/>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5" name="矩形 14"/>
          <p:cNvSpPr/>
          <p:nvPr/>
        </p:nvSpPr>
        <p:spPr>
          <a:xfrm>
            <a:off x="971599" y="1165527"/>
            <a:ext cx="6264697" cy="461665"/>
          </a:xfrm>
          <a:prstGeom prst="rect">
            <a:avLst/>
          </a:prstGeom>
          <a:solidFill>
            <a:srgbClr val="0070C0"/>
          </a:solidFill>
        </p:spPr>
        <p:txBody>
          <a:bodyPr wrap="square">
            <a:spAutoFit/>
          </a:bodyPr>
          <a:lstStyle/>
          <a:p>
            <a:r>
              <a:rPr lang="en-US" altLang="zh-CN" sz="2400" b="1" smtClean="0">
                <a:solidFill>
                  <a:schemeClr val="bg1"/>
                </a:solidFill>
                <a:latin typeface="微软雅黑" panose="020B0503020204020204" pitchFamily="34" charset="-122"/>
                <a:ea typeface="微软雅黑" panose="020B0503020204020204" pitchFamily="34" charset="-122"/>
              </a:rPr>
              <a:t>2</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en-US" sz="2400" b="1" smtClean="0">
                <a:solidFill>
                  <a:schemeClr val="bg1"/>
                </a:solidFill>
                <a:latin typeface="微软雅黑" panose="020B0503020204020204" pitchFamily="34" charset="-122"/>
                <a:ea typeface="微软雅黑" panose="020B0503020204020204" pitchFamily="34" charset="-122"/>
              </a:rPr>
              <a:t>项目管理工</a:t>
            </a:r>
            <a:r>
              <a:rPr lang="zh-CN" altLang="en-US" sz="2400" b="1">
                <a:solidFill>
                  <a:schemeClr val="bg1"/>
                </a:solidFill>
                <a:latin typeface="微软雅黑" panose="020B0503020204020204" pitchFamily="34" charset="-122"/>
                <a:ea typeface="微软雅黑" panose="020B0503020204020204" pitchFamily="34" charset="-122"/>
              </a:rPr>
              <a:t>作</a:t>
            </a:r>
            <a:r>
              <a:rPr lang="zh-CN" altLang="en-US" sz="2400" b="1" smtClean="0">
                <a:solidFill>
                  <a:schemeClr val="bg1"/>
                </a:solidFill>
                <a:latin typeface="微软雅黑" panose="020B0503020204020204" pitchFamily="34" charset="-122"/>
                <a:ea typeface="微软雅黑" panose="020B0503020204020204" pitchFamily="34" charset="-122"/>
              </a:rPr>
              <a:t>坊</a:t>
            </a:r>
            <a:r>
              <a:rPr lang="zh-CN" altLang="zh-CN" sz="2400" b="1" smtClean="0">
                <a:solidFill>
                  <a:schemeClr val="bg1"/>
                </a:solidFill>
                <a:latin typeface="微软雅黑" panose="020B0503020204020204" pitchFamily="34" charset="-122"/>
                <a:ea typeface="微软雅黑" panose="020B0503020204020204" pitchFamily="34" charset="-122"/>
              </a:rPr>
              <a:t>”</a:t>
            </a:r>
            <a:r>
              <a:rPr lang="zh-CN" altLang="zh-CN" sz="2400" b="1">
                <a:solidFill>
                  <a:schemeClr val="bg1"/>
                </a:solidFill>
                <a:latin typeface="微软雅黑" panose="020B0503020204020204" pitchFamily="34" charset="-122"/>
                <a:ea typeface="微软雅黑" panose="020B0503020204020204" pitchFamily="34" charset="-122"/>
              </a:rPr>
              <a:t>单</a:t>
            </a:r>
            <a:r>
              <a:rPr lang="zh-CN" altLang="zh-CN" sz="2400" b="1" smtClean="0">
                <a:solidFill>
                  <a:schemeClr val="bg1"/>
                </a:solidFill>
                <a:latin typeface="微软雅黑" panose="020B0503020204020204" pitchFamily="34" charset="-122"/>
                <a:ea typeface="微软雅黑" panose="020B0503020204020204" pitchFamily="34" charset="-122"/>
              </a:rPr>
              <a:t>元</a:t>
            </a:r>
            <a:r>
              <a:rPr lang="zh-CN" altLang="en-US" sz="2400" b="1" smtClean="0">
                <a:solidFill>
                  <a:schemeClr val="bg1"/>
                </a:solidFill>
                <a:latin typeface="微软雅黑" panose="020B0503020204020204" pitchFamily="34" charset="-122"/>
                <a:ea typeface="微软雅黑" panose="020B0503020204020204" pitchFamily="34" charset="-122"/>
              </a:rPr>
              <a:t>的学理基础</a:t>
            </a:r>
            <a:endParaRPr lang="zh-CN" altLang="en-US" sz="24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635646"/>
            <a:ext cx="7128792" cy="3470181"/>
          </a:xfrm>
          <a:prstGeom prst="rect">
            <a:avLst/>
          </a:prstGeom>
        </p:spPr>
        <p:txBody>
          <a:bodyPr wrap="square" lIns="68580" tIns="34290" rIns="68580" bIns="34290">
            <a:spAutoFit/>
          </a:bodyPr>
          <a:lstStyle/>
          <a:p>
            <a:pPr marL="288290" indent="-288290">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知</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识维度：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构建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项目管理的初级认知框架</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定义</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项目与项目管理，描述项目管理的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三大</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本质特征</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（临时性</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独特性</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渐进明细性）</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及五大过程组</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（启动</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规划</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执行</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监控</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收尾）</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与十大知识领域；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解释</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项目范围管理、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分解、进度管理、风险管理等核心概念的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定义</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关联</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290" indent="-288290">
              <a:lnSpc>
                <a:spcPct val="120000"/>
              </a:lnSpc>
              <a:spcBef>
                <a:spcPts val="600"/>
              </a:spcBef>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能力维度：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培养学生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项目管理工具解决实际问题的能力</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方法将项目任务分解为符合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MECE</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原则的工作包；</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甘特图制定进度计划并识别关键路径；应用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矩阵进行团队责任分配；</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项目风险并制定应对方案；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填写</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标准项目状态报告</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a:t>
            </a:r>
            <a:r>
              <a:rPr lang="zh-CN" altLang="en-US" sz="1100"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时间</a:t>
            </a:r>
            <a:r>
              <a:rPr lang="en-US" altLang="zh-CN" sz="1100" smtClean="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成本</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质量三要素）</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过程管控工具</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（状态报告与</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PDCA</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循环）</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对项目执行进行追踪与改进；将项目管理方法</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至创客竞赛项目场</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景。</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2" y="1131590"/>
            <a:ext cx="6696744"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二</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、教育教学目标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9592" y="1635646"/>
            <a:ext cx="7272808" cy="1145955"/>
          </a:xfrm>
          <a:prstGeom prst="rect">
            <a:avLst/>
          </a:prstGeom>
        </p:spPr>
        <p:txBody>
          <a:bodyPr wrap="square" lIns="68580" tIns="34290" rIns="68580" bIns="34290">
            <a:spAutoFit/>
          </a:bodyPr>
          <a:lstStyle/>
          <a:p>
            <a:pPr marL="288290" indent="-288290">
              <a:lnSpc>
                <a:spcPct val="120000"/>
              </a:lnSpc>
              <a:spcBef>
                <a:spcPts val="600"/>
              </a:spcBef>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素</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养维度：</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引导学生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项目管理者的职业化行为模式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好的创意需要好的管理才能落地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这一核心判断；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养成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先规划后执行、边执行边监控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的项目管理习惯；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以目标为导向、以过程控制为保障、以可交付成果为检验标准的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管理意识</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2" y="1131590"/>
            <a:ext cx="6696744"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单元教师教育教学目的：</a:t>
            </a:r>
            <a:r>
              <a:rPr lang="zh-CN" altLang="en-US" sz="2400" b="1" dirty="0">
                <a:solidFill>
                  <a:srgbClr val="FFFF00"/>
                </a:solidFill>
                <a:latin typeface="微软雅黑" panose="020B0503020204020204" pitchFamily="34" charset="-122"/>
                <a:ea typeface="微软雅黑" panose="020B0503020204020204" pitchFamily="34" charset="-122"/>
              </a:rPr>
              <a:t>期望与愿景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二</a:t>
            </a: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、教育教学目标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952018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34243" y="1621122"/>
            <a:ext cx="6518077" cy="2928494"/>
          </a:xfrm>
          <a:prstGeom prst="rect">
            <a:avLst/>
          </a:prstGeom>
        </p:spPr>
        <p:txBody>
          <a:bodyPr wrap="square" lIns="68580" tIns="34290" rIns="68580" bIns="34290">
            <a:spAutoFit/>
          </a:bodyPr>
          <a:lstStyle/>
          <a:p>
            <a:pPr>
              <a:lnSpc>
                <a:spcPct val="120000"/>
              </a:lnSpc>
              <a:spcBef>
                <a:spcPts val="600"/>
              </a:spcBef>
              <a:buClr>
                <a:srgbClr val="00B0F0"/>
              </a:buClr>
            </a:pPr>
            <a:r>
              <a:rPr lang="zh-CN" altLang="zh-CN"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课程结束后，</a:t>
            </a:r>
            <a:r>
              <a:rPr lang="zh-CN"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学生能</a:t>
            </a:r>
            <a:r>
              <a:rPr lang="zh-CN" altLang="en-US"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smtClean="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1</a:t>
            </a: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解释</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项目管理的三个本质特征（临时性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独特性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渐进明细性）</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2.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陈述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五大过程组与十大知识领域的核心内容</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3.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运用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MECE</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原则</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创建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符合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相互独立、完全穷尽</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要求的三级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4.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绘制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标注关键路径与里程碑的甘特图</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5.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应用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矩阵完成团队责任分工，</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运用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过程管控工具</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（状态报告与</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PDCA</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循环）</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对项目执行进行追踪与改进</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899592" y="1131590"/>
            <a:ext cx="6552728"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9"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805693390"/>
      </p:ext>
    </p:extLst>
  </p:cSld>
  <p:clrMapOvr>
    <a:masterClrMapping/>
  </p:clrMapOvr>
  <p:transition advTm="31939">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34243" y="1621122"/>
            <a:ext cx="6518077" cy="1331134"/>
          </a:xfrm>
          <a:prstGeom prst="rect">
            <a:avLst/>
          </a:prstGeom>
        </p:spPr>
        <p:txBody>
          <a:bodyPr wrap="square" lIns="68580" tIns="34290" rIns="68580" bIns="34290">
            <a:spAutoFit/>
          </a:bodyPr>
          <a:lstStyle/>
          <a:p>
            <a:pPr>
              <a:lnSpc>
                <a:spcPct val="120000"/>
              </a:lnSpc>
              <a:spcBef>
                <a:spcPts val="600"/>
              </a:spcBef>
              <a:buClr>
                <a:srgbClr val="00B0F0"/>
              </a:buClr>
            </a:pPr>
            <a:r>
              <a:rPr lang="zh-CN" altLang="zh-CN"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课程结束后，</a:t>
            </a:r>
            <a:r>
              <a:rPr lang="zh-CN"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学生能</a:t>
            </a:r>
            <a:r>
              <a:rPr lang="zh-CN" altLang="en-US" sz="14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smtClean="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6</a:t>
            </a: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不少于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个维度的项目风险，计算概率</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影响等级并制定优先级应对方案</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ts val="600"/>
              </a:spcBef>
            </a:pPr>
            <a:r>
              <a:rPr lang="en-US" altLang="zh-CN" sz="140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7. </a:t>
            </a:r>
            <a:r>
              <a:rPr lang="zh-CN" altLang="zh-CN" sz="20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整合</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上述工具与方法，完成《创客竞赛团队项目管理方案》的撰写。</a:t>
            </a:r>
          </a:p>
        </p:txBody>
      </p:sp>
      <p:sp>
        <p:nvSpPr>
          <p:cNvPr id="5" name="矩形 4"/>
          <p:cNvSpPr/>
          <p:nvPr/>
        </p:nvSpPr>
        <p:spPr>
          <a:xfrm>
            <a:off x="899592" y="1131590"/>
            <a:ext cx="6552728" cy="46166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r>
              <a:rPr lang="zh-CN" altLang="en-US" sz="2400" b="1" dirty="0">
                <a:solidFill>
                  <a:schemeClr val="bg1"/>
                </a:solidFill>
                <a:latin typeface="微软雅黑" panose="020B0503020204020204" pitchFamily="34" charset="-122"/>
                <a:ea typeface="微软雅黑" panose="020B0503020204020204" pitchFamily="34" charset="-122"/>
              </a:rPr>
              <a:t>、课程</a:t>
            </a:r>
            <a:r>
              <a:rPr lang="zh-CN" altLang="en-US" sz="2400" b="1">
                <a:solidFill>
                  <a:schemeClr val="bg1"/>
                </a:solidFill>
                <a:latin typeface="微软雅黑" panose="020B0503020204020204" pitchFamily="34" charset="-122"/>
                <a:ea typeface="微软雅黑" panose="020B0503020204020204" pitchFamily="34" charset="-122"/>
              </a:rPr>
              <a:t>单元学生学习目</a:t>
            </a:r>
            <a:r>
              <a:rPr lang="zh-CN" altLang="en-US" sz="2400" b="1" dirty="0">
                <a:solidFill>
                  <a:schemeClr val="bg1"/>
                </a:solidFill>
                <a:latin typeface="微软雅黑" panose="020B0503020204020204" pitchFamily="34" charset="-122"/>
                <a:ea typeface="微软雅黑" panose="020B0503020204020204" pitchFamily="34" charset="-122"/>
              </a:rPr>
              <a:t>标：</a:t>
            </a:r>
            <a:r>
              <a:rPr lang="zh-CN" altLang="en-US" sz="2400" b="1" dirty="0">
                <a:solidFill>
                  <a:srgbClr val="FFFF00"/>
                </a:solidFill>
                <a:latin typeface="微软雅黑" panose="020B0503020204020204" pitchFamily="34" charset="-122"/>
                <a:ea typeface="微软雅黑" panose="020B0503020204020204" pitchFamily="34" charset="-122"/>
              </a:rPr>
              <a:t>可观测、可量化</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9"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516649810"/>
      </p:ext>
    </p:extLst>
  </p:cSld>
  <p:clrMapOvr>
    <a:masterClrMapping/>
  </p:clrMapOvr>
  <p:transition advTm="31939">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矩形 4"/>
          <p:cNvSpPr/>
          <p:nvPr/>
        </p:nvSpPr>
        <p:spPr>
          <a:xfrm>
            <a:off x="899592" y="1131590"/>
            <a:ext cx="37444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a:t>
            </a:r>
            <a:r>
              <a:rPr lang="zh-CN"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价</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方案</a:t>
            </a:r>
            <a:endParaRPr lang="zh-CN" altLang="en-US" sz="24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99591" y="1627430"/>
            <a:ext cx="7344817" cy="323165"/>
          </a:xfrm>
          <a:prstGeom prst="rect">
            <a:avLst/>
          </a:prstGeom>
        </p:spPr>
        <p:txBody>
          <a:bodyPr wrap="square">
            <a:spAutoFit/>
          </a:bodyPr>
          <a:lstStyle/>
          <a:p>
            <a:pPr algn="ctr">
              <a:lnSpc>
                <a:spcPct val="125000"/>
              </a:lnSpc>
              <a:spcBef>
                <a:spcPts val="600"/>
              </a:spcBef>
              <a:spcAft>
                <a:spcPts val="0"/>
              </a:spcAft>
            </a:pPr>
            <a:r>
              <a:rPr lang="en-US" altLang="zh-CN" sz="1200" b="1" kern="100" smtClean="0">
                <a:latin typeface="微软雅黑" panose="020B0503020204020204" pitchFamily="34" charset="-122"/>
                <a:ea typeface="微软雅黑" panose="020B0503020204020204" pitchFamily="34" charset="-122"/>
              </a:rPr>
              <a:t>“</a:t>
            </a:r>
            <a:r>
              <a:rPr lang="zh-CN" altLang="en-US" sz="1200" b="1" kern="100" smtClean="0">
                <a:latin typeface="微软雅黑" panose="020B0503020204020204" pitchFamily="34" charset="-122"/>
                <a:ea typeface="微软雅黑" panose="020B0503020204020204" pitchFamily="34" charset="-122"/>
              </a:rPr>
              <a:t>项目管理工作坊</a:t>
            </a:r>
            <a:r>
              <a:rPr lang="en-US" altLang="zh-CN" sz="1200" b="1" kern="100" smtClean="0">
                <a:latin typeface="微软雅黑" panose="020B0503020204020204" pitchFamily="34" charset="-122"/>
                <a:ea typeface="微软雅黑" panose="020B0503020204020204" pitchFamily="34" charset="-122"/>
              </a:rPr>
              <a:t>”</a:t>
            </a:r>
            <a:r>
              <a:rPr lang="zh-CN" altLang="zh-CN" sz="1200" b="1" kern="100">
                <a:latin typeface="微软雅黑" panose="020B0503020204020204" pitchFamily="34" charset="-122"/>
                <a:ea typeface="微软雅黑" panose="020B0503020204020204" pitchFamily="34" charset="-122"/>
              </a:rPr>
              <a:t>单元评</a:t>
            </a:r>
            <a:r>
              <a:rPr lang="zh-CN" altLang="zh-CN" sz="1200" b="1" kern="100" smtClean="0">
                <a:latin typeface="微软雅黑" panose="020B0503020204020204" pitchFamily="34" charset="-122"/>
                <a:ea typeface="微软雅黑" panose="020B0503020204020204" pitchFamily="34" charset="-122"/>
              </a:rPr>
              <a:t>价</a:t>
            </a:r>
            <a:r>
              <a:rPr lang="zh-CN" altLang="en-US" sz="1200" b="1" kern="100" smtClean="0">
                <a:latin typeface="微软雅黑" panose="020B0503020204020204" pitchFamily="34" charset="-122"/>
                <a:ea typeface="微软雅黑" panose="020B0503020204020204" pitchFamily="34" charset="-122"/>
              </a:rPr>
              <a:t>方案</a:t>
            </a:r>
            <a:endParaRPr lang="zh-CN" altLang="zh-CN" sz="1600" kern="10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654606731"/>
              </p:ext>
            </p:extLst>
          </p:nvPr>
        </p:nvGraphicFramePr>
        <p:xfrm>
          <a:off x="899592" y="1941635"/>
          <a:ext cx="7704856" cy="3234979"/>
        </p:xfrm>
        <a:graphic>
          <a:graphicData uri="http://schemas.openxmlformats.org/drawingml/2006/table">
            <a:tbl>
              <a:tblPr firstRow="1" firstCol="1" bandRow="1">
                <a:tableStyleId>{5C22544A-7EE6-4342-B048-85BDC9FD1C3A}</a:tableStyleId>
              </a:tblPr>
              <a:tblGrid>
                <a:gridCol w="797866">
                  <a:extLst>
                    <a:ext uri="{9D8B030D-6E8A-4147-A177-3AD203B41FA5}">
                      <a16:colId xmlns:a16="http://schemas.microsoft.com/office/drawing/2014/main" val="3357332060"/>
                    </a:ext>
                  </a:extLst>
                </a:gridCol>
                <a:gridCol w="570286">
                  <a:extLst>
                    <a:ext uri="{9D8B030D-6E8A-4147-A177-3AD203B41FA5}">
                      <a16:colId xmlns:a16="http://schemas.microsoft.com/office/drawing/2014/main" val="1384947682"/>
                    </a:ext>
                  </a:extLst>
                </a:gridCol>
                <a:gridCol w="4608512">
                  <a:extLst>
                    <a:ext uri="{9D8B030D-6E8A-4147-A177-3AD203B41FA5}">
                      <a16:colId xmlns:a16="http://schemas.microsoft.com/office/drawing/2014/main" val="1128112023"/>
                    </a:ext>
                  </a:extLst>
                </a:gridCol>
                <a:gridCol w="1728192">
                  <a:extLst>
                    <a:ext uri="{9D8B030D-6E8A-4147-A177-3AD203B41FA5}">
                      <a16:colId xmlns:a16="http://schemas.microsoft.com/office/drawing/2014/main" val="1305334509"/>
                    </a:ext>
                  </a:extLst>
                </a:gridCol>
              </a:tblGrid>
              <a:tr h="309708">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评价维度</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权重</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评价内容与方式</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spcAft>
                          <a:spcPts val="0"/>
                        </a:spcAft>
                      </a:pP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评价依据</a:t>
                      </a:r>
                      <a:r>
                        <a:rPr lang="en-US" sz="1100"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kern="100">
                          <a:effectLst/>
                          <a:latin typeface="Times New Roman" panose="02020603050405020304" pitchFamily="18" charset="0"/>
                          <a:ea typeface="微软雅黑" panose="020B0503020204020204" pitchFamily="34" charset="-122"/>
                          <a:cs typeface="Times New Roman" panose="02020603050405020304" pitchFamily="18" charset="0"/>
                        </a:rPr>
                        <a:t>工具</a:t>
                      </a:r>
                      <a:endParaRPr lang="zh-CN" sz="14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239589081"/>
                  </a:ext>
                </a:extLst>
              </a:tr>
              <a:tr h="89647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初级认知任务学习成果</a:t>
                      </a:r>
                    </a:p>
                  </a:txBody>
                  <a:tcPr marL="72000" marR="108000" marT="36000" marB="36000" anchor="ctr"/>
                </a:tc>
                <a:tc>
                  <a:txBody>
                    <a:bodyPr/>
                    <a:lstStyle/>
                    <a:p>
                      <a:pPr algn="ctr">
                        <a:lnSpc>
                          <a:spcPts val="1875"/>
                        </a:lnSpc>
                        <a:spcAft>
                          <a:spcPts val="0"/>
                        </a:spcAft>
                      </a:pPr>
                      <a:r>
                        <a:rPr lang="en-US" sz="1100" b="1" kern="100" smtClean="0">
                          <a:effectLst/>
                          <a:latin typeface="Arial Black" panose="020B0A04020102020204" pitchFamily="34" charset="0"/>
                          <a:ea typeface="宋体" panose="02010600030101010101" pitchFamily="2" charset="-122"/>
                          <a:cs typeface="Times New Roman" panose="02020603050405020304" pitchFamily="18" charset="0"/>
                        </a:rPr>
                        <a:t>20</a:t>
                      </a:r>
                      <a:r>
                        <a:rPr lang="en-US" sz="1100" b="1" kern="100">
                          <a:effectLst/>
                          <a:latin typeface="Arial Black" panose="020B0A04020102020204" pitchFamily="34" charset="0"/>
                          <a:ea typeface="宋体" panose="02010600030101010101" pitchFamily="2" charset="-122"/>
                          <a:cs typeface="Times New Roman" panose="02020603050405020304" pitchFamily="18" charset="0"/>
                        </a:rPr>
                        <a:t>%</a:t>
                      </a:r>
                      <a:endParaRPr lang="zh-CN" sz="110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个体完成《初级认知任务》，考查对项目管理核心概念（三大特征、五大过程组、十大知识领域）、项目范围管理、</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分解等核心内容的认知与理解。</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教师依据</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5.2.5.1</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任务一、任务二、任务三内置评分标准评分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5.2.5.1</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任务一、任务二、任务三内置评分标准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2688804797"/>
                  </a:ext>
                </a:extLst>
              </a:tr>
              <a:tr h="792088">
                <a:tc>
                  <a:txBody>
                    <a:bodyPr/>
                    <a:lstStyle/>
                    <a:p>
                      <a:pPr marL="0" algn="ctr" defTabSz="914400" rtl="0" eaLnBrk="1" latinLnBrk="0" hangingPunct="1">
                        <a:lnSpc>
                          <a:spcPts val="1875"/>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泡茶项目管理方案</a:t>
                      </a:r>
                    </a:p>
                  </a:txBody>
                  <a:tcPr marL="72000" marR="108000" marT="36000" marB="36000" anchor="ctr"/>
                </a:tc>
                <a:tc>
                  <a:txBody>
                    <a:bodyPr/>
                    <a:lstStyle/>
                    <a:p>
                      <a:pPr marL="0" algn="ctr" defTabSz="914400" rtl="0" eaLnBrk="1" latinLnBrk="0" hangingPunct="1">
                        <a:lnSpc>
                          <a:spcPts val="1875"/>
                        </a:lnSpc>
                        <a:spcAft>
                          <a:spcPts val="0"/>
                        </a:spcAft>
                      </a:pPr>
                      <a:r>
                        <a:rPr lang="en-US" sz="1100" b="1" kern="100">
                          <a:solidFill>
                            <a:schemeClr val="dk1"/>
                          </a:solidFill>
                          <a:effectLst/>
                          <a:latin typeface="Arial Black" panose="020B0A04020102020204" pitchFamily="34" charset="0"/>
                          <a:ea typeface="宋体" panose="02010600030101010101" pitchFamily="2" charset="-122"/>
                          <a:cs typeface="Times New Roman" panose="02020603050405020304" pitchFamily="18" charset="0"/>
                        </a:rPr>
                        <a:t>40%</a:t>
                      </a:r>
                      <a:endParaRPr lang="zh-CN" sz="1100" b="1" kern="100">
                        <a:solidFill>
                          <a:schemeClr val="dk1"/>
                        </a:solidFill>
                        <a:effectLst/>
                        <a:latin typeface="Arial Black" panose="020B0A04020102020204" pitchFamily="34" charset="0"/>
                        <a:ea typeface="宋体"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各学习小组（</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人）在课堂演练中产出包含范围界定、三级</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分解、甘特图（含关键路径与里程碑）、成本核算表、风险登记册在内的完整泡茶项目管理方案。</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5.2“</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泡茶项目管理方案</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评价量表评分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5.2“</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泡茶项目管理方案</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评价量表</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196803168"/>
                  </a:ext>
                </a:extLst>
              </a:tr>
              <a:tr h="115212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创客竞赛团队项目管理方案</a:t>
                      </a:r>
                    </a:p>
                  </a:txBody>
                  <a:tcPr marL="72000" marR="108000" marT="36000" marB="36000" anchor="ctr"/>
                </a:tc>
                <a:tc>
                  <a:txBody>
                    <a:bodyPr/>
                    <a:lstStyle/>
                    <a:p>
                      <a:pPr marL="0" algn="ctr" defTabSz="914400" rtl="0" eaLnBrk="1" latinLnBrk="0" hangingPunct="1">
                        <a:lnSpc>
                          <a:spcPts val="1875"/>
                        </a:lnSpc>
                        <a:spcAft>
                          <a:spcPts val="0"/>
                        </a:spcAft>
                      </a:pPr>
                      <a:r>
                        <a:rPr lang="en-US" sz="1100" b="1" kern="100">
                          <a:solidFill>
                            <a:schemeClr val="dk1"/>
                          </a:solidFill>
                          <a:effectLst/>
                          <a:latin typeface="Arial Black" panose="020B0A04020102020204" pitchFamily="34" charset="0"/>
                          <a:ea typeface="宋体" panose="02010600030101010101" pitchFamily="2" charset="-122"/>
                          <a:cs typeface="Times New Roman" panose="02020603050405020304" pitchFamily="18" charset="0"/>
                        </a:rPr>
                        <a:t>40%</a:t>
                      </a:r>
                      <a:endParaRPr lang="zh-CN" sz="1100" b="1" kern="100">
                        <a:solidFill>
                          <a:schemeClr val="dk1"/>
                        </a:solidFill>
                        <a:effectLst/>
                        <a:latin typeface="Arial Black" panose="020B0A04020102020204" pitchFamily="34" charset="0"/>
                        <a:ea typeface="宋体"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内容：</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各参赛团队在课后将项目管理方法迁移至创客竞赛项目场景，产出《创客竞赛团队项目管理方案》，含项目章程、三级</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分解、甘特图（含关键路径与里程碑）、</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RACI</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责任分配矩阵（通过校验）、风险登记册（</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类风险，含应对预案）、项目状态报告模板及</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PDCA</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循环计划。</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r>
                      <a:b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br>
                      <a:r>
                        <a:rPr lang="zh-CN" sz="1100" b="1"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方式：</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依据表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5.3“</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《创客竞赛团队项目管理方案》质量评价量表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评分</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5.3“</a:t>
                      </a:r>
                      <a:r>
                        <a:rPr lang="zh-CN"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《创客竞赛团队项目管理方案》评价量表</a:t>
                      </a:r>
                      <a:r>
                        <a:rPr lang="en-US" sz="1100" kern="10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35338465"/>
                  </a:ext>
                </a:extLst>
              </a:tr>
            </a:tbl>
          </a:graphicData>
        </a:graphic>
      </p:graphicFrame>
    </p:spTree>
    <p:extLst>
      <p:ext uri="{BB962C8B-B14F-4D97-AF65-F5344CB8AC3E}">
        <p14:creationId xmlns:p14="http://schemas.microsoft.com/office/powerpoint/2010/main" val="3969764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404017076"/>
              </p:ext>
            </p:extLst>
          </p:nvPr>
        </p:nvGraphicFramePr>
        <p:xfrm>
          <a:off x="899592" y="1951841"/>
          <a:ext cx="7200800" cy="199578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2304256">
                  <a:extLst>
                    <a:ext uri="{9D8B030D-6E8A-4147-A177-3AD203B41FA5}">
                      <a16:colId xmlns:a16="http://schemas.microsoft.com/office/drawing/2014/main" val="1236400063"/>
                    </a:ext>
                  </a:extLst>
                </a:gridCol>
                <a:gridCol w="2016224">
                  <a:extLst>
                    <a:ext uri="{9D8B030D-6E8A-4147-A177-3AD203B41FA5}">
                      <a16:colId xmlns:a16="http://schemas.microsoft.com/office/drawing/2014/main" val="1543151654"/>
                    </a:ext>
                  </a:extLst>
                </a:gridCol>
              </a:tblGrid>
              <a:tr h="32239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范围界定质量（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55119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边界</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清晰度</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范围内</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外各列</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项，边界判断标准一致、无歧义，所有条目均围绕可交付成果展开</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范围内</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外各列</a:t>
                      </a:r>
                      <a:r>
                        <a:rPr lang="en-US" sz="1100" b="0" kern="100">
                          <a:solidFill>
                            <a:schemeClr val="dk1"/>
                          </a:solidFill>
                          <a:effectLst/>
                          <a:latin typeface="Times New Roman" panose="02020603050405020304" pitchFamily="18" charset="0"/>
                          <a:ea typeface="+mn-ea"/>
                          <a:cs typeface="Times New Roman" panose="02020603050405020304" pitchFamily="18" charset="0"/>
                        </a:rPr>
                        <a:t>2-3</a:t>
                      </a:r>
                      <a:r>
                        <a:rPr lang="zh-CN" sz="1100" b="0" kern="100">
                          <a:solidFill>
                            <a:schemeClr val="dk1"/>
                          </a:solidFill>
                          <a:effectLst/>
                          <a:latin typeface="Times New Roman" panose="02020603050405020304" pitchFamily="18" charset="0"/>
                          <a:ea typeface="+mn-ea"/>
                          <a:cs typeface="Times New Roman" panose="02020603050405020304" pitchFamily="18" charset="0"/>
                        </a:rPr>
                        <a:t>项，但部分条目边界模糊或存在交叉</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范围内</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外各列</a:t>
                      </a:r>
                      <a:r>
                        <a:rPr lang="en-US" sz="1100" b="0" kern="100">
                          <a:solidFill>
                            <a:schemeClr val="dk1"/>
                          </a:solidFill>
                          <a:effectLst/>
                          <a:latin typeface="Times New Roman" panose="02020603050405020304" pitchFamily="18" charset="0"/>
                          <a:ea typeface="+mn-ea"/>
                          <a:cs typeface="Times New Roman" panose="02020603050405020304" pitchFamily="18" charset="0"/>
                        </a:rPr>
                        <a:t>&lt;2</a:t>
                      </a:r>
                      <a:r>
                        <a:rPr lang="zh-CN" sz="1100" b="0" kern="100">
                          <a:solidFill>
                            <a:schemeClr val="dk1"/>
                          </a:solidFill>
                          <a:effectLst/>
                          <a:latin typeface="Times New Roman" panose="02020603050405020304" pitchFamily="18" charset="0"/>
                          <a:ea typeface="+mn-ea"/>
                          <a:cs typeface="Times New Roman" panose="02020603050405020304" pitchFamily="18" charset="0"/>
                        </a:rPr>
                        <a:t>项，或边界判断标准不一致、条目之间相互矛盾</a:t>
                      </a:r>
                    </a:p>
                  </a:txBody>
                  <a:tcPr marL="72000" marR="72000" marT="36000" marB="36000"/>
                </a:tc>
                <a:extLst>
                  <a:ext uri="{0D108BD9-81ED-4DB2-BD59-A6C34878D82A}">
                    <a16:rowId xmlns:a16="http://schemas.microsoft.com/office/drawing/2014/main" val="1527929533"/>
                  </a:ext>
                </a:extLst>
              </a:tr>
              <a:tr h="55119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可交付</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成果定义</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可交付成果定义具体、可检验，包含量化指标（如温度、容量、时间）</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可交付成果定义较为笼统，缺少量化指标</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可交付成果定义模糊，无法检验</a:t>
                      </a:r>
                    </a:p>
                  </a:txBody>
                  <a:tcPr marL="72000" marR="72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2" y="1655409"/>
            <a:ext cx="7308813" cy="261610"/>
          </a:xfrm>
          <a:prstGeom prst="rect">
            <a:avLst/>
          </a:prstGeom>
        </p:spPr>
        <p:txBody>
          <a:bodyPr wrap="square">
            <a:spAutoFit/>
          </a:bodyPr>
          <a:lstStyle/>
          <a:p>
            <a:pPr algn="ctr"/>
            <a:r>
              <a:rPr lang="en-US"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泡茶项目管理方案</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评价量表（课堂教学活动二</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11775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730544551"/>
              </p:ext>
            </p:extLst>
          </p:nvPr>
        </p:nvGraphicFramePr>
        <p:xfrm>
          <a:off x="539552" y="1995686"/>
          <a:ext cx="8136904" cy="259228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2376264">
                  <a:extLst>
                    <a:ext uri="{9D8B030D-6E8A-4147-A177-3AD203B41FA5}">
                      <a16:colId xmlns:a16="http://schemas.microsoft.com/office/drawing/2014/main" val="647909556"/>
                    </a:ext>
                  </a:extLst>
                </a:gridCol>
                <a:gridCol w="2232248">
                  <a:extLst>
                    <a:ext uri="{9D8B030D-6E8A-4147-A177-3AD203B41FA5}">
                      <a16:colId xmlns:a16="http://schemas.microsoft.com/office/drawing/2014/main" val="2671319619"/>
                    </a:ext>
                  </a:extLst>
                </a:gridCol>
              </a:tblGrid>
              <a:tr h="36004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762152160"/>
                  </a:ext>
                </a:extLst>
              </a:tr>
              <a:tr h="360040">
                <a:tc gridSpan="4">
                  <a:txBody>
                    <a:bodyPr/>
                    <a:lstStyle/>
                    <a:p>
                      <a:pPr marL="0" algn="l" defTabSz="914400" rtl="0" eaLnBrk="1" latinLnBrk="0" hangingPunct="1">
                        <a:spcAft>
                          <a:spcPts val="0"/>
                        </a:spcAft>
                      </a:pP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 WBS</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分解质量（</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17345774"/>
                  </a:ext>
                </a:extLst>
              </a:tr>
              <a:tr h="72008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层级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三级分解完整（阶段</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交付物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工作包），至少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个交付物展开至第三级，层级逻辑正确</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WBS</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两层完整，有第三级展开但不够完整（如仅有</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1</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条分支展开至第三级）</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仅一层或两层不完整，层级逻辑错误（如同一层级混合了阶段和任务）</a:t>
                      </a:r>
                    </a:p>
                  </a:txBody>
                  <a:tcPr marL="72000" marR="72000" marT="36000" marB="36000"/>
                </a:tc>
                <a:extLst>
                  <a:ext uri="{0D108BD9-81ED-4DB2-BD59-A6C34878D82A}">
                    <a16:rowId xmlns:a16="http://schemas.microsoft.com/office/drawing/2014/main" val="2651091349"/>
                  </a:ext>
                </a:extLst>
              </a:tr>
              <a:tr h="57606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MECE</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合规性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分解符合</a:t>
                      </a:r>
                      <a:r>
                        <a:rPr lang="en-US" sz="1100" b="0" kern="100">
                          <a:solidFill>
                            <a:schemeClr val="dk1"/>
                          </a:solidFill>
                          <a:effectLst/>
                          <a:latin typeface="Times New Roman" panose="02020603050405020304" pitchFamily="18" charset="0"/>
                          <a:ea typeface="+mn-ea"/>
                          <a:cs typeface="Times New Roman" panose="02020603050405020304" pitchFamily="18" charset="0"/>
                        </a:rPr>
                        <a:t>MECE</a:t>
                      </a:r>
                      <a:r>
                        <a:rPr lang="zh-CN" sz="1100" b="0" kern="100">
                          <a:solidFill>
                            <a:schemeClr val="dk1"/>
                          </a:solidFill>
                          <a:effectLst/>
                          <a:latin typeface="Times New Roman" panose="02020603050405020304" pitchFamily="18" charset="0"/>
                          <a:ea typeface="+mn-ea"/>
                          <a:cs typeface="Times New Roman" panose="02020603050405020304" pitchFamily="18" charset="0"/>
                        </a:rPr>
                        <a:t>原则（同一层级相互独立、完全穷尽），无重叠、无遗漏</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分解基本符合</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MECE</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原则，但有少量重叠或遗漏（</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1-2</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处）</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分解严重违反</a:t>
                      </a:r>
                      <a:r>
                        <a:rPr lang="en-US" sz="1100" b="0" kern="100">
                          <a:solidFill>
                            <a:schemeClr val="dk1"/>
                          </a:solidFill>
                          <a:effectLst/>
                          <a:latin typeface="Times New Roman" panose="02020603050405020304" pitchFamily="18" charset="0"/>
                          <a:ea typeface="+mn-ea"/>
                          <a:cs typeface="Times New Roman" panose="02020603050405020304" pitchFamily="18" charset="0"/>
                        </a:rPr>
                        <a:t>MECE</a:t>
                      </a:r>
                      <a:r>
                        <a:rPr lang="zh-CN" sz="1100" b="0" kern="100">
                          <a:solidFill>
                            <a:schemeClr val="dk1"/>
                          </a:solidFill>
                          <a:effectLst/>
                          <a:latin typeface="Times New Roman" panose="02020603050405020304" pitchFamily="18" charset="0"/>
                          <a:ea typeface="+mn-ea"/>
                          <a:cs typeface="Times New Roman" panose="02020603050405020304" pitchFamily="18" charset="0"/>
                        </a:rPr>
                        <a:t>原则（</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处重叠或遗漏）</a:t>
                      </a:r>
                    </a:p>
                  </a:txBody>
                  <a:tcPr marL="72000" marR="72000" marT="36000" marB="36000"/>
                </a:tc>
                <a:extLst>
                  <a:ext uri="{0D108BD9-81ED-4DB2-BD59-A6C34878D82A}">
                    <a16:rowId xmlns:a16="http://schemas.microsoft.com/office/drawing/2014/main" val="1876876570"/>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可执行性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最底层工作包可分配、可估算、可验收，每个工作包标注明确的</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80%</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以上的工作包标注了可交付成果</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工作包未标注可交付成果，或描述过于笼统（如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做硬件</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72000" marT="36000" marB="36000"/>
                </a:tc>
                <a:extLst>
                  <a:ext uri="{0D108BD9-81ED-4DB2-BD59-A6C34878D82A}">
                    <a16:rowId xmlns:a16="http://schemas.microsoft.com/office/drawing/2014/main" val="2324115560"/>
                  </a:ext>
                </a:extLst>
              </a:tr>
            </a:tbl>
          </a:graphicData>
        </a:graphic>
      </p:graphicFrame>
      <p:sp>
        <p:nvSpPr>
          <p:cNvPr id="10" name="矩形 9"/>
          <p:cNvSpPr/>
          <p:nvPr/>
        </p:nvSpPr>
        <p:spPr>
          <a:xfrm>
            <a:off x="539552" y="1646412"/>
            <a:ext cx="7992888"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泡茶项目管理方案</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评价量</a:t>
            </a:r>
            <a:r>
              <a:rPr lang="zh-CN" altLang="zh-CN" sz="1100" b="1" smtClean="0">
                <a:latin typeface="微软雅黑" panose="020B0503020204020204" pitchFamily="34" charset="-122"/>
                <a:ea typeface="微软雅黑" panose="020B0503020204020204" pitchFamily="34" charset="-122"/>
              </a:rPr>
              <a:t>表</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603868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158179306"/>
              </p:ext>
            </p:extLst>
          </p:nvPr>
        </p:nvGraphicFramePr>
        <p:xfrm>
          <a:off x="539552" y="1995686"/>
          <a:ext cx="7920880" cy="2691728"/>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2376264">
                  <a:extLst>
                    <a:ext uri="{9D8B030D-6E8A-4147-A177-3AD203B41FA5}">
                      <a16:colId xmlns:a16="http://schemas.microsoft.com/office/drawing/2014/main" val="647909556"/>
                    </a:ext>
                  </a:extLst>
                </a:gridCol>
                <a:gridCol w="2016224">
                  <a:extLst>
                    <a:ext uri="{9D8B030D-6E8A-4147-A177-3AD203B41FA5}">
                      <a16:colId xmlns:a16="http://schemas.microsoft.com/office/drawing/2014/main" val="2671319619"/>
                    </a:ext>
                  </a:extLst>
                </a:gridCol>
              </a:tblGrid>
              <a:tr h="36004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368383607"/>
                  </a:ext>
                </a:extLst>
              </a:tr>
              <a:tr h="36004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甘特图与关键路径（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17345774"/>
                  </a:ext>
                </a:extLst>
              </a:tr>
              <a:tr h="72008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甘特图包含全部工作包，任务依赖关系（</a:t>
                      </a:r>
                      <a:r>
                        <a:rPr lang="en-US" sz="1100" b="0" kern="100">
                          <a:solidFill>
                            <a:schemeClr val="dk1"/>
                          </a:solidFill>
                          <a:effectLst/>
                          <a:latin typeface="Times New Roman" panose="02020603050405020304" pitchFamily="18" charset="0"/>
                          <a:ea typeface="+mn-ea"/>
                          <a:cs typeface="Times New Roman" panose="02020603050405020304" pitchFamily="18" charset="0"/>
                        </a:rPr>
                        <a:t>FS/SS</a:t>
                      </a:r>
                      <a:r>
                        <a:rPr lang="zh-CN" sz="1100" b="0" kern="100">
                          <a:solidFill>
                            <a:schemeClr val="dk1"/>
                          </a:solidFill>
                          <a:effectLst/>
                          <a:latin typeface="Times New Roman" panose="02020603050405020304" pitchFamily="18" charset="0"/>
                          <a:ea typeface="+mn-ea"/>
                          <a:cs typeface="Times New Roman" panose="02020603050405020304" pitchFamily="18" charset="0"/>
                        </a:rPr>
                        <a:t>）标注完整、准确</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甘特图包含主要工作包（</a:t>
                      </a:r>
                      <a:r>
                        <a:rPr lang="en-US" sz="1100" b="0" kern="100">
                          <a:solidFill>
                            <a:schemeClr val="dk1"/>
                          </a:solidFill>
                          <a:effectLst/>
                          <a:latin typeface="Times New Roman" panose="02020603050405020304" pitchFamily="18" charset="0"/>
                          <a:ea typeface="+mn-ea"/>
                          <a:cs typeface="Times New Roman" panose="02020603050405020304" pitchFamily="18" charset="0"/>
                        </a:rPr>
                        <a:t>≥80%</a:t>
                      </a:r>
                      <a:r>
                        <a:rPr lang="zh-CN" sz="1100" b="0" kern="100">
                          <a:solidFill>
                            <a:schemeClr val="dk1"/>
                          </a:solidFill>
                          <a:effectLst/>
                          <a:latin typeface="Times New Roman" panose="02020603050405020304" pitchFamily="18" charset="0"/>
                          <a:ea typeface="+mn-ea"/>
                          <a:cs typeface="Times New Roman" panose="02020603050405020304" pitchFamily="18" charset="0"/>
                        </a:rPr>
                        <a:t>），依赖关系基本准确但有少量遗漏</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甘特图任务不全（</a:t>
                      </a:r>
                      <a:r>
                        <a:rPr lang="en-US" sz="1100" b="0" kern="100">
                          <a:solidFill>
                            <a:schemeClr val="dk1"/>
                          </a:solidFill>
                          <a:effectLst/>
                          <a:latin typeface="Times New Roman" panose="02020603050405020304" pitchFamily="18" charset="0"/>
                          <a:ea typeface="+mn-ea"/>
                          <a:cs typeface="Times New Roman" panose="02020603050405020304" pitchFamily="18" charset="0"/>
                        </a:rPr>
                        <a:t>&lt;80%</a:t>
                      </a:r>
                      <a:r>
                        <a:rPr lang="zh-CN" sz="1100" b="0" kern="100">
                          <a:solidFill>
                            <a:schemeClr val="dk1"/>
                          </a:solidFill>
                          <a:effectLst/>
                          <a:latin typeface="Times New Roman" panose="02020603050405020304" pitchFamily="18" charset="0"/>
                          <a:ea typeface="+mn-ea"/>
                          <a:cs typeface="Times New Roman" panose="02020603050405020304" pitchFamily="18" charset="0"/>
                        </a:rPr>
                        <a:t>），或时间估算明显不合理（总工期明显偏离约束）</a:t>
                      </a:r>
                    </a:p>
                  </a:txBody>
                  <a:tcPr marL="72000" marR="72000" marT="36000" marB="36000"/>
                </a:tc>
                <a:extLst>
                  <a:ext uri="{0D108BD9-81ED-4DB2-BD59-A6C34878D82A}">
                    <a16:rowId xmlns:a16="http://schemas.microsoft.com/office/drawing/2014/main" val="2651091349"/>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关键路径</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正确识别总工期最长的任务链，在甘特图上用红色</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粗线清晰标注</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关键路径识别基本正确，但未在甘特图上标注</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关键路径识别错误或未标注</a:t>
                      </a:r>
                    </a:p>
                  </a:txBody>
                  <a:tcPr marL="72000" marR="72000" marT="36000" marB="36000"/>
                </a:tc>
                <a:extLst>
                  <a:ext uri="{0D108BD9-81ED-4DB2-BD59-A6C34878D82A}">
                    <a16:rowId xmlns:a16="http://schemas.microsoft.com/office/drawing/2014/main" val="1876876570"/>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里程碑</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里程碑设置</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个，位置准确，与关键检查点对应，验收标准清晰可验证</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有里程碑设置但数量不足（</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个）或位置不够准确，验收标准不够具体</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无里程碑设置</a:t>
                      </a:r>
                    </a:p>
                  </a:txBody>
                  <a:tcPr marL="72000" marR="72000" marT="36000" marB="36000"/>
                </a:tc>
                <a:extLst>
                  <a:ext uri="{0D108BD9-81ED-4DB2-BD59-A6C34878D82A}">
                    <a16:rowId xmlns:a16="http://schemas.microsoft.com/office/drawing/2014/main" val="2324115560"/>
                  </a:ext>
                </a:extLst>
              </a:tr>
            </a:tbl>
          </a:graphicData>
        </a:graphic>
      </p:graphicFrame>
      <p:sp>
        <p:nvSpPr>
          <p:cNvPr id="10" name="矩形 9"/>
          <p:cNvSpPr/>
          <p:nvPr/>
        </p:nvSpPr>
        <p:spPr>
          <a:xfrm>
            <a:off x="539552" y="1646412"/>
            <a:ext cx="7992888"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泡茶项目管理方案</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评价量</a:t>
            </a:r>
            <a:r>
              <a:rPr lang="zh-CN" altLang="zh-CN" sz="1100" b="1" smtClean="0">
                <a:latin typeface="微软雅黑" panose="020B0503020204020204" pitchFamily="34" charset="-122"/>
                <a:ea typeface="微软雅黑" panose="020B0503020204020204" pitchFamily="34" charset="-122"/>
              </a:rPr>
              <a:t>表</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610787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330164072"/>
              </p:ext>
            </p:extLst>
          </p:nvPr>
        </p:nvGraphicFramePr>
        <p:xfrm>
          <a:off x="539552" y="1995686"/>
          <a:ext cx="8280920" cy="2376264"/>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232248">
                  <a:extLst>
                    <a:ext uri="{9D8B030D-6E8A-4147-A177-3AD203B41FA5}">
                      <a16:colId xmlns:a16="http://schemas.microsoft.com/office/drawing/2014/main" val="647909556"/>
                    </a:ext>
                  </a:extLst>
                </a:gridCol>
                <a:gridCol w="2376264">
                  <a:extLst>
                    <a:ext uri="{9D8B030D-6E8A-4147-A177-3AD203B41FA5}">
                      <a16:colId xmlns:a16="http://schemas.microsoft.com/office/drawing/2014/main" val="2671319619"/>
                    </a:ext>
                  </a:extLst>
                </a:gridCol>
              </a:tblGrid>
              <a:tr h="36004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327816504"/>
                  </a:ext>
                </a:extLst>
              </a:tr>
              <a:tr h="36004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4.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风险管理质量（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17345774"/>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维度覆盖</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个维度（技术</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人员</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资源</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外部），</a:t>
                      </a:r>
                      <a:r>
                        <a:rPr lang="en-US" sz="1100" b="0" kern="100">
                          <a:solidFill>
                            <a:schemeClr val="dk1"/>
                          </a:solidFill>
                          <a:effectLst/>
                          <a:latin typeface="Times New Roman" panose="02020603050405020304" pitchFamily="18" charset="0"/>
                          <a:ea typeface="+mn-ea"/>
                          <a:cs typeface="Times New Roman" panose="02020603050405020304" pitchFamily="18" charset="0"/>
                        </a:rPr>
                        <a:t>≥5</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3-4</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a:t>
                      </a:r>
                    </a:p>
                  </a:txBody>
                  <a:tcPr marL="72000" marR="108000" marT="36000" marB="36000"/>
                </a:tc>
                <a:extLst>
                  <a:ext uri="{0D108BD9-81ED-4DB2-BD59-A6C34878D82A}">
                    <a16:rowId xmlns:a16="http://schemas.microsoft.com/office/drawing/2014/main" val="2651091349"/>
                  </a:ext>
                </a:extLst>
              </a:tr>
              <a:tr h="57606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等级计算与应对</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影响等级计算准确，高优先级风险有详细应对预案（含触发条件与具体措施）</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影响等级计算基本正确，中</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高优先级风险有应对措施</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未计算概率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影响等级，或应对措施为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加强注意</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等无效应对</a:t>
                      </a:r>
                    </a:p>
                  </a:txBody>
                  <a:tcPr marL="72000" marR="108000" marT="36000" marB="36000"/>
                </a:tc>
                <a:extLst>
                  <a:ext uri="{0D108BD9-81ED-4DB2-BD59-A6C34878D82A}">
                    <a16:rowId xmlns:a16="http://schemas.microsoft.com/office/drawing/2014/main" val="1876876570"/>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策略选择</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应对策略（规避</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减轻</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转移</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接受）选择合理，措施可执行</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应对策略基本合理但部分措施不够具体</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未制定应对策略，或策略与风险无关</a:t>
                      </a:r>
                    </a:p>
                  </a:txBody>
                  <a:tcPr marL="72000" marR="108000" marT="36000" marB="36000"/>
                </a:tc>
                <a:extLst>
                  <a:ext uri="{0D108BD9-81ED-4DB2-BD59-A6C34878D82A}">
                    <a16:rowId xmlns:a16="http://schemas.microsoft.com/office/drawing/2014/main" val="2324115560"/>
                  </a:ext>
                </a:extLst>
              </a:tr>
            </a:tbl>
          </a:graphicData>
        </a:graphic>
      </p:graphicFrame>
      <p:sp>
        <p:nvSpPr>
          <p:cNvPr id="10" name="矩形 9"/>
          <p:cNvSpPr/>
          <p:nvPr/>
        </p:nvSpPr>
        <p:spPr>
          <a:xfrm>
            <a:off x="539552" y="1646412"/>
            <a:ext cx="7992888"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泡茶项目管理方案</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评价量</a:t>
            </a:r>
            <a:r>
              <a:rPr lang="zh-CN" altLang="zh-CN" sz="1100" b="1" smtClean="0">
                <a:latin typeface="微软雅黑" panose="020B0503020204020204" pitchFamily="34" charset="-122"/>
                <a:ea typeface="微软雅黑" panose="020B0503020204020204" pitchFamily="34" charset="-122"/>
              </a:rPr>
              <a:t>表</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78139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558929303"/>
              </p:ext>
            </p:extLst>
          </p:nvPr>
        </p:nvGraphicFramePr>
        <p:xfrm>
          <a:off x="539552" y="1995686"/>
          <a:ext cx="7920880" cy="2445992"/>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232248">
                  <a:extLst>
                    <a:ext uri="{9D8B030D-6E8A-4147-A177-3AD203B41FA5}">
                      <a16:colId xmlns:a16="http://schemas.microsoft.com/office/drawing/2014/main" val="647909556"/>
                    </a:ext>
                  </a:extLst>
                </a:gridCol>
                <a:gridCol w="2016224">
                  <a:extLst>
                    <a:ext uri="{9D8B030D-6E8A-4147-A177-3AD203B41FA5}">
                      <a16:colId xmlns:a16="http://schemas.microsoft.com/office/drawing/2014/main" val="2671319619"/>
                    </a:ext>
                  </a:extLst>
                </a:gridCol>
              </a:tblGrid>
              <a:tr h="288032">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830107262"/>
                  </a:ext>
                </a:extLst>
              </a:tr>
              <a:tr h="288032">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方案完整性（</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97576227"/>
                  </a:ext>
                </a:extLst>
              </a:tr>
              <a:tr h="79208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可行性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方案在</a:t>
                      </a:r>
                      <a:r>
                        <a:rPr lang="en-US" sz="1100" b="0" kern="100">
                          <a:solidFill>
                            <a:schemeClr val="dk1"/>
                          </a:solidFill>
                          <a:effectLst/>
                          <a:latin typeface="Times New Roman" panose="02020603050405020304" pitchFamily="18" charset="0"/>
                          <a:ea typeface="+mn-ea"/>
                          <a:cs typeface="Times New Roman" panose="02020603050405020304" pitchFamily="18" charset="0"/>
                        </a:rPr>
                        <a:t>5</a:t>
                      </a:r>
                      <a:r>
                        <a:rPr lang="zh-CN" sz="1100" b="0" kern="100">
                          <a:solidFill>
                            <a:schemeClr val="dk1"/>
                          </a:solidFill>
                          <a:effectLst/>
                          <a:latin typeface="Times New Roman" panose="02020603050405020304" pitchFamily="18" charset="0"/>
                          <a:ea typeface="+mn-ea"/>
                          <a:cs typeface="Times New Roman" panose="02020603050405020304" pitchFamily="18" charset="0"/>
                        </a:rPr>
                        <a:t>分钟约束下完全可行，时间估算精确到秒级，总工期</a:t>
                      </a:r>
                      <a:r>
                        <a:rPr lang="en-US" sz="1100" b="0" kern="100">
                          <a:solidFill>
                            <a:schemeClr val="dk1"/>
                          </a:solidFill>
                          <a:effectLst/>
                          <a:latin typeface="Times New Roman" panose="02020603050405020304" pitchFamily="18" charset="0"/>
                          <a:ea typeface="+mn-ea"/>
                          <a:cs typeface="Times New Roman" panose="02020603050405020304" pitchFamily="18" charset="0"/>
                        </a:rPr>
                        <a:t>≤300</a:t>
                      </a:r>
                      <a:r>
                        <a:rPr lang="zh-CN" sz="1100" b="0" kern="100">
                          <a:solidFill>
                            <a:schemeClr val="dk1"/>
                          </a:solidFill>
                          <a:effectLst/>
                          <a:latin typeface="Times New Roman" panose="02020603050405020304" pitchFamily="18" charset="0"/>
                          <a:ea typeface="+mn-ea"/>
                          <a:cs typeface="Times New Roman" panose="02020603050405020304" pitchFamily="18" charset="0"/>
                        </a:rPr>
                        <a:t>秒，或工期变更申请有充分数据支撑</a:t>
                      </a:r>
                    </a:p>
                  </a:txBody>
                  <a:tcPr marL="72000" marR="72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方案在</a:t>
                      </a:r>
                      <a:r>
                        <a:rPr lang="en-US" sz="1100" b="0" kern="100">
                          <a:solidFill>
                            <a:schemeClr val="dk1"/>
                          </a:solidFill>
                          <a:effectLst/>
                          <a:latin typeface="Times New Roman" panose="02020603050405020304" pitchFamily="18" charset="0"/>
                          <a:ea typeface="+mn-ea"/>
                          <a:cs typeface="Times New Roman" panose="02020603050405020304" pitchFamily="18" charset="0"/>
                        </a:rPr>
                        <a:t>5</a:t>
                      </a:r>
                      <a:r>
                        <a:rPr lang="zh-CN" sz="1100" b="0" kern="100">
                          <a:solidFill>
                            <a:schemeClr val="dk1"/>
                          </a:solidFill>
                          <a:effectLst/>
                          <a:latin typeface="Times New Roman" panose="02020603050405020304" pitchFamily="18" charset="0"/>
                          <a:ea typeface="+mn-ea"/>
                          <a:cs typeface="Times New Roman" panose="02020603050405020304" pitchFamily="18" charset="0"/>
                        </a:rPr>
                        <a:t>分钟约束下基本可行，总工期</a:t>
                      </a:r>
                      <a:r>
                        <a:rPr lang="en-US" sz="1100" b="0" kern="100">
                          <a:solidFill>
                            <a:schemeClr val="dk1"/>
                          </a:solidFill>
                          <a:effectLst/>
                          <a:latin typeface="Times New Roman" panose="02020603050405020304" pitchFamily="18" charset="0"/>
                          <a:ea typeface="+mn-ea"/>
                          <a:cs typeface="Times New Roman" panose="02020603050405020304" pitchFamily="18" charset="0"/>
                        </a:rPr>
                        <a:t>≤320</a:t>
                      </a:r>
                      <a:r>
                        <a:rPr lang="zh-CN" sz="1100" b="0" kern="100">
                          <a:solidFill>
                            <a:schemeClr val="dk1"/>
                          </a:solidFill>
                          <a:effectLst/>
                          <a:latin typeface="Times New Roman" panose="02020603050405020304" pitchFamily="18" charset="0"/>
                          <a:ea typeface="+mn-ea"/>
                          <a:cs typeface="Times New Roman" panose="02020603050405020304" pitchFamily="18" charset="0"/>
                        </a:rPr>
                        <a:t>秒，或工期变更申请有基本依据</a:t>
                      </a:r>
                    </a:p>
                  </a:txBody>
                  <a:tcPr marL="72000" marR="72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方案在</a:t>
                      </a:r>
                      <a:r>
                        <a:rPr lang="en-US" sz="1100" b="0" kern="100">
                          <a:solidFill>
                            <a:schemeClr val="dk1"/>
                          </a:solidFill>
                          <a:effectLst/>
                          <a:latin typeface="Times New Roman" panose="02020603050405020304" pitchFamily="18" charset="0"/>
                          <a:ea typeface="+mn-ea"/>
                          <a:cs typeface="Times New Roman" panose="02020603050405020304" pitchFamily="18" charset="0"/>
                        </a:rPr>
                        <a:t>5</a:t>
                      </a:r>
                      <a:r>
                        <a:rPr lang="zh-CN" sz="1100" b="0" kern="100">
                          <a:solidFill>
                            <a:schemeClr val="dk1"/>
                          </a:solidFill>
                          <a:effectLst/>
                          <a:latin typeface="Times New Roman" panose="02020603050405020304" pitchFamily="18" charset="0"/>
                          <a:ea typeface="+mn-ea"/>
                          <a:cs typeface="Times New Roman" panose="02020603050405020304" pitchFamily="18" charset="0"/>
                        </a:rPr>
                        <a:t>分钟约束下不可行（总工期明显超限），且无工期变更申请或依据不足</a:t>
                      </a:r>
                    </a:p>
                  </a:txBody>
                  <a:tcPr marL="72000" marR="72000" marT="36000" marB="36000" anchor="ctr"/>
                </a:tc>
                <a:extLst>
                  <a:ext uri="{0D108BD9-81ED-4DB2-BD59-A6C34878D82A}">
                    <a16:rowId xmlns:a16="http://schemas.microsoft.com/office/drawing/2014/main" val="3897683286"/>
                  </a:ext>
                </a:extLst>
              </a:tr>
              <a:tr h="432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资源匹配与模块</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资源使用完全匹配约束条件，有明确的成本或质量考量；利润</a:t>
                      </a:r>
                      <a:r>
                        <a:rPr lang="en-US" sz="1100" b="0" kern="100">
                          <a:solidFill>
                            <a:schemeClr val="dk1"/>
                          </a:solidFill>
                          <a:effectLst/>
                          <a:latin typeface="Times New Roman" panose="02020603050405020304" pitchFamily="18" charset="0"/>
                          <a:ea typeface="+mn-ea"/>
                          <a:cs typeface="Times New Roman" panose="02020603050405020304" pitchFamily="18" charset="0"/>
                        </a:rPr>
                        <a:t>≥8</a:t>
                      </a:r>
                      <a:r>
                        <a:rPr lang="zh-CN" sz="1100" b="0" kern="100">
                          <a:solidFill>
                            <a:schemeClr val="dk1"/>
                          </a:solidFill>
                          <a:effectLst/>
                          <a:latin typeface="Times New Roman" panose="02020603050405020304" pitchFamily="18" charset="0"/>
                          <a:ea typeface="+mn-ea"/>
                          <a:cs typeface="Times New Roman" panose="02020603050405020304" pitchFamily="18" charset="0"/>
                        </a:rPr>
                        <a:t>元（利润率</a:t>
                      </a:r>
                      <a:r>
                        <a:rPr lang="en-US" sz="1100" b="0" kern="100">
                          <a:solidFill>
                            <a:schemeClr val="dk1"/>
                          </a:solidFill>
                          <a:effectLst/>
                          <a:latin typeface="Times New Roman" panose="02020603050405020304" pitchFamily="18" charset="0"/>
                          <a:ea typeface="+mn-ea"/>
                          <a:cs typeface="Times New Roman" panose="02020603050405020304" pitchFamily="18" charset="0"/>
                        </a:rPr>
                        <a:t>≥16%</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r>
                        <a:rPr lang="en-US" sz="1100" b="0" kern="100">
                          <a:solidFill>
                            <a:schemeClr val="dk1"/>
                          </a:solidFill>
                          <a:effectLst/>
                          <a:latin typeface="Times New Roman" panose="02020603050405020304" pitchFamily="18" charset="0"/>
                          <a:ea typeface="+mn-ea"/>
                          <a:cs typeface="Times New Roman" panose="02020603050405020304" pitchFamily="18" charset="0"/>
                        </a:rPr>
                        <a:t> </a:t>
                      </a:r>
                      <a:r>
                        <a:rPr lang="zh-CN" sz="1100" b="0" kern="100">
                          <a:solidFill>
                            <a:schemeClr val="dk1"/>
                          </a:solidFill>
                          <a:effectLst/>
                          <a:latin typeface="Times New Roman" panose="02020603050405020304" pitchFamily="18" charset="0"/>
                          <a:ea typeface="+mn-ea"/>
                          <a:cs typeface="Times New Roman" panose="02020603050405020304" pitchFamily="18" charset="0"/>
                        </a:rPr>
                        <a:t>；完整涵盖任务书要求的全部模块（范围界定、</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、甘特图、成本核算、风险登记册），各模块之间数据一致、逻辑自洽</a:t>
                      </a:r>
                    </a:p>
                  </a:txBody>
                  <a:tcPr marL="72000" marR="72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资源使用基本匹配约束条件，有成本或质量意识但未量化；利润</a:t>
                      </a:r>
                      <a:r>
                        <a:rPr lang="en-US" sz="1100" b="0" kern="100">
                          <a:solidFill>
                            <a:schemeClr val="dk1"/>
                          </a:solidFill>
                          <a:effectLst/>
                          <a:latin typeface="Times New Roman" panose="02020603050405020304" pitchFamily="18" charset="0"/>
                          <a:ea typeface="+mn-ea"/>
                          <a:cs typeface="Times New Roman" panose="02020603050405020304" pitchFamily="18" charset="0"/>
                        </a:rPr>
                        <a:t>≥0</a:t>
                      </a:r>
                      <a:r>
                        <a:rPr lang="zh-CN" sz="1100" b="0" kern="100">
                          <a:solidFill>
                            <a:schemeClr val="dk1"/>
                          </a:solidFill>
                          <a:effectLst/>
                          <a:latin typeface="Times New Roman" panose="02020603050405020304" pitchFamily="18" charset="0"/>
                          <a:ea typeface="+mn-ea"/>
                          <a:cs typeface="Times New Roman" panose="02020603050405020304" pitchFamily="18" charset="0"/>
                        </a:rPr>
                        <a:t>元；涵盖主要模块，各模块之间基本一致但存在少量不一致</a:t>
                      </a:r>
                    </a:p>
                  </a:txBody>
                  <a:tcPr marL="72000" marR="72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资源使用不合理或忽略约束条件；利润</a:t>
                      </a:r>
                      <a:r>
                        <a:rPr lang="en-US" sz="1100" b="0" kern="100">
                          <a:solidFill>
                            <a:schemeClr val="dk1"/>
                          </a:solidFill>
                          <a:effectLst/>
                          <a:latin typeface="Times New Roman" panose="02020603050405020304" pitchFamily="18" charset="0"/>
                          <a:ea typeface="+mn-ea"/>
                          <a:cs typeface="Times New Roman" panose="02020603050405020304" pitchFamily="18" charset="0"/>
                        </a:rPr>
                        <a:t>&lt;0</a:t>
                      </a:r>
                      <a:r>
                        <a:rPr lang="zh-CN" sz="1100" b="0" kern="100">
                          <a:solidFill>
                            <a:schemeClr val="dk1"/>
                          </a:solidFill>
                          <a:effectLst/>
                          <a:latin typeface="Times New Roman" panose="02020603050405020304" pitchFamily="18" charset="0"/>
                          <a:ea typeface="+mn-ea"/>
                          <a:cs typeface="Times New Roman" panose="02020603050405020304" pitchFamily="18" charset="0"/>
                        </a:rPr>
                        <a:t>元；缺失关键模块</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个，或各模块之间数据矛盾</a:t>
                      </a:r>
                    </a:p>
                  </a:txBody>
                  <a:tcPr marL="72000" marR="72000" marT="36000" marB="36000" anchor="ctr"/>
                </a:tc>
                <a:extLst>
                  <a:ext uri="{0D108BD9-81ED-4DB2-BD59-A6C34878D82A}">
                    <a16:rowId xmlns:a16="http://schemas.microsoft.com/office/drawing/2014/main" val="416100952"/>
                  </a:ext>
                </a:extLst>
              </a:tr>
            </a:tbl>
          </a:graphicData>
        </a:graphic>
      </p:graphicFrame>
      <p:sp>
        <p:nvSpPr>
          <p:cNvPr id="10" name="矩形 9"/>
          <p:cNvSpPr/>
          <p:nvPr/>
        </p:nvSpPr>
        <p:spPr>
          <a:xfrm>
            <a:off x="539552" y="1646412"/>
            <a:ext cx="7992888"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泡茶项目管理方案</a:t>
            </a:r>
            <a:r>
              <a:rPr lang="en-US" altLang="zh-CN" sz="1100" b="1">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评价量</a:t>
            </a:r>
            <a:r>
              <a:rPr lang="zh-CN" altLang="zh-CN" sz="1100" b="1" smtClean="0">
                <a:latin typeface="微软雅黑" panose="020B0503020204020204" pitchFamily="34" charset="-122"/>
                <a:ea typeface="微软雅黑" panose="020B0503020204020204" pitchFamily="34" charset="-122"/>
              </a:rPr>
              <a:t>表</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245949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810612856"/>
              </p:ext>
            </p:extLst>
          </p:nvPr>
        </p:nvGraphicFramePr>
        <p:xfrm>
          <a:off x="899592" y="1951841"/>
          <a:ext cx="7632848" cy="2951597"/>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gridCol w="2088232">
                  <a:extLst>
                    <a:ext uri="{9D8B030D-6E8A-4147-A177-3AD203B41FA5}">
                      <a16:colId xmlns:a16="http://schemas.microsoft.com/office/drawing/2014/main" val="3880286360"/>
                    </a:ext>
                  </a:extLst>
                </a:gridCol>
                <a:gridCol w="2160240">
                  <a:extLst>
                    <a:ext uri="{9D8B030D-6E8A-4147-A177-3AD203B41FA5}">
                      <a16:colId xmlns:a16="http://schemas.microsoft.com/office/drawing/2014/main" val="2262080884"/>
                    </a:ext>
                  </a:extLst>
                </a:gridCol>
              </a:tblGrid>
              <a:tr h="32239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项目章程质量（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55119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章程</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项目章程五要素完整（名称</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目标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约束条件</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成功标准），目标表述以用户为中心，可直接追溯至选题报告的价值主张</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项目章程五要素基本完整，但目标表述偏设计者视角（如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实现</a:t>
                      </a:r>
                      <a:r>
                        <a:rPr lang="en-US" sz="1100" b="0" kern="100">
                          <a:solidFill>
                            <a:schemeClr val="dk1"/>
                          </a:solidFill>
                          <a:effectLst/>
                          <a:latin typeface="Times New Roman" panose="02020603050405020304" pitchFamily="18" charset="0"/>
                          <a:ea typeface="+mn-ea"/>
                          <a:cs typeface="Times New Roman" panose="02020603050405020304" pitchFamily="18" charset="0"/>
                        </a:rPr>
                        <a:t>XX</a:t>
                      </a:r>
                      <a:r>
                        <a:rPr lang="zh-CN" sz="1100" b="0" kern="100">
                          <a:solidFill>
                            <a:schemeClr val="dk1"/>
                          </a:solidFill>
                          <a:effectLst/>
                          <a:latin typeface="Times New Roman" panose="02020603050405020304" pitchFamily="18" charset="0"/>
                          <a:ea typeface="+mn-ea"/>
                          <a:cs typeface="Times New Roman" panose="02020603050405020304" pitchFamily="18" charset="0"/>
                        </a:rPr>
                        <a:t>功能</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而非</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为谁解决什么问题</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项目章程缺失关键要素（</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项），或目标与选题报告脱节</a:t>
                      </a:r>
                    </a:p>
                  </a:txBody>
                  <a:tcPr marL="72000" marR="108000" marT="36000" marB="36000"/>
                </a:tc>
                <a:extLst>
                  <a:ext uri="{0D108BD9-81ED-4DB2-BD59-A6C34878D82A}">
                    <a16:rowId xmlns:a16="http://schemas.microsoft.com/office/drawing/2014/main" val="1527929533"/>
                  </a:ext>
                </a:extLst>
              </a:tr>
              <a:tr h="75464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成功标准</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成功标准包含量化指标（如测试用户数量、可用性通过率、评分阈值等），指标具体、可测量、可验证</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成功标准有量化指标但部分指标模糊（如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尽可能好用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尽量美观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成功标准无量化指标，或指标无法验证（如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用户满意</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108000" marT="36000" marB="36000"/>
                </a:tc>
                <a:extLst>
                  <a:ext uri="{0D108BD9-81ED-4DB2-BD59-A6C34878D82A}">
                    <a16:rowId xmlns:a16="http://schemas.microsoft.com/office/drawing/2014/main" val="424115219"/>
                  </a:ext>
                </a:extLst>
              </a:tr>
              <a:tr h="55119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干系人</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分析</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干系人清单覆盖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类干系人，每类干系人的核心诉求分析具体，管理策略与诉求之间存在明确的对应关系</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干系人清单覆盖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类，核心诉求分析较笼统，管理策略与诉求对应关系不够清晰</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干系人清单</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类，或未分析核心诉求与管理策略</a:t>
                      </a:r>
                    </a:p>
                  </a:txBody>
                  <a:tcPr marL="72000" marR="108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pPr algn="ct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40485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613413078"/>
              </p:ext>
            </p:extLst>
          </p:nvPr>
        </p:nvGraphicFramePr>
        <p:xfrm>
          <a:off x="899592" y="1951841"/>
          <a:ext cx="7560840" cy="3095613"/>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gridCol w="2232248">
                  <a:extLst>
                    <a:ext uri="{9D8B030D-6E8A-4147-A177-3AD203B41FA5}">
                      <a16:colId xmlns:a16="http://schemas.microsoft.com/office/drawing/2014/main" val="3880286360"/>
                    </a:ext>
                  </a:extLst>
                </a:gridCol>
                <a:gridCol w="1944216">
                  <a:extLst>
                    <a:ext uri="{9D8B030D-6E8A-4147-A177-3AD203B41FA5}">
                      <a16:colId xmlns:a16="http://schemas.microsoft.com/office/drawing/2014/main" val="2832553204"/>
                    </a:ext>
                  </a:extLst>
                </a:gridCol>
              </a:tblGrid>
              <a:tr h="32239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 WBS</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分解质量（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983241">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层级</a:t>
                      </a: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三级分解完整（阶段</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交付物</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工作包），至少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个交付物展开至第三级，层级逻辑正确（同一层级按相同分类维度划分）</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三级分解基本完整，至少</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个交付物展开至第三级，但部分层级逻辑不够一致（如同一层级混合了阶段和任务）</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仅两层或层级混乱，无第三级展开，或同一层级分类维度不一致</a:t>
                      </a:r>
                    </a:p>
                  </a:txBody>
                  <a:tcPr marL="72000" marR="72000" marT="36000" marB="36000"/>
                </a:tc>
                <a:extLst>
                  <a:ext uri="{0D108BD9-81ED-4DB2-BD59-A6C34878D82A}">
                    <a16:rowId xmlns:a16="http://schemas.microsoft.com/office/drawing/2014/main" val="1527929533"/>
                  </a:ext>
                </a:extLst>
              </a:tr>
              <a:tr h="792088">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MECE</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合规性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分解符合</a:t>
                      </a:r>
                      <a:r>
                        <a:rPr lang="en-US" sz="1100" b="0" kern="100">
                          <a:solidFill>
                            <a:schemeClr val="dk1"/>
                          </a:solidFill>
                          <a:effectLst/>
                          <a:latin typeface="Times New Roman" panose="02020603050405020304" pitchFamily="18" charset="0"/>
                          <a:ea typeface="+mn-ea"/>
                          <a:cs typeface="Times New Roman" panose="02020603050405020304" pitchFamily="18" charset="0"/>
                        </a:rPr>
                        <a:t>MECE</a:t>
                      </a:r>
                      <a:r>
                        <a:rPr lang="zh-CN" sz="1100" b="0" kern="100">
                          <a:solidFill>
                            <a:schemeClr val="dk1"/>
                          </a:solidFill>
                          <a:effectLst/>
                          <a:latin typeface="Times New Roman" panose="02020603050405020304" pitchFamily="18" charset="0"/>
                          <a:ea typeface="+mn-ea"/>
                          <a:cs typeface="Times New Roman" panose="02020603050405020304" pitchFamily="18" charset="0"/>
                        </a:rPr>
                        <a:t>原则，同一层级无重叠、无遗漏，且工作包覆盖技术开发、商业验证、团队协作三个维度</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分解基本符合</a:t>
                      </a:r>
                      <a:r>
                        <a:rPr lang="en-US" sz="1100" b="0" kern="100">
                          <a:solidFill>
                            <a:schemeClr val="dk1"/>
                          </a:solidFill>
                          <a:effectLst/>
                          <a:latin typeface="Times New Roman" panose="02020603050405020304" pitchFamily="18" charset="0"/>
                          <a:ea typeface="+mn-ea"/>
                          <a:cs typeface="Times New Roman" panose="02020603050405020304" pitchFamily="18" charset="0"/>
                        </a:rPr>
                        <a:t>MECE</a:t>
                      </a:r>
                      <a:r>
                        <a:rPr lang="zh-CN" sz="1100" b="0" kern="100">
                          <a:solidFill>
                            <a:schemeClr val="dk1"/>
                          </a:solidFill>
                          <a:effectLst/>
                          <a:latin typeface="Times New Roman" panose="02020603050405020304" pitchFamily="18" charset="0"/>
                          <a:ea typeface="+mn-ea"/>
                          <a:cs typeface="Times New Roman" panose="02020603050405020304" pitchFamily="18" charset="0"/>
                        </a:rPr>
                        <a:t>原则，但存在少量重叠或遗漏（</a:t>
                      </a:r>
                      <a:r>
                        <a:rPr lang="en-US" sz="1100" b="0" kern="100">
                          <a:solidFill>
                            <a:schemeClr val="dk1"/>
                          </a:solidFill>
                          <a:effectLst/>
                          <a:latin typeface="Times New Roman" panose="02020603050405020304" pitchFamily="18" charset="0"/>
                          <a:ea typeface="+mn-ea"/>
                          <a:cs typeface="Times New Roman" panose="02020603050405020304" pitchFamily="18" charset="0"/>
                        </a:rPr>
                        <a:t>1-2</a:t>
                      </a:r>
                      <a:r>
                        <a:rPr lang="zh-CN" sz="1100" b="0" kern="100">
                          <a:solidFill>
                            <a:schemeClr val="dk1"/>
                          </a:solidFill>
                          <a:effectLst/>
                          <a:latin typeface="Times New Roman" panose="02020603050405020304" pitchFamily="18" charset="0"/>
                          <a:ea typeface="+mn-ea"/>
                          <a:cs typeface="Times New Roman" panose="02020603050405020304" pitchFamily="18" charset="0"/>
                        </a:rPr>
                        <a:t>处），三个维度覆盖不全（缺</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分解严重违反</a:t>
                      </a:r>
                      <a:r>
                        <a:rPr lang="en-US" sz="1100" b="0" kern="100">
                          <a:solidFill>
                            <a:schemeClr val="dk1"/>
                          </a:solidFill>
                          <a:effectLst/>
                          <a:latin typeface="Times New Roman" panose="02020603050405020304" pitchFamily="18" charset="0"/>
                          <a:ea typeface="+mn-ea"/>
                          <a:cs typeface="Times New Roman" panose="02020603050405020304" pitchFamily="18" charset="0"/>
                        </a:rPr>
                        <a:t>MECE</a:t>
                      </a:r>
                      <a:r>
                        <a:rPr lang="zh-CN" sz="1100" b="0" kern="100">
                          <a:solidFill>
                            <a:schemeClr val="dk1"/>
                          </a:solidFill>
                          <a:effectLst/>
                          <a:latin typeface="Times New Roman" panose="02020603050405020304" pitchFamily="18" charset="0"/>
                          <a:ea typeface="+mn-ea"/>
                          <a:cs typeface="Times New Roman" panose="02020603050405020304" pitchFamily="18" charset="0"/>
                        </a:rPr>
                        <a:t>原则（</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处重叠或遗漏），或仅覆盖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p>
                  </a:txBody>
                  <a:tcPr marL="72000" marR="72000" marT="36000" marB="36000"/>
                </a:tc>
                <a:extLst>
                  <a:ext uri="{0D108BD9-81ED-4DB2-BD59-A6C34878D82A}">
                    <a16:rowId xmlns:a16="http://schemas.microsoft.com/office/drawing/2014/main" val="424115219"/>
                  </a:ext>
                </a:extLst>
              </a:tr>
              <a:tr h="551193">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可执行性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最底层工作包可分配、可估算、可验收，每个工作包标注明确的</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可交付成果</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80%</a:t>
                      </a:r>
                      <a:r>
                        <a:rPr lang="zh-CN" sz="1100" b="0" kern="100">
                          <a:solidFill>
                            <a:schemeClr val="dk1"/>
                          </a:solidFill>
                          <a:effectLst/>
                          <a:latin typeface="Times New Roman" panose="02020603050405020304" pitchFamily="18" charset="0"/>
                          <a:ea typeface="+mn-ea"/>
                          <a:cs typeface="Times New Roman" panose="02020603050405020304" pitchFamily="18" charset="0"/>
                        </a:rPr>
                        <a:t>以上的工作包标注了可交付成果，但部分可交付成果表述笼统</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工作包未标注可交付成果，或描述过于笼统无法指导执行</a:t>
                      </a:r>
                    </a:p>
                  </a:txBody>
                  <a:tcPr marL="72000" marR="72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549357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203868098"/>
              </p:ext>
            </p:extLst>
          </p:nvPr>
        </p:nvGraphicFramePr>
        <p:xfrm>
          <a:off x="899592" y="1951841"/>
          <a:ext cx="7560840" cy="3023605"/>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2232248">
                  <a:extLst>
                    <a:ext uri="{9D8B030D-6E8A-4147-A177-3AD203B41FA5}">
                      <a16:colId xmlns:a16="http://schemas.microsoft.com/office/drawing/2014/main" val="2304632567"/>
                    </a:ext>
                  </a:extLst>
                </a:gridCol>
                <a:gridCol w="1656184">
                  <a:extLst>
                    <a:ext uri="{9D8B030D-6E8A-4147-A177-3AD203B41FA5}">
                      <a16:colId xmlns:a16="http://schemas.microsoft.com/office/drawing/2014/main" val="2832553204"/>
                    </a:ext>
                  </a:extLst>
                </a:gridCol>
              </a:tblGrid>
              <a:tr h="32239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甘特图与里程碑（</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911233">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p>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甘特图包含</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全部工作包（与</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一一对应），任务依赖关系（</a:t>
                      </a:r>
                      <a:r>
                        <a:rPr lang="en-US" sz="1100" b="0" kern="100">
                          <a:solidFill>
                            <a:schemeClr val="dk1"/>
                          </a:solidFill>
                          <a:effectLst/>
                          <a:latin typeface="Times New Roman" panose="02020603050405020304" pitchFamily="18" charset="0"/>
                          <a:ea typeface="+mn-ea"/>
                          <a:cs typeface="Times New Roman" panose="02020603050405020304" pitchFamily="18" charset="0"/>
                        </a:rPr>
                        <a:t>FS/SS</a:t>
                      </a:r>
                      <a:r>
                        <a:rPr lang="zh-CN" sz="1100" b="0" kern="100">
                          <a:solidFill>
                            <a:schemeClr val="dk1"/>
                          </a:solidFill>
                          <a:effectLst/>
                          <a:latin typeface="Times New Roman" panose="02020603050405020304" pitchFamily="18" charset="0"/>
                          <a:ea typeface="+mn-ea"/>
                          <a:cs typeface="Times New Roman" panose="02020603050405020304" pitchFamily="18" charset="0"/>
                        </a:rPr>
                        <a:t>）标注完整、准确，总工期与竞赛周期匹配</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甘特图包含主要工作包（</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≥80%</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），依赖关系基本准确但有少量遗漏，总工期基本合理</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甘特图任务不全（</a:t>
                      </a:r>
                      <a:r>
                        <a:rPr lang="en-US" sz="1100" b="0" kern="100">
                          <a:solidFill>
                            <a:schemeClr val="dk1"/>
                          </a:solidFill>
                          <a:effectLst/>
                          <a:latin typeface="Times New Roman" panose="02020603050405020304" pitchFamily="18" charset="0"/>
                          <a:ea typeface="+mn-ea"/>
                          <a:cs typeface="Times New Roman" panose="02020603050405020304" pitchFamily="18" charset="0"/>
                        </a:rPr>
                        <a:t>&lt;80%</a:t>
                      </a:r>
                      <a:r>
                        <a:rPr lang="zh-CN" sz="1100" b="0" kern="100">
                          <a:solidFill>
                            <a:schemeClr val="dk1"/>
                          </a:solidFill>
                          <a:effectLst/>
                          <a:latin typeface="Times New Roman" panose="02020603050405020304" pitchFamily="18" charset="0"/>
                          <a:ea typeface="+mn-ea"/>
                          <a:cs typeface="Times New Roman" panose="02020603050405020304" pitchFamily="18" charset="0"/>
                        </a:rPr>
                        <a:t>），或工期估算明显不合理（与竞赛周期偏差</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周）</a:t>
                      </a:r>
                    </a:p>
                  </a:txBody>
                  <a:tcPr marL="72000" marR="72000" marT="36000" marB="36000"/>
                </a:tc>
                <a:extLst>
                  <a:ext uri="{0D108BD9-81ED-4DB2-BD59-A6C34878D82A}">
                    <a16:rowId xmlns:a16="http://schemas.microsoft.com/office/drawing/2014/main" val="1527929533"/>
                  </a:ext>
                </a:extLst>
              </a:tr>
              <a:tr h="792088">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关键路径</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正确识别总工期最长的任务链，在甘特图上用红色粗线清晰标注，关键路径上的任务无浮动时间（均标注为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不可延迟</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关键路径识别基本正确，但未在甘特图上标注或标注不清晰</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关键路径识别错误或未标注</a:t>
                      </a:r>
                    </a:p>
                  </a:txBody>
                  <a:tcPr marL="72000" marR="72000" marT="36000" marB="36000"/>
                </a:tc>
                <a:extLst>
                  <a:ext uri="{0D108BD9-81ED-4DB2-BD59-A6C34878D82A}">
                    <a16:rowId xmlns:a16="http://schemas.microsoft.com/office/drawing/2014/main" val="424115219"/>
                  </a:ext>
                </a:extLst>
              </a:tr>
              <a:tr h="551193">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里程碑</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里程碑设置</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个，覆盖决策点、检查点、交付点三种类型，每个里程碑有明确的验收标准（</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完成什么、由谁确认</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有里程碑设置但数量不足（</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&lt;3</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个）或类型单一，验收标准不够具体</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无里程碑设置</a:t>
                      </a:r>
                    </a:p>
                  </a:txBody>
                  <a:tcPr marL="72000" marR="72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77238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3734305721"/>
              </p:ext>
            </p:extLst>
          </p:nvPr>
        </p:nvGraphicFramePr>
        <p:xfrm>
          <a:off x="899592" y="1951841"/>
          <a:ext cx="7488832" cy="3068181"/>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2448272">
                  <a:extLst>
                    <a:ext uri="{9D8B030D-6E8A-4147-A177-3AD203B41FA5}">
                      <a16:colId xmlns:a16="http://schemas.microsoft.com/office/drawing/2014/main" val="99310638"/>
                    </a:ext>
                  </a:extLst>
                </a:gridCol>
                <a:gridCol w="1872208">
                  <a:extLst>
                    <a:ext uri="{9D8B030D-6E8A-4147-A177-3AD203B41FA5}">
                      <a16:colId xmlns:a16="http://schemas.microsoft.com/office/drawing/2014/main" val="2832553204"/>
                    </a:ext>
                  </a:extLst>
                </a:gridCol>
              </a:tblGrid>
              <a:tr h="322390">
                <a:tc>
                  <a:txBody>
                    <a:bodyPr/>
                    <a:lstStyle/>
                    <a:p>
                      <a:pPr algn="ctr">
                        <a:lnSpc>
                          <a:spcPts val="1100"/>
                        </a:lnSpc>
                        <a:spcAft>
                          <a:spcPts val="0"/>
                        </a:spcAft>
                      </a:pPr>
                      <a:r>
                        <a:rPr lang="zh-CN" sz="1100" kern="100" dirty="0">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4. RACI</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矩阵质量（</a:t>
                      </a:r>
                      <a:r>
                        <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76721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任务覆盖与标记</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任务清单覆盖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全部工作包（与</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一一对应），每项任务的</a:t>
                      </a:r>
                      <a:r>
                        <a:rPr lang="en-US" sz="1100" b="0" kern="100">
                          <a:solidFill>
                            <a:schemeClr val="dk1"/>
                          </a:solidFill>
                          <a:effectLst/>
                          <a:latin typeface="Times New Roman" panose="02020603050405020304" pitchFamily="18" charset="0"/>
                          <a:ea typeface="+mn-ea"/>
                          <a:cs typeface="Times New Roman" panose="02020603050405020304" pitchFamily="18" charset="0"/>
                        </a:rPr>
                        <a:t>R</a:t>
                      </a:r>
                      <a:r>
                        <a:rPr lang="zh-CN" sz="1100" b="0" kern="100">
                          <a:solidFill>
                            <a:schemeClr val="dk1"/>
                          </a:solidFill>
                          <a:effectLst/>
                          <a:latin typeface="Times New Roman" panose="02020603050405020304" pitchFamily="18" charset="0"/>
                          <a:ea typeface="+mn-ea"/>
                          <a:cs typeface="Times New Roman" panose="02020603050405020304" pitchFamily="18" charset="0"/>
                        </a:rPr>
                        <a:t>和</a:t>
                      </a:r>
                      <a:r>
                        <a:rPr lang="en-US" sz="1100" b="0" kern="100">
                          <a:solidFill>
                            <a:schemeClr val="dk1"/>
                          </a:solidFill>
                          <a:effectLst/>
                          <a:latin typeface="Times New Roman" panose="02020603050405020304" pitchFamily="18" charset="0"/>
                          <a:ea typeface="+mn-ea"/>
                          <a:cs typeface="Times New Roman" panose="02020603050405020304" pitchFamily="18" charset="0"/>
                        </a:rPr>
                        <a:t>A</a:t>
                      </a:r>
                      <a:r>
                        <a:rPr lang="zh-CN" sz="1100" b="0" kern="100">
                          <a:solidFill>
                            <a:schemeClr val="dk1"/>
                          </a:solidFill>
                          <a:effectLst/>
                          <a:latin typeface="Times New Roman" panose="02020603050405020304" pitchFamily="18" charset="0"/>
                          <a:ea typeface="+mn-ea"/>
                          <a:cs typeface="Times New Roman" panose="02020603050405020304" pitchFamily="18" charset="0"/>
                        </a:rPr>
                        <a:t>标记明确</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任务清单覆盖主要工作包（</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≥80%</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R</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和</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A</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标记基本明确但有少量模糊</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任务清单与</a:t>
                      </a:r>
                      <a:r>
                        <a:rPr lang="en-US" sz="1100" b="0" kern="100">
                          <a:solidFill>
                            <a:schemeClr val="dk1"/>
                          </a:solidFill>
                          <a:effectLst/>
                          <a:latin typeface="Times New Roman" panose="02020603050405020304" pitchFamily="18" charset="0"/>
                          <a:ea typeface="+mn-ea"/>
                          <a:cs typeface="Times New Roman" panose="02020603050405020304" pitchFamily="18" charset="0"/>
                        </a:rPr>
                        <a:t>WBS</a:t>
                      </a:r>
                      <a:r>
                        <a:rPr lang="zh-CN" sz="1100" b="0" kern="100">
                          <a:solidFill>
                            <a:schemeClr val="dk1"/>
                          </a:solidFill>
                          <a:effectLst/>
                          <a:latin typeface="Times New Roman" panose="02020603050405020304" pitchFamily="18" charset="0"/>
                          <a:ea typeface="+mn-ea"/>
                          <a:cs typeface="Times New Roman" panose="02020603050405020304" pitchFamily="18" charset="0"/>
                        </a:rPr>
                        <a:t>严重脱节（</a:t>
                      </a:r>
                      <a:r>
                        <a:rPr lang="en-US" sz="1100" b="0" kern="100">
                          <a:solidFill>
                            <a:schemeClr val="dk1"/>
                          </a:solidFill>
                          <a:effectLst/>
                          <a:latin typeface="Times New Roman" panose="02020603050405020304" pitchFamily="18" charset="0"/>
                          <a:ea typeface="+mn-ea"/>
                          <a:cs typeface="Times New Roman" panose="02020603050405020304" pitchFamily="18" charset="0"/>
                        </a:rPr>
                        <a:t>&lt;80%</a:t>
                      </a:r>
                      <a:r>
                        <a:rPr lang="zh-CN" sz="1100" b="0" kern="100">
                          <a:solidFill>
                            <a:schemeClr val="dk1"/>
                          </a:solidFill>
                          <a:effectLst/>
                          <a:latin typeface="Times New Roman" panose="02020603050405020304" pitchFamily="18" charset="0"/>
                          <a:ea typeface="+mn-ea"/>
                          <a:cs typeface="Times New Roman" panose="02020603050405020304" pitchFamily="18" charset="0"/>
                        </a:rPr>
                        <a:t>对应），或</a:t>
                      </a:r>
                      <a:r>
                        <a:rPr lang="en-US" sz="1100" b="0" kern="100">
                          <a:solidFill>
                            <a:schemeClr val="dk1"/>
                          </a:solidFill>
                          <a:effectLst/>
                          <a:latin typeface="Times New Roman" panose="02020603050405020304" pitchFamily="18" charset="0"/>
                          <a:ea typeface="+mn-ea"/>
                          <a:cs typeface="Times New Roman" panose="02020603050405020304" pitchFamily="18" charset="0"/>
                        </a:rPr>
                        <a:t>R/A</a:t>
                      </a:r>
                      <a:r>
                        <a:rPr lang="zh-CN" sz="1100" b="0" kern="100">
                          <a:solidFill>
                            <a:schemeClr val="dk1"/>
                          </a:solidFill>
                          <a:effectLst/>
                          <a:latin typeface="Times New Roman" panose="02020603050405020304" pitchFamily="18" charset="0"/>
                          <a:ea typeface="+mn-ea"/>
                          <a:cs typeface="Times New Roman" panose="02020603050405020304" pitchFamily="18" charset="0"/>
                        </a:rPr>
                        <a:t>标记混乱</a:t>
                      </a:r>
                    </a:p>
                  </a:txBody>
                  <a:tcPr marL="72000" marR="72000" marT="36000" marB="36000"/>
                </a:tc>
                <a:extLst>
                  <a:ext uri="{0D108BD9-81ED-4DB2-BD59-A6C34878D82A}">
                    <a16:rowId xmlns:a16="http://schemas.microsoft.com/office/drawing/2014/main" val="1527929533"/>
                  </a:ext>
                </a:extLst>
              </a:tr>
              <a:tr h="93610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矩阵校验</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RACI</a:t>
                      </a:r>
                      <a:r>
                        <a:rPr lang="zh-CN" sz="1100" b="0" kern="100">
                          <a:solidFill>
                            <a:schemeClr val="dk1"/>
                          </a:solidFill>
                          <a:effectLst/>
                          <a:latin typeface="Times New Roman" panose="02020603050405020304" pitchFamily="18" charset="0"/>
                          <a:ea typeface="+mn-ea"/>
                          <a:cs typeface="Times New Roman" panose="02020603050405020304" pitchFamily="18" charset="0"/>
                        </a:rPr>
                        <a:t>矩阵通过全部校验：每行有且仅有</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a:t>
                      </a:r>
                      <a:r>
                        <a:rPr lang="en-US" sz="1100" b="0" kern="100">
                          <a:solidFill>
                            <a:schemeClr val="dk1"/>
                          </a:solidFill>
                          <a:effectLst/>
                          <a:latin typeface="Times New Roman" panose="02020603050405020304" pitchFamily="18" charset="0"/>
                          <a:ea typeface="+mn-ea"/>
                          <a:cs typeface="Times New Roman" panose="02020603050405020304" pitchFamily="18" charset="0"/>
                        </a:rPr>
                        <a:t>R</a:t>
                      </a:r>
                      <a:r>
                        <a:rPr lang="zh-CN" sz="1100" b="0" kern="100">
                          <a:solidFill>
                            <a:schemeClr val="dk1"/>
                          </a:solidFill>
                          <a:effectLst/>
                          <a:latin typeface="Times New Roman" panose="02020603050405020304" pitchFamily="18" charset="0"/>
                          <a:ea typeface="+mn-ea"/>
                          <a:cs typeface="Times New Roman" panose="02020603050405020304" pitchFamily="18" charset="0"/>
                        </a:rPr>
                        <a:t>和</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a:t>
                      </a:r>
                      <a:r>
                        <a:rPr lang="en-US" sz="1100" b="0" kern="100">
                          <a:solidFill>
                            <a:schemeClr val="dk1"/>
                          </a:solidFill>
                          <a:effectLst/>
                          <a:latin typeface="Times New Roman" panose="02020603050405020304" pitchFamily="18" charset="0"/>
                          <a:ea typeface="+mn-ea"/>
                          <a:cs typeface="Times New Roman" panose="02020603050405020304" pitchFamily="18" charset="0"/>
                        </a:rPr>
                        <a:t>A</a:t>
                      </a:r>
                      <a:r>
                        <a:rPr lang="zh-CN" sz="1100" b="0" kern="100">
                          <a:solidFill>
                            <a:schemeClr val="dk1"/>
                          </a:solidFill>
                          <a:effectLst/>
                          <a:latin typeface="Times New Roman" panose="02020603050405020304" pitchFamily="18" charset="0"/>
                          <a:ea typeface="+mn-ea"/>
                          <a:cs typeface="Times New Roman" panose="02020603050405020304" pitchFamily="18" charset="0"/>
                        </a:rPr>
                        <a:t>；成员间</a:t>
                      </a:r>
                      <a:r>
                        <a:rPr lang="en-US" sz="1100" b="0" kern="100">
                          <a:solidFill>
                            <a:schemeClr val="dk1"/>
                          </a:solidFill>
                          <a:effectLst/>
                          <a:latin typeface="Times New Roman" panose="02020603050405020304" pitchFamily="18" charset="0"/>
                          <a:ea typeface="+mn-ea"/>
                          <a:cs typeface="Times New Roman" panose="02020603050405020304" pitchFamily="18" charset="0"/>
                        </a:rPr>
                        <a:t>R</a:t>
                      </a:r>
                      <a:r>
                        <a:rPr lang="zh-CN" sz="1100" b="0" kern="100">
                          <a:solidFill>
                            <a:schemeClr val="dk1"/>
                          </a:solidFill>
                          <a:effectLst/>
                          <a:latin typeface="Times New Roman" panose="02020603050405020304" pitchFamily="18" charset="0"/>
                          <a:ea typeface="+mn-ea"/>
                          <a:cs typeface="Times New Roman" panose="02020603050405020304" pitchFamily="18" charset="0"/>
                        </a:rPr>
                        <a:t>任务量均衡（最多相差</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项）；校验结果在矩阵末尾有明确记录</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RACI</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矩阵部分通过校验：存在</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1-2</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处违规（如某行有</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2</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个</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R</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或</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0</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个</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A</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），成员间</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R</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任务量基本均衡但存在明显不均（最多相差</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3-4</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项）</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RACI</a:t>
                      </a:r>
                      <a:r>
                        <a:rPr lang="zh-CN" sz="1100" b="0" kern="100">
                          <a:solidFill>
                            <a:schemeClr val="dk1"/>
                          </a:solidFill>
                          <a:effectLst/>
                          <a:latin typeface="Times New Roman" panose="02020603050405020304" pitchFamily="18" charset="0"/>
                          <a:ea typeface="+mn-ea"/>
                          <a:cs typeface="Times New Roman" panose="02020603050405020304" pitchFamily="18" charset="0"/>
                        </a:rPr>
                        <a:t>矩阵未校验，或存在</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处违规</a:t>
                      </a:r>
                    </a:p>
                  </a:txBody>
                  <a:tcPr marL="72000" marR="72000" marT="36000" marB="36000"/>
                </a:tc>
                <a:extLst>
                  <a:ext uri="{0D108BD9-81ED-4DB2-BD59-A6C34878D82A}">
                    <a16:rowId xmlns:a16="http://schemas.microsoft.com/office/drawing/2014/main" val="424115219"/>
                  </a:ext>
                </a:extLst>
              </a:tr>
              <a:tr h="72008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协作机制</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协作机制约定涵盖沟通、决策、文档、冲突处理四项，每项有具体可执行的操作规则</a:t>
                      </a: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协作机制约定涵盖主要项目（</a:t>
                      </a:r>
                      <a:r>
                        <a:rPr lang="en-US" altLang="zh-CN" sz="1100" b="0" kern="100" smtClean="0">
                          <a:solidFill>
                            <a:schemeClr val="dk1"/>
                          </a:solidFill>
                          <a:effectLst/>
                          <a:latin typeface="Times New Roman" panose="02020603050405020304" pitchFamily="18" charset="0"/>
                          <a:ea typeface="+mn-ea"/>
                          <a:cs typeface="Times New Roman" panose="02020603050405020304" pitchFamily="18" charset="0"/>
                        </a:rPr>
                        <a:t>≥3</a:t>
                      </a:r>
                      <a:r>
                        <a:rPr lang="zh-CN" altLang="zh-CN" sz="1100" b="0" kern="100" smtClean="0">
                          <a:solidFill>
                            <a:schemeClr val="dk1"/>
                          </a:solidFill>
                          <a:effectLst/>
                          <a:latin typeface="Times New Roman" panose="02020603050405020304" pitchFamily="18" charset="0"/>
                          <a:ea typeface="+mn-ea"/>
                          <a:cs typeface="Times New Roman" panose="02020603050405020304" pitchFamily="18" charset="0"/>
                        </a:rPr>
                        <a:t>项），但部分规则不够具体</a:t>
                      </a: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72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未制定协作机制，或机制无法指导实际协作</a:t>
                      </a:r>
                    </a:p>
                  </a:txBody>
                  <a:tcPr marL="72000" marR="72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04167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177826023"/>
              </p:ext>
            </p:extLst>
          </p:nvPr>
        </p:nvGraphicFramePr>
        <p:xfrm>
          <a:off x="899592" y="1951841"/>
          <a:ext cx="7272808" cy="3068181"/>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2448272">
                  <a:extLst>
                    <a:ext uri="{9D8B030D-6E8A-4147-A177-3AD203B41FA5}">
                      <a16:colId xmlns:a16="http://schemas.microsoft.com/office/drawing/2014/main" val="99310638"/>
                    </a:ext>
                  </a:extLst>
                </a:gridCol>
                <a:gridCol w="1656184">
                  <a:extLst>
                    <a:ext uri="{9D8B030D-6E8A-4147-A177-3AD203B41FA5}">
                      <a16:colId xmlns:a16="http://schemas.microsoft.com/office/drawing/2014/main" val="2832553204"/>
                    </a:ext>
                  </a:extLst>
                </a:gridCol>
              </a:tblGrid>
              <a:tr h="322390">
                <a:tc>
                  <a:txBody>
                    <a:bodyPr/>
                    <a:lstStyle/>
                    <a:p>
                      <a:pPr marL="0" algn="ctr" defTabSz="914400" rtl="0" eaLnBrk="1" latinLnBrk="0" hangingPunct="1">
                        <a:lnSpc>
                          <a:spcPts val="1100"/>
                        </a:lnSpc>
                        <a:spcAft>
                          <a:spcPts val="0"/>
                        </a:spcAft>
                      </a:pPr>
                      <a:r>
                        <a:rPr lang="zh-CN" sz="11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4">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5.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风险登记册质量（</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15%</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76721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维度覆盖</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≥4</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个维度（技术</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团队</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资源</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外部</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进度），</a:t>
                      </a:r>
                      <a:r>
                        <a:rPr lang="en-US" sz="1100" b="0" kern="100">
                          <a:solidFill>
                            <a:schemeClr val="dk1"/>
                          </a:solidFill>
                          <a:effectLst/>
                          <a:latin typeface="Times New Roman" panose="02020603050405020304" pitchFamily="18" charset="0"/>
                          <a:ea typeface="+mn-ea"/>
                          <a:cs typeface="Times New Roman" panose="02020603050405020304" pitchFamily="18" charset="0"/>
                        </a:rPr>
                        <a:t>≥5</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项风险，每项风险有明确的风险描述</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3</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3-4</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项风险，风险描述基本清晰</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风险识别覆盖</a:t>
                      </a:r>
                      <a:r>
                        <a:rPr lang="en-US" sz="1100" b="0" kern="100">
                          <a:solidFill>
                            <a:schemeClr val="dk1"/>
                          </a:solidFill>
                          <a:effectLst/>
                          <a:latin typeface="Times New Roman" panose="02020603050405020304" pitchFamily="18" charset="0"/>
                          <a:ea typeface="+mn-ea"/>
                          <a:cs typeface="Times New Roman" panose="02020603050405020304" pitchFamily="18" charset="0"/>
                        </a:rPr>
                        <a:t>≤2</a:t>
                      </a:r>
                      <a:r>
                        <a:rPr lang="zh-CN" sz="1100" b="0" kern="100">
                          <a:solidFill>
                            <a:schemeClr val="dk1"/>
                          </a:solidFill>
                          <a:effectLst/>
                          <a:latin typeface="Times New Roman" panose="02020603050405020304" pitchFamily="18" charset="0"/>
                          <a:ea typeface="+mn-ea"/>
                          <a:cs typeface="Times New Roman" panose="02020603050405020304" pitchFamily="18" charset="0"/>
                        </a:rPr>
                        <a:t>个维度，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&lt;3</a:t>
                      </a:r>
                      <a:r>
                        <a:rPr lang="zh-CN" sz="1100" b="0" kern="100">
                          <a:solidFill>
                            <a:schemeClr val="dk1"/>
                          </a:solidFill>
                          <a:effectLst/>
                          <a:latin typeface="Times New Roman" panose="02020603050405020304" pitchFamily="18" charset="0"/>
                          <a:ea typeface="+mn-ea"/>
                          <a:cs typeface="Times New Roman" panose="02020603050405020304" pitchFamily="18" charset="0"/>
                        </a:rPr>
                        <a:t>项风险，或风险描述模糊</a:t>
                      </a:r>
                    </a:p>
                  </a:txBody>
                  <a:tcPr marL="72000" marR="108000" marT="36000" marB="36000"/>
                </a:tc>
                <a:extLst>
                  <a:ext uri="{0D108BD9-81ED-4DB2-BD59-A6C34878D82A}">
                    <a16:rowId xmlns:a16="http://schemas.microsoft.com/office/drawing/2014/main" val="1527929533"/>
                  </a:ext>
                </a:extLst>
              </a:tr>
              <a:tr h="93610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等级计算与应对</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影响等级计算准确，高优先级（</a:t>
                      </a:r>
                      <a:r>
                        <a:rPr lang="en-US" sz="1100" b="0" kern="100">
                          <a:solidFill>
                            <a:schemeClr val="dk1"/>
                          </a:solidFill>
                          <a:effectLst/>
                          <a:latin typeface="Times New Roman" panose="02020603050405020304" pitchFamily="18" charset="0"/>
                          <a:ea typeface="+mn-ea"/>
                          <a:cs typeface="Times New Roman" panose="02020603050405020304" pitchFamily="18" charset="0"/>
                        </a:rPr>
                        <a:t>≥13</a:t>
                      </a:r>
                      <a:r>
                        <a:rPr lang="zh-CN" sz="1100" b="0" kern="100">
                          <a:solidFill>
                            <a:schemeClr val="dk1"/>
                          </a:solidFill>
                          <a:effectLst/>
                          <a:latin typeface="Times New Roman" panose="02020603050405020304" pitchFamily="18" charset="0"/>
                          <a:ea typeface="+mn-ea"/>
                          <a:cs typeface="Times New Roman" panose="02020603050405020304" pitchFamily="18" charset="0"/>
                        </a:rPr>
                        <a:t>分）风险有详细应对预案（触发条件</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具体措施</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责任人），三者完整且可执行</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影响等级计算基本正确，中</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高优先级风险有应对措施，但部分措施不够具体或缺少责任人</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未计算概率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影响等级，或应对措施为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加强注意</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等无效应对</a:t>
                      </a:r>
                    </a:p>
                  </a:txBody>
                  <a:tcPr marL="72000" marR="108000" marT="36000" marB="36000"/>
                </a:tc>
                <a:extLst>
                  <a:ext uri="{0D108BD9-81ED-4DB2-BD59-A6C34878D82A}">
                    <a16:rowId xmlns:a16="http://schemas.microsoft.com/office/drawing/2014/main" val="424115219"/>
                  </a:ext>
                </a:extLst>
              </a:tr>
              <a:tr h="72008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策略选择</a:t>
                      </a:r>
                    </a:p>
                  </a:txBody>
                  <a:tcPr marL="68580" marR="68580" marT="0" marB="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应对策略（规避</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减轻</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转移</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接受）选择合理，措施具体到可执行的操作</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应对策略基本合理，但部分措施为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加强注意</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等无效应对</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未制定应对策略，或策略与风险无关</a:t>
                      </a:r>
                    </a:p>
                  </a:txBody>
                  <a:tcPr marL="72000" marR="108000" marT="36000" marB="36000"/>
                </a:tc>
                <a:extLst>
                  <a:ext uri="{0D108BD9-81ED-4DB2-BD59-A6C34878D82A}">
                    <a16:rowId xmlns:a16="http://schemas.microsoft.com/office/drawing/2014/main" val="3935060285"/>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40822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899592" y="1131570"/>
            <a:ext cx="3744466" cy="46037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教育教学评价量表</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三、教育教学评价</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4278197740"/>
              </p:ext>
            </p:extLst>
          </p:nvPr>
        </p:nvGraphicFramePr>
        <p:xfrm>
          <a:off x="899592" y="1951841"/>
          <a:ext cx="7488832" cy="2457556"/>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144016">
                  <a:extLst>
                    <a:ext uri="{9D8B030D-6E8A-4147-A177-3AD203B41FA5}">
                      <a16:colId xmlns:a16="http://schemas.microsoft.com/office/drawing/2014/main" val="99310638"/>
                    </a:ext>
                  </a:extLst>
                </a:gridCol>
                <a:gridCol w="2304256">
                  <a:extLst>
                    <a:ext uri="{9D8B030D-6E8A-4147-A177-3AD203B41FA5}">
                      <a16:colId xmlns:a16="http://schemas.microsoft.com/office/drawing/2014/main" val="2089115061"/>
                    </a:ext>
                  </a:extLst>
                </a:gridCol>
                <a:gridCol w="1872208">
                  <a:extLst>
                    <a:ext uri="{9D8B030D-6E8A-4147-A177-3AD203B41FA5}">
                      <a16:colId xmlns:a16="http://schemas.microsoft.com/office/drawing/2014/main" val="2832553204"/>
                    </a:ext>
                  </a:extLst>
                </a:gridCol>
              </a:tblGrid>
              <a:tr h="322390">
                <a:tc>
                  <a:txBody>
                    <a:bodyPr/>
                    <a:lstStyle/>
                    <a:p>
                      <a:pPr marL="0" algn="ctr" defTabSz="914400" rtl="0" eaLnBrk="1" latinLnBrk="0" hangingPunct="1">
                        <a:lnSpc>
                          <a:spcPts val="1100"/>
                        </a:lnSpc>
                        <a:spcAft>
                          <a:spcPts val="0"/>
                        </a:spcAft>
                      </a:pPr>
                      <a:r>
                        <a:rPr lang="zh-CN" sz="1100" b="1" kern="100" dirty="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维度</a:t>
                      </a:r>
                    </a:p>
                  </a:txBody>
                  <a:tcPr marL="68580" marR="68580" marT="0" marB="0" anchor="ct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典范（</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90-100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gridSpan="2">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70-89</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有待改善（</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&lt;70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0000"/>
                  </a:ext>
                </a:extLst>
              </a:tr>
              <a:tr h="322390">
                <a:tc gridSpan="5">
                  <a:txBody>
                    <a:bodyPr/>
                    <a:lstStyle/>
                    <a:p>
                      <a:pPr marL="0" algn="l" defTabSz="914400" rtl="0" eaLnBrk="1" latinLnBrk="0" hangingPunct="1">
                        <a:lnSpc>
                          <a:spcPts val="11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6.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状态报告与</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PDCA</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68580" marR="685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81225265"/>
                  </a:ext>
                </a:extLst>
              </a:tr>
              <a:tr h="767217">
                <a:tc>
                  <a:txBody>
                    <a:bodyPr/>
                    <a:lstStyle/>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状态报告模板</a:t>
                      </a:r>
                    </a:p>
                  </a:txBody>
                  <a:tcPr marL="68580" marR="68580" marT="0" marB="0" anchor="ctr"/>
                </a:tc>
                <a:tc gridSpan="2">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状态报告模板包含进度</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成本</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质量</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风险四维状态，每维度有量化指标（如</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计划完成率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预算使用率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测试通过率</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），且包含下周计划</a:t>
                      </a:r>
                    </a:p>
                  </a:txBody>
                  <a:tcPr marL="72000" marR="108000" marT="36000" marB="36000" anchor="ctr"/>
                </a:tc>
                <a:tc hMerge="1">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108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状态报告模板包含四维状态，但部分维度缺乏量化指标（如质量状态为</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良好</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而非具体数据）</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zh-CN" sz="1100" b="0" kern="100">
                          <a:solidFill>
                            <a:schemeClr val="dk1"/>
                          </a:solidFill>
                          <a:effectLst/>
                          <a:latin typeface="Times New Roman" panose="02020603050405020304" pitchFamily="18" charset="0"/>
                          <a:ea typeface="+mn-ea"/>
                          <a:cs typeface="Times New Roman" panose="02020603050405020304" pitchFamily="18" charset="0"/>
                        </a:rPr>
                        <a:t>状态报告模板缺失关键维度（</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个），或仅为定性描述无量化指标</a:t>
                      </a:r>
                    </a:p>
                  </a:txBody>
                  <a:tcPr marL="72000" marR="108000" marT="36000" marB="36000"/>
                </a:tc>
                <a:extLst>
                  <a:ext uri="{0D108BD9-81ED-4DB2-BD59-A6C34878D82A}">
                    <a16:rowId xmlns:a16="http://schemas.microsoft.com/office/drawing/2014/main" val="1527929533"/>
                  </a:ext>
                </a:extLst>
              </a:tr>
              <a:tr h="936104">
                <a:tc>
                  <a:txBody>
                    <a:bodyPr/>
                    <a:lstStyle/>
                    <a:p>
                      <a:pPr marL="0" algn="ctr" defTabSz="914400" rtl="0" eaLnBrk="1" latinLnBrk="0" hangingPunct="1">
                        <a:lnSpc>
                          <a:spcPts val="1100"/>
                        </a:lnSpc>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PDCA</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ctr" defTabSz="914400" rtl="0" eaLnBrk="1" latinLnBrk="0" hangingPunct="1">
                        <a:lnSpc>
                          <a:spcPts val="1100"/>
                        </a:lnSpc>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循环</a:t>
                      </a:r>
                    </a:p>
                  </a:txBody>
                  <a:tcPr marL="68580" marR="68580" marT="0" marB="0" anchor="ctr"/>
                </a:tc>
                <a:tc gridSpan="2">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PDCA</a:t>
                      </a:r>
                      <a:r>
                        <a:rPr lang="zh-CN" sz="1100" b="0" kern="100">
                          <a:solidFill>
                            <a:schemeClr val="dk1"/>
                          </a:solidFill>
                          <a:effectLst/>
                          <a:latin typeface="Times New Roman" panose="02020603050405020304" pitchFamily="18" charset="0"/>
                          <a:ea typeface="+mn-ea"/>
                          <a:cs typeface="Times New Roman" panose="02020603050405020304" pitchFamily="18" charset="0"/>
                        </a:rPr>
                        <a:t>循环计划完整，四个环节（</a:t>
                      </a:r>
                      <a:r>
                        <a:rPr lang="en-US" sz="1100" b="0" kern="100">
                          <a:solidFill>
                            <a:schemeClr val="dk1"/>
                          </a:solidFill>
                          <a:effectLst/>
                          <a:latin typeface="Times New Roman" panose="02020603050405020304" pitchFamily="18" charset="0"/>
                          <a:ea typeface="+mn-ea"/>
                          <a:cs typeface="Times New Roman" panose="02020603050405020304" pitchFamily="18" charset="0"/>
                        </a:rPr>
                        <a:t>P/D/C/A</a:t>
                      </a:r>
                      <a:r>
                        <a:rPr lang="zh-CN" sz="1100" b="0" kern="100">
                          <a:solidFill>
                            <a:schemeClr val="dk1"/>
                          </a:solidFill>
                          <a:effectLst/>
                          <a:latin typeface="Times New Roman" panose="02020603050405020304" pitchFamily="18" charset="0"/>
                          <a:ea typeface="+mn-ea"/>
                          <a:cs typeface="Times New Roman" panose="02020603050405020304" pitchFamily="18" charset="0"/>
                        </a:rPr>
                        <a:t>）均有具体操作描述，且各环节之间形成逻辑闭环（检查结果</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改进措施</a:t>
                      </a:r>
                      <a:r>
                        <a:rPr lang="en-US" sz="1100" b="0" kern="100">
                          <a:solidFill>
                            <a:schemeClr val="dk1"/>
                          </a:solidFill>
                          <a:effectLst/>
                          <a:latin typeface="Times New Roman" panose="02020603050405020304" pitchFamily="18" charset="0"/>
                          <a:ea typeface="+mn-ea"/>
                          <a:cs typeface="Times New Roman" panose="02020603050405020304" pitchFamily="18" charset="0"/>
                        </a:rPr>
                        <a:t>→</a:t>
                      </a:r>
                      <a:r>
                        <a:rPr lang="zh-CN" sz="1100" b="0" kern="100">
                          <a:solidFill>
                            <a:schemeClr val="dk1"/>
                          </a:solidFill>
                          <a:effectLst/>
                          <a:latin typeface="Times New Roman" panose="02020603050405020304" pitchFamily="18" charset="0"/>
                          <a:ea typeface="+mn-ea"/>
                          <a:cs typeface="Times New Roman" panose="02020603050405020304" pitchFamily="18" charset="0"/>
                        </a:rPr>
                        <a:t>下一轮计划）</a:t>
                      </a:r>
                    </a:p>
                  </a:txBody>
                  <a:tcPr marL="72000" marR="108000" marT="36000" marB="36000" anchor="ctr"/>
                </a:tc>
                <a:tc hMerge="1">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endParaRPr lang="zh-CN" sz="1100" b="0" kern="100">
                        <a:solidFill>
                          <a:schemeClr val="dk1"/>
                        </a:solidFill>
                        <a:effectLst/>
                        <a:latin typeface="Times New Roman" panose="02020603050405020304" pitchFamily="18" charset="0"/>
                        <a:ea typeface="+mn-ea"/>
                        <a:cs typeface="Times New Roman" panose="02020603050405020304" pitchFamily="18" charset="0"/>
                      </a:endParaRPr>
                    </a:p>
                  </a:txBody>
                  <a:tcPr marL="72000" marR="108000" marT="36000" marB="36000" anchor="ctr"/>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PDCA</a:t>
                      </a:r>
                      <a:r>
                        <a:rPr lang="zh-CN" sz="1100" b="0" kern="100">
                          <a:solidFill>
                            <a:schemeClr val="dk1"/>
                          </a:solidFill>
                          <a:effectLst/>
                          <a:latin typeface="Times New Roman" panose="02020603050405020304" pitchFamily="18" charset="0"/>
                          <a:ea typeface="+mn-ea"/>
                          <a:cs typeface="Times New Roman" panose="02020603050405020304" pitchFamily="18" charset="0"/>
                        </a:rPr>
                        <a:t>循环计划基本完整，但部分环节（如</a:t>
                      </a:r>
                      <a:r>
                        <a:rPr lang="en-US" sz="1100" b="0" kern="100">
                          <a:solidFill>
                            <a:schemeClr val="dk1"/>
                          </a:solidFill>
                          <a:effectLst/>
                          <a:latin typeface="Times New Roman" panose="02020603050405020304" pitchFamily="18" charset="0"/>
                          <a:ea typeface="+mn-ea"/>
                          <a:cs typeface="Times New Roman" panose="02020603050405020304" pitchFamily="18" charset="0"/>
                        </a:rPr>
                        <a:t>A</a:t>
                      </a:r>
                      <a:r>
                        <a:rPr lang="zh-CN" sz="1100" b="0" kern="100">
                          <a:solidFill>
                            <a:schemeClr val="dk1"/>
                          </a:solidFill>
                          <a:effectLst/>
                          <a:latin typeface="Times New Roman" panose="02020603050405020304" pitchFamily="18" charset="0"/>
                          <a:ea typeface="+mn-ea"/>
                          <a:cs typeface="Times New Roman" panose="02020603050405020304" pitchFamily="18" charset="0"/>
                        </a:rPr>
                        <a:t>改进）描述不够具体</a:t>
                      </a:r>
                    </a:p>
                  </a:txBody>
                  <a:tcPr marL="72000" marR="108000" marT="36000" marB="36000"/>
                </a:tc>
                <a:tc>
                  <a:txBody>
                    <a:bodyPr/>
                    <a:lstStyle/>
                    <a:p>
                      <a:pPr marL="179705" marR="0" lvl="0" indent="-179705" algn="just" defTabSz="914400" rtl="0" eaLnBrk="1" fontAlgn="auto" latinLnBrk="0" hangingPunct="1">
                        <a:lnSpc>
                          <a:spcPct val="120000"/>
                        </a:lnSpc>
                        <a:spcBef>
                          <a:spcPts val="600"/>
                        </a:spcBef>
                        <a:spcAft>
                          <a:spcPts val="0"/>
                        </a:spcAft>
                        <a:buClrTx/>
                        <a:buSzTx/>
                        <a:buFont typeface="仿宋" panose="02010609060101010101" pitchFamily="49" charset="-122"/>
                        <a:buChar char="□"/>
                        <a:defRPr/>
                      </a:pPr>
                      <a:r>
                        <a:rPr lang="en-US" sz="1100" b="0" kern="100">
                          <a:solidFill>
                            <a:schemeClr val="dk1"/>
                          </a:solidFill>
                          <a:effectLst/>
                          <a:latin typeface="Times New Roman" panose="02020603050405020304" pitchFamily="18" charset="0"/>
                          <a:ea typeface="+mn-ea"/>
                          <a:cs typeface="Times New Roman" panose="02020603050405020304" pitchFamily="18" charset="0"/>
                        </a:rPr>
                        <a:t>PDCA</a:t>
                      </a:r>
                      <a:r>
                        <a:rPr lang="zh-CN" sz="1100" b="0" kern="100">
                          <a:solidFill>
                            <a:schemeClr val="dk1"/>
                          </a:solidFill>
                          <a:effectLst/>
                          <a:latin typeface="Times New Roman" panose="02020603050405020304" pitchFamily="18" charset="0"/>
                          <a:ea typeface="+mn-ea"/>
                          <a:cs typeface="Times New Roman" panose="02020603050405020304" pitchFamily="18" charset="0"/>
                        </a:rPr>
                        <a:t>循环计划缺失环节（</a:t>
                      </a:r>
                      <a:r>
                        <a:rPr lang="en-US" sz="1100" b="0" kern="100">
                          <a:solidFill>
                            <a:schemeClr val="dk1"/>
                          </a:solidFill>
                          <a:effectLst/>
                          <a:latin typeface="Times New Roman" panose="02020603050405020304" pitchFamily="18" charset="0"/>
                          <a:ea typeface="+mn-ea"/>
                          <a:cs typeface="Times New Roman" panose="02020603050405020304" pitchFamily="18" charset="0"/>
                        </a:rPr>
                        <a:t>≥1</a:t>
                      </a:r>
                      <a:r>
                        <a:rPr lang="zh-CN" sz="1100" b="0" kern="100">
                          <a:solidFill>
                            <a:schemeClr val="dk1"/>
                          </a:solidFill>
                          <a:effectLst/>
                          <a:latin typeface="Times New Roman" panose="02020603050405020304" pitchFamily="18" charset="0"/>
                          <a:ea typeface="+mn-ea"/>
                          <a:cs typeface="Times New Roman" panose="02020603050405020304" pitchFamily="18" charset="0"/>
                        </a:rPr>
                        <a:t>个），或各环节之间无逻辑关联</a:t>
                      </a:r>
                    </a:p>
                  </a:txBody>
                  <a:tcPr marL="72000" marR="108000" marT="36000" marB="36000"/>
                </a:tc>
                <a:extLst>
                  <a:ext uri="{0D108BD9-81ED-4DB2-BD59-A6C34878D82A}">
                    <a16:rowId xmlns:a16="http://schemas.microsoft.com/office/drawing/2014/main" val="424115219"/>
                  </a:ext>
                </a:extLst>
              </a:tr>
            </a:tbl>
          </a:graphicData>
        </a:graphic>
      </p:graphicFrame>
      <p:sp>
        <p:nvSpPr>
          <p:cNvPr id="10" name="矩形 9"/>
          <p:cNvSpPr/>
          <p:nvPr/>
        </p:nvSpPr>
        <p:spPr>
          <a:xfrm>
            <a:off x="899593" y="1655409"/>
            <a:ext cx="7200800" cy="261610"/>
          </a:xfrm>
          <a:prstGeom prst="rect">
            <a:avLst/>
          </a:prstGeom>
        </p:spPr>
        <p:txBody>
          <a:bodyPr wrap="square">
            <a:spAutoFit/>
          </a:bodyPr>
          <a:lstStyle/>
          <a:p>
            <a:r>
              <a:rPr lang="zh-CN" altLang="en-US" sz="1100" b="1" smtClean="0">
                <a:latin typeface="微软雅黑" panose="020B0503020204020204" pitchFamily="34" charset="-122"/>
                <a:ea typeface="微软雅黑" panose="020B0503020204020204" pitchFamily="34" charset="-122"/>
              </a:rPr>
              <a:t>续</a:t>
            </a:r>
            <a:r>
              <a:rPr lang="zh-CN" altLang="zh-CN" sz="1100" b="1" smtClean="0">
                <a:latin typeface="微软雅黑" panose="020B0503020204020204" pitchFamily="34" charset="-122"/>
                <a:ea typeface="微软雅黑" panose="020B0503020204020204" pitchFamily="34" charset="-122"/>
              </a:rPr>
              <a:t>《</a:t>
            </a:r>
            <a:r>
              <a:rPr lang="zh-CN" altLang="zh-CN" sz="1100" b="1">
                <a:latin typeface="微软雅黑" panose="020B0503020204020204" pitchFamily="34" charset="-122"/>
                <a:ea typeface="微软雅黑" panose="020B0503020204020204" pitchFamily="34" charset="-122"/>
              </a:rPr>
              <a:t>创客竞赛团队项目管理方案》评价量表（课后教学活动一</a:t>
            </a:r>
            <a:r>
              <a:rPr lang="zh-CN" altLang="zh-CN" sz="1100" b="1" smtClean="0">
                <a:latin typeface="微软雅黑" panose="020B0503020204020204" pitchFamily="34" charset="-122"/>
                <a:ea typeface="微软雅黑" panose="020B0503020204020204" pitchFamily="34" charset="-122"/>
              </a:rPr>
              <a:t>）</a:t>
            </a:r>
            <a:endParaRPr lang="zh-CN" altLang="zh-CN"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83164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17334" y="1707654"/>
            <a:ext cx="6624736" cy="3139321"/>
          </a:xfrm>
          <a:prstGeom prst="rect">
            <a:avLst/>
          </a:prstGeom>
          <a:ln w="25400">
            <a:noFill/>
          </a:ln>
        </p:spPr>
        <p:txBody>
          <a:bodyPr wrap="square">
            <a:spAutoFit/>
          </a:bodyPr>
          <a:lstStyle/>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latin typeface="微软雅黑" panose="020B0503020204020204" pitchFamily="34" charset="-122"/>
                <a:ea typeface="微软雅黑" panose="020B0503020204020204" pitchFamily="34" charset="-122"/>
              </a:rPr>
              <a:t>反</a:t>
            </a:r>
            <a:r>
              <a:rPr lang="zh-CN" altLang="en-US" sz="1400" smtClean="0">
                <a:solidFill>
                  <a:srgbClr val="0070C0"/>
                </a:solidFill>
                <a:latin typeface="微软雅黑" panose="020B0503020204020204" pitchFamily="34" charset="-122"/>
                <a:ea typeface="微软雅黑" panose="020B0503020204020204" pitchFamily="34" charset="-122"/>
              </a:rPr>
              <a:t>馈课后学习活动优秀</a:t>
            </a:r>
            <a:r>
              <a:rPr lang="zh-CN" altLang="en-US" sz="2000" b="1" smtClean="0">
                <a:solidFill>
                  <a:srgbClr val="0070C0"/>
                </a:solidFill>
                <a:latin typeface="微软雅黑" panose="020B0503020204020204" pitchFamily="34" charset="-122"/>
                <a:ea typeface="微软雅黑" panose="020B0503020204020204" pitchFamily="34" charset="-122"/>
              </a:rPr>
              <a:t>学习成</a:t>
            </a:r>
            <a:r>
              <a:rPr lang="zh-CN" altLang="en-US" sz="2000" b="1">
                <a:solidFill>
                  <a:srgbClr val="0070C0"/>
                </a:solidFill>
                <a:latin typeface="微软雅黑" panose="020B0503020204020204" pitchFamily="34" charset="-122"/>
                <a:ea typeface="微软雅黑" panose="020B0503020204020204" pitchFamily="34" charset="-122"/>
              </a:rPr>
              <a:t>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b="1">
                <a:solidFill>
                  <a:srgbClr val="0070C0"/>
                </a:solidFill>
                <a:latin typeface="微软雅黑" panose="020B0503020204020204" pitchFamily="34" charset="-122"/>
                <a:ea typeface="微软雅黑" panose="020B0503020204020204" pitchFamily="34" charset="-122"/>
              </a:rPr>
              <a:t>分钟</a:t>
            </a:r>
            <a:endParaRPr lang="en-US" altLang="zh-CN" sz="1400" b="1">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latin typeface="微软雅黑" panose="020B0503020204020204" pitchFamily="34" charset="-122"/>
                <a:ea typeface="微软雅黑" panose="020B0503020204020204" pitchFamily="34" charset="-122"/>
              </a:rPr>
              <a:t>解读</a:t>
            </a:r>
            <a:r>
              <a:rPr lang="zh-CN" altLang="zh-CN" sz="1400" smtClean="0">
                <a:solidFill>
                  <a:srgbClr val="0070C0"/>
                </a:solidFill>
                <a:latin typeface="微软雅黑" panose="020B0503020204020204" pitchFamily="34" charset="-122"/>
                <a:ea typeface="微软雅黑" panose="020B0503020204020204" pitchFamily="34" charset="-122"/>
              </a:rPr>
              <a:t>单元</a:t>
            </a:r>
            <a:r>
              <a:rPr lang="zh-CN" altLang="zh-CN" sz="1400">
                <a:solidFill>
                  <a:srgbClr val="0070C0"/>
                </a:solidFill>
                <a:latin typeface="微软雅黑" panose="020B0503020204020204" pitchFamily="34" charset="-122"/>
                <a:ea typeface="微软雅黑" panose="020B0503020204020204" pitchFamily="34" charset="-122"/>
              </a:rPr>
              <a:t>课</a:t>
            </a:r>
            <a:r>
              <a:rPr lang="zh-CN" altLang="zh-CN" sz="1400" smtClean="0">
                <a:solidFill>
                  <a:srgbClr val="0070C0"/>
                </a:solidFill>
                <a:latin typeface="微软雅黑" panose="020B0503020204020204" pitchFamily="34" charset="-122"/>
                <a:ea typeface="微软雅黑" panose="020B0503020204020204" pitchFamily="34" charset="-122"/>
              </a:rPr>
              <a:t>程</a:t>
            </a:r>
            <a:r>
              <a:rPr lang="zh-CN" altLang="en-US" sz="1400">
                <a:solidFill>
                  <a:srgbClr val="0070C0"/>
                </a:solidFill>
                <a:latin typeface="微软雅黑" panose="020B0503020204020204" pitchFamily="34" charset="-122"/>
                <a:ea typeface="微软雅黑" panose="020B0503020204020204" pitchFamily="34" charset="-122"/>
              </a:rPr>
              <a:t>设计</a:t>
            </a:r>
            <a:r>
              <a:rPr lang="zh-CN" altLang="en-US" sz="1400" smtClean="0">
                <a:solidFill>
                  <a:srgbClr val="0070C0"/>
                </a:solidFill>
                <a:latin typeface="微软雅黑" panose="020B0503020204020204" pitchFamily="34" charset="-122"/>
                <a:ea typeface="微软雅黑" panose="020B0503020204020204" pitchFamily="34" charset="-122"/>
              </a:rPr>
              <a:t>的</a:t>
            </a:r>
            <a:r>
              <a:rPr lang="zh-CN" altLang="en-US" sz="2000" b="1" smtClean="0">
                <a:solidFill>
                  <a:srgbClr val="0070C0"/>
                </a:solidFill>
                <a:latin typeface="微软雅黑" panose="020B0503020204020204" pitchFamily="34" charset="-122"/>
                <a:ea typeface="微软雅黑" panose="020B0503020204020204" pitchFamily="34" charset="-122"/>
              </a:rPr>
              <a:t>情境</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en-US" sz="2000" b="1">
                <a:solidFill>
                  <a:srgbClr val="0070C0"/>
                </a:solidFill>
                <a:latin typeface="微软雅黑" panose="020B0503020204020204" pitchFamily="34" charset="-122"/>
                <a:ea typeface="微软雅黑" panose="020B0503020204020204" pitchFamily="34" charset="-122"/>
              </a:rPr>
              <a:t>目的</a:t>
            </a:r>
            <a:r>
              <a:rPr lang="zh-CN" altLang="en-US" sz="1400" smtClean="0">
                <a:solidFill>
                  <a:srgbClr val="0070C0"/>
                </a:solidFill>
                <a:latin typeface="微软雅黑" panose="020B0503020204020204" pitchFamily="34" charset="-122"/>
                <a:ea typeface="微软雅黑" panose="020B0503020204020204" pitchFamily="34" charset="-122"/>
              </a:rPr>
              <a:t>、</a:t>
            </a:r>
            <a:r>
              <a:rPr lang="zh-CN" altLang="zh-CN" sz="2000" b="1" smtClean="0">
                <a:solidFill>
                  <a:srgbClr val="0070C0"/>
                </a:solidFill>
                <a:latin typeface="微软雅黑" panose="020B0503020204020204" pitchFamily="34" charset="-122"/>
                <a:ea typeface="微软雅黑" panose="020B0503020204020204" pitchFamily="34" charset="-122"/>
              </a:rPr>
              <a:t>目</a:t>
            </a:r>
            <a:r>
              <a:rPr lang="zh-CN" altLang="zh-CN" sz="2000" b="1">
                <a:solidFill>
                  <a:srgbClr val="0070C0"/>
                </a:solidFill>
                <a:latin typeface="微软雅黑" panose="020B0503020204020204" pitchFamily="34" charset="-122"/>
                <a:ea typeface="微软雅黑" panose="020B0503020204020204" pitchFamily="34" charset="-122"/>
              </a:rPr>
              <a:t>标</a:t>
            </a:r>
            <a:r>
              <a:rPr lang="zh-CN" altLang="zh-CN" sz="1400" smtClean="0">
                <a:solidFill>
                  <a:srgbClr val="0070C0"/>
                </a:solidFill>
                <a:latin typeface="微软雅黑" panose="020B0503020204020204" pitchFamily="34" charset="-122"/>
                <a:ea typeface="微软雅黑" panose="020B0503020204020204" pitchFamily="34" charset="-122"/>
              </a:rPr>
              <a:t>、</a:t>
            </a:r>
            <a:r>
              <a:rPr lang="zh-CN" altLang="zh-CN" sz="2000" b="1">
                <a:solidFill>
                  <a:srgbClr val="0070C0"/>
                </a:solidFill>
                <a:latin typeface="微软雅黑" panose="020B0503020204020204" pitchFamily="34" charset="-122"/>
                <a:ea typeface="微软雅黑" panose="020B0503020204020204" pitchFamily="34" charset="-122"/>
              </a:rPr>
              <a:t>评价</a:t>
            </a:r>
            <a:r>
              <a:rPr lang="zh-CN" altLang="zh-CN" sz="1400" smtClean="0">
                <a:solidFill>
                  <a:srgbClr val="0070C0"/>
                </a:solidFill>
                <a:latin typeface="微软雅黑" panose="020B0503020204020204" pitchFamily="34" charset="-122"/>
                <a:ea typeface="微软雅黑" panose="020B0503020204020204" pitchFamily="34" charset="-122"/>
              </a:rPr>
              <a:t>与</a:t>
            </a:r>
            <a:r>
              <a:rPr lang="zh-CN" altLang="en-US" sz="2000" b="1" smtClean="0">
                <a:solidFill>
                  <a:srgbClr val="0070C0"/>
                </a:solidFill>
                <a:latin typeface="微软雅黑" panose="020B0503020204020204" pitchFamily="34" charset="-122"/>
                <a:ea typeface="微软雅黑" panose="020B0503020204020204" pitchFamily="34" charset="-122"/>
              </a:rPr>
              <a:t>活动</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10</a:t>
            </a:r>
            <a:r>
              <a:rPr lang="zh-CN" altLang="en-US" sz="1400" b="1" smtClean="0">
                <a:solidFill>
                  <a:srgbClr val="0070C0"/>
                </a:solidFill>
                <a:latin typeface="微软雅黑" panose="020B0503020204020204" pitchFamily="34" charset="-122"/>
                <a:ea typeface="微软雅黑" panose="020B0503020204020204" pitchFamily="34" charset="-122"/>
              </a:rPr>
              <a:t>分</a:t>
            </a:r>
            <a:r>
              <a:rPr lang="zh-CN" altLang="en-US" sz="1400" b="1" dirty="0">
                <a:solidFill>
                  <a:srgbClr val="0070C0"/>
                </a:solidFill>
                <a:latin typeface="微软雅黑" panose="020B0503020204020204" pitchFamily="34" charset="-122"/>
                <a:ea typeface="微软雅黑" panose="020B0503020204020204" pitchFamily="34" charset="-122"/>
              </a:rPr>
              <a:t>钟</a:t>
            </a:r>
            <a:endParaRPr lang="en-US" altLang="zh-CN" sz="1400" b="1" dirty="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分</a:t>
            </a:r>
            <a:r>
              <a:rPr lang="zh-CN" altLang="zh-CN" sz="1400" smtClean="0">
                <a:solidFill>
                  <a:srgbClr val="0070C0"/>
                </a:solidFill>
                <a:latin typeface="微软雅黑" panose="020B0503020204020204" pitchFamily="34" charset="-122"/>
                <a:ea typeface="微软雅黑" panose="020B0503020204020204" pitchFamily="34" charset="-122"/>
              </a:rPr>
              <a:t>享课</a:t>
            </a:r>
            <a:r>
              <a:rPr lang="zh-CN" altLang="zh-CN" sz="1400" dirty="0">
                <a:solidFill>
                  <a:srgbClr val="0070C0"/>
                </a:solidFill>
                <a:latin typeface="微软雅黑" panose="020B0503020204020204" pitchFamily="34" charset="-122"/>
                <a:ea typeface="微软雅黑" panose="020B0503020204020204" pitchFamily="34" charset="-122"/>
              </a:rPr>
              <a:t>前学习</a:t>
            </a:r>
            <a:r>
              <a:rPr lang="zh-CN" altLang="zh-CN" sz="1400">
                <a:solidFill>
                  <a:srgbClr val="0070C0"/>
                </a:solidFill>
                <a:latin typeface="微软雅黑" panose="020B0503020204020204" pitchFamily="34" charset="-122"/>
                <a:ea typeface="微软雅黑" panose="020B0503020204020204" pitchFamily="34" charset="-122"/>
              </a:rPr>
              <a:t>活动优秀</a:t>
            </a:r>
            <a:r>
              <a:rPr lang="zh-CN" altLang="zh-CN" sz="2000" b="1">
                <a:solidFill>
                  <a:srgbClr val="0070C0"/>
                </a:solidFill>
                <a:latin typeface="微软雅黑" panose="020B0503020204020204" pitchFamily="34" charset="-122"/>
                <a:ea typeface="微软雅黑" panose="020B0503020204020204" pitchFamily="34" charset="-122"/>
              </a:rPr>
              <a:t>学</a:t>
            </a:r>
            <a:r>
              <a:rPr lang="zh-CN" altLang="zh-CN" sz="2000" b="1" dirty="0">
                <a:solidFill>
                  <a:srgbClr val="0070C0"/>
                </a:solidFill>
                <a:latin typeface="微软雅黑" panose="020B0503020204020204" pitchFamily="34" charset="-122"/>
                <a:ea typeface="微软雅黑" panose="020B0503020204020204" pitchFamily="34" charset="-122"/>
              </a:rPr>
              <a:t>习成</a:t>
            </a:r>
            <a:r>
              <a:rPr lang="zh-CN" altLang="zh-CN" sz="2000" b="1">
                <a:solidFill>
                  <a:srgbClr val="0070C0"/>
                </a:solidFill>
                <a:latin typeface="微软雅黑" panose="020B0503020204020204" pitchFamily="34" charset="-122"/>
                <a:ea typeface="微软雅黑" panose="020B0503020204020204" pitchFamily="34" charset="-122"/>
              </a:rPr>
              <a:t>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b="1">
                <a:solidFill>
                  <a:srgbClr val="0070C0"/>
                </a:solidFill>
                <a:latin typeface="微软雅黑" panose="020B0503020204020204" pitchFamily="34" charset="-122"/>
                <a:ea typeface="微软雅黑" panose="020B0503020204020204" pitchFamily="34" charset="-122"/>
              </a:rPr>
              <a:t>分钟</a:t>
            </a:r>
            <a:endParaRPr lang="en-US" altLang="zh-CN" sz="1400" b="1">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展示与讲评项目管理</a:t>
            </a:r>
            <a:r>
              <a:rPr lang="zh-CN" altLang="zh-CN" sz="2000" b="1">
                <a:solidFill>
                  <a:srgbClr val="0070C0"/>
                </a:solidFill>
                <a:latin typeface="微软雅黑" panose="020B0503020204020204" pitchFamily="34" charset="-122"/>
                <a:ea typeface="微软雅黑" panose="020B0503020204020204" pitchFamily="34" charset="-122"/>
              </a:rPr>
              <a:t>认知成果</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20</a:t>
            </a:r>
            <a:r>
              <a:rPr lang="zh-CN" altLang="en-US" sz="1400" b="1" smtClean="0">
                <a:solidFill>
                  <a:srgbClr val="0070C0"/>
                </a:solidFill>
                <a:latin typeface="微软雅黑" panose="020B0503020204020204" pitchFamily="34" charset="-122"/>
                <a:ea typeface="微软雅黑" panose="020B0503020204020204" pitchFamily="34" charset="-122"/>
              </a:rPr>
              <a:t>分</a:t>
            </a:r>
            <a:r>
              <a:rPr lang="zh-CN" altLang="en-US" sz="1400" b="1">
                <a:solidFill>
                  <a:srgbClr val="0070C0"/>
                </a:solidFill>
                <a:latin typeface="微软雅黑" panose="020B0503020204020204" pitchFamily="34" charset="-122"/>
                <a:ea typeface="微软雅黑" panose="020B0503020204020204" pitchFamily="34" charset="-122"/>
              </a:rPr>
              <a:t>钟</a:t>
            </a:r>
            <a:endParaRPr lang="en-US" altLang="zh-CN" sz="1400" b="1">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zh-CN" sz="1400">
                <a:solidFill>
                  <a:srgbClr val="0070C0"/>
                </a:solidFill>
                <a:latin typeface="微软雅黑" panose="020B0503020204020204" pitchFamily="34" charset="-122"/>
                <a:ea typeface="微软雅黑" panose="020B0503020204020204" pitchFamily="34" charset="-122"/>
              </a:rPr>
              <a:t>设计泡茶项目</a:t>
            </a:r>
            <a:r>
              <a:rPr lang="zh-CN" altLang="zh-CN" sz="2000" b="1">
                <a:solidFill>
                  <a:srgbClr val="0070C0"/>
                </a:solidFill>
                <a:latin typeface="微软雅黑" panose="020B0503020204020204" pitchFamily="34" charset="-122"/>
                <a:ea typeface="微软雅黑" panose="020B0503020204020204" pitchFamily="34" charset="-122"/>
              </a:rPr>
              <a:t>管理方</a:t>
            </a:r>
            <a:r>
              <a:rPr lang="zh-CN" altLang="zh-CN" sz="2000" b="1" smtClean="0">
                <a:solidFill>
                  <a:srgbClr val="0070C0"/>
                </a:solidFill>
                <a:latin typeface="微软雅黑" panose="020B0503020204020204" pitchFamily="34" charset="-122"/>
                <a:ea typeface="微软雅黑" panose="020B0503020204020204" pitchFamily="34" charset="-122"/>
              </a:rPr>
              <a:t>案</a:t>
            </a:r>
            <a:r>
              <a:rPr lang="zh-CN" altLang="en-US" sz="1400" smtClean="0">
                <a:solidFill>
                  <a:srgbClr val="0070C0"/>
                </a:solidFill>
                <a:latin typeface="微软雅黑" panose="020B0503020204020204" pitchFamily="34" charset="-122"/>
                <a:ea typeface="微软雅黑" panose="020B0503020204020204" pitchFamily="34" charset="-122"/>
              </a:rPr>
              <a:t>：</a:t>
            </a:r>
            <a:r>
              <a:rPr lang="en-US" altLang="zh-CN" smtClean="0">
                <a:solidFill>
                  <a:srgbClr val="0070C0"/>
                </a:solidFill>
                <a:latin typeface="Arial Black" panose="020B0A04020102020204" pitchFamily="34" charset="0"/>
                <a:ea typeface="微软雅黑" panose="020B0503020204020204" pitchFamily="34" charset="-122"/>
              </a:rPr>
              <a:t>155</a:t>
            </a:r>
            <a:r>
              <a:rPr lang="zh-CN" altLang="en-US" sz="1400" b="1" smtClean="0">
                <a:solidFill>
                  <a:srgbClr val="0070C0"/>
                </a:solidFill>
                <a:latin typeface="微软雅黑" panose="020B0503020204020204" pitchFamily="34" charset="-122"/>
                <a:ea typeface="微软雅黑" panose="020B0503020204020204" pitchFamily="34" charset="-122"/>
              </a:rPr>
              <a:t>分钟</a:t>
            </a:r>
            <a:endParaRPr lang="en-US" altLang="zh-CN" sz="1400" b="1"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smtClean="0">
                <a:solidFill>
                  <a:srgbClr val="0070C0"/>
                </a:solidFill>
                <a:ea typeface="微软雅黑" panose="020B0503020204020204" pitchFamily="34" charset="-122"/>
              </a:rPr>
              <a:t>解</a:t>
            </a:r>
            <a:r>
              <a:rPr lang="zh-CN" altLang="en-US" sz="1400">
                <a:solidFill>
                  <a:srgbClr val="0070C0"/>
                </a:solidFill>
                <a:ea typeface="微软雅黑" panose="020B0503020204020204" pitchFamily="34" charset="-122"/>
              </a:rPr>
              <a:t>读</a:t>
            </a:r>
            <a:r>
              <a:rPr lang="zh-CN" altLang="en-US" sz="1400" smtClean="0">
                <a:solidFill>
                  <a:srgbClr val="0070C0"/>
                </a:solidFill>
                <a:ea typeface="微软雅黑" panose="020B0503020204020204" pitchFamily="34" charset="-122"/>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项目管理工</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作坊</a:t>
            </a:r>
            <a:r>
              <a:rPr lang="zh-CN" altLang="en-US" sz="1400" smtClean="0">
                <a:solidFill>
                  <a:srgbClr val="0070C0"/>
                </a:solidFill>
                <a:ea typeface="微软雅黑" panose="020B0503020204020204" pitchFamily="34" charset="-122"/>
              </a:rPr>
              <a:t>”</a:t>
            </a:r>
            <a:r>
              <a:rPr lang="zh-CN" altLang="en-US" sz="1400">
                <a:solidFill>
                  <a:srgbClr val="0070C0"/>
                </a:solidFill>
                <a:ea typeface="微软雅黑" panose="020B0503020204020204" pitchFamily="34" charset="-122"/>
              </a:rPr>
              <a:t>单元</a:t>
            </a:r>
            <a:r>
              <a:rPr lang="zh-CN" altLang="en-US" sz="2000" b="1">
                <a:solidFill>
                  <a:srgbClr val="0070C0"/>
                </a:solidFill>
                <a:latin typeface="微软雅黑" panose="020B0503020204020204" pitchFamily="34" charset="-122"/>
                <a:ea typeface="微软雅黑" panose="020B0503020204020204" pitchFamily="34" charset="-122"/>
              </a:rPr>
              <a:t>课后</a:t>
            </a:r>
            <a:r>
              <a:rPr lang="zh-CN" altLang="en-US" sz="1400">
                <a:solidFill>
                  <a:srgbClr val="0070C0"/>
                </a:solidFill>
                <a:ea typeface="微软雅黑" panose="020B0503020204020204" pitchFamily="34" charset="-122"/>
              </a:rPr>
              <a:t>学习任务：</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b="1">
                <a:solidFill>
                  <a:srgbClr val="0070C0"/>
                </a:solidFill>
                <a:latin typeface="微软雅黑" panose="020B0503020204020204" pitchFamily="34" charset="-122"/>
                <a:ea typeface="微软雅黑" panose="020B0503020204020204" pitchFamily="34" charset="-122"/>
              </a:rPr>
              <a:t>分</a:t>
            </a:r>
            <a:r>
              <a:rPr lang="zh-CN" altLang="en-US" sz="1400" b="1" smtClean="0">
                <a:solidFill>
                  <a:srgbClr val="0070C0"/>
                </a:solidFill>
                <a:latin typeface="微软雅黑" panose="020B0503020204020204" pitchFamily="34" charset="-122"/>
                <a:ea typeface="微软雅黑" panose="020B0503020204020204" pitchFamily="34" charset="-122"/>
              </a:rPr>
              <a:t>钟</a:t>
            </a:r>
            <a:endParaRPr lang="en-US" altLang="zh-CN" sz="1400" b="1" smtClean="0">
              <a:solidFill>
                <a:srgbClr val="0070C0"/>
              </a:solidFill>
              <a:latin typeface="微软雅黑" panose="020B0503020204020204" pitchFamily="34" charset="-122"/>
              <a:ea typeface="微软雅黑" panose="020B0503020204020204" pitchFamily="34" charset="-122"/>
            </a:endParaRPr>
          </a:p>
          <a:p>
            <a:pPr marL="288290" indent="-288290">
              <a:lnSpc>
                <a:spcPct val="120000"/>
              </a:lnSpc>
              <a:spcBef>
                <a:spcPts val="600"/>
              </a:spcBef>
              <a:buClr>
                <a:srgbClr val="0070C0"/>
              </a:buClr>
              <a:buFont typeface="Wingdings" panose="05000000000000000000" pitchFamily="2" charset="2"/>
              <a:buChar char="u"/>
            </a:pPr>
            <a:r>
              <a:rPr lang="zh-CN" altLang="en-US" sz="1400">
                <a:solidFill>
                  <a:srgbClr val="0070C0"/>
                </a:solidFill>
                <a:ea typeface="微软雅黑" panose="020B0503020204020204" pitchFamily="34" charset="-122"/>
              </a:rPr>
              <a:t>解读</a:t>
            </a:r>
            <a:r>
              <a:rPr lang="zh-CN" altLang="en-US" sz="1400" smtClean="0">
                <a:solidFill>
                  <a:srgbClr val="0070C0"/>
                </a:solidFill>
                <a:ea typeface="微软雅黑" panose="020B0503020204020204" pitchFamily="34" charset="-122"/>
              </a:rPr>
              <a:t>“</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作品选题评审</a:t>
            </a:r>
            <a:r>
              <a:rPr lang="zh-CN" altLang="en-US" sz="1400" smtClean="0">
                <a:solidFill>
                  <a:srgbClr val="0070C0"/>
                </a:solidFill>
                <a:ea typeface="微软雅黑" panose="020B0503020204020204" pitchFamily="34" charset="-122"/>
              </a:rPr>
              <a:t>”</a:t>
            </a:r>
            <a:r>
              <a:rPr lang="zh-CN" altLang="en-US" sz="1400">
                <a:solidFill>
                  <a:srgbClr val="0070C0"/>
                </a:solidFill>
                <a:ea typeface="微软雅黑" panose="020B0503020204020204" pitchFamily="34" charset="-122"/>
              </a:rPr>
              <a:t>单元</a:t>
            </a:r>
            <a:r>
              <a:rPr lang="zh-CN" altLang="en-US" sz="2000" b="1" smtClean="0">
                <a:solidFill>
                  <a:srgbClr val="0070C0"/>
                </a:solidFill>
                <a:latin typeface="微软雅黑" panose="020B0503020204020204" pitchFamily="34" charset="-122"/>
                <a:ea typeface="微软雅黑" panose="020B0503020204020204" pitchFamily="34" charset="-122"/>
              </a:rPr>
              <a:t>课前</a:t>
            </a:r>
            <a:r>
              <a:rPr lang="zh-CN" altLang="en-US" sz="1400" smtClean="0">
                <a:solidFill>
                  <a:srgbClr val="0070C0"/>
                </a:solidFill>
                <a:ea typeface="微软雅黑" panose="020B0503020204020204" pitchFamily="34" charset="-122"/>
              </a:rPr>
              <a:t>教学活动：</a:t>
            </a:r>
            <a:r>
              <a:rPr lang="en-US" altLang="zh-CN">
                <a:solidFill>
                  <a:srgbClr val="0070C0"/>
                </a:solidFill>
                <a:latin typeface="Arial Black" panose="020B0A04020102020204" pitchFamily="34" charset="0"/>
                <a:ea typeface="微软雅黑" panose="020B0503020204020204" pitchFamily="34" charset="-122"/>
              </a:rPr>
              <a:t>5</a:t>
            </a:r>
            <a:r>
              <a:rPr lang="zh-CN" altLang="en-US" sz="1400" b="1">
                <a:solidFill>
                  <a:srgbClr val="0070C0"/>
                </a:solidFill>
                <a:latin typeface="微软雅黑" panose="020B0503020204020204" pitchFamily="34" charset="-122"/>
                <a:ea typeface="微软雅黑" panose="020B0503020204020204" pitchFamily="34" charset="-122"/>
              </a:rPr>
              <a:t>分</a:t>
            </a:r>
            <a:r>
              <a:rPr lang="zh-CN" altLang="en-US" sz="1400" b="1" smtClean="0">
                <a:solidFill>
                  <a:srgbClr val="0070C0"/>
                </a:solidFill>
                <a:latin typeface="微软雅黑" panose="020B0503020204020204" pitchFamily="34" charset="-122"/>
                <a:ea typeface="微软雅黑" panose="020B0503020204020204" pitchFamily="34" charset="-122"/>
              </a:rPr>
              <a:t>钟</a:t>
            </a:r>
            <a:endParaRPr lang="en-US" altLang="zh-CN" sz="1400" b="1" dirty="0">
              <a:solidFill>
                <a:srgbClr val="0070C0"/>
              </a:solidFill>
              <a:latin typeface="微软雅黑" panose="020B0503020204020204" pitchFamily="34" charset="-122"/>
              <a:ea typeface="微软雅黑" panose="020B0503020204020204" pitchFamily="34" charset="-122"/>
            </a:endParaRP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教学活动及时间规</a:t>
            </a:r>
            <a:r>
              <a:rPr lang="zh-CN" altLang="en-US" sz="2400" b="1" smtClean="0">
                <a:solidFill>
                  <a:schemeClr val="bg1"/>
                </a:solidFill>
                <a:latin typeface="微软雅黑" panose="020B0503020204020204" pitchFamily="34" charset="-122"/>
                <a:ea typeface="微软雅黑" panose="020B0503020204020204" pitchFamily="34" charset="-122"/>
              </a:rPr>
              <a:t>划</a:t>
            </a:r>
            <a:endParaRPr lang="zh-CN" altLang="en-US" sz="2400" b="1">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05581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4624" y="2175123"/>
            <a:ext cx="3019304" cy="1932901"/>
          </a:xfrm>
          <a:prstGeom prst="rect">
            <a:avLst/>
          </a:prstGeom>
          <a:ln w="25400">
            <a:noFill/>
          </a:ln>
        </p:spPr>
        <p:txBody>
          <a:bodyPr wrap="square">
            <a:spAutoFit/>
          </a:bodyPr>
          <a:lstStyle/>
          <a:p>
            <a:pPr>
              <a:lnSpc>
                <a:spcPct val="120000"/>
              </a:lnSpc>
              <a:spcBef>
                <a:spcPts val="600"/>
              </a:spcBef>
            </a:pPr>
            <a:r>
              <a:rPr lang="en-US" altLang="zh-CN" sz="1400" b="1" smtClean="0">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1</a:t>
            </a: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项目约束条件的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识别与量化分析</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2.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范围界定与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MECE</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原则的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理解与应用</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3.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甘特图中关键路径的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识别与验证</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4.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项目成本核算与利润</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5.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风险登记册中应对策略的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具体化</a:t>
            </a:r>
          </a:p>
        </p:txBody>
      </p:sp>
      <p:sp>
        <p:nvSpPr>
          <p:cNvPr id="6"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四</a:t>
            </a:r>
            <a:r>
              <a:rPr lang="zh-CN" altLang="en-US" sz="2800" b="1" smtClean="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、教育教学活动</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131570"/>
            <a:ext cx="4032448"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教学活</a:t>
            </a:r>
            <a:r>
              <a:rPr lang="zh-CN" altLang="en-US" sz="2400" b="1" smtClean="0">
                <a:solidFill>
                  <a:schemeClr val="bg1"/>
                </a:solidFill>
                <a:latin typeface="微软雅黑" panose="020B0503020204020204" pitchFamily="34" charset="-122"/>
                <a:ea typeface="微软雅黑" panose="020B0503020204020204" pitchFamily="34" charset="-122"/>
              </a:rPr>
              <a:t>动重点与难点</a:t>
            </a:r>
            <a:endParaRPr lang="zh-CN" altLang="en-US" sz="2400" b="1">
              <a:solidFill>
                <a:srgbClr val="FFFF00"/>
              </a:solidFill>
              <a:latin typeface="微软雅黑" panose="020B0503020204020204" pitchFamily="34" charset="-122"/>
              <a:ea typeface="微软雅黑" panose="020B0503020204020204" pitchFamily="34" charset="-122"/>
            </a:endParaRPr>
          </a:p>
        </p:txBody>
      </p:sp>
      <p:sp>
        <p:nvSpPr>
          <p:cNvPr id="7" name="矩形 6"/>
          <p:cNvSpPr/>
          <p:nvPr/>
        </p:nvSpPr>
        <p:spPr>
          <a:xfrm>
            <a:off x="4283968" y="2147677"/>
            <a:ext cx="3456384" cy="1951303"/>
          </a:xfrm>
          <a:prstGeom prst="rect">
            <a:avLst/>
          </a:prstGeom>
          <a:ln w="25400">
            <a:noFill/>
          </a:ln>
        </p:spPr>
        <p:txBody>
          <a:bodyPr wrap="square">
            <a:spAutoFit/>
          </a:bodyPr>
          <a:lstStyle/>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1.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做事思维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认知转换</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2. </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分解中颗粒度的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把握</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3.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关键路径的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计算与验证</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4.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成本核算中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成本表的数据追溯与利润优化</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p>
          <a:p>
            <a:pPr>
              <a:lnSpc>
                <a:spcPct val="120000"/>
              </a:lnSpc>
              <a:spcBef>
                <a:spcPts val="600"/>
              </a:spcBef>
            </a:pPr>
            <a:r>
              <a:rPr lang="en-US" altLang="zh-CN" sz="1400" b="1">
                <a:solidFill>
                  <a:srgbClr val="0070C0"/>
                </a:solidFill>
                <a:latin typeface="Arial Black" panose="020B0A04020102020204" pitchFamily="34" charset="0"/>
                <a:ea typeface="微软雅黑" panose="020B0503020204020204" pitchFamily="34" charset="-122"/>
                <a:cs typeface="Times New Roman" panose="02020603050405020304" pitchFamily="18" charset="0"/>
              </a:rPr>
              <a:t>5. </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技术思维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转换</a:t>
            </a:r>
          </a:p>
        </p:txBody>
      </p:sp>
      <p:sp>
        <p:nvSpPr>
          <p:cNvPr id="2" name="矩形 1"/>
          <p:cNvSpPr/>
          <p:nvPr/>
        </p:nvSpPr>
        <p:spPr>
          <a:xfrm>
            <a:off x="899592" y="1763215"/>
            <a:ext cx="172819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教学活动重点：</a:t>
            </a:r>
            <a:endParaRPr lang="zh-CN" altLang="en-US" b="1"/>
          </a:p>
        </p:txBody>
      </p:sp>
      <p:sp>
        <p:nvSpPr>
          <p:cNvPr id="9" name="矩形 8"/>
          <p:cNvSpPr/>
          <p:nvPr/>
        </p:nvSpPr>
        <p:spPr>
          <a:xfrm>
            <a:off x="4283968" y="1763215"/>
            <a:ext cx="2088232" cy="369332"/>
          </a:xfrm>
          <a:prstGeom prst="rect">
            <a:avLst/>
          </a:prstGeom>
        </p:spPr>
        <p:txBody>
          <a:bodyPr wrap="square">
            <a:spAutoFit/>
          </a:bodyPr>
          <a:lstStyle/>
          <a:p>
            <a:r>
              <a:rPr lang="zh-CN" altLang="en-US"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endParaRPr lang="zh-CN" altLang="en-US" b="1"/>
          </a:p>
        </p:txBody>
      </p:sp>
    </p:spTree>
    <p:extLst>
      <p:ext uri="{BB962C8B-B14F-4D97-AF65-F5344CB8AC3E}">
        <p14:creationId xmlns:p14="http://schemas.microsoft.com/office/powerpoint/2010/main" val="37376331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599" y="1707654"/>
            <a:ext cx="6768753" cy="426335"/>
          </a:xfrm>
          <a:prstGeom prst="rect">
            <a:avLst/>
          </a:prstGeom>
        </p:spPr>
        <p:txBody>
          <a:bodyPr wrap="square">
            <a:spAutoFit/>
          </a:bodyPr>
          <a:lstStyle/>
          <a:p>
            <a:pPr lvl="0">
              <a:lnSpc>
                <a:spcPct val="120000"/>
              </a:lnSpc>
              <a:spcBef>
                <a:spcPts val="600"/>
              </a:spcBef>
            </a:pP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分一句话总结——项目管理的核心价值？</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sym typeface="+mn-ea"/>
              </a:rPr>
              <a:t>高佳玥</a:t>
            </a:r>
          </a:p>
        </p:txBody>
      </p:sp>
      <p:sp>
        <p:nvSpPr>
          <p:cNvPr id="3" name="矩形 2"/>
          <p:cNvSpPr/>
          <p:nvPr/>
        </p:nvSpPr>
        <p:spPr>
          <a:xfrm>
            <a:off x="981478" y="2344591"/>
            <a:ext cx="7200802" cy="654988"/>
          </a:xfrm>
          <a:prstGeom prst="rect">
            <a:avLst/>
          </a:prstGeom>
        </p:spPr>
        <p:txBody>
          <a:bodyPr wrap="square">
            <a:spAutoFit/>
          </a:bodyPr>
          <a:lstStyle/>
          <a:p>
            <a:pPr algn="just">
              <a:lnSpc>
                <a:spcPct val="120000"/>
              </a:lnSpc>
              <a:spcBef>
                <a:spcPts val="600"/>
              </a:spcBef>
            </a:pPr>
            <a:r>
              <a:rPr lang="zh-CN" altLang="en-US" sz="1600" b="1" dirty="0">
                <a:latin typeface="Times New Roman" panose="02020603050405020304" pitchFamily="18" charset="0"/>
                <a:ea typeface="仿宋" panose="02010609060101010101" pitchFamily="49" charset="-122"/>
                <a:cs typeface="Times New Roman" panose="02020603050405020304" pitchFamily="18" charset="0"/>
              </a:rPr>
              <a:t>"项目管理让团队从『随机应变』走向『有备而来』——用结构化的分工、进度和范围控制，确保每个人在正确的时间做正确的事。"</a:t>
            </a:r>
          </a:p>
        </p:txBody>
      </p:sp>
      <p:sp>
        <p:nvSpPr>
          <p:cNvPr id="6" name="矩形 5"/>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823905669"/>
      </p:ext>
    </p:extLst>
  </p:cSld>
  <p:clrMapOvr>
    <a:masterClrMapping/>
  </p:clrMapOvr>
  <p:transition advTm="31939">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71600" y="1707515"/>
            <a:ext cx="6840760" cy="720197"/>
          </a:xfrm>
          <a:prstGeom prst="rect">
            <a:avLst/>
          </a:prstGeom>
        </p:spPr>
        <p:txBody>
          <a:bodyPr wrap="square">
            <a:spAutoFit/>
          </a:bodyPr>
          <a:lstStyle/>
          <a:p>
            <a:pPr lvl="0">
              <a:lnSpc>
                <a:spcPct val="120000"/>
              </a:lnSpc>
              <a:spcBef>
                <a:spcPts val="600"/>
              </a:spcBef>
            </a:pPr>
            <a:r>
              <a:rPr lang="zh-CN" altLang="en-US" sz="1400" b="1" dirty="0">
                <a:latin typeface="Times New Roman" panose="02020603050405020304" pitchFamily="18" charset="0"/>
                <a:ea typeface="仿宋" panose="02010609060101010101" pitchFamily="49" charset="-122"/>
                <a:cs typeface="Times New Roman" panose="02020603050405020304" pitchFamily="18" charset="0"/>
                <a:sym typeface="+mn-ea"/>
              </a:rPr>
              <a:t>你认为上述工作中，哪个阶段最容易出现"范围蔓延"（做了不该做的事，或不断新增需求）？</a:t>
            </a:r>
            <a:r>
              <a:rPr lang="en-US" altLang="zh-CN" sz="1400" b="1" dirty="0">
                <a:latin typeface="Times New Roman" panose="02020603050405020304" pitchFamily="18" charset="0"/>
                <a:ea typeface="仿宋" panose="02010609060101010101" pitchFamily="49" charset="-122"/>
                <a:cs typeface="Times New Roman" panose="02020603050405020304" pitchFamily="18" charset="0"/>
                <a:sym typeface="+mn-ea"/>
              </a:rPr>
              <a:t>——</a:t>
            </a:r>
            <a:r>
              <a:rPr lang="zh-CN" altLang="en-US" sz="2000" b="1" dirty="0">
                <a:latin typeface="Times New Roman" panose="02020603050405020304" pitchFamily="18" charset="0"/>
                <a:ea typeface="仿宋" panose="02010609060101010101" pitchFamily="49" charset="-122"/>
                <a:cs typeface="Times New Roman" panose="02020603050405020304" pitchFamily="18" charset="0"/>
                <a:sym typeface="+mn-ea"/>
              </a:rPr>
              <a:t>齐高雅</a:t>
            </a:r>
          </a:p>
        </p:txBody>
      </p:sp>
      <p:sp>
        <p:nvSpPr>
          <p:cNvPr id="3" name="矩形 2"/>
          <p:cNvSpPr/>
          <p:nvPr/>
        </p:nvSpPr>
        <p:spPr>
          <a:xfrm>
            <a:off x="971601" y="2470950"/>
            <a:ext cx="6840759" cy="1641475"/>
          </a:xfrm>
          <a:prstGeom prst="rect">
            <a:avLst/>
          </a:prstGeom>
        </p:spPr>
        <p:txBody>
          <a:bodyPr wrap="square">
            <a:spAutoFit/>
          </a:bodyPr>
          <a:lstStyle/>
          <a:p>
            <a:pPr algn="just">
              <a:lnSpc>
                <a:spcPct val="120000"/>
              </a:lnSpc>
              <a:spcBef>
                <a:spcPts val="600"/>
              </a:spcBef>
            </a:pP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最容易发生范围蔓延的是第3阶段——原型开发与模块实现。原因在于：这个阶段正处在核心功能开发过程中，团队很容易在收到测试反馈或者冒出新想法时，</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想额外加一些本来不在范围内的功能</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，比如用户朋友圈、兴趣标签细化、消息表情包等等。开发过程中队员容易觉得"加个小功能也花不了多少时间，还能提升作品效果"，在</a:t>
            </a:r>
            <a:r>
              <a:rPr lang="zh-CN" altLang="en-US" sz="1400" b="1" dirty="0">
                <a:latin typeface="Times New Roman" panose="02020603050405020304" pitchFamily="18" charset="0"/>
                <a:ea typeface="仿宋" panose="02010609060101010101" pitchFamily="49" charset="-122"/>
                <a:cs typeface="Times New Roman" panose="02020603050405020304" pitchFamily="18" charset="0"/>
              </a:rPr>
              <a:t>没有走变更评估流程</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的情况下就随手加功能，导致开发内容越来越多，挤占了原本留给核心功能调试和</a:t>
            </a: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bug</a:t>
            </a:r>
            <a:r>
              <a:rPr lang="zh-CN" altLang="en-US" sz="1400" dirty="0">
                <a:latin typeface="Times New Roman" panose="02020603050405020304" pitchFamily="18" charset="0"/>
                <a:ea typeface="仿宋" panose="02010609060101010101" pitchFamily="49" charset="-122"/>
                <a:cs typeface="Times New Roman" panose="02020603050405020304" pitchFamily="18" charset="0"/>
              </a:rPr>
              <a:t>修复的时间，最终造成范围蔓延，影响比赛的交付进度。</a:t>
            </a:r>
          </a:p>
        </p:txBody>
      </p:sp>
      <p:sp>
        <p:nvSpPr>
          <p:cNvPr id="6" name="矩形 5"/>
          <p:cNvSpPr/>
          <p:nvPr/>
        </p:nvSpPr>
        <p:spPr>
          <a:xfrm>
            <a:off x="971600" y="1131591"/>
            <a:ext cx="5400600" cy="460375"/>
          </a:xfrm>
          <a:prstGeom prst="rect">
            <a:avLst/>
          </a:prstGeom>
          <a:solidFill>
            <a:srgbClr val="0070C0"/>
          </a:solidFill>
        </p:spPr>
        <p:txBody>
          <a:bodyPr wrap="square">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r>
              <a:rPr lang="zh-CN" altLang="en-US" sz="2400" b="1" dirty="0">
                <a:solidFill>
                  <a:schemeClr val="bg1"/>
                </a:solidFill>
                <a:latin typeface="微软雅黑" panose="020B0503020204020204" pitchFamily="34" charset="-122"/>
                <a:ea typeface="微软雅黑" panose="020B0503020204020204" pitchFamily="34" charset="-122"/>
              </a:rPr>
              <a:t>、</a:t>
            </a:r>
            <a:r>
              <a:rPr lang="zh-CN" altLang="zh-CN" sz="2400" b="1" dirty="0">
                <a:solidFill>
                  <a:schemeClr val="bg1"/>
                </a:solidFill>
                <a:latin typeface="微软雅黑" panose="020B0503020204020204" pitchFamily="34" charset="-122"/>
                <a:ea typeface="微软雅黑" panose="020B0503020204020204" pitchFamily="34" charset="-122"/>
              </a:rPr>
              <a:t>分享</a:t>
            </a:r>
            <a:r>
              <a:rPr lang="zh-CN" altLang="en-US" sz="2400" b="1" dirty="0">
                <a:solidFill>
                  <a:schemeClr val="bg1"/>
                </a:solidFill>
                <a:latin typeface="微软雅黑" panose="020B0503020204020204" pitchFamily="34" charset="-122"/>
                <a:ea typeface="微软雅黑" panose="020B0503020204020204" pitchFamily="34" charset="-122"/>
              </a:rPr>
              <a:t>课前学习活动优秀</a:t>
            </a:r>
            <a:r>
              <a:rPr lang="zh-CN" altLang="zh-CN" sz="2400" b="1" dirty="0">
                <a:solidFill>
                  <a:schemeClr val="bg1"/>
                </a:solidFill>
                <a:latin typeface="微软雅黑" panose="020B0503020204020204" pitchFamily="34" charset="-122"/>
                <a:ea typeface="微软雅黑" panose="020B0503020204020204" pitchFamily="34" charset="-122"/>
              </a:rPr>
              <a:t>学习成果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0"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063691953"/>
      </p:ext>
    </p:extLst>
  </p:cSld>
  <p:clrMapOvr>
    <a:masterClrMapping/>
  </p:clrMapOvr>
  <p:transition advTm="31939">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99592" y="1707654"/>
            <a:ext cx="6984776" cy="2428357"/>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项目管理认知成果</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展示与讲</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评</a:t>
            </a:r>
            <a:endParaRPr lang="en-US"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帮助学生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识别问题</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命名问题</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的认知跃迁</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项目管理不是新知识，而是我们</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已有</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经验的系统化命名</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这一核心认知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各学习小组（</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前序痛点向项目管理知识领域的映射，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建立</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经验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概念</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的初步认知框架</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a:t>
            </a:r>
          </a:p>
        </p:txBody>
      </p:sp>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136745"/>
            <a:ext cx="525658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展</a:t>
            </a:r>
            <a:r>
              <a:rPr lang="zh-CN" altLang="zh-CN" sz="2400" b="1">
                <a:solidFill>
                  <a:schemeClr val="bg1"/>
                </a:solidFill>
                <a:latin typeface="Times New Roman" panose="02020603050405020304" pitchFamily="18" charset="0"/>
                <a:ea typeface="微软雅黑" panose="020B0503020204020204" pitchFamily="34" charset="-122"/>
              </a:rPr>
              <a:t>示与讲评</a:t>
            </a:r>
            <a:r>
              <a:rPr lang="zh-CN" altLang="zh-CN" sz="2400" b="1" smtClean="0">
                <a:solidFill>
                  <a:schemeClr val="bg1"/>
                </a:solidFill>
                <a:latin typeface="Times New Roman" panose="02020603050405020304" pitchFamily="18" charset="0"/>
                <a:ea typeface="微软雅黑" panose="020B0503020204020204" pitchFamily="34" charset="-122"/>
              </a:rPr>
              <a:t>项</a:t>
            </a:r>
            <a:r>
              <a:rPr lang="zh-CN" altLang="zh-CN" sz="2400" b="1">
                <a:solidFill>
                  <a:schemeClr val="bg1"/>
                </a:solidFill>
                <a:latin typeface="Times New Roman" panose="02020603050405020304" pitchFamily="18" charset="0"/>
                <a:ea typeface="微软雅黑" panose="020B0503020204020204" pitchFamily="34" charset="-122"/>
              </a:rPr>
              <a:t>目管理认知成</a:t>
            </a:r>
            <a:r>
              <a:rPr lang="zh-CN" altLang="zh-CN" sz="2400" b="1" smtClean="0">
                <a:solidFill>
                  <a:schemeClr val="bg1"/>
                </a:solidFill>
                <a:latin typeface="Times New Roman" panose="02020603050405020304" pitchFamily="18" charset="0"/>
                <a:ea typeface="微软雅黑" panose="020B0503020204020204" pitchFamily="34" charset="-122"/>
              </a:rPr>
              <a:t>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56693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2" y="1635646"/>
            <a:ext cx="7416824" cy="1468094"/>
          </a:xfrm>
          <a:prstGeom prst="rect">
            <a:avLst/>
          </a:prstGeom>
          <a:ln w="25400">
            <a:noFill/>
          </a:ln>
        </p:spPr>
        <p:txBody>
          <a:bodyPr wrap="square">
            <a:spAutoFit/>
          </a:bodyPr>
          <a:lstStyle/>
          <a:p>
            <a:pPr>
              <a:lnSpc>
                <a:spcPct val="120000"/>
              </a:lnSpc>
              <a:spcBef>
                <a:spcPts val="600"/>
              </a:spcBef>
            </a:pPr>
            <a:r>
              <a:rPr lang="zh-CN" altLang="zh-CN" sz="1400" b="1">
                <a:latin typeface="Times New Roman" panose="02020603050405020304" pitchFamily="18" charset="0"/>
                <a:ea typeface="仿宋" panose="02010609060101010101" pitchFamily="49" charset="-122"/>
                <a:cs typeface="Times New Roman" panose="02020603050405020304" pitchFamily="18" charset="0"/>
              </a:rPr>
              <a:t>第一阶段：团队讨论</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从</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痛点</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到</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问题命名</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的映射（</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4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步骤一：痛点汇总（</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各学习小组成员分享课前任务中记录的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个关键发现：①自己复盘中最深刻的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个痛点；②该痛点对应的初步判断（属于哪个知识领域）。小组将所有人提出的痛点与知识领域汇总至《痛点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知识领域映射表》。</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《痛点</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知识领域映射表》模板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953314593"/>
              </p:ext>
            </p:extLst>
          </p:nvPr>
        </p:nvGraphicFramePr>
        <p:xfrm>
          <a:off x="899592" y="3140976"/>
          <a:ext cx="7344816" cy="1830295"/>
        </p:xfrm>
        <a:graphic>
          <a:graphicData uri="http://schemas.openxmlformats.org/drawingml/2006/table">
            <a:tbl>
              <a:tblPr firstRow="1" firstCol="1" bandRow="1">
                <a:tableStyleId>{5C22544A-7EE6-4342-B048-85BDC9FD1C3A}</a:tableStyleId>
              </a:tblPr>
              <a:tblGrid>
                <a:gridCol w="533845">
                  <a:extLst>
                    <a:ext uri="{9D8B030D-6E8A-4147-A177-3AD203B41FA5}">
                      <a16:colId xmlns:a16="http://schemas.microsoft.com/office/drawing/2014/main" val="2871204763"/>
                    </a:ext>
                  </a:extLst>
                </a:gridCol>
                <a:gridCol w="1103757">
                  <a:extLst>
                    <a:ext uri="{9D8B030D-6E8A-4147-A177-3AD203B41FA5}">
                      <a16:colId xmlns:a16="http://schemas.microsoft.com/office/drawing/2014/main" val="2290025722"/>
                    </a:ext>
                  </a:extLst>
                </a:gridCol>
                <a:gridCol w="3474966">
                  <a:extLst>
                    <a:ext uri="{9D8B030D-6E8A-4147-A177-3AD203B41FA5}">
                      <a16:colId xmlns:a16="http://schemas.microsoft.com/office/drawing/2014/main" val="1914101662"/>
                    </a:ext>
                  </a:extLst>
                </a:gridCol>
                <a:gridCol w="2232248">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序号</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痛点描述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对应知识领域</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专业术语</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en-US"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rPr>
                        <a:t>1</a:t>
                      </a:r>
                      <a:endParaRPr lang="zh-CN"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en-US"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rPr>
                        <a:t>2</a:t>
                      </a:r>
                      <a:endParaRPr lang="zh-CN"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en-US"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rPr>
                        <a:t>3</a:t>
                      </a:r>
                      <a:endParaRPr lang="zh-CN"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en-US"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rPr>
                        <a:t>4</a:t>
                      </a:r>
                      <a:endParaRPr lang="zh-CN"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91776260"/>
                  </a:ext>
                </a:extLst>
              </a:tr>
              <a:tr h="288032">
                <a:tc>
                  <a:txBody>
                    <a:bodyPr/>
                    <a:lstStyle/>
                    <a:p>
                      <a:pPr marL="0" algn="ctr" defTabSz="914400" rtl="0" eaLnBrk="1" latinLnBrk="0" hangingPunct="1">
                        <a:spcAft>
                          <a:spcPts val="0"/>
                        </a:spcAft>
                      </a:pPr>
                      <a:r>
                        <a:rPr lang="en-US" sz="1100" kern="0" smtClea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rPr>
                        <a:t>5</a:t>
                      </a:r>
                      <a:endParaRPr lang="zh-CN" sz="1100" kern="0">
                        <a:solidFill>
                          <a:schemeClr val="bg1"/>
                        </a:solidFill>
                        <a:effectLst/>
                        <a:latin typeface="Arial Black" panose="020B0A04020102020204" pitchFamily="34"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18693381"/>
                  </a:ext>
                </a:extLst>
              </a:tr>
            </a:tbl>
          </a:graphicData>
        </a:graphic>
      </p:graphicFrame>
      <p:sp>
        <p:nvSpPr>
          <p:cNvPr id="8" name="矩形 7"/>
          <p:cNvSpPr/>
          <p:nvPr/>
        </p:nvSpPr>
        <p:spPr>
          <a:xfrm>
            <a:off x="899592" y="1136745"/>
            <a:ext cx="525658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展</a:t>
            </a:r>
            <a:r>
              <a:rPr lang="zh-CN" altLang="zh-CN" sz="2400" b="1">
                <a:solidFill>
                  <a:schemeClr val="bg1"/>
                </a:solidFill>
                <a:latin typeface="Times New Roman" panose="02020603050405020304" pitchFamily="18" charset="0"/>
                <a:ea typeface="微软雅黑" panose="020B0503020204020204" pitchFamily="34" charset="-122"/>
              </a:rPr>
              <a:t>示与讲评</a:t>
            </a:r>
            <a:r>
              <a:rPr lang="zh-CN" altLang="zh-CN" sz="2400" b="1" smtClean="0">
                <a:solidFill>
                  <a:schemeClr val="bg1"/>
                </a:solidFill>
                <a:latin typeface="Times New Roman" panose="02020603050405020304" pitchFamily="18" charset="0"/>
                <a:ea typeface="微软雅黑" panose="020B0503020204020204" pitchFamily="34" charset="-122"/>
              </a:rPr>
              <a:t>项</a:t>
            </a:r>
            <a:r>
              <a:rPr lang="zh-CN" altLang="zh-CN" sz="2400" b="1">
                <a:solidFill>
                  <a:schemeClr val="bg1"/>
                </a:solidFill>
                <a:latin typeface="Times New Roman" panose="02020603050405020304" pitchFamily="18" charset="0"/>
                <a:ea typeface="微软雅黑" panose="020B0503020204020204" pitchFamily="34" charset="-122"/>
              </a:rPr>
              <a:t>目管理认知成</a:t>
            </a:r>
            <a:r>
              <a:rPr lang="zh-CN" altLang="zh-CN" sz="2400" b="1" smtClean="0">
                <a:solidFill>
                  <a:schemeClr val="bg1"/>
                </a:solidFill>
                <a:latin typeface="Times New Roman" panose="02020603050405020304" pitchFamily="18" charset="0"/>
                <a:ea typeface="微软雅黑" panose="020B0503020204020204" pitchFamily="34" charset="-122"/>
              </a:rPr>
              <a:t>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7365634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899592" y="1635646"/>
            <a:ext cx="7416824" cy="1853136"/>
          </a:xfrm>
          <a:prstGeom prst="rect">
            <a:avLst/>
          </a:prstGeom>
          <a:ln w="25400">
            <a:noFill/>
          </a:ln>
        </p:spPr>
        <p:txBody>
          <a:bodyPr wrap="square">
            <a:spAutoFit/>
          </a:bodyPr>
          <a:lstStyle/>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步骤二：知识领域讨论与术语匹配（</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小组讨论并确认每项痛点的知识领域归属与专业术语命名，填写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专业术语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a:t>
            </a: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步骤三：一句话总结（</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小组讨论后，用一句话回答以下问题：</a:t>
            </a:r>
          </a:p>
          <a:p>
            <a:pPr>
              <a:lnSpc>
                <a:spcPct val="120000"/>
              </a:lnSpc>
              <a:spcBef>
                <a:spcPts val="3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如果用一句话告诉还没有学过项目管理的同学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项目管理能帮我们解决什么问题？你们会怎么说？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第二阶段：教师讲评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你们遇到的问题，都有名字</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教师从各组成果中选取典型案例进行讲评，聚焦以下对应关系：</a:t>
            </a:r>
          </a:p>
        </p:txBody>
      </p:sp>
      <p:graphicFrame>
        <p:nvGraphicFramePr>
          <p:cNvPr id="7" name="表格 6"/>
          <p:cNvGraphicFramePr>
            <a:graphicFrameLocks noGrp="1"/>
          </p:cNvGraphicFramePr>
          <p:nvPr>
            <p:extLst>
              <p:ext uri="{D42A27DB-BD31-4B8C-83A1-F6EECF244321}">
                <p14:modId xmlns:p14="http://schemas.microsoft.com/office/powerpoint/2010/main" val="4063781232"/>
              </p:ext>
            </p:extLst>
          </p:nvPr>
        </p:nvGraphicFramePr>
        <p:xfrm>
          <a:off x="899592" y="3514924"/>
          <a:ext cx="4896544" cy="1519006"/>
        </p:xfrm>
        <a:graphic>
          <a:graphicData uri="http://schemas.openxmlformats.org/drawingml/2006/table">
            <a:tbl>
              <a:tblPr firstRow="1" firstCol="1" bandRow="1">
                <a:tableStyleId>{5C22544A-7EE6-4342-B048-85BDC9FD1C3A}</a:tableStyleId>
              </a:tblPr>
              <a:tblGrid>
                <a:gridCol w="2664296">
                  <a:extLst>
                    <a:ext uri="{9D8B030D-6E8A-4147-A177-3AD203B41FA5}">
                      <a16:colId xmlns:a16="http://schemas.microsoft.com/office/drawing/2014/main" val="1914101662"/>
                    </a:ext>
                  </a:extLst>
                </a:gridCol>
                <a:gridCol w="2232248">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前序痛点（学生的语言）</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项目管理术语（专业的语言）</a:t>
                      </a:r>
                    </a:p>
                  </a:txBody>
                  <a:tcPr marL="68580" marR="68580" marT="0" marB="0" anchor="ctr"/>
                </a:tc>
                <a:extLst>
                  <a:ext uri="{0D108BD9-81ED-4DB2-BD59-A6C34878D82A}">
                    <a16:rowId xmlns:a16="http://schemas.microsoft.com/office/drawing/2014/main" val="174513558"/>
                  </a:ext>
                </a:extLst>
              </a:tr>
              <a:tr h="222862">
                <a:tc>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两个人做了同一件事，有的事没人做</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责任分配不清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资源管理缺失</a:t>
                      </a:r>
                    </a:p>
                  </a:txBody>
                  <a:tcPr marL="68580" marR="68580" marT="0" marB="0" anchor="ctr"/>
                </a:tc>
                <a:extLst>
                  <a:ext uri="{0D108BD9-81ED-4DB2-BD59-A6C34878D82A}">
                    <a16:rowId xmlns:a16="http://schemas.microsoft.com/office/drawing/2014/main" val="3845462762"/>
                  </a:ext>
                </a:extLst>
              </a:tr>
              <a:tr h="288032">
                <a:tc>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做到一半发现时间不够了</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进度失控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缺乏里程碑</a:t>
                      </a:r>
                    </a:p>
                  </a:txBody>
                  <a:tcPr marL="68580" marR="68580" marT="0" marB="0" anchor="ctr"/>
                </a:tc>
                <a:extLst>
                  <a:ext uri="{0D108BD9-81ED-4DB2-BD59-A6C34878D82A}">
                    <a16:rowId xmlns:a16="http://schemas.microsoft.com/office/drawing/2014/main" val="3755180311"/>
                  </a:ext>
                </a:extLst>
              </a:tr>
              <a:tr h="216024">
                <a:tc>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做着做着偏离了原来的目标</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范围蔓延</a:t>
                      </a:r>
                    </a:p>
                  </a:txBody>
                  <a:tcPr marL="68580" marR="68580" marT="0" marB="0" anchor="ctr"/>
                </a:tc>
                <a:extLst>
                  <a:ext uri="{0D108BD9-81ED-4DB2-BD59-A6C34878D82A}">
                    <a16:rowId xmlns:a16="http://schemas.microsoft.com/office/drawing/2014/main" val="926339690"/>
                  </a:ext>
                </a:extLst>
              </a:tr>
              <a:tr h="216024">
                <a:tc>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出了问题不知道找谁</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沟通机制缺失</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责任不明</a:t>
                      </a:r>
                    </a:p>
                  </a:txBody>
                  <a:tcPr marL="68580" marR="68580" marT="0" marB="0" anchor="ctr"/>
                </a:tc>
                <a:extLst>
                  <a:ext uri="{0D108BD9-81ED-4DB2-BD59-A6C34878D82A}">
                    <a16:rowId xmlns:a16="http://schemas.microsoft.com/office/drawing/2014/main" val="1791776260"/>
                  </a:ext>
                </a:extLst>
              </a:tr>
              <a:tr h="288032">
                <a:tc>
                  <a:txBody>
                    <a:bodyPr/>
                    <a:lstStyle/>
                    <a:p>
                      <a:pPr marL="0" algn="l"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出现意外只能临时救火</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风险意识缺失</a:t>
                      </a:r>
                    </a:p>
                  </a:txBody>
                  <a:tcPr marL="68580" marR="68580" marT="0" marB="0" anchor="ctr"/>
                </a:tc>
                <a:extLst>
                  <a:ext uri="{0D108BD9-81ED-4DB2-BD59-A6C34878D82A}">
                    <a16:rowId xmlns:a16="http://schemas.microsoft.com/office/drawing/2014/main" val="1218693381"/>
                  </a:ext>
                </a:extLst>
              </a:tr>
            </a:tbl>
          </a:graphicData>
        </a:graphic>
      </p:graphicFrame>
      <p:sp>
        <p:nvSpPr>
          <p:cNvPr id="8" name="矩形 7"/>
          <p:cNvSpPr/>
          <p:nvPr/>
        </p:nvSpPr>
        <p:spPr>
          <a:xfrm>
            <a:off x="899592" y="1136745"/>
            <a:ext cx="525658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展</a:t>
            </a:r>
            <a:r>
              <a:rPr lang="zh-CN" altLang="zh-CN" sz="2400" b="1">
                <a:solidFill>
                  <a:schemeClr val="bg1"/>
                </a:solidFill>
                <a:latin typeface="Times New Roman" panose="02020603050405020304" pitchFamily="18" charset="0"/>
                <a:ea typeface="微软雅黑" panose="020B0503020204020204" pitchFamily="34" charset="-122"/>
              </a:rPr>
              <a:t>示与讲评</a:t>
            </a:r>
            <a:r>
              <a:rPr lang="zh-CN" altLang="zh-CN" sz="2400" b="1" smtClean="0">
                <a:solidFill>
                  <a:schemeClr val="bg1"/>
                </a:solidFill>
                <a:latin typeface="Times New Roman" panose="02020603050405020304" pitchFamily="18" charset="0"/>
                <a:ea typeface="微软雅黑" panose="020B0503020204020204" pitchFamily="34" charset="-122"/>
              </a:rPr>
              <a:t>项</a:t>
            </a:r>
            <a:r>
              <a:rPr lang="zh-CN" altLang="zh-CN" sz="2400" b="1">
                <a:solidFill>
                  <a:schemeClr val="bg1"/>
                </a:solidFill>
                <a:latin typeface="Times New Roman" panose="02020603050405020304" pitchFamily="18" charset="0"/>
                <a:ea typeface="微软雅黑" panose="020B0503020204020204" pitchFamily="34" charset="-122"/>
              </a:rPr>
              <a:t>目管理认知成</a:t>
            </a:r>
            <a:r>
              <a:rPr lang="zh-CN" altLang="zh-CN" sz="2400" b="1" smtClean="0">
                <a:solidFill>
                  <a:schemeClr val="bg1"/>
                </a:solidFill>
                <a:latin typeface="Times New Roman" panose="02020603050405020304" pitchFamily="18" charset="0"/>
                <a:ea typeface="微软雅黑" panose="020B0503020204020204" pitchFamily="34" charset="-122"/>
              </a:rPr>
              <a:t>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689998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1331640" y="1635646"/>
            <a:ext cx="6624736" cy="757130"/>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讲评的核心信息：</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你们遇到的所有问题都有专业名字。知道了名字，就能找到对应的工具和方法。这就是为什么需要学习项目管理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它不是一套陌生的新知识，而是对你们已有经验的系统化命名和组织化提升</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971600" y="2365305"/>
            <a:ext cx="6984776" cy="1646605"/>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前序痛点与项目管理知识领域的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映射关系建立</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经验</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概念</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认知跃迁</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方案内容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讨论向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过程管理</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反思的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视角转换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；将真实协作困境准确归类至对应的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项目管理知识领域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 name="矩形 9"/>
          <p:cNvSpPr/>
          <p:nvPr/>
        </p:nvSpPr>
        <p:spPr>
          <a:xfrm>
            <a:off x="899592" y="1136745"/>
            <a:ext cx="5256584"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展</a:t>
            </a:r>
            <a:r>
              <a:rPr lang="zh-CN" altLang="zh-CN" sz="2400" b="1">
                <a:solidFill>
                  <a:schemeClr val="bg1"/>
                </a:solidFill>
                <a:latin typeface="Times New Roman" panose="02020603050405020304" pitchFamily="18" charset="0"/>
                <a:ea typeface="微软雅黑" panose="020B0503020204020204" pitchFamily="34" charset="-122"/>
              </a:rPr>
              <a:t>示与讲评</a:t>
            </a:r>
            <a:r>
              <a:rPr lang="zh-CN" altLang="zh-CN" sz="2400" b="1" smtClean="0">
                <a:solidFill>
                  <a:schemeClr val="bg1"/>
                </a:solidFill>
                <a:latin typeface="Times New Roman" panose="02020603050405020304" pitchFamily="18" charset="0"/>
                <a:ea typeface="微软雅黑" panose="020B0503020204020204" pitchFamily="34" charset="-122"/>
              </a:rPr>
              <a:t>项</a:t>
            </a:r>
            <a:r>
              <a:rPr lang="zh-CN" altLang="zh-CN" sz="2400" b="1">
                <a:solidFill>
                  <a:schemeClr val="bg1"/>
                </a:solidFill>
                <a:latin typeface="Times New Roman" panose="02020603050405020304" pitchFamily="18" charset="0"/>
                <a:ea typeface="微软雅黑" panose="020B0503020204020204" pitchFamily="34" charset="-122"/>
              </a:rPr>
              <a:t>目管理认知成</a:t>
            </a:r>
            <a:r>
              <a:rPr lang="zh-CN" altLang="zh-CN" sz="2400" b="1" smtClean="0">
                <a:solidFill>
                  <a:schemeClr val="bg1"/>
                </a:solidFill>
                <a:latin typeface="Times New Roman" panose="02020603050405020304" pitchFamily="18" charset="0"/>
                <a:ea typeface="微软雅黑" panose="020B0503020204020204" pitchFamily="34" charset="-122"/>
              </a:rPr>
              <a:t>果</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783654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707654"/>
            <a:ext cx="6984776" cy="3314754"/>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实践</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——泡茶项目管理方案设</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计</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日常任务的执行者</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有限约束下项目的管理者转变，在竞标情境中</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包含范围界定、</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分解、甘特图与关键路径、成本核算、风险登记册在内的系统性管理方案，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在质量</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成本</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时间三角约束下做出最优管理决策</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的项目管理价值判断</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各学习小组</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包含范围界定、三级</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分解、甘特图</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（含关键路径与里程碑）</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、成本核算表、风险登记册在内的完整泡茶项目管理方案，</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作为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参与竞标的投标文件</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教学活动描述（</a:t>
            </a:r>
            <a:r>
              <a:rPr lang="en-US"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155</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分钟，不含课间休息时间）：</a:t>
            </a:r>
          </a:p>
        </p:txBody>
      </p:sp>
    </p:spTree>
    <p:extLst>
      <p:ext uri="{BB962C8B-B14F-4D97-AF65-F5344CB8AC3E}">
        <p14:creationId xmlns:p14="http://schemas.microsoft.com/office/powerpoint/2010/main" val="2398187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64970"/>
            <a:ext cx="7200800" cy="3182410"/>
          </a:xfrm>
          <a:prstGeom prst="rect">
            <a:avLst/>
          </a:prstGeom>
        </p:spPr>
        <p:txBody>
          <a:bodyPr wrap="square">
            <a:spAutoFit/>
          </a:bodyPr>
          <a:lstStyle/>
          <a:p>
            <a:pPr algn="just">
              <a:lnSpc>
                <a:spcPct val="120000"/>
              </a:lnSpc>
              <a:spcBef>
                <a:spcPts val="600"/>
              </a:spcBef>
              <a:spcAft>
                <a:spcPts val="0"/>
              </a:spcAft>
            </a:pP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第一阶段：项目招标信息发布、启动与约束条件识别（</a:t>
            </a:r>
            <a:r>
              <a:rPr lang="en-US" altLang="zh-CN" sz="1400" b="1" kern="1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4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4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各小组提取泡茶项目招标信息与任务书中的核心需求、质量标准和环境约束，完成资源、容量与成本的量化分析。</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步骤一：招标公告发布（</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教师向全班发布《泡茶项目招标公告》。各小组阅读公告，确认投标意向。</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《泡茶项目招标公告》</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招标方（业主方）：</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教师代表</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项目名称：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分钟绿茶冲泡服务项目管理方案</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项目概述：</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业主方需在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分钟内完成一杯符合特定质量要求的绿茶冲泡，现面向各学习小组公开征集最优管理方案</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2562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57936"/>
            <a:ext cx="7488832" cy="3444020"/>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投</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标方资格：</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各学习小组（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人）以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项目管理咨询团队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身份参与竞标。</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招标文件获取：</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有意投标的小组请向招标方领取《泡茶项目任务书》（含项目背景、质量要求、可用资源、关键约束、评标标准等详细信息）。</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投标截止时间：</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课堂竞标评审环节开始前。</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步骤二：招标文件领取与需求提取（</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各小组向教师领取《泡茶项目任务书》。阅读任务书，提取以下信息：项目目标与交付标准、质量要求、喝茶人偏好、环境条件、可用资源与限制条件、评标标准与中标规则。</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《泡茶项目任务书》：</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项目名称：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分钟绿茶冲泡服务项目</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项目发起人：</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教师代表（业主方）</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目标客户：</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岁爱喝绿茶男性，偏好淡茶、温热饮用</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从项目启动（开始取杯）到喝茶人接过茶杯并开始品饮，总工期目标为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13557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488832" cy="292709"/>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质</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量要求：</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941518499"/>
              </p:ext>
            </p:extLst>
          </p:nvPr>
        </p:nvGraphicFramePr>
        <p:xfrm>
          <a:off x="899592" y="1970699"/>
          <a:ext cx="6150469" cy="1830295"/>
        </p:xfrm>
        <a:graphic>
          <a:graphicData uri="http://schemas.openxmlformats.org/drawingml/2006/table">
            <a:tbl>
              <a:tblPr firstRow="1" firstCol="1" bandRow="1">
                <a:tableStyleId>{5C22544A-7EE6-4342-B048-85BDC9FD1C3A}</a:tableStyleId>
              </a:tblPr>
              <a:tblGrid>
                <a:gridCol w="1080120">
                  <a:extLst>
                    <a:ext uri="{9D8B030D-6E8A-4147-A177-3AD203B41FA5}">
                      <a16:colId xmlns:a16="http://schemas.microsoft.com/office/drawing/2014/main" val="1914101662"/>
                    </a:ext>
                  </a:extLst>
                </a:gridCol>
                <a:gridCol w="5070349">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标准类别</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具体要求</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汤色</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茶汤透亮、无沉淀</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温度</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65-75℃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（奉茶时使用温度计检测并记录；不得超过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℃，否则视为质量不合格）</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容量</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（杯容量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分满）</a:t>
                      </a: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口感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口味偏淡（投茶量约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2.5-3g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121869338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交付</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喝茶人接到茶杯并开始品饮；喝茶人对茶汤品质表示确认</a:t>
                      </a:r>
                    </a:p>
                  </a:txBody>
                  <a:tcPr marL="68580" marR="68580" marT="0" marB="0" anchor="ctr"/>
                </a:tc>
                <a:extLst>
                  <a:ext uri="{0D108BD9-81ED-4DB2-BD59-A6C34878D82A}">
                    <a16:rowId xmlns:a16="http://schemas.microsoft.com/office/drawing/2014/main" val="1527891233"/>
                  </a:ext>
                </a:extLst>
              </a:tr>
            </a:tbl>
          </a:graphicData>
        </a:graphic>
      </p:graphicFrame>
      <p:sp>
        <p:nvSpPr>
          <p:cNvPr id="3" name="矩形 2"/>
          <p:cNvSpPr/>
          <p:nvPr/>
        </p:nvSpPr>
        <p:spPr>
          <a:xfrm>
            <a:off x="899592" y="3939902"/>
            <a:ext cx="6984776" cy="834074"/>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项目地点：</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湖北省武汉市洪山区珞喻路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1037</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号西二楼</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305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室（海拔约</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37m</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，沸点约</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99.6</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℃；水压正常，水流速度适中，接水时间按常规估算即可）</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项目时间</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月</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26</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日</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6800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551934860"/>
              </p:ext>
            </p:extLst>
          </p:nvPr>
        </p:nvGraphicFramePr>
        <p:xfrm>
          <a:off x="971600" y="3143751"/>
          <a:ext cx="7128792" cy="1830295"/>
        </p:xfrm>
        <a:graphic>
          <a:graphicData uri="http://schemas.openxmlformats.org/drawingml/2006/table">
            <a:tbl>
              <a:tblPr firstRow="1" firstCol="1" bandRow="1">
                <a:tableStyleId>{5C22544A-7EE6-4342-B048-85BDC9FD1C3A}</a:tableStyleId>
              </a:tblPr>
              <a:tblGrid>
                <a:gridCol w="1008112">
                  <a:extLst>
                    <a:ext uri="{9D8B030D-6E8A-4147-A177-3AD203B41FA5}">
                      <a16:colId xmlns:a16="http://schemas.microsoft.com/office/drawing/2014/main" val="113947769"/>
                    </a:ext>
                  </a:extLst>
                </a:gridCol>
                <a:gridCol w="792088">
                  <a:extLst>
                    <a:ext uri="{9D8B030D-6E8A-4147-A177-3AD203B41FA5}">
                      <a16:colId xmlns:a16="http://schemas.microsoft.com/office/drawing/2014/main" val="1034369101"/>
                    </a:ext>
                  </a:extLst>
                </a:gridCol>
                <a:gridCol w="936104">
                  <a:extLst>
                    <a:ext uri="{9D8B030D-6E8A-4147-A177-3AD203B41FA5}">
                      <a16:colId xmlns:a16="http://schemas.microsoft.com/office/drawing/2014/main" val="2355929700"/>
                    </a:ext>
                  </a:extLst>
                </a:gridCol>
                <a:gridCol w="792088">
                  <a:extLst>
                    <a:ext uri="{9D8B030D-6E8A-4147-A177-3AD203B41FA5}">
                      <a16:colId xmlns:a16="http://schemas.microsoft.com/office/drawing/2014/main" val="2545839128"/>
                    </a:ext>
                  </a:extLst>
                </a:gridCol>
                <a:gridCol w="864096">
                  <a:extLst>
                    <a:ext uri="{9D8B030D-6E8A-4147-A177-3AD203B41FA5}">
                      <a16:colId xmlns:a16="http://schemas.microsoft.com/office/drawing/2014/main" val="1914101662"/>
                    </a:ext>
                  </a:extLst>
                </a:gridCol>
                <a:gridCol w="273630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品种</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产地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外形特征</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水温</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投茶法</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特殊工序与浸泡时间</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西湖龙井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浙江杭州</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扁平挺直</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80-85℃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中投法</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洞庭碧螺春</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江苏苏州</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卷曲呈螺</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75-80℃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上投法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先注水再投茶，避免烫熟芽叶（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黄山毛峰</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安徽黄山</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芽头肥壮</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80-85℃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中投法</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信阳毛尖</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河南信阳</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细圆紧直</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80-85℃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中投法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耐泡度高，可多次冲泡（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extLst>
                  <a:ext uri="{0D108BD9-81ED-4DB2-BD59-A6C34878D82A}">
                    <a16:rowId xmlns:a16="http://schemas.microsoft.com/office/drawing/2014/main" val="121869338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六安瓜片</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安徽六安</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单片瓜子形</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85-90℃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下投法</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两次冲泡，每次约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30-40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p>
                  </a:txBody>
                  <a:tcPr marL="68580" marR="68580" marT="0" marB="0" anchor="ctr"/>
                </a:tc>
                <a:extLst>
                  <a:ext uri="{0D108BD9-81ED-4DB2-BD59-A6C34878D82A}">
                    <a16:rowId xmlns:a16="http://schemas.microsoft.com/office/drawing/2014/main" val="1527891233"/>
                  </a:ext>
                </a:extLst>
              </a:tr>
            </a:tbl>
          </a:graphicData>
        </a:graphic>
      </p:graphicFrame>
      <p:sp>
        <p:nvSpPr>
          <p:cNvPr id="3" name="矩形 2"/>
          <p:cNvSpPr/>
          <p:nvPr/>
        </p:nvSpPr>
        <p:spPr>
          <a:xfrm>
            <a:off x="899592" y="1635646"/>
            <a:ext cx="6984776" cy="1508105"/>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可</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用资源：</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泡茶人（</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人）：</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武汉人、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岁、女性、身体健康</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设备：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1.2KW</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电热水壶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250ml</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陶瓷杯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材料：</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茶叶（品种由抽签决</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定</a:t>
            </a:r>
            <a:r>
              <a:rPr lang="zh-CN" altLang="en-US" sz="1200" kern="100" smtClean="0">
                <a:latin typeface="Times New Roman" panose="02020603050405020304" pitchFamily="18" charset="0"/>
                <a:ea typeface="仿宋" panose="02010609060101010101" pitchFamily="49" charset="-122"/>
                <a:cs typeface="Times New Roman" panose="02020603050405020304" pitchFamily="18" charset="0"/>
              </a:rPr>
              <a:t>或教师指定</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从中国五大绿茶中随机抽取一种）、矿泉水或自来水</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五大绿茶冲泡差异：</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11914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6984776" cy="1034450"/>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投茶法说明：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上投法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先注水后投茶（适用于细嫩芽叶）；中投法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先注三分之一水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再加至七分满（适用于扁形、紧结绿茶）；下投法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先投茶后注水（适用于叶片成熟的绿茶）。学生可根据抽签品种对应的投茶法，在方案设计中合理规划注水操作的步骤顺序与时间分配。</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成本约束：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项目总经费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元，须覆盖以下四项成本：</a:t>
            </a:r>
          </a:p>
        </p:txBody>
      </p:sp>
      <p:graphicFrame>
        <p:nvGraphicFramePr>
          <p:cNvPr id="2" name="表格 1"/>
          <p:cNvGraphicFramePr>
            <a:graphicFrameLocks noGrp="1"/>
          </p:cNvGraphicFramePr>
          <p:nvPr>
            <p:extLst>
              <p:ext uri="{D42A27DB-BD31-4B8C-83A1-F6EECF244321}">
                <p14:modId xmlns:p14="http://schemas.microsoft.com/office/powerpoint/2010/main" val="2616627586"/>
              </p:ext>
            </p:extLst>
          </p:nvPr>
        </p:nvGraphicFramePr>
        <p:xfrm>
          <a:off x="899592" y="2787774"/>
          <a:ext cx="7344816" cy="1830295"/>
        </p:xfrm>
        <a:graphic>
          <a:graphicData uri="http://schemas.openxmlformats.org/drawingml/2006/table">
            <a:tbl>
              <a:tblPr firstRow="1" firstCol="1" bandRow="1">
                <a:tableStyleId>{5C22544A-7EE6-4342-B048-85BDC9FD1C3A}</a:tableStyleId>
              </a:tblPr>
              <a:tblGrid>
                <a:gridCol w="1103757">
                  <a:extLst>
                    <a:ext uri="{9D8B030D-6E8A-4147-A177-3AD203B41FA5}">
                      <a16:colId xmlns:a16="http://schemas.microsoft.com/office/drawing/2014/main" val="3311445250"/>
                    </a:ext>
                  </a:extLst>
                </a:gridCol>
                <a:gridCol w="5088931">
                  <a:extLst>
                    <a:ext uri="{9D8B030D-6E8A-4147-A177-3AD203B41FA5}">
                      <a16:colId xmlns:a16="http://schemas.microsoft.com/office/drawing/2014/main" val="1483224347"/>
                    </a:ext>
                  </a:extLst>
                </a:gridCol>
                <a:gridCol w="1152128">
                  <a:extLst>
                    <a:ext uri="{9D8B030D-6E8A-4147-A177-3AD203B41FA5}">
                      <a16:colId xmlns:a16="http://schemas.microsoft.com/office/drawing/2014/main" val="2059368945"/>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说明</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金额（元）</a:t>
                      </a:r>
                    </a:p>
                  </a:txBody>
                  <a:tcPr marL="68580" marR="68580" marT="0" marB="0" anchor="ctr"/>
                </a:tc>
                <a:extLst>
                  <a:ext uri="{0D108BD9-81ED-4DB2-BD59-A6C34878D82A}">
                    <a16:rowId xmlns:a16="http://schemas.microsoft.com/office/drawing/2014/main" val="1653450629"/>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材料费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茶叶消耗（按克计，参考价约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）；矿泉水（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元）或自来水（免费）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待定</a:t>
                      </a:r>
                    </a:p>
                  </a:txBody>
                  <a:tcPr marL="68580" marR="68580" marT="0" marB="0" anchor="ctr"/>
                </a:tc>
                <a:extLst>
                  <a:ext uri="{0D108BD9-81ED-4DB2-BD59-A6C34878D82A}">
                    <a16:rowId xmlns:a16="http://schemas.microsoft.com/office/drawing/2014/main" val="49677351"/>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设备折旧费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电热水壶折旧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电费；陶瓷杯折旧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待定</a:t>
                      </a:r>
                    </a:p>
                  </a:txBody>
                  <a:tcPr marL="68580" marR="68580" marT="0" marB="0" anchor="ctr"/>
                </a:tc>
                <a:extLst>
                  <a:ext uri="{0D108BD9-81ED-4DB2-BD59-A6C34878D82A}">
                    <a16:rowId xmlns:a16="http://schemas.microsoft.com/office/drawing/2014/main" val="136786239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劳务费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泡茶人劳务报酬（按时间计）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待定</a:t>
                      </a:r>
                    </a:p>
                  </a:txBody>
                  <a:tcPr marL="68580" marR="68580" marT="0" marB="0" anchor="ctr"/>
                </a:tc>
                <a:extLst>
                  <a:ext uri="{0D108BD9-81ED-4DB2-BD59-A6C34878D82A}">
                    <a16:rowId xmlns:a16="http://schemas.microsoft.com/office/drawing/2014/main" val="2094515525"/>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利润</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项目盈余（须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待定</a:t>
                      </a:r>
                    </a:p>
                  </a:txBody>
                  <a:tcPr marL="68580" marR="68580" marT="0" marB="0" anchor="ctr"/>
                </a:tc>
                <a:extLst>
                  <a:ext uri="{0D108BD9-81ED-4DB2-BD59-A6C34878D82A}">
                    <a16:rowId xmlns:a16="http://schemas.microsoft.com/office/drawing/2014/main" val="1852985231"/>
                  </a:ext>
                </a:extLst>
              </a:tr>
              <a:tr h="288032">
                <a:tc gridSpan="2">
                  <a:txBody>
                    <a:bodyPr/>
                    <a:lstStyle/>
                    <a:p>
                      <a:pPr marL="0" algn="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仿宋" panose="02010609060101010101" pitchFamily="49" charset="-122"/>
                          <a:cs typeface="Times New Roman" panose="02020603050405020304" pitchFamily="18" charset="0"/>
                        </a:rPr>
                        <a:t>合计</a:t>
                      </a:r>
                      <a:endParaRPr lang="zh-CN" sz="1100" b="1" kern="100">
                        <a:solidFill>
                          <a:schemeClr val="lt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hMerge="1">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altLang="zh-CN"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r>
                        <a:rPr lang="zh-CN" altLang="en-US"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02841027"/>
                  </a:ext>
                </a:extLst>
              </a:tr>
            </a:tbl>
          </a:graphicData>
        </a:graphic>
      </p:graphicFrame>
    </p:spTree>
    <p:extLst>
      <p:ext uri="{BB962C8B-B14F-4D97-AF65-F5344CB8AC3E}">
        <p14:creationId xmlns:p14="http://schemas.microsoft.com/office/powerpoint/2010/main" val="40877026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416824" cy="335784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成本说明：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场地由校方提供，不纳入项目成本；项目管理团队即为执行团队，不产生管理费；项目周期仅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分钟，无融资需求，不计财务费；本模拟项目不涉及实际经营活动，不计税费。总经费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元为模拟预算，仅需覆盖上述四项成本。</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关键约束：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时间约束：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从启动到喝茶人开始品饮，总工期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分钟）。若测算后确认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秒不可行，团队须提交工期变更申请，用数据论证新工期的合理性。</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容量约束：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陶瓷杯容量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，注水量以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分满为宜（约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），不宜倒满。</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挥发损耗：</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烧水过程中约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的水分因蒸汽挥发而损失。最终需注入杯中约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茶水，实际需烧水量约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210-215ml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环</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境约束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室</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℃。根据牛顿冷却定律，物体冷却速率与其与环境温差成正比。经验估算：无保温措施时，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90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℃以上热水在室温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℃下冷却速度约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分钟；加盖保温可降低冷却速度至约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分钟。水温从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℃降至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℃约需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分钟（无保温措施）。学生需根据本组冲泡策略（是否加盖、是否分次注水），选择合理的冷却速度参数，并将其纳入甘特图的时间估算中。</a:t>
            </a:r>
          </a:p>
        </p:txBody>
      </p:sp>
    </p:spTree>
    <p:extLst>
      <p:ext uri="{BB962C8B-B14F-4D97-AF65-F5344CB8AC3E}">
        <p14:creationId xmlns:p14="http://schemas.microsoft.com/office/powerpoint/2010/main" val="10945732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5646"/>
            <a:ext cx="7704856" cy="3511731"/>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水源约束：</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矿泉水限量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（需决策每次烧水的水量与烧水次数，矿泉水需计入材料费）；自来水免费但需从走廊或洗手间接水（需估算接水时间）。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泡茶流程约束：</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水温控制：各品种所需水温不同（西湖龙井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80-85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℃、洞庭碧螺春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75-80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℃、黄山毛峰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80-85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℃、信阳毛尖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80-85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℃、六安瓜片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85-90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℃）。学生需根据牛顿冷却定律估算从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℃降至目标水温的时间，并将其纳入甘特图。</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投茶方式：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不同品种适用不同投茶法（上投法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中投法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下投法），影响注水操作的步骤顺序与时间分配。</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浸泡时间：西湖龙井约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分钟，信阳毛尖约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分钟，六安瓜片需二次冲泡（每次约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30-40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秒），具体依品种而定。</a:t>
            </a: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安</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全约束：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烫伤风险：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泡茶过程中，热水溅出或蒸汽可能导致泡茶人烫伤。操作者应保持与壶口的安全距离，注水时对准杯口缓慢操作，避免急冲或满溢。</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触电风险：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电热水壶为用电设备，手湿时不得操作电源开关；若发现设备漏电或线路异常，应立即停止操作并报告</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。电</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热水壶可能因设备故障而无法正常工作（如内部电路损坏、温控器失灵）；西二楼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室的供电线路也可能出现跳闸等局部供电问题。方案中需考虑设备或供电异常情况下的应对预案</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664009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4257956"/>
            <a:ext cx="7488832" cy="834074"/>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中</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标结果</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：中标方案将在班级内获得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最优项目管理方案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称号。</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如何泡茶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的技术问题，而是一个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如何在有限约束下设计最优执行方案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的管理问题。你的核心任务是回答：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如果我是这个项目的管理咨询团队，我会如何规划这个项目？我们的决策依据是什么？</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712074583"/>
              </p:ext>
            </p:extLst>
          </p:nvPr>
        </p:nvGraphicFramePr>
        <p:xfrm>
          <a:off x="899592" y="1995686"/>
          <a:ext cx="5469871" cy="2148422"/>
        </p:xfrm>
        <a:graphic>
          <a:graphicData uri="http://schemas.openxmlformats.org/drawingml/2006/table">
            <a:tbl>
              <a:tblPr firstRow="1" firstCol="1" bandRow="1">
                <a:tableStyleId>{5C22544A-7EE6-4342-B048-85BDC9FD1C3A}</a:tableStyleId>
              </a:tblPr>
              <a:tblGrid>
                <a:gridCol w="1221399">
                  <a:extLst>
                    <a:ext uri="{9D8B030D-6E8A-4147-A177-3AD203B41FA5}">
                      <a16:colId xmlns:a16="http://schemas.microsoft.com/office/drawing/2014/main" val="1914101662"/>
                    </a:ext>
                  </a:extLst>
                </a:gridCol>
                <a:gridCol w="616139">
                  <a:extLst>
                    <a:ext uri="{9D8B030D-6E8A-4147-A177-3AD203B41FA5}">
                      <a16:colId xmlns:a16="http://schemas.microsoft.com/office/drawing/2014/main" val="233002536"/>
                    </a:ext>
                  </a:extLst>
                </a:gridCol>
                <a:gridCol w="3632333">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评审维度</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权重</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约束分析质量</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是否充分识别并量化了环境、资源、时间、成本约束？</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WBS</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是否完整？是否符合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MECE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进度计划合理性</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关键路径是否准确？总工期是否合理？</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成本合理性</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成本核算是否完整？利润是否合理？</a:t>
                      </a: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风险覆盖度</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是否覆盖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个维度？应对措施是否具体？</a:t>
                      </a:r>
                    </a:p>
                  </a:txBody>
                  <a:tcPr marL="68580" marR="68580" marT="0" marB="0" anchor="ctr"/>
                </a:tc>
                <a:extLst>
                  <a:ext uri="{0D108BD9-81ED-4DB2-BD59-A6C34878D82A}">
                    <a16:rowId xmlns:a16="http://schemas.microsoft.com/office/drawing/2014/main" val="121869338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可执行性</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在真实约束下是否可行？</a:t>
                      </a:r>
                    </a:p>
                  </a:txBody>
                  <a:tcPr marL="68580" marR="68580" marT="0" marB="0" anchor="ctr"/>
                </a:tc>
                <a:extLst>
                  <a:ext uri="{0D108BD9-81ED-4DB2-BD59-A6C34878D82A}">
                    <a16:rowId xmlns:a16="http://schemas.microsoft.com/office/drawing/2014/main" val="1527891233"/>
                  </a:ext>
                </a:extLst>
              </a:tr>
            </a:tbl>
          </a:graphicData>
        </a:graphic>
      </p:graphicFrame>
      <p:sp>
        <p:nvSpPr>
          <p:cNvPr id="2" name="矩形 1"/>
          <p:cNvSpPr/>
          <p:nvPr/>
        </p:nvSpPr>
        <p:spPr>
          <a:xfrm>
            <a:off x="899592" y="1624285"/>
            <a:ext cx="7344816" cy="29270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标与中标：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评标委员会将依据以下评审标准对各小组提交的方案进行综合评定，择优选定中标方案：</a:t>
            </a:r>
          </a:p>
        </p:txBody>
      </p:sp>
    </p:spTree>
    <p:extLst>
      <p:ext uri="{BB962C8B-B14F-4D97-AF65-F5344CB8AC3E}">
        <p14:creationId xmlns:p14="http://schemas.microsoft.com/office/powerpoint/2010/main" val="19599784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52110"/>
            <a:ext cx="7128792" cy="91101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骤三：资源与容量量化分析（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各小组基于任务书中的情境信息，填写《资源与容量量化分析表》：</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《资源与容量量化分析表》模板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1010482898"/>
              </p:ext>
            </p:extLst>
          </p:nvPr>
        </p:nvGraphicFramePr>
        <p:xfrm>
          <a:off x="911279" y="2583568"/>
          <a:ext cx="6480720" cy="2436454"/>
        </p:xfrm>
        <a:graphic>
          <a:graphicData uri="http://schemas.openxmlformats.org/drawingml/2006/table">
            <a:tbl>
              <a:tblPr firstRow="1" firstCol="1" bandRow="1">
                <a:tableStyleId>{5C22544A-7EE6-4342-B048-85BDC9FD1C3A}</a:tableStyleId>
              </a:tblPr>
              <a:tblGrid>
                <a:gridCol w="1221399">
                  <a:extLst>
                    <a:ext uri="{9D8B030D-6E8A-4147-A177-3AD203B41FA5}">
                      <a16:colId xmlns:a16="http://schemas.microsoft.com/office/drawing/2014/main" val="1914101662"/>
                    </a:ext>
                  </a:extLst>
                </a:gridCol>
                <a:gridCol w="2162977">
                  <a:extLst>
                    <a:ext uri="{9D8B030D-6E8A-4147-A177-3AD203B41FA5}">
                      <a16:colId xmlns:a16="http://schemas.microsoft.com/office/drawing/2014/main" val="233002536"/>
                    </a:ext>
                  </a:extLst>
                </a:gridCol>
                <a:gridCol w="309634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分析项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结论</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对管理方案的影响</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茶杯容量</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250ml</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（示例）决定最终交付物容量上限</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茶道礼仪要求</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分满（约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烧水挥发损耗</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4-6%</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矿泉水总量</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500ml</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泡茶人特征</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岁女性、武汉人、身体健康</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1869338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喝茶人特征</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岁男性、偏好淡茶、温热饮用</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2767137"/>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每次最低烧水量</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需至少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&gt;200ml</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05457636"/>
                  </a:ext>
                </a:extLst>
              </a:tr>
            </a:tbl>
          </a:graphicData>
        </a:graphic>
      </p:graphicFrame>
    </p:spTree>
    <p:extLst>
      <p:ext uri="{BB962C8B-B14F-4D97-AF65-F5344CB8AC3E}">
        <p14:creationId xmlns:p14="http://schemas.microsoft.com/office/powerpoint/2010/main" val="2385027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52110"/>
            <a:ext cx="7128792" cy="1188339"/>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步骤四：品种特性与成本核算分析（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各小组基于抽签结果与成本约束，完成以下两项分析：</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）茶叶品种约束分析</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《茶叶品种约束分析表》模板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99550132"/>
              </p:ext>
            </p:extLst>
          </p:nvPr>
        </p:nvGraphicFramePr>
        <p:xfrm>
          <a:off x="899592" y="2894149"/>
          <a:ext cx="6480720" cy="1860390"/>
        </p:xfrm>
        <a:graphic>
          <a:graphicData uri="http://schemas.openxmlformats.org/drawingml/2006/table">
            <a:tbl>
              <a:tblPr firstRow="1" firstCol="1" bandRow="1">
                <a:tableStyleId>{5C22544A-7EE6-4342-B048-85BDC9FD1C3A}</a:tableStyleId>
              </a:tblPr>
              <a:tblGrid>
                <a:gridCol w="1221399">
                  <a:extLst>
                    <a:ext uri="{9D8B030D-6E8A-4147-A177-3AD203B41FA5}">
                      <a16:colId xmlns:a16="http://schemas.microsoft.com/office/drawing/2014/main" val="1914101662"/>
                    </a:ext>
                  </a:extLst>
                </a:gridCol>
                <a:gridCol w="2162977">
                  <a:extLst>
                    <a:ext uri="{9D8B030D-6E8A-4147-A177-3AD203B41FA5}">
                      <a16:colId xmlns:a16="http://schemas.microsoft.com/office/drawing/2014/main" val="233002536"/>
                    </a:ext>
                  </a:extLst>
                </a:gridCol>
                <a:gridCol w="309634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约束参数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品种要求</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对管理方案的影响</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冲泡水温</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投茶方式</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上投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下投</a:t>
                      </a: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特殊工序</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（如六安瓜片需二次冲泡）</a:t>
                      </a: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风险提示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（如碧螺春怕烫熟）</a:t>
                      </a:r>
                    </a:p>
                  </a:txBody>
                  <a:tcPr marL="68580" marR="68580" marT="0" marB="0" anchor="ctr"/>
                </a:tc>
                <a:tc>
                  <a:txBody>
                    <a:bodyPr/>
                    <a:lstStyle/>
                    <a:p>
                      <a:pPr algn="l">
                        <a:lnSpc>
                          <a:spcPts val="1875"/>
                        </a:lnSpc>
                        <a:spcAft>
                          <a:spcPts val="0"/>
                        </a:spcAft>
                      </a:pPr>
                      <a:r>
                        <a:rPr lang="en-US" sz="1150" kern="0">
                          <a:effectLst/>
                          <a:latin typeface="Segoe UI" panose="020B0502040204020203" pitchFamily="34" charset="0"/>
                          <a:ea typeface="宋体"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（可补充）</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900" b="1" kern="100">
                          <a:effectLst/>
                          <a:latin typeface="微软雅黑" panose="020B0503020204020204" pitchFamily="34" charset="-122"/>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18693381"/>
                  </a:ext>
                </a:extLst>
              </a:tr>
            </a:tbl>
          </a:graphicData>
        </a:graphic>
      </p:graphicFrame>
    </p:spTree>
    <p:extLst>
      <p:ext uri="{BB962C8B-B14F-4D97-AF65-F5344CB8AC3E}">
        <p14:creationId xmlns:p14="http://schemas.microsoft.com/office/powerpoint/2010/main" val="30216610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52110"/>
            <a:ext cx="7128792" cy="812851"/>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）初始成本估算</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各小组基于任务书中的成本参数，填写《初始成本估算表》（仅基于假设值，如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假设投茶量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假设总工期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p:txBody>
      </p:sp>
      <p:graphicFrame>
        <p:nvGraphicFramePr>
          <p:cNvPr id="8" name="表格 7"/>
          <p:cNvGraphicFramePr>
            <a:graphicFrameLocks noGrp="1"/>
          </p:cNvGraphicFramePr>
          <p:nvPr>
            <p:extLst>
              <p:ext uri="{D42A27DB-BD31-4B8C-83A1-F6EECF244321}">
                <p14:modId xmlns:p14="http://schemas.microsoft.com/office/powerpoint/2010/main" val="1892401022"/>
              </p:ext>
            </p:extLst>
          </p:nvPr>
        </p:nvGraphicFramePr>
        <p:xfrm>
          <a:off x="971600" y="2484739"/>
          <a:ext cx="6192688" cy="2466549"/>
        </p:xfrm>
        <a:graphic>
          <a:graphicData uri="http://schemas.openxmlformats.org/drawingml/2006/table">
            <a:tbl>
              <a:tblPr firstRow="1" firstCol="1" bandRow="1">
                <a:tableStyleId>{5C22544A-7EE6-4342-B048-85BDC9FD1C3A}</a:tableStyleId>
              </a:tblPr>
              <a:tblGrid>
                <a:gridCol w="933367">
                  <a:extLst>
                    <a:ext uri="{9D8B030D-6E8A-4147-A177-3AD203B41FA5}">
                      <a16:colId xmlns:a16="http://schemas.microsoft.com/office/drawing/2014/main" val="1914101662"/>
                    </a:ext>
                  </a:extLst>
                </a:gridCol>
                <a:gridCol w="3099081">
                  <a:extLst>
                    <a:ext uri="{9D8B030D-6E8A-4147-A177-3AD203B41FA5}">
                      <a16:colId xmlns:a16="http://schemas.microsoft.com/office/drawing/2014/main" val="233002536"/>
                    </a:ext>
                  </a:extLst>
                </a:gridCol>
                <a:gridCol w="216024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计算依据</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金额（元）</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茶叶费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___g × 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水费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矿泉水：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自来水：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电费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1.2KW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0.6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46345173"/>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设备折旧费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陶瓷杯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电热水壶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劳务费</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总工期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利润</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以上合计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l">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18693381"/>
                  </a:ext>
                </a:extLst>
              </a:tr>
              <a:tr h="288032">
                <a:tc gridSpan="2">
                  <a:txBody>
                    <a:bodyPr/>
                    <a:lstStyle/>
                    <a:p>
                      <a:pPr marL="0" algn="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合计</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hMerge="1">
                  <a:txBody>
                    <a:bodyPr/>
                    <a:lstStyle/>
                    <a:p>
                      <a:pPr marL="0" algn="l" defTabSz="914400" rtl="0" eaLnBrk="1" latinLnBrk="0" hangingPunct="1">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altLang="zh-CN"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a:t>
                      </a:r>
                      <a:r>
                        <a:rPr lang="zh-CN" altLang="en-US"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62781749"/>
                  </a:ext>
                </a:extLst>
              </a:tr>
            </a:tbl>
          </a:graphicData>
        </a:graphic>
      </p:graphicFrame>
    </p:spTree>
    <p:extLst>
      <p:ext uri="{BB962C8B-B14F-4D97-AF65-F5344CB8AC3E}">
        <p14:creationId xmlns:p14="http://schemas.microsoft.com/office/powerpoint/2010/main" val="36097682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52110"/>
            <a:ext cx="7128792" cy="88979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步骤五：约束条件量化分析（</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7</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各小组基于任务书与上述分析，完成《约束条件量化分析表》：</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《约束条件量化分析表》模板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3183096049"/>
              </p:ext>
            </p:extLst>
          </p:nvPr>
        </p:nvGraphicFramePr>
        <p:xfrm>
          <a:off x="971600" y="2571750"/>
          <a:ext cx="6192688" cy="2592288"/>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1914101662"/>
                    </a:ext>
                  </a:extLst>
                </a:gridCol>
                <a:gridCol w="2520280">
                  <a:extLst>
                    <a:ext uri="{9D8B030D-6E8A-4147-A177-3AD203B41FA5}">
                      <a16:colId xmlns:a16="http://schemas.microsoft.com/office/drawing/2014/main" val="233002536"/>
                    </a:ext>
                  </a:extLst>
                </a:gridCol>
                <a:gridCol w="252028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约束条件</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具体数值</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影响</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对管理方案的影响</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楼层与水源位置</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西二楼</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室，水压正常</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（示例）接水时间需基于水压估算</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海拔高度</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武汉海拔</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37m</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，沸点约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99.6℃</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环境温度</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月室温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，可能极端高温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40℃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46345173"/>
                  </a:ext>
                </a:extLst>
              </a:tr>
              <a:tr h="22784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水源选择</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矿泉水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500ml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自来水（免费）</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时间底线</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2533063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注水目标</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分满）</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6934324"/>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茶叶品种</a:t>
                      </a:r>
                    </a:p>
                  </a:txBody>
                  <a:tcPr marL="68580" marR="68580" marT="0" marB="0" anchor="ctr"/>
                </a:tc>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抽签决定</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altLang="en-US"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（可补充）</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ts val="1875"/>
                        </a:lnSpc>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ts val="1875"/>
                        </a:lnSpc>
                        <a:spcAft>
                          <a:spcPts val="0"/>
                        </a:spcAft>
                      </a:pP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70839999"/>
                  </a:ext>
                </a:extLst>
              </a:tr>
            </a:tbl>
          </a:graphicData>
        </a:graphic>
      </p:graphicFrame>
    </p:spTree>
    <p:extLst>
      <p:ext uri="{BB962C8B-B14F-4D97-AF65-F5344CB8AC3E}">
        <p14:creationId xmlns:p14="http://schemas.microsoft.com/office/powerpoint/2010/main" val="20227593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16940"/>
            <a:ext cx="7128792" cy="3579441"/>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水烧开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自然冷却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冲泡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奉茶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的顺序执行，总工期约为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480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秒，远超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秒。你的决策是坚守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秒（通过并行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资源前置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质量折损）还是申请工期变更？依据是什么？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2.5g vs 3.5g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，茶叶成本差多少？多出的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茶叶能否带来可被感知的质量提升？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这是成本效益分析。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矿泉水（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元）与自来水（免费）之间如何选择？多花的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元能否被用户感知？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成本效益分析。另外，喝水人是武汉本地人，可能已经适应了当地自来水口感，这一因素会影响你的水源决策吗？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价值工程。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挥发损耗约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你如何在方案中预留损耗余量，确保最终注水量达到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？在工程项目中，损耗是客观存在且无法消灭的，只能通过管理手段减少。你将采取什么措施控制损耗？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投茶量为什么是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2.5-3g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？注水量为什么是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分满）？这些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的确定依据是什么？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第一性原理思维：回归事物的基本原理。投茶量取决于目标客户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偏好淡茶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的质量要求；注水量取决于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杯子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分满的容量约束与奉茶礼仪；总工期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秒取决于项目目标。你方案中的每一项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都应能追溯到某一项基本原理，而非凭空设定。</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44002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52110"/>
            <a:ext cx="7488832" cy="232679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骤六：范围界定练习（</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各小组按下列指引完成项目范围界定：</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范围内（必须做）：</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不完成就无法交付一杯茶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的关键工作</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范围外（明确不做）：</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虽然可以做但不影响核心交付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的事项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洗杯子属于范围内还是范围外？如果杯子没洗，茶汤中可能有异物沉淀，不符合质量要求。因此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洗杯子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应纳入范围内。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拍照记录属于范围内还是范围外？如果不拍照，茶仍然可以喝。它不影响核心可交付成果，应属于范围外。</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426198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22048"/>
            <a:ext cx="7488832" cy="29270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一阶段团队分工建议：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4229147500"/>
              </p:ext>
            </p:extLst>
          </p:nvPr>
        </p:nvGraphicFramePr>
        <p:xfrm>
          <a:off x="251521" y="1893655"/>
          <a:ext cx="8712967" cy="3162672"/>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113947769"/>
                    </a:ext>
                  </a:extLst>
                </a:gridCol>
                <a:gridCol w="504055">
                  <a:extLst>
                    <a:ext uri="{9D8B030D-6E8A-4147-A177-3AD203B41FA5}">
                      <a16:colId xmlns:a16="http://schemas.microsoft.com/office/drawing/2014/main" val="1034369101"/>
                    </a:ext>
                  </a:extLst>
                </a:gridCol>
                <a:gridCol w="1224136">
                  <a:extLst>
                    <a:ext uri="{9D8B030D-6E8A-4147-A177-3AD203B41FA5}">
                      <a16:colId xmlns:a16="http://schemas.microsoft.com/office/drawing/2014/main" val="2355929700"/>
                    </a:ext>
                  </a:extLst>
                </a:gridCol>
                <a:gridCol w="864096">
                  <a:extLst>
                    <a:ext uri="{9D8B030D-6E8A-4147-A177-3AD203B41FA5}">
                      <a16:colId xmlns:a16="http://schemas.microsoft.com/office/drawing/2014/main" val="2545839128"/>
                    </a:ext>
                  </a:extLst>
                </a:gridCol>
                <a:gridCol w="720081">
                  <a:extLst>
                    <a:ext uri="{9D8B030D-6E8A-4147-A177-3AD203B41FA5}">
                      <a16:colId xmlns:a16="http://schemas.microsoft.com/office/drawing/2014/main" val="2722545124"/>
                    </a:ext>
                  </a:extLst>
                </a:gridCol>
                <a:gridCol w="936103">
                  <a:extLst>
                    <a:ext uri="{9D8B030D-6E8A-4147-A177-3AD203B41FA5}">
                      <a16:colId xmlns:a16="http://schemas.microsoft.com/office/drawing/2014/main" val="1914101662"/>
                    </a:ext>
                  </a:extLst>
                </a:gridCol>
                <a:gridCol w="1152128">
                  <a:extLst>
                    <a:ext uri="{9D8B030D-6E8A-4147-A177-3AD203B41FA5}">
                      <a16:colId xmlns:a16="http://schemas.microsoft.com/office/drawing/2014/main" val="2978985667"/>
                    </a:ext>
                  </a:extLst>
                </a:gridCol>
                <a:gridCol w="1008112">
                  <a:extLst>
                    <a:ext uri="{9D8B030D-6E8A-4147-A177-3AD203B41FA5}">
                      <a16:colId xmlns:a16="http://schemas.microsoft.com/office/drawing/2014/main" val="1209153042"/>
                    </a:ext>
                  </a:extLst>
                </a:gridCol>
                <a:gridCol w="1152128">
                  <a:extLst>
                    <a:ext uri="{9D8B030D-6E8A-4147-A177-3AD203B41FA5}">
                      <a16:colId xmlns:a16="http://schemas.microsoft.com/office/drawing/2014/main" val="1125531311"/>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时长</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全员讨论内容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记录员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记录员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数据员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数据员</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项目经理</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项目监理</a:t>
                      </a:r>
                    </a:p>
                  </a:txBody>
                  <a:tcPr marL="68580" marR="68580" marT="0" marB="0" anchor="ctr"/>
                </a:tc>
                <a:extLst>
                  <a:ext uri="{0D108BD9-81ED-4DB2-BD59-A6C34878D82A}">
                    <a16:rowId xmlns:a16="http://schemas.microsoft.com/office/drawing/2014/main" val="174513558"/>
                  </a:ext>
                </a:extLst>
              </a:tr>
              <a:tr h="360040">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步骤一</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l"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招</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标公告发布</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快速阅读公告，确认投标意向</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组织确认投标意向</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记录团队确认意向的时间</a:t>
                      </a:r>
                    </a:p>
                  </a:txBody>
                  <a:tcPr marL="68580" marR="68580" marT="0" marB="0" anchor="ctr"/>
                </a:tc>
                <a:extLst>
                  <a:ext uri="{0D108BD9-81ED-4DB2-BD59-A6C34878D82A}">
                    <a16:rowId xmlns:a16="http://schemas.microsoft.com/office/drawing/2014/main" val="3845462762"/>
                  </a:ext>
                </a:extLst>
              </a:tr>
              <a:tr h="318127">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步骤二：招标文件领取与需求提取</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每人分享各自提取的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最关键的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项信息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整理关键信息</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补充整理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交叉核对招标文件与任务书数值</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交叉核对约束条件与评审标准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组织轮流分享，把控时间</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记录团队最先关注的信息类型</a:t>
                      </a:r>
                    </a:p>
                  </a:txBody>
                  <a:tcPr marL="68580" marR="68580" marT="0" marB="0" anchor="ctr"/>
                </a:tc>
                <a:extLst>
                  <a:ext uri="{0D108BD9-81ED-4DB2-BD59-A6C34878D82A}">
                    <a16:rowId xmlns:a16="http://schemas.microsoft.com/office/drawing/2014/main" val="3935758915"/>
                  </a:ext>
                </a:extLst>
              </a:tr>
              <a:tr h="318127">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步骤三：资源与容量量化分析</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逐项讨论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对管理方案的影响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填写《资源与容量量化分析表》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补充填写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从任务书中提供数值依据</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从任务书中提供数值依据</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主持逐项讨论，确认进度</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记录哪项分析讨论时间最长</a:t>
                      </a:r>
                    </a:p>
                  </a:txBody>
                  <a:tcPr marL="68580" marR="68580" marT="0" marB="0" anchor="ctr"/>
                </a:tc>
                <a:extLst>
                  <a:ext uri="{0D108BD9-81ED-4DB2-BD59-A6C34878D82A}">
                    <a16:rowId xmlns:a16="http://schemas.microsoft.com/office/drawing/2014/main" val="884746757"/>
                  </a:ext>
                </a:extLst>
              </a:tr>
              <a:tr h="318127">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步骤四</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l"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品</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种特性与成本核算分析</a:t>
                      </a:r>
                    </a:p>
                  </a:txBody>
                  <a:tcPr marL="68580" marR="68580" marT="0" marB="0" anchor="ctr"/>
                </a:tc>
                <a:tc>
                  <a:txBody>
                    <a:bodyPr/>
                    <a:lstStyle/>
                    <a:p>
                      <a:pPr marL="0" algn="ctr" defTabSz="914400" rtl="0" eaLnBrk="1" latinLnBrk="0" hangingPunct="1">
                        <a:spcAft>
                          <a:spcPts val="0"/>
                        </a:spcAft>
                      </a:pPr>
                      <a:r>
                        <a:rPr lang="en-US"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p>
                    <a:p>
                      <a:pPr marL="0" algn="ctr" defTabSz="914400" rtl="0" eaLnBrk="1" latinLnBrk="0" hangingPunct="1">
                        <a:spcAft>
                          <a:spcPts val="0"/>
                        </a:spcAft>
                      </a:pPr>
                      <a:r>
                        <a:rPr lang="zh-CN" sz="1100" kern="0" smtClea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品种特性对方案的影响；成本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时间的权衡</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填写《茶叶品种约束分析表》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填写《初始成本估算表》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确认品种参数</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确认成本数据（发现品种价格差异时提醒调整）</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引导三角权衡讨论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记录成本决策中的争议点</a:t>
                      </a:r>
                    </a:p>
                  </a:txBody>
                  <a:tcPr marL="68580" marR="68580" marT="0" marB="0" anchor="ctr"/>
                </a:tc>
                <a:extLst>
                  <a:ext uri="{0D108BD9-81ED-4DB2-BD59-A6C34878D82A}">
                    <a16:rowId xmlns:a16="http://schemas.microsoft.com/office/drawing/2014/main" val="3755180311"/>
                  </a:ext>
                </a:extLst>
              </a:tr>
              <a:tr h="288032">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步骤五：约束条件量化分析</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7</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逐项讨论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对管理方案的影响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，重点关注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秒是否可行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填写《约束条件量化分析表》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补充填写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提供约束具体数值</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确认时间参数</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引导时间决策方向</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记录团队时间决策过程</a:t>
                      </a:r>
                    </a:p>
                  </a:txBody>
                  <a:tcPr marL="68580" marR="68580" marT="0" marB="0" anchor="ctr"/>
                </a:tc>
                <a:extLst>
                  <a:ext uri="{0D108BD9-81ED-4DB2-BD59-A6C34878D82A}">
                    <a16:rowId xmlns:a16="http://schemas.microsoft.com/office/drawing/2014/main" val="926339690"/>
                  </a:ext>
                </a:extLst>
              </a:tr>
              <a:tr h="288032">
                <a:tc>
                  <a:txBody>
                    <a:bodyPr/>
                    <a:lstStyle/>
                    <a:p>
                      <a:pPr marL="0" algn="l"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步骤六</a:t>
                      </a: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algn="l" defTabSz="914400" rtl="0" eaLnBrk="1" latinLnBrk="0" hangingPunct="1">
                        <a:spcAft>
                          <a:spcPts val="0"/>
                        </a:spcAft>
                      </a:pPr>
                      <a:r>
                        <a:rPr lang="zh-CN" sz="1100" b="1" kern="100" smtClean="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范</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围界定练习</a:t>
                      </a:r>
                    </a:p>
                  </a:txBody>
                  <a:tcPr marL="68580" marR="68580" marT="0" marB="0" anchor="ctr"/>
                </a:tc>
                <a:tc>
                  <a:txBody>
                    <a:bodyPr/>
                    <a:lstStyle/>
                    <a:p>
                      <a:pPr marL="0" algn="ctr"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外的判断标准</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书写范围内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外</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补充书写</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核实边界依据</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核实边界依据</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记录最难判断的一项边界</a:t>
                      </a:r>
                    </a:p>
                  </a:txBody>
                  <a:tcPr marL="68580" marR="68580" marT="0" marB="0" anchor="ctr"/>
                </a:tc>
                <a:extLst>
                  <a:ext uri="{0D108BD9-81ED-4DB2-BD59-A6C34878D82A}">
                    <a16:rowId xmlns:a16="http://schemas.microsoft.com/office/drawing/2014/main" val="1218693381"/>
                  </a:ext>
                </a:extLst>
              </a:tr>
            </a:tbl>
          </a:graphicData>
        </a:graphic>
      </p:graphicFrame>
    </p:spTree>
    <p:extLst>
      <p:ext uri="{BB962C8B-B14F-4D97-AF65-F5344CB8AC3E}">
        <p14:creationId xmlns:p14="http://schemas.microsoft.com/office/powerpoint/2010/main" val="40319416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16940"/>
            <a:ext cx="7128792" cy="352096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各小组完成《资源与容量量化分析表》《茶叶品种约束分析表》《项目成本核算表》《约束条件量化分析表》及范围界定（范围内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范围外各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项），保存作为方案组成部分。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泡茶</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转化为可执行工作包（</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泡一杯好茶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这一模糊目标，逐层分解为可分配、可执行、可验收的工作包。</a:t>
            </a: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分解的核心原则</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——MECE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相互独立（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Mutually Exclusive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同一层级的工作包之间没有重叠</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完全穷尽（</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Collectively Exhaustive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合在一起完整覆盖上级任务</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检查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质量的三个问题（每层分解后都应追问）：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这一层级的各个部分之间有没有重叠？（检查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相互独立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合在一起是不是完整覆盖了上一级？（检查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完全穷尽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最底层的工作包能否分配给人、估算时间、验收成果？（检查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可执行性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892906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16940"/>
            <a:ext cx="7128792" cy="29270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好</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vs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差分解的对比：</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791387049"/>
              </p:ext>
            </p:extLst>
          </p:nvPr>
        </p:nvGraphicFramePr>
        <p:xfrm>
          <a:off x="899592" y="1928179"/>
          <a:ext cx="7272808" cy="2731803"/>
        </p:xfrm>
        <a:graphic>
          <a:graphicData uri="http://schemas.openxmlformats.org/drawingml/2006/table">
            <a:tbl>
              <a:tblPr firstRow="1" firstCol="1" bandRow="1">
                <a:tableStyleId>{5C22544A-7EE6-4342-B048-85BDC9FD1C3A}</a:tableStyleId>
              </a:tblPr>
              <a:tblGrid>
                <a:gridCol w="2160240">
                  <a:extLst>
                    <a:ext uri="{9D8B030D-6E8A-4147-A177-3AD203B41FA5}">
                      <a16:colId xmlns:a16="http://schemas.microsoft.com/office/drawing/2014/main" val="233002536"/>
                    </a:ext>
                  </a:extLst>
                </a:gridCol>
                <a:gridCol w="5112568">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差分解（过粗，不可执行）</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好分解（可分配、可估算、可验收）</a:t>
                      </a:r>
                    </a:p>
                  </a:txBody>
                  <a:tcPr marL="68580" marR="68580" marT="0" marB="0" anchor="ctr"/>
                </a:tc>
                <a:extLst>
                  <a:ext uri="{0D108BD9-81ED-4DB2-BD59-A6C34878D82A}">
                    <a16:rowId xmlns:a16="http://schemas.microsoft.com/office/drawing/2014/main" val="174513558"/>
                  </a:ext>
                </a:extLst>
              </a:tr>
              <a:tr h="787587">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烧水</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1.1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取杯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可交付成果：杯子就位</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接水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可交付成果：水壶满水（约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210-215ml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，含挥发损耗）并就位</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1.3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等待沸腾</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可交付成果：沸腾的热水（水壶自动跳断或持续沸腾</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秒以上）</a:t>
                      </a:r>
                    </a:p>
                  </a:txBody>
                  <a:tcPr marL="68580" marR="68580" marT="0" marB="0" anchor="ctr"/>
                </a:tc>
                <a:extLst>
                  <a:ext uri="{0D108BD9-81ED-4DB2-BD59-A6C34878D82A}">
                    <a16:rowId xmlns:a16="http://schemas.microsoft.com/office/drawing/2014/main" val="3845462762"/>
                  </a:ext>
                </a:extLst>
              </a:tr>
              <a:tr h="1080120">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泡茶</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2.1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温杯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可交付成果：杯壁温热</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2.2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可交付成果：茶叶在杯底（</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2.5-3g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2.3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注水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可交付成果：水面至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分满（约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200ml</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2.4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可交付成果：计时器响（依品种而定）</a:t>
                      </a:r>
                    </a:p>
                  </a:txBody>
                  <a:tcPr marL="68580" marR="68580" marT="0" marB="0" anchor="ctr"/>
                </a:tc>
                <a:extLst>
                  <a:ext uri="{0D108BD9-81ED-4DB2-BD59-A6C34878D82A}">
                    <a16:rowId xmlns:a16="http://schemas.microsoft.com/office/drawing/2014/main" val="2437055160"/>
                  </a:ext>
                </a:extLst>
              </a:tr>
              <a:tr h="57606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奉茶</a:t>
                      </a:r>
                    </a:p>
                  </a:txBody>
                  <a:tcPr marL="68580" marR="68580" marT="0" marB="0" anchor="ctr"/>
                </a:tc>
                <a:tc>
                  <a:txBody>
                    <a:bodyPr/>
                    <a:lstStyle/>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3.1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敬茶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可交付成果：茶汤交付</a:t>
                      </a:r>
                    </a:p>
                    <a:p>
                      <a:pPr marL="0" algn="l"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3.2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品鉴确认</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可交付成果：喝茶人确认</a:t>
                      </a:r>
                    </a:p>
                  </a:txBody>
                  <a:tcPr marL="68580" marR="68580" marT="0" marB="0" anchor="ctr"/>
                </a:tc>
                <a:extLst>
                  <a:ext uri="{0D108BD9-81ED-4DB2-BD59-A6C34878D82A}">
                    <a16:rowId xmlns:a16="http://schemas.microsoft.com/office/drawing/2014/main" val="846345173"/>
                  </a:ext>
                </a:extLst>
              </a:tr>
            </a:tbl>
          </a:graphicData>
        </a:graphic>
      </p:graphicFrame>
    </p:spTree>
    <p:extLst>
      <p:ext uri="{BB962C8B-B14F-4D97-AF65-F5344CB8AC3E}">
        <p14:creationId xmlns:p14="http://schemas.microsoft.com/office/powerpoint/2010/main" val="29452665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71419"/>
            <a:ext cx="7992888" cy="329936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表</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格解读：</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差分解（左列）的特征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每个条目为一个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动作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环节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的名称，如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泡茶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奉茶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停留在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做什么事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的层面，未说明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产出什么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无法直接分配给人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不知道具体要做什么</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无法估算时间和成本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包含多个不同性质的步骤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好分解（右列）的特征：</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每个工作包以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动宾结构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命名，如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每个工作包明确标注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，且可检验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水面至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分满（约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200ml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是可测量的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满足</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MECE</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原则：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相互独立</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取杯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等待沸腾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计时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敬茶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品鉴确认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是顺序发生的九个不同动作，无重</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叠</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718722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8042"/>
            <a:ext cx="7128792" cy="3444020"/>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完</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全穷尽：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包含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启动加热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等待沸腾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两个连续动作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合在一起完整覆盖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的全部环节；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冲泡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包含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计时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四个连续动作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合在一起完整覆盖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冲泡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的全部环节；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奉茶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包含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敬茶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品鉴确认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两个连续动作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合在一起完整覆盖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奉茶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的全部环节。</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最底层工作包可直接分配给人，且可通过可交付成果验收完成质量</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各小组在图纸上完成《泡茶项目</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分解图》：</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第一级：项目阶段（将泡茶全过程划分为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个阶段）</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泡茶项目管理方</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案</a:t>
            </a:r>
            <a:endParaRPr lang="en-US" altLang="zh-CN" sz="1200" b="1"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：【准备阶段】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________________</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：【冲泡阶段】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________________</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：【品控与奉茶阶段】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________________</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：【收尾阶段】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________________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（可选</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0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268430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8042"/>
            <a:ext cx="7128792" cy="358867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第二级：关键交付物（每个阶段分解为</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个关键交付物）</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：准备阶段</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：（可选）</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：冲泡阶段</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：温杯</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：注水至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分满</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2.4</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：浸泡计时</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：品控与奉茶阶段</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：敬茶</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：品鉴确</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认</a:t>
            </a:r>
            <a:endParaRPr lang="zh-CN" altLang="zh-CN" sz="7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1783760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8042"/>
            <a:ext cx="7128792" cy="2702278"/>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三级：可执行工作包（选择至少</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个第二级交付物展开，其余保持二级）</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1.1.1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：取杯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可交付成果：杯子就位</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可交付成果：水壶满水（约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260-265ml</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1.1.3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：归位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可交付成果：水壶就位</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交付物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：启动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可交付成果：加热启动</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 └── 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1.2.2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：等待沸腾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可交付成果：沸腾的热水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（依此类推，展开剩余交付物</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044676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矩形 2"/>
          <p:cNvSpPr/>
          <p:nvPr/>
        </p:nvSpPr>
        <p:spPr>
          <a:xfrm>
            <a:off x="899592" y="1638042"/>
            <a:ext cx="7128792"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7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690854210"/>
              </p:ext>
            </p:extLst>
          </p:nvPr>
        </p:nvGraphicFramePr>
        <p:xfrm>
          <a:off x="899592" y="1970383"/>
          <a:ext cx="5400600" cy="1453618"/>
        </p:xfrm>
        <a:graphic>
          <a:graphicData uri="http://schemas.openxmlformats.org/drawingml/2006/table">
            <a:tbl>
              <a:tblPr firstRow="1" firstCol="1" bandRow="1">
                <a:tableStyleId>{5C22544A-7EE6-4342-B048-85BDC9FD1C3A}</a:tableStyleId>
              </a:tblPr>
              <a:tblGrid>
                <a:gridCol w="1080120">
                  <a:extLst>
                    <a:ext uri="{9D8B030D-6E8A-4147-A177-3AD203B41FA5}">
                      <a16:colId xmlns:a16="http://schemas.microsoft.com/office/drawing/2014/main" val="1914101662"/>
                    </a:ext>
                  </a:extLst>
                </a:gridCol>
                <a:gridCol w="504056">
                  <a:extLst>
                    <a:ext uri="{9D8B030D-6E8A-4147-A177-3AD203B41FA5}">
                      <a16:colId xmlns:a16="http://schemas.microsoft.com/office/drawing/2014/main" val="233002536"/>
                    </a:ext>
                  </a:extLst>
                </a:gridCol>
                <a:gridCol w="381642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架构引导员</a:t>
                      </a:r>
                    </a:p>
                  </a:txBody>
                  <a:tcPr marL="68580" marR="68580" marT="0" marB="0" anchor="ctr"/>
                </a:tc>
                <a:tc>
                  <a:txBody>
                    <a:bodyPr/>
                    <a:lstStyle/>
                    <a:p>
                      <a:pPr marL="0" algn="ctr"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主持讨论，确保三层逻辑正确</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阶段规划员</a:t>
                      </a:r>
                    </a:p>
                  </a:txBody>
                  <a:tcPr marL="68580" marR="68580" marT="0" marB="0" anchor="ctr"/>
                </a:tc>
                <a:tc>
                  <a:txBody>
                    <a:bodyPr/>
                    <a:lstStyle/>
                    <a:p>
                      <a:pPr marL="0" algn="ctr"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负责第一级（阶段）和第二级（交付物）的讨论与书写</a:t>
                      </a:r>
                    </a:p>
                  </a:txBody>
                  <a:tcPr marL="68580" marR="68580" marT="0" marB="0" anchor="ctr"/>
                </a:tc>
                <a:extLst>
                  <a:ext uri="{0D108BD9-81ED-4DB2-BD59-A6C34878D82A}">
                    <a16:rowId xmlns:a16="http://schemas.microsoft.com/office/drawing/2014/main" val="2437055160"/>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工作包细化员</a:t>
                      </a:r>
                    </a:p>
                  </a:txBody>
                  <a:tcPr marL="68580" marR="68580" marT="0" marB="0" anchor="ctr"/>
                </a:tc>
                <a:tc>
                  <a:txBody>
                    <a:bodyPr/>
                    <a:lstStyle/>
                    <a:p>
                      <a:pPr marL="0" algn="ctr"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负责第三级（工作包）的具体描述与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可交付成果</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标注</a:t>
                      </a:r>
                    </a:p>
                  </a:txBody>
                  <a:tcPr marL="68580" marR="68580" marT="0" marB="0" anchor="ctr"/>
                </a:tc>
                <a:extLst>
                  <a:ext uri="{0D108BD9-81ED-4DB2-BD59-A6C34878D82A}">
                    <a16:rowId xmlns:a16="http://schemas.microsoft.com/office/drawing/2014/main" val="846345173"/>
                  </a:ext>
                </a:extLst>
              </a:tr>
              <a:tr h="227842">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MECE</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检查员</a:t>
                      </a:r>
                    </a:p>
                  </a:txBody>
                  <a:tcPr marL="68580" marR="68580" marT="0" marB="0" anchor="ctr"/>
                </a:tc>
                <a:tc>
                  <a:txBody>
                    <a:bodyPr/>
                    <a:lstStyle/>
                    <a:p>
                      <a:pPr marL="0" algn="ctr" defTabSz="914400" rtl="0" eaLnBrk="1" latinLnBrk="0" hangingPunct="1">
                        <a:lnSpc>
                          <a:spcPts val="1875"/>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ts val="1875"/>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MECE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原则检查分解是否重叠或遗漏，提出修正意见</a:t>
                      </a:r>
                    </a:p>
                  </a:txBody>
                  <a:tcPr marL="68580" marR="68580" marT="0" marB="0" anchor="ctr"/>
                </a:tc>
                <a:extLst>
                  <a:ext uri="{0D108BD9-81ED-4DB2-BD59-A6C34878D82A}">
                    <a16:rowId xmlns:a16="http://schemas.microsoft.com/office/drawing/2014/main" val="3755180311"/>
                  </a:ext>
                </a:extLst>
              </a:tr>
            </a:tbl>
          </a:graphicData>
        </a:graphic>
      </p:graphicFrame>
      <p:sp>
        <p:nvSpPr>
          <p:cNvPr id="2" name="矩形 1"/>
          <p:cNvSpPr/>
          <p:nvPr/>
        </p:nvSpPr>
        <p:spPr>
          <a:xfrm>
            <a:off x="827584" y="3424001"/>
            <a:ext cx="7632848" cy="1652760"/>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要求：</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各小组选择至少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个第二级交付物展开为第三级工作包，每个交付物下展开</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个工作包，其余交付物保持二级即可。</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第一级（阶段）如何划分？每个阶段的边界标志是什么？烧水完成是第一阶段的结束，还是温杯完成？</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把</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列为一个工作包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它包含取杯、接水、归位、启动、等待沸腾等多个不同性质的步骤。如果一个工作包包含多个性质不同的子任务，它就不是最小可执行单元。</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989533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707654"/>
            <a:ext cx="7200800" cy="3213187"/>
          </a:xfrm>
          <a:prstGeom prst="rect">
            <a:avLst/>
          </a:prstGeom>
        </p:spPr>
        <p:txBody>
          <a:bodyPr wrap="square">
            <a:spAutoFit/>
          </a:bodyPr>
          <a:lstStyle/>
          <a:p>
            <a:pPr algn="just">
              <a:lnSpc>
                <a:spcPct val="120000"/>
              </a:lnSpc>
              <a:spcBef>
                <a:spcPts val="600"/>
              </a:spcBef>
              <a:spcAft>
                <a:spcPts val="0"/>
              </a:spcAft>
            </a:pP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温杯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需在烧水完成后才能执行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为什么？温杯需要用热水预热陶瓷杯，否则无热水可用。这是</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依赖关系。</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的可交付成果是什么？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水壶满水（水量达到任务书要求的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210-215ml</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，含挥发损耗），水壶已放回底座并就位。</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“MECE</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原则要求同一层级无重叠、无遗漏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你们的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准备阶段</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是否完整覆盖了从取杯到水烧开的所有步骤？有没有遗漏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归位</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这个动作？</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各小组在图纸上完成</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分解图（三级结构，至少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个交付物展开至第三级），保存作为方案组成部分。</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第三阶段：甘特图与关键路径（</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转化为时间计划，绘制包含任务条、依赖关系、里程碑和关键路径的甘特图，并识别决定项目总工期的关键路径。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671720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707654"/>
            <a:ext cx="7200800" cy="3213187"/>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法导入（</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甘特图是将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工作包转化为可视化的时间计划工具，横轴为时间线，纵轴为任务清单，每个任务用横向条块表示其起止位置。</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关键路径指从项目开始到结束总工期最长的那条任务链。关键路径上的任务没有任何浮动时间</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其中任一任务延迟，将直接导致项目整体延期。</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关键路径的识别规则：</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从任务清单中追踪所有可能的执行路径，分别计算每条路径的总工期，总工期最长的路径即为关键路径。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任务依赖关系类型：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（完成</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开始）：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完成之后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才能开始。例如：水沸腾后（工作包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的可交付成果）才能开始温杯（工作包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温杯需用热水预热陶瓷杯，因此与烧水之间存在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依赖关系。</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SS</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（开始</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开始）：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开始的同时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B</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可以开始。例如：开始烧水（工作包</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）的同时，可以准备茶具（如温杯前的准备工作）</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8044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707654"/>
            <a:ext cx="7200800" cy="3290131"/>
          </a:xfrm>
          <a:prstGeom prst="rect">
            <a:avLst/>
          </a:prstGeom>
        </p:spPr>
        <p:txBody>
          <a:bodyPr wrap="square">
            <a:spAutoFit/>
          </a:bodyPr>
          <a:lstStyle/>
          <a:p>
            <a:pPr algn="just">
              <a:lnSpc>
                <a:spcPct val="120000"/>
              </a:lnSpc>
              <a:spcBef>
                <a:spcPts val="600"/>
              </a:spcBef>
              <a:spcAft>
                <a:spcPts val="0"/>
              </a:spcAft>
            </a:pP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里</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程碑是项目进度计划中的管理检查点，在甘特图上用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标注，用于在项目推进至关键节点时进行进度与质量的检查确认。</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甘特图绘制工具推荐：</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学生可根据自身条件选择以下方式完成甘特图绘制：</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手绘：</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号图纸上直接用尺规绘制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适合快速迭代、直观展示，且无需设备支持</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在线工具：</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ProcessOn AI</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（支持自然语言描述一键生成甘特图，</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秒内产出结构清晰、任务明确的时间计划）、</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Mermaid</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（开源图表工具，通过文本语法创建甘特图，支持</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Markdown</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原生嵌入）</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客户端工具：</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Merlin Project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（教育场景中广泛使用，支持甘特图与思维导图的衔接）、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StarGantt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（开源免费，支持多视图模式和拖拽操作）</a:t>
            </a: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使用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工具时，学生应将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分解得到的任务清单作为输入，验证</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生成的甘特图是否符合本组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结构，并结合任务依赖关系与工期估算进行人工校验与调整。</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076520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73234" y="1600476"/>
            <a:ext cx="7587197" cy="834074"/>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骤一：任务列示与工期估算（</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8</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中提取最底层工作包，按执行顺序排列，估算每个工作包所需时间（以秒为单位），标注任务之间的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SS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依赖关系。</a:t>
            </a:r>
          </a:p>
        </p:txBody>
      </p:sp>
      <p:graphicFrame>
        <p:nvGraphicFramePr>
          <p:cNvPr id="3" name="表格 2"/>
          <p:cNvGraphicFramePr>
            <a:graphicFrameLocks noGrp="1"/>
          </p:cNvGraphicFramePr>
          <p:nvPr>
            <p:extLst>
              <p:ext uri="{D42A27DB-BD31-4B8C-83A1-F6EECF244321}">
                <p14:modId xmlns:p14="http://schemas.microsoft.com/office/powerpoint/2010/main" val="2647839627"/>
              </p:ext>
            </p:extLst>
          </p:nvPr>
        </p:nvGraphicFramePr>
        <p:xfrm>
          <a:off x="899592" y="2392564"/>
          <a:ext cx="7560840" cy="2731680"/>
        </p:xfrm>
        <a:graphic>
          <a:graphicData uri="http://schemas.openxmlformats.org/drawingml/2006/table">
            <a:tbl>
              <a:tblPr firstRow="1" firstCol="1" bandRow="1">
                <a:tableStyleId>{5C22544A-7EE6-4342-B048-85BDC9FD1C3A}</a:tableStyleId>
              </a:tblPr>
              <a:tblGrid>
                <a:gridCol w="676750">
                  <a:extLst>
                    <a:ext uri="{9D8B030D-6E8A-4147-A177-3AD203B41FA5}">
                      <a16:colId xmlns:a16="http://schemas.microsoft.com/office/drawing/2014/main" val="2451949091"/>
                    </a:ext>
                  </a:extLst>
                </a:gridCol>
                <a:gridCol w="907426">
                  <a:extLst>
                    <a:ext uri="{9D8B030D-6E8A-4147-A177-3AD203B41FA5}">
                      <a16:colId xmlns:a16="http://schemas.microsoft.com/office/drawing/2014/main" val="1834526912"/>
                    </a:ext>
                  </a:extLst>
                </a:gridCol>
                <a:gridCol w="1008112">
                  <a:extLst>
                    <a:ext uri="{9D8B030D-6E8A-4147-A177-3AD203B41FA5}">
                      <a16:colId xmlns:a16="http://schemas.microsoft.com/office/drawing/2014/main" val="392944424"/>
                    </a:ext>
                  </a:extLst>
                </a:gridCol>
                <a:gridCol w="792088">
                  <a:extLst>
                    <a:ext uri="{9D8B030D-6E8A-4147-A177-3AD203B41FA5}">
                      <a16:colId xmlns:a16="http://schemas.microsoft.com/office/drawing/2014/main" val="2275544430"/>
                    </a:ext>
                  </a:extLst>
                </a:gridCol>
                <a:gridCol w="4176464">
                  <a:extLst>
                    <a:ext uri="{9D8B030D-6E8A-4147-A177-3AD203B41FA5}">
                      <a16:colId xmlns:a16="http://schemas.microsoft.com/office/drawing/2014/main" val="3474307074"/>
                    </a:ext>
                  </a:extLst>
                </a:gridCol>
              </a:tblGrid>
              <a:tr h="256158">
                <a:tc>
                  <a:txBody>
                    <a:bodyPr/>
                    <a:lstStyle/>
                    <a:p>
                      <a:pPr algn="ctr">
                        <a:lnSpc>
                          <a:spcPct val="120000"/>
                        </a:lnSpc>
                        <a:spcAft>
                          <a:spcPts val="0"/>
                        </a:spcAft>
                      </a:pPr>
                      <a:r>
                        <a:rPr lang="zh-CN" sz="1100" kern="100">
                          <a:effectLst/>
                          <a:latin typeface="微软雅黑" panose="020B0503020204020204" pitchFamily="34" charset="-122"/>
                          <a:ea typeface="微软雅黑" panose="020B0503020204020204" pitchFamily="34" charset="-122"/>
                        </a:rPr>
                        <a:t>任务</a:t>
                      </a:r>
                      <a:r>
                        <a:rPr lang="en-US" sz="1100" kern="100">
                          <a:effectLst/>
                          <a:latin typeface="微软雅黑" panose="020B0503020204020204" pitchFamily="34" charset="-122"/>
                          <a:ea typeface="微软雅黑" panose="020B0503020204020204" pitchFamily="34" charset="-122"/>
                        </a:rPr>
                        <a:t>ID</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lnSpc>
                          <a:spcPct val="120000"/>
                        </a:lnSpc>
                        <a:spcAft>
                          <a:spcPts val="0"/>
                        </a:spcAft>
                      </a:pPr>
                      <a:r>
                        <a:rPr lang="zh-CN" sz="1100" kern="100">
                          <a:effectLst/>
                          <a:latin typeface="微软雅黑" panose="020B0503020204020204" pitchFamily="34" charset="-122"/>
                          <a:ea typeface="微软雅黑" panose="020B0503020204020204" pitchFamily="34" charset="-122"/>
                        </a:rPr>
                        <a:t>任务名称</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lnSpc>
                          <a:spcPct val="120000"/>
                        </a:lnSpc>
                        <a:spcAft>
                          <a:spcPts val="0"/>
                        </a:spcAft>
                      </a:pPr>
                      <a:r>
                        <a:rPr lang="zh-CN" sz="1100" kern="100">
                          <a:effectLst/>
                          <a:latin typeface="微软雅黑" panose="020B0503020204020204" pitchFamily="34" charset="-122"/>
                          <a:ea typeface="微软雅黑" panose="020B0503020204020204" pitchFamily="34" charset="-122"/>
                        </a:rPr>
                        <a:t>前置任务</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lnSpc>
                          <a:spcPct val="120000"/>
                        </a:lnSpc>
                        <a:spcAft>
                          <a:spcPts val="0"/>
                        </a:spcAft>
                      </a:pPr>
                      <a:r>
                        <a:rPr lang="zh-CN" sz="1100" kern="100">
                          <a:effectLst/>
                          <a:latin typeface="微软雅黑" panose="020B0503020204020204" pitchFamily="34" charset="-122"/>
                          <a:ea typeface="微软雅黑" panose="020B0503020204020204" pitchFamily="34" charset="-122"/>
                        </a:rPr>
                        <a:t>工期（秒）</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108000" marT="36000" marB="36000" anchor="ctr"/>
                </a:tc>
                <a:tc>
                  <a:txBody>
                    <a:bodyPr/>
                    <a:lstStyle/>
                    <a:p>
                      <a:pPr algn="ctr">
                        <a:lnSpc>
                          <a:spcPct val="120000"/>
                        </a:lnSpc>
                        <a:spcAft>
                          <a:spcPts val="0"/>
                        </a:spcAft>
                      </a:pPr>
                      <a:r>
                        <a:rPr lang="zh-CN" sz="1100" kern="100">
                          <a:effectLst/>
                          <a:latin typeface="微软雅黑" panose="020B0503020204020204" pitchFamily="34" charset="-122"/>
                          <a:ea typeface="微软雅黑" panose="020B0503020204020204" pitchFamily="34" charset="-122"/>
                        </a:rPr>
                        <a:t>备注（估算依据）</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303379045"/>
                  </a:ext>
                </a:extLst>
              </a:tr>
              <a:tr h="0">
                <a:tc>
                  <a:txBody>
                    <a:bodyPr/>
                    <a:lstStyle/>
                    <a:p>
                      <a:pPr algn="ctr">
                        <a:lnSpc>
                          <a:spcPct val="120000"/>
                        </a:lnSpc>
                        <a:spcAft>
                          <a:spcPts val="0"/>
                        </a:spcAft>
                      </a:pPr>
                      <a:r>
                        <a:rPr lang="en-US" sz="1100" kern="100">
                          <a:effectLst/>
                          <a:latin typeface="Arial Black" panose="020B0A04020102020204" pitchFamily="34" charset="0"/>
                        </a:rPr>
                        <a:t>A</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从柜中取出陶瓷杯</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4105122200"/>
                  </a:ext>
                </a:extLst>
              </a:tr>
              <a:tr h="0">
                <a:tc>
                  <a:txBody>
                    <a:bodyPr/>
                    <a:lstStyle/>
                    <a:p>
                      <a:pPr algn="ctr">
                        <a:lnSpc>
                          <a:spcPct val="120000"/>
                        </a:lnSpc>
                        <a:spcAft>
                          <a:spcPts val="0"/>
                        </a:spcAft>
                      </a:pPr>
                      <a:r>
                        <a:rPr lang="en-US" sz="1100" kern="100">
                          <a:effectLst/>
                          <a:latin typeface="Arial Black" panose="020B0A04020102020204" pitchFamily="34" charset="0"/>
                        </a:rPr>
                        <a:t>B</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接水至水壶满水并就位</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2919826561"/>
                  </a:ext>
                </a:extLst>
              </a:tr>
              <a:tr h="0">
                <a:tc>
                  <a:txBody>
                    <a:bodyPr/>
                    <a:lstStyle/>
                    <a:p>
                      <a:pPr algn="ctr">
                        <a:lnSpc>
                          <a:spcPct val="120000"/>
                        </a:lnSpc>
                        <a:spcAft>
                          <a:spcPts val="0"/>
                        </a:spcAft>
                      </a:pPr>
                      <a:r>
                        <a:rPr lang="en-US" sz="1100" kern="100">
                          <a:effectLst/>
                          <a:latin typeface="Arial Black" panose="020B0A04020102020204" pitchFamily="34" charset="0"/>
                        </a:rPr>
                        <a:t>C</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1.2KW</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电热水壶，室温</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30℃</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，常温自来水加热至沸腾约需</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分钟</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385832374"/>
                  </a:ext>
                </a:extLst>
              </a:tr>
              <a:tr h="0">
                <a:tc>
                  <a:txBody>
                    <a:bodyPr/>
                    <a:lstStyle/>
                    <a:p>
                      <a:pPr algn="ctr">
                        <a:lnSpc>
                          <a:spcPct val="120000"/>
                        </a:lnSpc>
                        <a:spcAft>
                          <a:spcPts val="0"/>
                        </a:spcAft>
                      </a:pPr>
                      <a:r>
                        <a:rPr lang="en-US" sz="1100" kern="100">
                          <a:effectLst/>
                          <a:latin typeface="Arial Black" panose="020B0A04020102020204" pitchFamily="34" charset="0"/>
                        </a:rPr>
                        <a:t>D</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用少量热水预热陶瓷杯，杯壁温热</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2211399657"/>
                  </a:ext>
                </a:extLst>
              </a:tr>
              <a:tr h="0">
                <a:tc>
                  <a:txBody>
                    <a:bodyPr/>
                    <a:lstStyle/>
                    <a:p>
                      <a:pPr algn="ctr">
                        <a:lnSpc>
                          <a:spcPct val="120000"/>
                        </a:lnSpc>
                        <a:spcAft>
                          <a:spcPts val="0"/>
                        </a:spcAft>
                      </a:pPr>
                      <a:r>
                        <a:rPr lang="en-US" sz="1100" kern="100">
                          <a:effectLst/>
                          <a:latin typeface="Arial Black" panose="020B0A04020102020204" pitchFamily="34" charset="0"/>
                        </a:rPr>
                        <a:t>E</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取约</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2.5-3g</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茶叶投入杯中</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2909323316"/>
                  </a:ext>
                </a:extLst>
              </a:tr>
              <a:tr h="0">
                <a:tc>
                  <a:txBody>
                    <a:bodyPr/>
                    <a:lstStyle/>
                    <a:p>
                      <a:pPr algn="ctr">
                        <a:lnSpc>
                          <a:spcPct val="120000"/>
                        </a:lnSpc>
                        <a:spcAft>
                          <a:spcPts val="0"/>
                        </a:spcAft>
                      </a:pPr>
                      <a:r>
                        <a:rPr lang="en-US" sz="1100" kern="100">
                          <a:effectLst/>
                          <a:latin typeface="Arial Black" panose="020B0A04020102020204" pitchFamily="34" charset="0"/>
                        </a:rPr>
                        <a:t>F</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注入约</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200ml</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热水</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3259741814"/>
                  </a:ext>
                </a:extLst>
              </a:tr>
              <a:tr h="0">
                <a:tc>
                  <a:txBody>
                    <a:bodyPr/>
                    <a:lstStyle/>
                    <a:p>
                      <a:pPr algn="ctr">
                        <a:lnSpc>
                          <a:spcPct val="120000"/>
                        </a:lnSpc>
                        <a:spcAft>
                          <a:spcPts val="0"/>
                        </a:spcAft>
                      </a:pPr>
                      <a:r>
                        <a:rPr lang="en-US" sz="1100" kern="100">
                          <a:effectLst/>
                          <a:latin typeface="Arial Black" panose="020B0A04020102020204" pitchFamily="34" charset="0"/>
                        </a:rPr>
                        <a:t>G</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依品种而定（龙井</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1-3</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分钟</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毛尖</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3-5</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分钟）</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120147149"/>
                  </a:ext>
                </a:extLst>
              </a:tr>
              <a:tr h="0">
                <a:tc>
                  <a:txBody>
                    <a:bodyPr/>
                    <a:lstStyle/>
                    <a:p>
                      <a:pPr algn="ctr">
                        <a:lnSpc>
                          <a:spcPct val="120000"/>
                        </a:lnSpc>
                        <a:spcAft>
                          <a:spcPts val="0"/>
                        </a:spcAft>
                      </a:pPr>
                      <a:r>
                        <a:rPr lang="en-US" sz="1100" kern="100">
                          <a:effectLst/>
                          <a:latin typeface="Arial Black" panose="020B0A04020102020204" pitchFamily="34" charset="0"/>
                        </a:rPr>
                        <a:t>H</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将茶汤奉给喝茶人</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1306872577"/>
                  </a:ext>
                </a:extLst>
              </a:tr>
              <a:tr h="0">
                <a:tc>
                  <a:txBody>
                    <a:bodyPr/>
                    <a:lstStyle/>
                    <a:p>
                      <a:pPr algn="ctr">
                        <a:lnSpc>
                          <a:spcPct val="120000"/>
                        </a:lnSpc>
                        <a:spcAft>
                          <a:spcPts val="0"/>
                        </a:spcAft>
                      </a:pPr>
                      <a:r>
                        <a:rPr lang="en-US" sz="1100" kern="100">
                          <a:effectLst/>
                          <a:latin typeface="Arial Black" panose="020B0A04020102020204" pitchFamily="34" charset="0"/>
                        </a:rPr>
                        <a:t>I</a:t>
                      </a:r>
                      <a:endParaRPr lang="zh-CN" sz="1100" kern="100">
                        <a:effectLst/>
                        <a:latin typeface="Arial Black" panose="020B0A04020102020204" pitchFamily="34" charset="0"/>
                        <a:ea typeface="等线" panose="02010600030101010101" pitchFamily="2" charset="-122"/>
                        <a:cs typeface="Times New Roman" panose="02020603050405020304" pitchFamily="18" charset="0"/>
                      </a:endParaRPr>
                    </a:p>
                  </a:txBody>
                  <a:tcPr marL="72000" marR="108000" marT="36000" marB="36000" anchor="ctr"/>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just">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（待填写）</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tc>
                <a:tc>
                  <a:txBody>
                    <a:bodyPr/>
                    <a:lstStyle/>
                    <a:p>
                      <a:pPr algn="l">
                        <a:lnSpc>
                          <a:spcPct val="120000"/>
                        </a:lnSpc>
                        <a:spcAft>
                          <a:spcPts val="0"/>
                        </a:spcAft>
                      </a:pP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检查汤色</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温度</a:t>
                      </a:r>
                      <a:r>
                        <a:rPr lang="en-US" sz="1100" kern="0">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effectLst/>
                          <a:latin typeface="Times New Roman" panose="02020603050405020304" pitchFamily="18" charset="0"/>
                          <a:ea typeface="仿宋" panose="02010609060101010101" pitchFamily="49" charset="-122"/>
                          <a:cs typeface="Times New Roman" panose="02020603050405020304" pitchFamily="18" charset="0"/>
                        </a:rPr>
                        <a:t>口感，喝茶人确认</a:t>
                      </a:r>
                      <a:endParaRPr lang="zh-CN" sz="1100"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108000" marT="36000" marB="36000" anchor="ctr"/>
                </a:tc>
                <a:extLst>
                  <a:ext uri="{0D108BD9-81ED-4DB2-BD59-A6C34878D82A}">
                    <a16:rowId xmlns:a16="http://schemas.microsoft.com/office/drawing/2014/main" val="563951199"/>
                  </a:ext>
                </a:extLst>
              </a:tr>
            </a:tbl>
          </a:graphicData>
        </a:graphic>
      </p:graphicFrame>
    </p:spTree>
    <p:extLst>
      <p:ext uri="{BB962C8B-B14F-4D97-AF65-F5344CB8AC3E}">
        <p14:creationId xmlns:p14="http://schemas.microsoft.com/office/powerpoint/2010/main" val="37461860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80268" y="1621578"/>
            <a:ext cx="7652172" cy="3444020"/>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估算提示：</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估算依据列已提供每项任务的参考信息。学生需要：</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中提取工作包，填入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任务名称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根据估算依据判断每项任务的合理工期</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判断每项任务的前置任务及依赖关系（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FS/SS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步骤二：甘特图绘制、里程碑标注与关键路径标注（</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9</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各小组选择以下方式之一完成甘特图绘制：</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方式一（手绘）：</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在图纸上绘制横轴（时间线，以秒为单位）与纵轴（任务清单），用横向条块表示各工作包的起止位置；用带箭头连线标注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FS/SS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依赖关系；在时间轴对应位置用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标注里程碑；用红色粗线标注关键路径</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方式二（数字工具）：</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任务清单输入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ProcessOn 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等工具生成甘特图草稿，然后人工调整任务条位置、标注依赖关系箭头与里程碑节点，并在图纸上抄绘最终版本用于展示</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无论采用何种方式，均须完成：</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① 绘制甘特图基本结</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212149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80269" y="1621578"/>
            <a:ext cx="3691732" cy="911019"/>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②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标注依赖关系</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③ 标注里程碑节点（同步填写《里程碑计划表》）</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④ 标注关键路</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119498046"/>
              </p:ext>
            </p:extLst>
          </p:nvPr>
        </p:nvGraphicFramePr>
        <p:xfrm>
          <a:off x="965454" y="3363838"/>
          <a:ext cx="7416824" cy="1365840"/>
        </p:xfrm>
        <a:graphic>
          <a:graphicData uri="http://schemas.openxmlformats.org/drawingml/2006/table">
            <a:tbl>
              <a:tblPr firstRow="1" firstCol="1" bandRow="1">
                <a:tableStyleId>{5C22544A-7EE6-4342-B048-85BDC9FD1C3A}</a:tableStyleId>
              </a:tblPr>
              <a:tblGrid>
                <a:gridCol w="1003074">
                  <a:extLst>
                    <a:ext uri="{9D8B030D-6E8A-4147-A177-3AD203B41FA5}">
                      <a16:colId xmlns:a16="http://schemas.microsoft.com/office/drawing/2014/main" val="2451949091"/>
                    </a:ext>
                  </a:extLst>
                </a:gridCol>
                <a:gridCol w="797126">
                  <a:extLst>
                    <a:ext uri="{9D8B030D-6E8A-4147-A177-3AD203B41FA5}">
                      <a16:colId xmlns:a16="http://schemas.microsoft.com/office/drawing/2014/main" val="1834526912"/>
                    </a:ext>
                  </a:extLst>
                </a:gridCol>
                <a:gridCol w="576064">
                  <a:extLst>
                    <a:ext uri="{9D8B030D-6E8A-4147-A177-3AD203B41FA5}">
                      <a16:colId xmlns:a16="http://schemas.microsoft.com/office/drawing/2014/main" val="392944424"/>
                    </a:ext>
                  </a:extLst>
                </a:gridCol>
                <a:gridCol w="792088">
                  <a:extLst>
                    <a:ext uri="{9D8B030D-6E8A-4147-A177-3AD203B41FA5}">
                      <a16:colId xmlns:a16="http://schemas.microsoft.com/office/drawing/2014/main" val="2275544430"/>
                    </a:ext>
                  </a:extLst>
                </a:gridCol>
                <a:gridCol w="1512168">
                  <a:extLst>
                    <a:ext uri="{9D8B030D-6E8A-4147-A177-3AD203B41FA5}">
                      <a16:colId xmlns:a16="http://schemas.microsoft.com/office/drawing/2014/main" val="3474307074"/>
                    </a:ext>
                  </a:extLst>
                </a:gridCol>
                <a:gridCol w="2736304">
                  <a:extLst>
                    <a:ext uri="{9D8B030D-6E8A-4147-A177-3AD203B41FA5}">
                      <a16:colId xmlns:a16="http://schemas.microsoft.com/office/drawing/2014/main" val="2751401672"/>
                    </a:ext>
                  </a:extLst>
                </a:gridCol>
              </a:tblGrid>
              <a:tr h="256158">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里程碑编号</a:t>
                      </a:r>
                    </a:p>
                  </a:txBody>
                  <a:tcPr marL="72000" marR="72000" marT="36000" marB="36000" anchor="ctr"/>
                </a:tc>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名称</a:t>
                      </a:r>
                    </a:p>
                  </a:txBody>
                  <a:tcPr marL="72000" marR="72000" marT="36000" marB="36000" anchor="ctr"/>
                </a:tc>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位置</a:t>
                      </a:r>
                    </a:p>
                  </a:txBody>
                  <a:tcPr marL="72000" marR="72000" marT="36000" marB="36000" anchor="ctr"/>
                </a:tc>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类型</a:t>
                      </a:r>
                    </a:p>
                  </a:txBody>
                  <a:tcPr marL="72000" marR="72000" marT="36000" marB="36000" anchor="ctr"/>
                </a:tc>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验收标准</a:t>
                      </a:r>
                    </a:p>
                  </a:txBody>
                  <a:tcPr marL="72000" marR="72000" marT="36000" marB="36000" anchor="ctr"/>
                </a:tc>
                <a:tc>
                  <a:txBody>
                    <a:bodyPr/>
                    <a:lstStyle/>
                    <a:p>
                      <a:pPr marL="0" algn="ctr" defTabSz="914400" rtl="0" eaLnBrk="1" latinLnBrk="0" hangingPunct="1">
                        <a:lnSpc>
                          <a:spcPct val="120000"/>
                        </a:lnSpc>
                        <a:spcAft>
                          <a:spcPts val="0"/>
                        </a:spcAft>
                      </a:pPr>
                      <a:r>
                        <a:rPr lang="zh-CN" sz="1100" b="1" kern="100">
                          <a:solidFill>
                            <a:schemeClr val="lt1"/>
                          </a:solidFill>
                          <a:effectLst/>
                          <a:latin typeface="微软雅黑" panose="020B0503020204020204" pitchFamily="34" charset="-122"/>
                          <a:ea typeface="微软雅黑" panose="020B0503020204020204" pitchFamily="34" charset="-122"/>
                          <a:cs typeface="+mn-cs"/>
                        </a:rPr>
                        <a:t>管理功能</a:t>
                      </a:r>
                    </a:p>
                  </a:txBody>
                  <a:tcPr marL="72000" marR="72000" marT="36000" marB="36000" anchor="ctr"/>
                </a:tc>
                <a:extLst>
                  <a:ext uri="{0D108BD9-81ED-4DB2-BD59-A6C34878D82A}">
                    <a16:rowId xmlns:a16="http://schemas.microsoft.com/office/drawing/2014/main" val="1303379045"/>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M1</a:t>
                      </a:r>
                      <a:endParaRPr lang="zh-CN" sz="1100" b="1" kern="100">
                        <a:solidFill>
                          <a:schemeClr val="lt1"/>
                        </a:solidFill>
                        <a:effectLst/>
                        <a:latin typeface="Arial Black" panose="020B0A04020102020204" pitchFamily="34" charset="0"/>
                        <a:ea typeface="+mn-ea"/>
                        <a:cs typeface="+mn-cs"/>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水烧开</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210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水壶鸣响</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沸腾</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确认烧水完成，准备冲泡</a:t>
                      </a:r>
                    </a:p>
                  </a:txBody>
                  <a:tcPr marL="72000" marR="72000" marT="36000" marB="36000" anchor="ctr"/>
                </a:tc>
                <a:extLst>
                  <a:ext uri="{0D108BD9-81ED-4DB2-BD59-A6C34878D82A}">
                    <a16:rowId xmlns:a16="http://schemas.microsoft.com/office/drawing/2014/main" val="4105122200"/>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M2</a:t>
                      </a:r>
                      <a:endParaRPr lang="zh-CN" sz="1100" b="1" kern="100">
                        <a:solidFill>
                          <a:schemeClr val="lt1"/>
                        </a:solidFill>
                        <a:effectLst/>
                        <a:latin typeface="Arial Black" panose="020B0A04020102020204" pitchFamily="34" charset="0"/>
                        <a:ea typeface="+mn-ea"/>
                        <a:cs typeface="+mn-cs"/>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冲泡完成</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328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交付点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茶汤</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分满、温度达标</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确认茶汤品质，准备奉茶</a:t>
                      </a:r>
                    </a:p>
                  </a:txBody>
                  <a:tcPr marL="72000" marR="72000" marT="36000" marB="36000" anchor="ctr"/>
                </a:tc>
                <a:extLst>
                  <a:ext uri="{0D108BD9-81ED-4DB2-BD59-A6C34878D82A}">
                    <a16:rowId xmlns:a16="http://schemas.microsoft.com/office/drawing/2014/main" val="2919826561"/>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M3</a:t>
                      </a:r>
                      <a:endParaRPr lang="zh-CN" sz="1100" b="1" kern="100">
                        <a:solidFill>
                          <a:schemeClr val="lt1"/>
                        </a:solidFill>
                        <a:effectLst/>
                        <a:latin typeface="Arial Black" panose="020B0A04020102020204" pitchFamily="34" charset="0"/>
                        <a:ea typeface="+mn-ea"/>
                        <a:cs typeface="+mn-cs"/>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交付验收</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346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交付点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喝茶人口头确认</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项目完成确认</a:t>
                      </a:r>
                    </a:p>
                  </a:txBody>
                  <a:tcPr marL="72000" marR="72000" marT="36000" marB="36000" anchor="ctr"/>
                </a:tc>
                <a:extLst>
                  <a:ext uri="{0D108BD9-81ED-4DB2-BD59-A6C34878D82A}">
                    <a16:rowId xmlns:a16="http://schemas.microsoft.com/office/drawing/2014/main" val="1385832374"/>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M4</a:t>
                      </a:r>
                      <a:endParaRPr lang="zh-CN" sz="1100" b="1" kern="100">
                        <a:solidFill>
                          <a:schemeClr val="lt1"/>
                        </a:solidFill>
                        <a:effectLst/>
                        <a:latin typeface="Arial Black" panose="020B0A04020102020204" pitchFamily="34" charset="0"/>
                        <a:ea typeface="+mn-ea"/>
                        <a:cs typeface="+mn-cs"/>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温度检测</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330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温度计读数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≤80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确认奉茶温度合格（防范用户烫伤风险）</a:t>
                      </a:r>
                    </a:p>
                  </a:txBody>
                  <a:tcPr marL="72000" marR="72000" marT="36000" marB="36000" anchor="ctr"/>
                </a:tc>
                <a:extLst>
                  <a:ext uri="{0D108BD9-81ED-4DB2-BD59-A6C34878D82A}">
                    <a16:rowId xmlns:a16="http://schemas.microsoft.com/office/drawing/2014/main" val="2211399657"/>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663501227"/>
              </p:ext>
            </p:extLst>
          </p:nvPr>
        </p:nvGraphicFramePr>
        <p:xfrm>
          <a:off x="4517558" y="1941485"/>
          <a:ext cx="3864720" cy="1182223"/>
        </p:xfrm>
        <a:graphic>
          <a:graphicData uri="http://schemas.openxmlformats.org/drawingml/2006/table">
            <a:tbl>
              <a:tblPr firstRow="1" firstCol="1" bandRow="1">
                <a:tableStyleId>{5C22544A-7EE6-4342-B048-85BDC9FD1C3A}</a:tableStyleId>
              </a:tblPr>
              <a:tblGrid>
                <a:gridCol w="1080120">
                  <a:extLst>
                    <a:ext uri="{9D8B030D-6E8A-4147-A177-3AD203B41FA5}">
                      <a16:colId xmlns:a16="http://schemas.microsoft.com/office/drawing/2014/main" val="3694628784"/>
                    </a:ext>
                  </a:extLst>
                </a:gridCol>
                <a:gridCol w="2784600">
                  <a:extLst>
                    <a:ext uri="{9D8B030D-6E8A-4147-A177-3AD203B41FA5}">
                      <a16:colId xmlns:a16="http://schemas.microsoft.com/office/drawing/2014/main" val="3008659544"/>
                    </a:ext>
                  </a:extLst>
                </a:gridCol>
              </a:tblGrid>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定义</a:t>
                      </a:r>
                    </a:p>
                  </a:txBody>
                  <a:tcPr marL="68580" marR="68580" marT="0" marB="0" anchor="ctr"/>
                </a:tc>
                <a:extLst>
                  <a:ext uri="{0D108BD9-81ED-4DB2-BD59-A6C34878D82A}">
                    <a16:rowId xmlns:a16="http://schemas.microsoft.com/office/drawing/2014/main" val="164769042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决策点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需做出关键决策，决策结果影响后续走向</a:t>
                      </a:r>
                    </a:p>
                  </a:txBody>
                  <a:tcPr marL="68580" marR="68580" marT="0" marB="0" anchor="ctr"/>
                </a:tc>
                <a:extLst>
                  <a:ext uri="{0D108BD9-81ED-4DB2-BD59-A6C34878D82A}">
                    <a16:rowId xmlns:a16="http://schemas.microsoft.com/office/drawing/2014/main" val="2536777657"/>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检查点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需检查阶段产出是否达标</a:t>
                      </a:r>
                    </a:p>
                  </a:txBody>
                  <a:tcPr marL="68580" marR="68580" marT="0" marB="0" anchor="ctr"/>
                </a:tc>
                <a:extLst>
                  <a:ext uri="{0D108BD9-81ED-4DB2-BD59-A6C34878D82A}">
                    <a16:rowId xmlns:a16="http://schemas.microsoft.com/office/drawing/2014/main" val="256085954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交付点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需提交阶段性可交付成果</a:t>
                      </a:r>
                    </a:p>
                  </a:txBody>
                  <a:tcPr marL="68580" marR="68580" marT="0" marB="0" anchor="ctr"/>
                </a:tc>
                <a:extLst>
                  <a:ext uri="{0D108BD9-81ED-4DB2-BD59-A6C34878D82A}">
                    <a16:rowId xmlns:a16="http://schemas.microsoft.com/office/drawing/2014/main" val="729804923"/>
                  </a:ext>
                </a:extLst>
              </a:tr>
            </a:tbl>
          </a:graphicData>
        </a:graphic>
      </p:graphicFrame>
      <p:sp>
        <p:nvSpPr>
          <p:cNvPr id="4" name="矩形 3"/>
          <p:cNvSpPr/>
          <p:nvPr/>
        </p:nvSpPr>
        <p:spPr>
          <a:xfrm>
            <a:off x="899592" y="2977353"/>
            <a:ext cx="1877437" cy="292709"/>
          </a:xfrm>
          <a:prstGeom prst="rect">
            <a:avLst/>
          </a:prstGeom>
        </p:spPr>
        <p:txBody>
          <a:bodyPr wrap="non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《里程碑计划表》模板：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8" name="矩形 7"/>
          <p:cNvSpPr/>
          <p:nvPr/>
        </p:nvSpPr>
        <p:spPr>
          <a:xfrm>
            <a:off x="4517558" y="1634756"/>
            <a:ext cx="2502713" cy="61247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里</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程碑类型说明：</a:t>
            </a:r>
          </a:p>
          <a:p>
            <a:pPr>
              <a:lnSpc>
                <a:spcPct val="120000"/>
              </a:lnSpc>
              <a:spcBef>
                <a:spcPts val="600"/>
              </a:spcBef>
            </a:pP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839908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80268" y="1621578"/>
            <a:ext cx="7587197" cy="2394502"/>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步骤三：关键路径识别与验证（</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各小组从任务清单中追踪所有可能的执行路径，分别计算每条路径的总工期，总工期最长的路径即为关键路径，填写《关键路径识别卡》。</a:t>
            </a:r>
          </a:p>
          <a:p>
            <a:pPr>
              <a:lnSpc>
                <a:spcPct val="120000"/>
              </a:lnSpc>
              <a:spcBef>
                <a:spcPts val="3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路径计算规则：</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从无前置任务的任务开始追踪，到无后续任务的任务结束</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某任务有多个前置任务时，须等全部前置任务完成后才能开始</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多个任务并行时，它们在同一时间段内展开，不串联叠加</a:t>
            </a:r>
          </a:p>
          <a:p>
            <a:pPr>
              <a:lnSpc>
                <a:spcPct val="120000"/>
              </a:lnSpc>
              <a:spcBef>
                <a:spcPts val="3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每条路径的工期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路径上所有串联任务的工期之和</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《关键路径识别卡》模板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68914657"/>
              </p:ext>
            </p:extLst>
          </p:nvPr>
        </p:nvGraphicFramePr>
        <p:xfrm>
          <a:off x="2771800" y="3712234"/>
          <a:ext cx="6048672" cy="1379796"/>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3791886470"/>
                    </a:ext>
                  </a:extLst>
                </a:gridCol>
                <a:gridCol w="4320480">
                  <a:extLst>
                    <a:ext uri="{9D8B030D-6E8A-4147-A177-3AD203B41FA5}">
                      <a16:colId xmlns:a16="http://schemas.microsoft.com/office/drawing/2014/main" val="1404311425"/>
                    </a:ext>
                  </a:extLst>
                </a:gridCol>
                <a:gridCol w="936104">
                  <a:extLst>
                    <a:ext uri="{9D8B030D-6E8A-4147-A177-3AD203B41FA5}">
                      <a16:colId xmlns:a16="http://schemas.microsoft.com/office/drawing/2014/main" val="4118049377"/>
                    </a:ext>
                  </a:extLst>
                </a:gridCol>
              </a:tblGrid>
              <a:tr h="256158">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路径编号</a:t>
                      </a:r>
                    </a:p>
                  </a:txBody>
                  <a:tcPr marL="68580" marR="68580" marT="0" marB="0" anchor="ctr"/>
                </a:tc>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路径（任务序列）</a:t>
                      </a:r>
                    </a:p>
                  </a:txBody>
                  <a:tcPr marL="68580" marR="68580" marT="0" marB="0" anchor="ctr"/>
                </a:tc>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总工期（秒）</a:t>
                      </a:r>
                    </a:p>
                  </a:txBody>
                  <a:tcPr marL="68580" marR="68580" marT="0" marB="0" anchor="ctr"/>
                </a:tc>
                <a:extLst>
                  <a:ext uri="{0D108BD9-81ED-4DB2-BD59-A6C34878D82A}">
                    <a16:rowId xmlns:a16="http://schemas.microsoft.com/office/drawing/2014/main" val="648487680"/>
                  </a:ext>
                </a:extLst>
              </a:tr>
              <a:tr h="475566">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路径</a:t>
                      </a:r>
                      <a:r>
                        <a:rPr lang="en-US"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1</a:t>
                      </a:r>
                      <a:endPar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（取杯）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→B</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（接水）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→C</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（等待沸腾）</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→D</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（温杯）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→F</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（注水）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（浸泡计时）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→H</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（敬茶）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（品鉴确认）</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376</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9700968"/>
                  </a:ext>
                </a:extLst>
              </a:tr>
              <a:tr h="432048">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路径</a:t>
                      </a:r>
                      <a:r>
                        <a:rPr lang="en-US"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2</a:t>
                      </a:r>
                      <a:endPar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（如有并行任务，填写任务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ID</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及名称，如：</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A→B→C→F→G→H→I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，计算总工期）</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08494089"/>
                  </a:ext>
                </a:extLst>
              </a:tr>
              <a:tr h="216024">
                <a:tc>
                  <a:txBody>
                    <a:bodyPr/>
                    <a:lstStyle/>
                    <a:p>
                      <a:pPr marL="0" algn="ctr" defTabSz="914400" rtl="0" eaLnBrk="1" latinLnBrk="0" hangingPunct="1">
                        <a:lnSpc>
                          <a:spcPct val="120000"/>
                        </a:lnSpc>
                        <a:spcAft>
                          <a:spcPts val="0"/>
                        </a:spcAft>
                      </a:pPr>
                      <a:r>
                        <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路径</a:t>
                      </a:r>
                      <a:r>
                        <a:rPr lang="en-US"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3</a:t>
                      </a:r>
                      <a:endParaRPr lang="zh-CN" sz="1100" b="1" kern="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（如有并行任务，填写任务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ID</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及名称，计算总工期）</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56403777"/>
                  </a:ext>
                </a:extLst>
              </a:tr>
            </a:tbl>
          </a:graphicData>
        </a:graphic>
      </p:graphicFrame>
    </p:spTree>
    <p:extLst>
      <p:ext uri="{BB962C8B-B14F-4D97-AF65-F5344CB8AC3E}">
        <p14:creationId xmlns:p14="http://schemas.microsoft.com/office/powerpoint/2010/main" val="22376432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80268" y="1621578"/>
            <a:ext cx="7587197" cy="1034450"/>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案例设计说明：</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中提取的工作包按执行顺序排列，分别计算所有可能路径的总工期，总工期最长的路径即为关键路径。表格中的路径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为无并行任务时的基准路径，各小组应根据自身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中的依赖关系识别并填写路径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、路径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89785476"/>
              </p:ext>
            </p:extLst>
          </p:nvPr>
        </p:nvGraphicFramePr>
        <p:xfrm>
          <a:off x="899592" y="2715766"/>
          <a:ext cx="7416824" cy="1872208"/>
        </p:xfrm>
        <a:graphic>
          <a:graphicData uri="http://schemas.openxmlformats.org/drawingml/2006/table">
            <a:tbl>
              <a:tblPr firstRow="1" firstCol="1" bandRow="1">
                <a:tableStyleId>{5C22544A-7EE6-4342-B048-85BDC9FD1C3A}</a:tableStyleId>
              </a:tblPr>
              <a:tblGrid>
                <a:gridCol w="1296144">
                  <a:extLst>
                    <a:ext uri="{9D8B030D-6E8A-4147-A177-3AD203B41FA5}">
                      <a16:colId xmlns:a16="http://schemas.microsoft.com/office/drawing/2014/main" val="1914101662"/>
                    </a:ext>
                  </a:extLst>
                </a:gridCol>
                <a:gridCol w="504056">
                  <a:extLst>
                    <a:ext uri="{9D8B030D-6E8A-4147-A177-3AD203B41FA5}">
                      <a16:colId xmlns:a16="http://schemas.microsoft.com/office/drawing/2014/main" val="233002536"/>
                    </a:ext>
                  </a:extLst>
                </a:gridCol>
                <a:gridCol w="561662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项目经理</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主持讨论，把握时间进度，确认各环节输出质量</a:t>
                      </a:r>
                    </a:p>
                  </a:txBody>
                  <a:tcPr marL="68580" marR="68580" marT="0" marB="0" anchor="ctr"/>
                </a:tc>
                <a:extLst>
                  <a:ext uri="{0D108BD9-81ED-4DB2-BD59-A6C34878D82A}">
                    <a16:rowId xmlns:a16="http://schemas.microsoft.com/office/drawing/2014/main" val="3845462762"/>
                  </a:ext>
                </a:extLst>
              </a:tr>
              <a:tr h="50405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任务列示与估算员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中逐项提取最底层工作包，填入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任务名称</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列，依据参考信息估算每项任务的合理工期，判断前置任务及依赖关系类型（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FS/SS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extLst>
                  <a:ext uri="{0D108BD9-81ED-4DB2-BD59-A6C34878D82A}">
                    <a16:rowId xmlns:a16="http://schemas.microsoft.com/office/drawing/2014/main" val="2437055160"/>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甘特图绘制员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在图纸上绘制时间轴、任务条、依赖箭头和里程碑，标注关键路径</a:t>
                      </a:r>
                    </a:p>
                  </a:txBody>
                  <a:tcPr marL="68580" marR="68580" marT="0" marB="0" anchor="ctr"/>
                </a:tc>
                <a:extLst>
                  <a:ext uri="{0D108BD9-81ED-4DB2-BD59-A6C34878D82A}">
                    <a16:rowId xmlns:a16="http://schemas.microsoft.com/office/drawing/2014/main" val="846345173"/>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关键路径计算员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计算各条路径总工期，确定关键路径并在甘特图上标注</a:t>
                      </a:r>
                    </a:p>
                  </a:txBody>
                  <a:tcPr marL="68580" marR="68580" marT="0" marB="0" anchor="ctr"/>
                </a:tc>
                <a:extLst>
                  <a:ext uri="{0D108BD9-81ED-4DB2-BD59-A6C34878D82A}">
                    <a16:rowId xmlns:a16="http://schemas.microsoft.com/office/drawing/2014/main" val="3755180311"/>
                  </a:ext>
                </a:extLst>
              </a:tr>
            </a:tbl>
          </a:graphicData>
        </a:graphic>
      </p:graphicFrame>
    </p:spTree>
    <p:extLst>
      <p:ext uri="{BB962C8B-B14F-4D97-AF65-F5344CB8AC3E}">
        <p14:creationId xmlns:p14="http://schemas.microsoft.com/office/powerpoint/2010/main" val="6988496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945243" y="1621578"/>
            <a:ext cx="6939125" cy="358867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引导问题示例（班级）：</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中提取所有最底层工作包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等待沸腾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是工作包名称吗？它的可交付成果是什么？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将所有路径的总工期列出来，比较哪条最长。关键路径不是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你认为最重要的任务</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，而是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总工期最长的任务链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如果必须在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秒内完成，你们是否考虑将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烧水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前置或采用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并行关系？这如何影响关键路径？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如果测算后确认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秒不可行，你们将如何向发起人提交工期变更申请？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里程碑应覆盖决策点、检查点和交付点三种类型，每个里程碑需有明确的验收标准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完成什么、由谁确认。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如果使用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工具生成甘特图，请务必验证输出的任务依赖关系和工期是否符合你们的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工具生成的是草稿，你们才是决策者。</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引导问题示例（小组）：</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温杯的前置任务是什么？</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温杯需要用热水，所以必须等水烧开之后才能进行。这属于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开始）依赖关系。</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085506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724180" cy="3367076"/>
          </a:xfrm>
          <a:prstGeom prst="rect">
            <a:avLst/>
          </a:prstGeom>
        </p:spPr>
        <p:txBody>
          <a:bodyPr wrap="square">
            <a:spAutoFit/>
          </a:bodyPr>
          <a:lstStyle/>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估算工期时，除了参考信息，还需要考虑哪些因素？（如：操作者的熟练程度、环境温度对冷却速度的影响等）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等待沸腾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之间能否采用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SS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不能，因为必须先有水才能烧，这是强制依赖。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如果你们采用提前烧水策略（资源前置），关键路径会发生什么变化？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各小组在图纸上完成甘特图（含依赖关系、里程碑、关键路径标注）及《关键路径识别卡》，保存作为方案组成部分。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第四阶段：成本核算与优化（</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与甘特图，完成项目成本精细化核算，并通过优化方案确保利润为正，体验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在质量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时间三角约束下做出最优决策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的项目管理核心能力。</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步骤一：成本精细化核算（</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各小组基于第二阶段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（明确投茶量、工序数量）与第三阶段甘特图（明确总工期），填写《项目成本核算表》</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112794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21578"/>
            <a:ext cx="7567873" cy="313932"/>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项目成本核算表》模板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460360869"/>
              </p:ext>
            </p:extLst>
          </p:nvPr>
        </p:nvGraphicFramePr>
        <p:xfrm>
          <a:off x="890751" y="1958678"/>
          <a:ext cx="6201529" cy="2845320"/>
        </p:xfrm>
        <a:graphic>
          <a:graphicData uri="http://schemas.openxmlformats.org/drawingml/2006/table">
            <a:tbl>
              <a:tblPr firstRow="1" firstCol="1" bandRow="1">
                <a:tableStyleId>{5C22544A-7EE6-4342-B048-85BDC9FD1C3A}</a:tableStyleId>
              </a:tblPr>
              <a:tblGrid>
                <a:gridCol w="872937">
                  <a:extLst>
                    <a:ext uri="{9D8B030D-6E8A-4147-A177-3AD203B41FA5}">
                      <a16:colId xmlns:a16="http://schemas.microsoft.com/office/drawing/2014/main" val="1914101662"/>
                    </a:ext>
                  </a:extLst>
                </a:gridCol>
                <a:gridCol w="4032448">
                  <a:extLst>
                    <a:ext uri="{9D8B030D-6E8A-4147-A177-3AD203B41FA5}">
                      <a16:colId xmlns:a16="http://schemas.microsoft.com/office/drawing/2014/main" val="233002536"/>
                    </a:ext>
                  </a:extLst>
                </a:gridCol>
                <a:gridCol w="129614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计算依据</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金额（元）</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茶叶费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投茶量</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___g × 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5462762"/>
                  </a:ext>
                </a:extLst>
              </a:tr>
              <a:tr h="397048">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水费</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矿泉水：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自来水：</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电费</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1.2KW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/60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0.6</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元（基于烧水时间）</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44229955"/>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设备折旧费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陶瓷杯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电热水壶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6595150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劳务费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总工期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0.05</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25144146"/>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总成本</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以上合计</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459913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利润</a:t>
                      </a:r>
                    </a:p>
                  </a:txBody>
                  <a:tcPr marL="68580" marR="68580" marT="0" marB="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总成本</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68580" marR="68580" marT="0" marB="0" anchor="ctr"/>
                </a:tc>
                <a:tc>
                  <a:txBody>
                    <a:bodyPr/>
                    <a:lstStyle/>
                    <a:p>
                      <a:pPr algn="just">
                        <a:lnSpc>
                          <a:spcPts val="1875"/>
                        </a:lnSpc>
                        <a:spcAft>
                          <a:spcPts val="0"/>
                        </a:spcAft>
                      </a:pPr>
                      <a:r>
                        <a:rPr lang="en-US" sz="1150" kern="100">
                          <a:effectLst/>
                          <a:latin typeface="Segoe UI" panose="020B0502040204020203" pitchFamily="34" charset="0"/>
                          <a:ea typeface="等线" panose="02010600030101010101" pitchFamily="2"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46345173"/>
                  </a:ext>
                </a:extLst>
              </a:tr>
            </a:tbl>
          </a:graphicData>
        </a:graphic>
      </p:graphicFrame>
    </p:spTree>
    <p:extLst>
      <p:ext uri="{BB962C8B-B14F-4D97-AF65-F5344CB8AC3E}">
        <p14:creationId xmlns:p14="http://schemas.microsoft.com/office/powerpoint/2010/main" val="15118118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21578"/>
            <a:ext cx="7567873" cy="61247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各</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项成本计算说明：</a:t>
            </a:r>
          </a:p>
          <a:p>
            <a:pPr>
              <a:lnSpc>
                <a:spcPct val="120000"/>
              </a:lnSpc>
              <a:spcBef>
                <a:spcPts val="600"/>
              </a:spcBef>
            </a:pP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891399942"/>
              </p:ext>
            </p:extLst>
          </p:nvPr>
        </p:nvGraphicFramePr>
        <p:xfrm>
          <a:off x="890751" y="1958678"/>
          <a:ext cx="8073737" cy="2967872"/>
        </p:xfrm>
        <a:graphic>
          <a:graphicData uri="http://schemas.openxmlformats.org/drawingml/2006/table">
            <a:tbl>
              <a:tblPr firstRow="1" firstCol="1" bandRow="1">
                <a:tableStyleId>{5C22544A-7EE6-4342-B048-85BDC9FD1C3A}</a:tableStyleId>
              </a:tblPr>
              <a:tblGrid>
                <a:gridCol w="872937">
                  <a:extLst>
                    <a:ext uri="{9D8B030D-6E8A-4147-A177-3AD203B41FA5}">
                      <a16:colId xmlns:a16="http://schemas.microsoft.com/office/drawing/2014/main" val="1914101662"/>
                    </a:ext>
                  </a:extLst>
                </a:gridCol>
                <a:gridCol w="7200800">
                  <a:extLst>
                    <a:ext uri="{9D8B030D-6E8A-4147-A177-3AD203B41FA5}">
                      <a16:colId xmlns:a16="http://schemas.microsoft.com/office/drawing/2014/main" val="233002536"/>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计算依据</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茶叶费</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投茶量基于第二阶段</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工作包的设定值（</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2.5-3g</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）；单价</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为任务书给定值</a:t>
                      </a:r>
                    </a:p>
                  </a:txBody>
                  <a:tcPr marL="72000" marR="72000" marT="36000" marB="36000" anchor="ctr"/>
                </a:tc>
                <a:extLst>
                  <a:ext uri="{0D108BD9-81ED-4DB2-BD59-A6C34878D82A}">
                    <a16:rowId xmlns:a16="http://schemas.microsoft.com/office/drawing/2014/main" val="3845462762"/>
                  </a:ext>
                </a:extLst>
              </a:tr>
              <a:tr h="325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水费</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基于第一阶段</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水源选择</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决策；矿泉水</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/500ml</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，自来水</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p>
                  </a:txBody>
                  <a:tcPr marL="72000" marR="72000" marT="36000" marB="36000" anchor="ctr"/>
                </a:tc>
                <a:extLst>
                  <a:ext uri="{0D108BD9-81ED-4DB2-BD59-A6C34878D82A}">
                    <a16:rowId xmlns:a16="http://schemas.microsoft.com/office/drawing/2014/main" val="2437055160"/>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电费</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基于电热水壶通电时间（烧水时间），非总工期；电价</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0.6</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度为任务书给定值；注意单位换算（分钟</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小时）</a:t>
                      </a:r>
                    </a:p>
                  </a:txBody>
                  <a:tcPr marL="72000" marR="72000" marT="36000" marB="36000" anchor="ctr"/>
                </a:tc>
                <a:extLst>
                  <a:ext uri="{0D108BD9-81ED-4DB2-BD59-A6C34878D82A}">
                    <a16:rowId xmlns:a16="http://schemas.microsoft.com/office/drawing/2014/main" val="544229955"/>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设备折旧费</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陶瓷杯</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电热水壶</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0.5</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次（按次折旧）</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365951502"/>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劳务费</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总工期基于第三阶段甘特图；单价</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0.05</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秒为任务书给定值（按一次完整泡茶服务计，非市场实际水平，仅供教学模拟使用）</a:t>
                      </a:r>
                    </a:p>
                  </a:txBody>
                  <a:tcPr marL="72000" marR="72000" marT="36000" marB="36000" anchor="ctr"/>
                </a:tc>
                <a:extLst>
                  <a:ext uri="{0D108BD9-81ED-4DB2-BD59-A6C34878D82A}">
                    <a16:rowId xmlns:a16="http://schemas.microsoft.com/office/drawing/2014/main" val="3225144146"/>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总成本</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须</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，否则方案需优化调整</a:t>
                      </a:r>
                    </a:p>
                  </a:txBody>
                  <a:tcPr marL="72000" marR="72000" marT="36000" marB="36000" anchor="ctr"/>
                </a:tc>
                <a:extLst>
                  <a:ext uri="{0D108BD9-81ED-4DB2-BD59-A6C34878D82A}">
                    <a16:rowId xmlns:a16="http://schemas.microsoft.com/office/drawing/2014/main" val="20459913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利润</a:t>
                      </a:r>
                    </a:p>
                  </a:txBody>
                  <a:tcPr marL="68580" marR="68580" marT="0" marB="0" anchor="ctr"/>
                </a:tc>
                <a:tc>
                  <a:txBody>
                    <a:bodyPr/>
                    <a:lstStyle/>
                    <a:p>
                      <a:pPr marL="0" algn="just" defTabSz="914400" rtl="0" eaLnBrk="1" latinLnBrk="0" hangingPunct="1">
                        <a:lnSpc>
                          <a:spcPts val="1875"/>
                        </a:lnSpc>
                        <a:spcAft>
                          <a:spcPts val="0"/>
                        </a:spcAft>
                      </a:pP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投茶量基于第二阶段</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中</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投茶</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工作包的设定值（</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2.5-3g</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）；单价</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/g</a:t>
                      </a:r>
                      <a:r>
                        <a:rPr lang="zh-CN" sz="1150" kern="10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为任务书给定值</a:t>
                      </a:r>
                    </a:p>
                  </a:txBody>
                  <a:tcPr marL="72000" marR="72000" marT="36000" marB="36000" anchor="ctr"/>
                </a:tc>
                <a:extLst>
                  <a:ext uri="{0D108BD9-81ED-4DB2-BD59-A6C34878D82A}">
                    <a16:rowId xmlns:a16="http://schemas.microsoft.com/office/drawing/2014/main" val="846345173"/>
                  </a:ext>
                </a:extLst>
              </a:tr>
            </a:tbl>
          </a:graphicData>
        </a:graphic>
      </p:graphicFrame>
    </p:spTree>
    <p:extLst>
      <p:ext uri="{BB962C8B-B14F-4D97-AF65-F5344CB8AC3E}">
        <p14:creationId xmlns:p14="http://schemas.microsoft.com/office/powerpoint/2010/main" val="3630914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21578"/>
            <a:ext cx="7567873"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1895189761"/>
              </p:ext>
            </p:extLst>
          </p:nvPr>
        </p:nvGraphicFramePr>
        <p:xfrm>
          <a:off x="899592" y="1952224"/>
          <a:ext cx="7560840" cy="1051574"/>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val="1914101662"/>
                    </a:ext>
                  </a:extLst>
                </a:gridCol>
                <a:gridCol w="504056">
                  <a:extLst>
                    <a:ext uri="{9D8B030D-6E8A-4147-A177-3AD203B41FA5}">
                      <a16:colId xmlns:a16="http://schemas.microsoft.com/office/drawing/2014/main" val="233002536"/>
                    </a:ext>
                  </a:extLst>
                </a:gridCol>
                <a:gridCol w="540060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成本核算员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填写成本核算表，逐项计算各项成本与利润</a:t>
                      </a: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数据核查员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与甘特图中提取投茶量、总工期等数据，确认计算依据</a:t>
                      </a:r>
                    </a:p>
                  </a:txBody>
                  <a:tcPr marL="68580" marR="68580" marT="0" marB="0" anchor="ctr"/>
                </a:tc>
                <a:extLst>
                  <a:ext uri="{0D108BD9-81ED-4DB2-BD59-A6C34878D82A}">
                    <a16:rowId xmlns:a16="http://schemas.microsoft.com/office/drawing/2014/main" val="243705516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利润评估与决策记录员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评估利润是否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；若为负，主持优化讨论并记录决策结果；确认最终成本方案并签字</a:t>
                      </a:r>
                    </a:p>
                  </a:txBody>
                  <a:tcPr marL="68580" marR="68580" marT="0" marB="0" anchor="ctr"/>
                </a:tc>
                <a:extLst>
                  <a:ext uri="{0D108BD9-81ED-4DB2-BD59-A6C34878D82A}">
                    <a16:rowId xmlns:a16="http://schemas.microsoft.com/office/drawing/2014/main" val="1200859556"/>
                  </a:ext>
                </a:extLst>
              </a:tr>
            </a:tbl>
          </a:graphicData>
        </a:graphic>
      </p:graphicFrame>
      <p:sp>
        <p:nvSpPr>
          <p:cNvPr id="3" name="矩形 2"/>
          <p:cNvSpPr/>
          <p:nvPr/>
        </p:nvSpPr>
        <p:spPr>
          <a:xfrm>
            <a:off x="899592" y="3039700"/>
            <a:ext cx="3672408" cy="612475"/>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步骤二：成本优化决策（</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若利润为负，团队须从以下方向中选择优化策略：</a:t>
            </a:r>
          </a:p>
        </p:txBody>
      </p:sp>
      <p:graphicFrame>
        <p:nvGraphicFramePr>
          <p:cNvPr id="10" name="表格 9"/>
          <p:cNvGraphicFramePr>
            <a:graphicFrameLocks noGrp="1"/>
          </p:cNvGraphicFramePr>
          <p:nvPr>
            <p:extLst>
              <p:ext uri="{D42A27DB-BD31-4B8C-83A1-F6EECF244321}">
                <p14:modId xmlns:p14="http://schemas.microsoft.com/office/powerpoint/2010/main" val="1879785973"/>
              </p:ext>
            </p:extLst>
          </p:nvPr>
        </p:nvGraphicFramePr>
        <p:xfrm>
          <a:off x="395536" y="3666610"/>
          <a:ext cx="8352928" cy="1339606"/>
        </p:xfrm>
        <a:graphic>
          <a:graphicData uri="http://schemas.openxmlformats.org/drawingml/2006/table">
            <a:tbl>
              <a:tblPr firstRow="1" firstCol="1" bandRow="1">
                <a:tableStyleId>{5C22544A-7EE6-4342-B048-85BDC9FD1C3A}</a:tableStyleId>
              </a:tblPr>
              <a:tblGrid>
                <a:gridCol w="1080120">
                  <a:extLst>
                    <a:ext uri="{9D8B030D-6E8A-4147-A177-3AD203B41FA5}">
                      <a16:colId xmlns:a16="http://schemas.microsoft.com/office/drawing/2014/main" val="1914101662"/>
                    </a:ext>
                  </a:extLst>
                </a:gridCol>
                <a:gridCol w="5256584">
                  <a:extLst>
                    <a:ext uri="{9D8B030D-6E8A-4147-A177-3AD203B41FA5}">
                      <a16:colId xmlns:a16="http://schemas.microsoft.com/office/drawing/2014/main" val="233002536"/>
                    </a:ext>
                  </a:extLst>
                </a:gridCol>
                <a:gridCol w="201622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优化方向</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可能影响</a:t>
                      </a:r>
                    </a:p>
                  </a:txBody>
                  <a:tcPr marL="68580" marR="68580" marT="0" marB="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降低材料成本</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减少投茶量（如从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降至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2.5g</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，但需满足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淡茶</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质量要求）；选择自来水替代矿泉水</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可能影响口感（质量）</a:t>
                      </a: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缩短工期</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优化任务依赖关系（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SS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并行）；资源前置（提前烧水）</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可能增加协调成本或质量风险</a:t>
                      </a:r>
                    </a:p>
                  </a:txBody>
                  <a:tcPr marL="68580" marR="68580" marT="0" marB="0" anchor="ctr"/>
                </a:tc>
                <a:extLst>
                  <a:ext uri="{0D108BD9-81ED-4DB2-BD59-A6C34878D82A}">
                    <a16:rowId xmlns:a16="http://schemas.microsoft.com/office/drawing/2014/main" val="243705516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降低劳务费</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提高操作效率；合并可省略步骤</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需确保质量不受影响</a:t>
                      </a:r>
                    </a:p>
                  </a:txBody>
                  <a:tcPr marL="68580" marR="68580" marT="0" marB="0" anchor="ctr"/>
                </a:tc>
                <a:extLst>
                  <a:ext uri="{0D108BD9-81ED-4DB2-BD59-A6C34878D82A}">
                    <a16:rowId xmlns:a16="http://schemas.microsoft.com/office/drawing/2014/main" val="1505933867"/>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接受低利润</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利润为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元时，可不调整</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利润为正即可</a:t>
                      </a:r>
                    </a:p>
                  </a:txBody>
                  <a:tcPr marL="68580" marR="68580" marT="0" marB="0" anchor="ctr"/>
                </a:tc>
                <a:extLst>
                  <a:ext uri="{0D108BD9-81ED-4DB2-BD59-A6C34878D82A}">
                    <a16:rowId xmlns:a16="http://schemas.microsoft.com/office/drawing/2014/main" val="1200859556"/>
                  </a:ext>
                </a:extLst>
              </a:tr>
            </a:tbl>
          </a:graphicData>
        </a:graphic>
      </p:graphicFrame>
    </p:spTree>
    <p:extLst>
      <p:ext uri="{BB962C8B-B14F-4D97-AF65-F5344CB8AC3E}">
        <p14:creationId xmlns:p14="http://schemas.microsoft.com/office/powerpoint/2010/main" val="6161218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3" y="1621578"/>
            <a:ext cx="7200800" cy="3367076"/>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利润评估与决策逻辑：</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利润</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 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（利润率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16%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）：方案盈利能力强，可行，无需调整</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利润 </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&lt; 8</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6%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利润率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&lt; 16%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）：方案基本可行，建议优化后提交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利润</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 &lt; 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元</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（利润率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&lt; 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）：方案盈利能力不足，须从上述优化方向中选择至少一项进行调</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整</a:t>
            </a:r>
            <a:endParaRPr lang="en-US" altLang="zh-CN" sz="1200" smtClean="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骤三：成本方案确认（</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各小组在图纸</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成本核算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模块中，确认最终成本方案并签字。若需调整方案，同步修改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或甘特图中相关内容。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投茶量从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降至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，成本降低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元。但喝茶人对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淡茶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的偏好要求至少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2.5g——</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这是质量底线，不能通过牺牲质量来降低成本。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总工期从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350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秒延长至</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376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秒，劳务费增加了多少？延长的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26</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秒能否带来更高的客户满意度？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这是成本效益分析。</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89463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3" y="1621578"/>
            <a:ext cx="7416823" cy="2991588"/>
          </a:xfrm>
          <a:prstGeom prst="rect">
            <a:avLst/>
          </a:prstGeom>
        </p:spPr>
        <p:txBody>
          <a:bodyPr wrap="square">
            <a:spAutoFit/>
          </a:bodyPr>
          <a:lstStyle/>
          <a:p>
            <a:pPr>
              <a:lnSpc>
                <a:spcPct val="120000"/>
              </a:lnSpc>
              <a:spcBef>
                <a:spcPts val="600"/>
              </a:spcBef>
            </a:pP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矿泉水（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元）还是自来水（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元）？多花的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元能否被喝茶人感知？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如果无法被感知，就是不必要的成本。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如果利润为负，你们决定从哪个方向优化？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这是项目管理的核心决策：在质量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时间三角约束下找到最优解。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成本核算表中利润为负，但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与甘特图已经确定。如果降低投茶量，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工作包的可交付成果是否需要同步修改？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各小组完成《项目成本核算表》及优化决策记录，保存作为方案组成部分。利润须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，否则须附优化说明。成本核算表在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号图纸中置于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右下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模块，与风险登记册并列（详见第六阶段方案整合布局）。</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第五阶段：风险管理（</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系统识别泡茶项目执行中的潜在风险，制定应对预案。</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487883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621578"/>
            <a:ext cx="7567873" cy="3299365"/>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方</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法导入（</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四维风险识别框架：</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技术风险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方案本身的问题（如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水温达不到要求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茶叶用量不精准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人员风险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人带来的不确定性（如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操作者手抖倒多了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忘记计时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资源风险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材料和设备的问题（如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电热水壶漏电或损坏</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杯子碎了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外部环境风险</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环境的不确定性（如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室温过高影响降温速度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供电线路故障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风险评估公式</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：风险等级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发生概率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影响程度</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概率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影响</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等级对应关系：</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概率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影响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1-6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低优先级（简单关注即可）</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概率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影响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7-12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中优先级（需制定应对措施）</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概率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影响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13-25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高优先级（必须制定详细应对预案</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23874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3" y="1621578"/>
            <a:ext cx="7200800" cy="1951303"/>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教</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学引导示例：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电热水壶损坏或供电线路故障</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它属于资源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外部风险，概率中低（设备老化或偶发跳闸），影响高（一旦发生，烧水无法完成）。应对策略上，可采取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减轻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策略（准备备用热水壶或保温瓶储存热水）或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接受</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策略（告知客户并协商延期交付）。</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13</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各组填写《泡茶项目风险登记册》，至少识别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项风险，覆盖至少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《泡茶项目风险登记册》模板</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4231916554"/>
              </p:ext>
            </p:extLst>
          </p:nvPr>
        </p:nvGraphicFramePr>
        <p:xfrm>
          <a:off x="539552" y="3586636"/>
          <a:ext cx="8208911" cy="1261998"/>
        </p:xfrm>
        <a:graphic>
          <a:graphicData uri="http://schemas.openxmlformats.org/drawingml/2006/table">
            <a:tbl>
              <a:tblPr firstRow="1" firstCol="1" bandRow="1">
                <a:tableStyleId>{5C22544A-7EE6-4342-B048-85BDC9FD1C3A}</a:tableStyleId>
              </a:tblPr>
              <a:tblGrid>
                <a:gridCol w="504055">
                  <a:extLst>
                    <a:ext uri="{9D8B030D-6E8A-4147-A177-3AD203B41FA5}">
                      <a16:colId xmlns:a16="http://schemas.microsoft.com/office/drawing/2014/main" val="2451949091"/>
                    </a:ext>
                  </a:extLst>
                </a:gridCol>
                <a:gridCol w="792088">
                  <a:extLst>
                    <a:ext uri="{9D8B030D-6E8A-4147-A177-3AD203B41FA5}">
                      <a16:colId xmlns:a16="http://schemas.microsoft.com/office/drawing/2014/main" val="1834526912"/>
                    </a:ext>
                  </a:extLst>
                </a:gridCol>
                <a:gridCol w="1224136">
                  <a:extLst>
                    <a:ext uri="{9D8B030D-6E8A-4147-A177-3AD203B41FA5}">
                      <a16:colId xmlns:a16="http://schemas.microsoft.com/office/drawing/2014/main" val="392944424"/>
                    </a:ext>
                  </a:extLst>
                </a:gridCol>
                <a:gridCol w="720080">
                  <a:extLst>
                    <a:ext uri="{9D8B030D-6E8A-4147-A177-3AD203B41FA5}">
                      <a16:colId xmlns:a16="http://schemas.microsoft.com/office/drawing/2014/main" val="2275544430"/>
                    </a:ext>
                  </a:extLst>
                </a:gridCol>
                <a:gridCol w="864096">
                  <a:extLst>
                    <a:ext uri="{9D8B030D-6E8A-4147-A177-3AD203B41FA5}">
                      <a16:colId xmlns:a16="http://schemas.microsoft.com/office/drawing/2014/main" val="3474307074"/>
                    </a:ext>
                  </a:extLst>
                </a:gridCol>
                <a:gridCol w="1224136">
                  <a:extLst>
                    <a:ext uri="{9D8B030D-6E8A-4147-A177-3AD203B41FA5}">
                      <a16:colId xmlns:a16="http://schemas.microsoft.com/office/drawing/2014/main" val="2751401672"/>
                    </a:ext>
                  </a:extLst>
                </a:gridCol>
                <a:gridCol w="1080120">
                  <a:extLst>
                    <a:ext uri="{9D8B030D-6E8A-4147-A177-3AD203B41FA5}">
                      <a16:colId xmlns:a16="http://schemas.microsoft.com/office/drawing/2014/main" val="2337871807"/>
                    </a:ext>
                  </a:extLst>
                </a:gridCol>
                <a:gridCol w="720080">
                  <a:extLst>
                    <a:ext uri="{9D8B030D-6E8A-4147-A177-3AD203B41FA5}">
                      <a16:colId xmlns:a16="http://schemas.microsoft.com/office/drawing/2014/main" val="2510270568"/>
                    </a:ext>
                  </a:extLst>
                </a:gridCol>
                <a:gridCol w="1080120">
                  <a:extLst>
                    <a:ext uri="{9D8B030D-6E8A-4147-A177-3AD203B41FA5}">
                      <a16:colId xmlns:a16="http://schemas.microsoft.com/office/drawing/2014/main" val="1183280108"/>
                    </a:ext>
                  </a:extLst>
                </a:gridCol>
              </a:tblGrid>
              <a:tr h="256158">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编号</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风险描述</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类别</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概率</a:t>
                      </a:r>
                      <a:r>
                        <a:rPr lang="en-US" sz="1100" b="1" kern="100">
                          <a:effectLst/>
                          <a:latin typeface="Times New Roman" panose="02020603050405020304" pitchFamily="18" charset="0"/>
                          <a:ea typeface="微软雅黑" panose="020B0503020204020204" pitchFamily="34" charset="-122"/>
                          <a:cs typeface="Times New Roman" panose="02020603050405020304" pitchFamily="18" charset="0"/>
                        </a:rPr>
                        <a:t>(1-5)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影响</a:t>
                      </a:r>
                      <a:r>
                        <a:rPr lang="en-US" sz="1100" b="1" kern="100">
                          <a:effectLst/>
                          <a:latin typeface="Times New Roman" panose="02020603050405020304" pitchFamily="18" charset="0"/>
                          <a:ea typeface="微软雅黑" panose="020B0503020204020204" pitchFamily="34" charset="-122"/>
                          <a:cs typeface="Times New Roman" panose="02020603050405020304" pitchFamily="18" charset="0"/>
                        </a:rPr>
                        <a:t>(1-5)</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等级</a:t>
                      </a:r>
                      <a:r>
                        <a:rPr lang="en-US" sz="1100" b="1"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概率</a:t>
                      </a:r>
                      <a:r>
                        <a:rPr lang="en-US" sz="1100" b="1" kern="1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effectLst/>
                          <a:latin typeface="Times New Roman" panose="02020603050405020304" pitchFamily="18" charset="0"/>
                          <a:ea typeface="微软雅黑" panose="020B0503020204020204" pitchFamily="34" charset="-122"/>
                          <a:cs typeface="Times New Roman" panose="02020603050405020304" pitchFamily="18" charset="0"/>
                        </a:rPr>
                        <a:t>影响</a:t>
                      </a:r>
                      <a:r>
                        <a:rPr lang="en-US" sz="1100" b="1" kern="10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1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应对策略</a:t>
                      </a:r>
                    </a:p>
                  </a:txBody>
                  <a:tcPr marL="68580" marR="68580" marT="0" marB="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具体措施</a:t>
                      </a:r>
                    </a:p>
                  </a:txBody>
                  <a:tcPr marL="68580" marR="68580" marT="0" marB="0" anchor="ctr"/>
                </a:tc>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触发条件</a:t>
                      </a:r>
                    </a:p>
                  </a:txBody>
                  <a:tcPr marL="68580" marR="68580" marT="0" marB="0" anchor="ctr"/>
                </a:tc>
                <a:extLst>
                  <a:ext uri="{0D108BD9-81ED-4DB2-BD59-A6C34878D82A}">
                    <a16:rowId xmlns:a16="http://schemas.microsoft.com/office/drawing/2014/main" val="1303379045"/>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R01</a:t>
                      </a:r>
                      <a:endParaRPr lang="zh-CN" sz="1100" b="1" kern="100">
                        <a:solidFill>
                          <a:schemeClr val="lt1"/>
                        </a:solidFill>
                        <a:effectLst/>
                        <a:latin typeface="Arial Black" panose="020B0A04020102020204" pitchFamily="34" charset="0"/>
                        <a:ea typeface="+mn-ea"/>
                        <a:cs typeface="+mn-cs"/>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技术</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人员</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资源</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外部</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solidFill>
                            <a:srgbClr val="0F1115"/>
                          </a:solidFill>
                          <a:effectLst/>
                          <a:latin typeface="仿宋" panose="02010609060101010101" pitchFamily="49" charset="-122"/>
                          <a:ea typeface="等线"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规避</a:t>
                      </a:r>
                      <a: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减轻</a:t>
                      </a:r>
                      <a: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转移</a:t>
                      </a:r>
                      <a:r>
                        <a:rPr lang="en-US"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10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接受</a:t>
                      </a:r>
                      <a:endPar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05122200"/>
                  </a:ext>
                </a:extLst>
              </a:tr>
              <a:tr h="0">
                <a:tc>
                  <a:txBody>
                    <a:bodyPr/>
                    <a:lstStyle/>
                    <a:p>
                      <a:pPr marL="0" algn="ctr" defTabSz="914400" rtl="0" eaLnBrk="1" latinLnBrk="0" hangingPunct="1">
                        <a:lnSpc>
                          <a:spcPct val="120000"/>
                        </a:lnSpc>
                        <a:spcAft>
                          <a:spcPts val="0"/>
                        </a:spcAft>
                      </a:pPr>
                      <a:r>
                        <a:rPr lang="en-US" sz="1100" b="1" kern="100">
                          <a:solidFill>
                            <a:schemeClr val="lt1"/>
                          </a:solidFill>
                          <a:effectLst/>
                          <a:latin typeface="Arial Black" panose="020B0A04020102020204" pitchFamily="34" charset="0"/>
                          <a:ea typeface="+mn-ea"/>
                          <a:cs typeface="+mn-cs"/>
                        </a:rPr>
                        <a:t>R02</a:t>
                      </a:r>
                      <a:endParaRPr lang="zh-CN" sz="1100" b="1" kern="100">
                        <a:solidFill>
                          <a:schemeClr val="lt1"/>
                        </a:solidFill>
                        <a:effectLst/>
                        <a:latin typeface="Arial Black" panose="020B0A04020102020204" pitchFamily="34" charset="0"/>
                        <a:ea typeface="+mn-ea"/>
                        <a:cs typeface="+mn-cs"/>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技术</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人员</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资源</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外部</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solidFill>
                            <a:srgbClr val="0F1115"/>
                          </a:solidFill>
                          <a:effectLst/>
                          <a:latin typeface="仿宋" panose="02010609060101010101" pitchFamily="49" charset="-122"/>
                          <a:ea typeface="等线"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规避</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减轻</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转移</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接受</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19826561"/>
                  </a:ext>
                </a:extLst>
              </a:tr>
              <a:tr h="0">
                <a:tc>
                  <a:txBody>
                    <a:bodyPr/>
                    <a:lstStyle/>
                    <a:p>
                      <a:pPr marL="0" algn="ctr" defTabSz="914400" rtl="0" eaLnBrk="1" latinLnBrk="0" hangingPunct="1">
                        <a:lnSpc>
                          <a:spcPct val="120000"/>
                        </a:lnSpc>
                        <a:spcAft>
                          <a:spcPts val="0"/>
                        </a:spcAft>
                      </a:pPr>
                      <a:r>
                        <a:rPr lang="en-US" sz="1100" b="1" kern="100" smtClean="0">
                          <a:solidFill>
                            <a:schemeClr val="lt1"/>
                          </a:solidFill>
                          <a:effectLst/>
                          <a:latin typeface="Arial Black" panose="020B0A04020102020204" pitchFamily="34" charset="0"/>
                          <a:ea typeface="+mn-ea"/>
                          <a:cs typeface="+mn-cs"/>
                        </a:rPr>
                        <a:t>R03</a:t>
                      </a:r>
                      <a:endParaRPr lang="zh-CN" sz="1100" b="1" kern="100">
                        <a:solidFill>
                          <a:schemeClr val="lt1"/>
                        </a:solidFill>
                        <a:effectLst/>
                        <a:latin typeface="Arial Black" panose="020B0A04020102020204" pitchFamily="34" charset="0"/>
                        <a:ea typeface="+mn-ea"/>
                        <a:cs typeface="+mn-cs"/>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技术</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人员</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资源</a:t>
                      </a:r>
                      <a:r>
                        <a:rPr lang="en-US"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sz="1100" kern="0">
                          <a:solidFill>
                            <a:srgbClr val="0F1115"/>
                          </a:solidFill>
                          <a:effectLst/>
                          <a:latin typeface="仿宋" panose="02010609060101010101" pitchFamily="49" charset="-122"/>
                          <a:ea typeface="仿宋" panose="02010609060101010101" pitchFamily="49" charset="-122"/>
                          <a:cs typeface="Segoe UI" panose="020B0502040204020203" pitchFamily="34" charset="0"/>
                        </a:rPr>
                        <a:t>外部</a:t>
                      </a:r>
                      <a:endParaRPr lang="zh-CN" sz="1100" kern="100">
                        <a:effectLst/>
                        <a:latin typeface="仿宋" panose="02010609060101010101" pitchFamily="49" charset="-122"/>
                        <a:ea typeface="仿宋"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900" kern="0">
                          <a:effectLst/>
                          <a:latin typeface="Arial Black" panose="020B0A04020102020204" pitchFamily="34" charset="0"/>
                          <a:ea typeface="宋体"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solidFill>
                            <a:srgbClr val="0F1115"/>
                          </a:solidFill>
                          <a:effectLst/>
                          <a:latin typeface="仿宋" panose="02010609060101010101" pitchFamily="49" charset="-122"/>
                          <a:ea typeface="等线" panose="02010600030101010101" pitchFamily="2" charset="-122"/>
                          <a:cs typeface="Segoe UI" panose="020B0502040204020203" pitchFamily="34"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规避</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减轻</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r>
                      <a:b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b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转移</a:t>
                      </a:r>
                      <a:r>
                        <a:rPr lang="en-US"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 □</a:t>
                      </a:r>
                      <a:r>
                        <a:rPr lang="zh-CN" altLang="zh-CN" sz="1050" kern="0" smtClean="0">
                          <a:solidFill>
                            <a:srgbClr val="0F1115"/>
                          </a:solidFill>
                          <a:effectLst/>
                          <a:latin typeface="仿宋" panose="02010609060101010101" pitchFamily="49" charset="-122"/>
                          <a:ea typeface="仿宋" panose="02010609060101010101" pitchFamily="49" charset="-122"/>
                          <a:cs typeface="Segoe UI" panose="020B0502040204020203" pitchFamily="34" charset="0"/>
                        </a:rPr>
                        <a:t>接受</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92788095"/>
                  </a:ext>
                </a:extLst>
              </a:tr>
            </a:tbl>
          </a:graphicData>
        </a:graphic>
      </p:graphicFrame>
    </p:spTree>
    <p:extLst>
      <p:ext uri="{BB962C8B-B14F-4D97-AF65-F5344CB8AC3E}">
        <p14:creationId xmlns:p14="http://schemas.microsoft.com/office/powerpoint/2010/main" val="29412635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矩形 8"/>
          <p:cNvSpPr/>
          <p:nvPr/>
        </p:nvSpPr>
        <p:spPr>
          <a:xfrm>
            <a:off x="900332" y="1621578"/>
            <a:ext cx="7567133" cy="292709"/>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4159347733"/>
              </p:ext>
            </p:extLst>
          </p:nvPr>
        </p:nvGraphicFramePr>
        <p:xfrm>
          <a:off x="899592" y="1952224"/>
          <a:ext cx="4824536" cy="1195590"/>
        </p:xfrm>
        <a:graphic>
          <a:graphicData uri="http://schemas.openxmlformats.org/drawingml/2006/table">
            <a:tbl>
              <a:tblPr firstRow="1" firstCol="1" bandRow="1">
                <a:tableStyleId>{5C22544A-7EE6-4342-B048-85BDC9FD1C3A}</a:tableStyleId>
              </a:tblPr>
              <a:tblGrid>
                <a:gridCol w="1296144">
                  <a:extLst>
                    <a:ext uri="{9D8B030D-6E8A-4147-A177-3AD203B41FA5}">
                      <a16:colId xmlns:a16="http://schemas.microsoft.com/office/drawing/2014/main" val="1914101662"/>
                    </a:ext>
                  </a:extLst>
                </a:gridCol>
                <a:gridCol w="648072">
                  <a:extLst>
                    <a:ext uri="{9D8B030D-6E8A-4147-A177-3AD203B41FA5}">
                      <a16:colId xmlns:a16="http://schemas.microsoft.com/office/drawing/2014/main" val="233002536"/>
                    </a:ext>
                  </a:extLst>
                </a:gridCol>
                <a:gridCol w="288032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68580" marR="68580" marT="0" marB="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项目经理</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主持讨论，引导四个维度的全覆盖识别</a:t>
                      </a:r>
                    </a:p>
                  </a:txBody>
                  <a:tcPr marL="68580" marR="68580" marT="0" marB="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风险记录员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填写风险登记册，计算概率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影响等级</a:t>
                      </a:r>
                    </a:p>
                  </a:txBody>
                  <a:tcPr marL="68580" marR="68580" marT="0" marB="0" anchor="ctr"/>
                </a:tc>
                <a:extLst>
                  <a:ext uri="{0D108BD9-81ED-4DB2-BD59-A6C34878D82A}">
                    <a16:rowId xmlns:a16="http://schemas.microsoft.com/office/drawing/2014/main" val="426296025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应对策略员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针对中</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高优先级风险提出具体应对措施</a:t>
                      </a:r>
                    </a:p>
                  </a:txBody>
                  <a:tcPr marL="68580" marR="68580" marT="0" marB="0" anchor="ctr"/>
                </a:tc>
                <a:extLst>
                  <a:ext uri="{0D108BD9-81ED-4DB2-BD59-A6C34878D82A}">
                    <a16:rowId xmlns:a16="http://schemas.microsoft.com/office/drawing/2014/main" val="326830799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触发条件确认员</a:t>
                      </a:r>
                    </a:p>
                  </a:txBody>
                  <a:tcPr marL="68580" marR="68580" marT="0" marB="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68580" marR="68580" marT="0" marB="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为每个应对措施明确</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什么情况下启动预案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7055160"/>
                  </a:ext>
                </a:extLst>
              </a:tr>
            </a:tbl>
          </a:graphicData>
        </a:graphic>
      </p:graphicFrame>
      <p:sp>
        <p:nvSpPr>
          <p:cNvPr id="2" name="矩形 1"/>
          <p:cNvSpPr/>
          <p:nvPr/>
        </p:nvSpPr>
        <p:spPr>
          <a:xfrm>
            <a:off x="899592" y="3196332"/>
            <a:ext cx="7344816" cy="1729704"/>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引导问题示例：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四维风险识别框架是否覆盖全面？有没有遗漏某一维度的风险？</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加强注意</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不是应对措施</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需要明确：谁来检查？检查什么标准？什么情况下启动预案？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应对策略中的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减轻</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转移</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有什么区别？泡茶项目中哪些风险适合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转移</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策略？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如果方案中已包含提前烧水（资源前置），这是否同时降低了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时间不足</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烧水延迟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两个风险？</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这是风险之间的关联性。</a:t>
            </a: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306797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511731"/>
          </a:xfrm>
          <a:prstGeom prst="rect">
            <a:avLst/>
          </a:prstGeom>
        </p:spPr>
        <p:txBody>
          <a:bodyPr wrap="square">
            <a:spAutoFit/>
          </a:bodyPr>
          <a:lstStyle/>
          <a:p>
            <a:pPr algn="just">
              <a:lnSpc>
                <a:spcPct val="120000"/>
              </a:lnSpc>
              <a:spcBef>
                <a:spcPts val="600"/>
              </a:spcBef>
              <a:spcAft>
                <a:spcPts val="0"/>
              </a:spcAft>
            </a:pPr>
            <a:r>
              <a:rPr lang="en-US"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成本超支风险是否纳入考量？如果矿泉水费用超出预算，是否有备用方案？</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各小组完成《泡茶项目风险登记册》（</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项风险，覆盖至少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个维度，含概率</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影响</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等级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应对策略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触发条件），保存作为方案组成部分。</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第六阶段：方案整合与竞标准备（</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各小组将前五个阶段的成果整合至</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号图纸，准备竞标展示。</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竞标说明（</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为什么生活中的项目需要投标？业主方（委托方）有需求但缺乏专业能力自行完成，因此通过招标方式向社会公开征集最优方案。投标的本质是竞争性选择</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业主方通过统一评审标准，从多个候选方案中选出最符合需求的那一个。</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本活动的竞标情境：</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教师担任业主方代表，各小组以</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项目管理咨询团队</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身份参与竞标。业主方发布了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分钟泡茶项目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的管理方案招标需求</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有一杯茶要泡，但业主方需要的是管理方案，而非泡茶服务本身。各组提交的管理方案即为投标文件。评审团将从专业性、可行性和创新性三个维度进行综合评定</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654112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612475"/>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步</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骤一：方案整合与视觉优化（</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各小组将前五个阶段的成果整合到</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号图纸上：</a:t>
            </a:r>
          </a:p>
        </p:txBody>
      </p:sp>
      <p:graphicFrame>
        <p:nvGraphicFramePr>
          <p:cNvPr id="7" name="表格 6"/>
          <p:cNvGraphicFramePr>
            <a:graphicFrameLocks noGrp="1"/>
          </p:cNvGraphicFramePr>
          <p:nvPr>
            <p:extLst>
              <p:ext uri="{D42A27DB-BD31-4B8C-83A1-F6EECF244321}">
                <p14:modId xmlns:p14="http://schemas.microsoft.com/office/powerpoint/2010/main" val="2521214086"/>
              </p:ext>
            </p:extLst>
          </p:nvPr>
        </p:nvGraphicFramePr>
        <p:xfrm>
          <a:off x="864532" y="2248121"/>
          <a:ext cx="8099956" cy="2118327"/>
        </p:xfrm>
        <a:graphic>
          <a:graphicData uri="http://schemas.openxmlformats.org/drawingml/2006/table">
            <a:tbl>
              <a:tblPr firstRow="1" firstCol="1" bandRow="1">
                <a:tableStyleId>{5C22544A-7EE6-4342-B048-85BDC9FD1C3A}</a:tableStyleId>
              </a:tblPr>
              <a:tblGrid>
                <a:gridCol w="539116">
                  <a:extLst>
                    <a:ext uri="{9D8B030D-6E8A-4147-A177-3AD203B41FA5}">
                      <a16:colId xmlns:a16="http://schemas.microsoft.com/office/drawing/2014/main" val="1914101662"/>
                    </a:ext>
                  </a:extLst>
                </a:gridCol>
                <a:gridCol w="3384376">
                  <a:extLst>
                    <a:ext uri="{9D8B030D-6E8A-4147-A177-3AD203B41FA5}">
                      <a16:colId xmlns:a16="http://schemas.microsoft.com/office/drawing/2014/main" val="2398230364"/>
                    </a:ext>
                  </a:extLst>
                </a:gridCol>
                <a:gridCol w="417646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位置</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a:t>
                      </a:r>
                    </a:p>
                  </a:txBody>
                  <a:tcPr marL="68580" marR="68580" marT="0" marB="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要求</a:t>
                      </a:r>
                    </a:p>
                  </a:txBody>
                  <a:tcPr marL="68580" marR="68580" marT="0" marB="0" anchor="ctr"/>
                </a:tc>
                <a:extLst>
                  <a:ext uri="{0D108BD9-81ED-4DB2-BD59-A6C34878D82A}">
                    <a16:rowId xmlns:a16="http://schemas.microsoft.com/office/drawing/2014/main" val="174513558"/>
                  </a:ext>
                </a:extLst>
              </a:tr>
              <a:tr h="360040">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左上</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项目范围界定</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范围内</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范围外各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a:t>
                      </a:r>
                    </a:p>
                  </a:txBody>
                  <a:tcPr marL="68580" marR="68580" marT="0" marB="0" anchor="ctr"/>
                </a:tc>
                <a:extLst>
                  <a:ext uri="{0D108BD9-81ED-4DB2-BD59-A6C34878D82A}">
                    <a16:rowId xmlns:a16="http://schemas.microsoft.com/office/drawing/2014/main" val="3845462762"/>
                  </a:ext>
                </a:extLst>
              </a:tr>
              <a:tr h="318127">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左中</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资源与容量量化分析表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约束条件量化分析表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量化分析完整，数值精确</a:t>
                      </a:r>
                    </a:p>
                  </a:txBody>
                  <a:tcPr marL="68580" marR="68580" marT="0" marB="0" anchor="ctr"/>
                </a:tc>
                <a:extLst>
                  <a:ext uri="{0D108BD9-81ED-4DB2-BD59-A6C34878D82A}">
                    <a16:rowId xmlns:a16="http://schemas.microsoft.com/office/drawing/2014/main" val="375518031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中上</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茶叶品种约束分析表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初始成本估算表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品种参数完整，初始估算清晰</a:t>
                      </a:r>
                    </a:p>
                  </a:txBody>
                  <a:tcPr marL="68580" marR="68580" marT="0" marB="0" anchor="ctr"/>
                </a:tc>
                <a:extLst>
                  <a:ext uri="{0D108BD9-81ED-4DB2-BD59-A6C34878D82A}">
                    <a16:rowId xmlns:a16="http://schemas.microsoft.com/office/drawing/2014/main" val="926339690"/>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中下</a:t>
                      </a:r>
                    </a:p>
                  </a:txBody>
                  <a:tcPr marL="68580" marR="68580" marT="0" marB="0" anchor="ctr"/>
                </a:tc>
                <a:tc>
                  <a:txBody>
                    <a:bodyPr/>
                    <a:lstStyle/>
                    <a:p>
                      <a:pPr marL="0" algn="l" defTabSz="914400" rtl="0" eaLnBrk="1" latinLnBrk="0" hangingPunct="1">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分解图（三级）</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至少</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个交付物展开至第三级</a:t>
                      </a:r>
                    </a:p>
                  </a:txBody>
                  <a:tcPr marL="68580" marR="68580" marT="0" marB="0" anchor="ctr"/>
                </a:tc>
                <a:extLst>
                  <a:ext uri="{0D108BD9-81ED-4DB2-BD59-A6C34878D82A}">
                    <a16:rowId xmlns:a16="http://schemas.microsoft.com/office/drawing/2014/main" val="1218693381"/>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右上</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甘特图（含关键路径与里程碑）</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依赖关系、里程碑、关键路径标注完整</a:t>
                      </a:r>
                    </a:p>
                  </a:txBody>
                  <a:tcPr marL="68580" marR="68580" marT="0" marB="0" anchor="ctr"/>
                </a:tc>
                <a:extLst>
                  <a:ext uri="{0D108BD9-81ED-4DB2-BD59-A6C34878D82A}">
                    <a16:rowId xmlns:a16="http://schemas.microsoft.com/office/drawing/2014/main" val="1527891233"/>
                  </a:ext>
                </a:extLst>
              </a:tr>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右下</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成本核算表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风险登记册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 + </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优化决策记录（如适用）</a:t>
                      </a:r>
                    </a:p>
                  </a:txBody>
                  <a:tcPr marL="68580" marR="68580" marT="0" marB="0" anchor="ctr"/>
                </a:tc>
                <a:tc>
                  <a:txBody>
                    <a:bodyPr/>
                    <a:lstStyle/>
                    <a:p>
                      <a:pPr marL="0" algn="l" defTabSz="914400" rtl="0" eaLnBrk="1" latinLnBrk="0" hangingPunct="1">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利润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，风险覆盖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个维度；优化决策记录附于成本核算表下方</a:t>
                      </a:r>
                    </a:p>
                  </a:txBody>
                  <a:tcPr marL="68580" marR="68580" marT="0" marB="0" anchor="ctr"/>
                </a:tc>
                <a:extLst>
                  <a:ext uri="{0D108BD9-81ED-4DB2-BD59-A6C34878D82A}">
                    <a16:rowId xmlns:a16="http://schemas.microsoft.com/office/drawing/2014/main" val="3923666232"/>
                  </a:ext>
                </a:extLst>
              </a:tr>
            </a:tbl>
          </a:graphicData>
        </a:graphic>
      </p:graphicFrame>
    </p:spTree>
    <p:extLst>
      <p:ext uri="{BB962C8B-B14F-4D97-AF65-F5344CB8AC3E}">
        <p14:creationId xmlns:p14="http://schemas.microsoft.com/office/powerpoint/2010/main" val="8204920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222421"/>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视觉优化要求：</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使用不同颜色区分不同模块</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关键路径用红色或粗线强调</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里程碑节点用醒目符号标注（如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数据表格中关键数字（如总工期、总成本、利润）用方框或下划线突出</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图纸整体布局整洁、信息层级清晰、</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秒内可快速定位各模块</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步骤二：陈述准备（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各小组推选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竞标陈述人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，准备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分钟方案陈述：</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陈述结构建议：</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开场定调（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我们团队通过识别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项关键约束，在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条件下设计了一套可在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秒内完成绿茶冲泡的管理方案。</a:t>
            </a:r>
            <a:r>
              <a:rPr lang="en-US"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5323046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1874359"/>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二阶段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方案架构（</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按照</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阶段分解，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MECE</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检查确认无重叠、无遗漏。成本核算为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元，利润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核心亮点（</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40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关键路径为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，总工期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秒。风险识别覆盖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个维度，核心应对措施为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收尾（</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本方案的核心优势在于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。我们申请</a:t>
            </a:r>
            <a:r>
              <a:rPr lang="en-US" altLang="zh-CN" sz="1200">
                <a:latin typeface="Times New Roman" panose="02020603050405020304" pitchFamily="18" charset="0"/>
                <a:ea typeface="仿宋" panose="02010609060101010101" pitchFamily="49" charset="-122"/>
                <a:cs typeface="Times New Roman" panose="02020603050405020304" pitchFamily="18" charset="0"/>
              </a:rPr>
              <a:t>____</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（工期变更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质量调整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成本方案）决策。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6</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人分工建议方案：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633583484"/>
              </p:ext>
            </p:extLst>
          </p:nvPr>
        </p:nvGraphicFramePr>
        <p:xfrm>
          <a:off x="899592" y="3580484"/>
          <a:ext cx="6048672" cy="1380704"/>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1914101662"/>
                    </a:ext>
                  </a:extLst>
                </a:gridCol>
                <a:gridCol w="576064">
                  <a:extLst>
                    <a:ext uri="{9D8B030D-6E8A-4147-A177-3AD203B41FA5}">
                      <a16:colId xmlns:a16="http://schemas.microsoft.com/office/drawing/2014/main" val="233002536"/>
                    </a:ext>
                  </a:extLst>
                </a:gridCol>
                <a:gridCol w="453650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人数</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职责</a:t>
                      </a:r>
                    </a:p>
                  </a:txBody>
                  <a:tcPr marL="72000" marR="72000" marT="36000" marB="36000" anchor="ctr"/>
                </a:tc>
                <a:extLst>
                  <a:ext uri="{0D108BD9-81ED-4DB2-BD59-A6C34878D82A}">
                    <a16:rowId xmlns:a16="http://schemas.microsoft.com/office/drawing/2014/main" val="174513558"/>
                  </a:ext>
                </a:extLst>
              </a:tr>
              <a:tr h="259486">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方案架构师</a:t>
                      </a:r>
                    </a:p>
                  </a:txBody>
                  <a:tcPr marL="72000" marR="72000" marT="36000" marB="3600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主持讨论，确保六模块完整、布局合理、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秒可定位</a:t>
                      </a:r>
                    </a:p>
                  </a:txBody>
                  <a:tcPr marL="72000" marR="72000" marT="36000" marB="36000" anchor="ctr"/>
                </a:tc>
                <a:extLst>
                  <a:ext uri="{0D108BD9-81ED-4DB2-BD59-A6C34878D82A}">
                    <a16:rowId xmlns:a16="http://schemas.microsoft.com/office/drawing/2014/main" val="3845462762"/>
                  </a:ext>
                </a:extLst>
              </a:tr>
              <a:tr h="216024">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内容整合员</a:t>
                      </a:r>
                    </a:p>
                  </a:txBody>
                  <a:tcPr marL="72000" marR="72000" marT="36000" marB="3600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将前五阶段成果抄绘至</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号图纸对应位置，确保数据一致</a:t>
                      </a:r>
                    </a:p>
                  </a:txBody>
                  <a:tcPr marL="72000" marR="72000" marT="36000" marB="36000" anchor="ctr"/>
                </a:tc>
                <a:extLst>
                  <a:ext uri="{0D108BD9-81ED-4DB2-BD59-A6C34878D82A}">
                    <a16:rowId xmlns:a16="http://schemas.microsoft.com/office/drawing/2014/main" val="4262960256"/>
                  </a:ext>
                </a:extLst>
              </a:tr>
              <a:tr h="216024">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视觉优化员</a:t>
                      </a:r>
                    </a:p>
                  </a:txBody>
                  <a:tcPr marL="72000" marR="72000" marT="36000" marB="3600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颜色区分、关键路径红色标注、里程碑符号标注、关键数字突出</a:t>
                      </a:r>
                    </a:p>
                  </a:txBody>
                  <a:tcPr marL="72000" marR="72000" marT="36000" marB="36000" anchor="ctr"/>
                </a:tc>
                <a:extLst>
                  <a:ext uri="{0D108BD9-81ED-4DB2-BD59-A6C34878D82A}">
                    <a16:rowId xmlns:a16="http://schemas.microsoft.com/office/drawing/2014/main" val="2197035448"/>
                  </a:ext>
                </a:extLst>
              </a:tr>
              <a:tr h="216024">
                <a:tc>
                  <a:txBody>
                    <a:bodyPr/>
                    <a:lstStyle/>
                    <a:p>
                      <a:pPr algn="ctr">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陈述人</a:t>
                      </a:r>
                    </a:p>
                  </a:txBody>
                  <a:tcPr marL="72000" marR="72000" marT="36000" marB="36000" anchor="ctr"/>
                </a:tc>
                <a:tc>
                  <a:txBody>
                    <a:bodyPr/>
                    <a:lstStyle/>
                    <a:p>
                      <a:pPr marL="0" algn="ctr"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人</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在图纸整合完成后，根据陈述结构模板准备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分钟陈述，在组内试讲</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次</a:t>
                      </a:r>
                    </a:p>
                  </a:txBody>
                  <a:tcPr marL="72000" marR="72000" marT="36000" marB="36000" anchor="ctr"/>
                </a:tc>
                <a:extLst>
                  <a:ext uri="{0D108BD9-81ED-4DB2-BD59-A6C34878D82A}">
                    <a16:rowId xmlns:a16="http://schemas.microsoft.com/office/drawing/2014/main" val="3268307990"/>
                  </a:ext>
                </a:extLst>
              </a:tr>
            </a:tbl>
          </a:graphicData>
        </a:graphic>
      </p:graphicFrame>
    </p:spTree>
    <p:extLst>
      <p:ext uri="{BB962C8B-B14F-4D97-AF65-F5344CB8AC3E}">
        <p14:creationId xmlns:p14="http://schemas.microsoft.com/office/powerpoint/2010/main" val="22485806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290131"/>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引导问题示例（巡视时使用）：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图纸上是否完整呈现了六模块？哪部分信息可能缺失？评审团能否在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秒内快速定位到关键路径、总工期、成本和利润？</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关键路径是否用红色清晰标注？评审团能否一眼看出总工期是否超过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成本核算表与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接水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等任务是否有对应关系？</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成本表中的各项数据是否来自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和甘特图中的具体数值？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图纸布局是否做到了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秒原则</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？评审团站在图纸前，前</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秒能否抓住方案的核心逻辑？</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利润为负的小组，优化决策是否在图纸上有明确记录？调整后是否同步修改了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或甘特图中的相关内容？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各小组完成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号图纸整合，准备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分钟竞标陈述。陈述人完成组内试讲后，由项目监理在图纸背面记录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陈述准备完成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第七阶段：竞标评审</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方案展示与评标（</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20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492352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1209562"/>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目</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通过竞标评审，建立项目管理方案质量的集体判断标准。</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操作流程：</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评审标准公布（</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分钟，陈述前）：</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教师向全班公布评审标准（共六个维度，总分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100</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分，与第一阶段招标信息一致）</a:t>
            </a:r>
          </a:p>
        </p:txBody>
      </p:sp>
      <p:graphicFrame>
        <p:nvGraphicFramePr>
          <p:cNvPr id="7" name="表格 6"/>
          <p:cNvGraphicFramePr>
            <a:graphicFrameLocks noGrp="1"/>
          </p:cNvGraphicFramePr>
          <p:nvPr>
            <p:extLst>
              <p:ext uri="{D42A27DB-BD31-4B8C-83A1-F6EECF244321}">
                <p14:modId xmlns:p14="http://schemas.microsoft.com/office/powerpoint/2010/main" val="4009521879"/>
              </p:ext>
            </p:extLst>
          </p:nvPr>
        </p:nvGraphicFramePr>
        <p:xfrm>
          <a:off x="899592" y="2882444"/>
          <a:ext cx="5256584" cy="1927040"/>
        </p:xfrm>
        <a:graphic>
          <a:graphicData uri="http://schemas.openxmlformats.org/drawingml/2006/table">
            <a:tbl>
              <a:tblPr firstRow="1" firstCol="1" bandRow="1">
                <a:tableStyleId>{5C22544A-7EE6-4342-B048-85BDC9FD1C3A}</a:tableStyleId>
              </a:tblPr>
              <a:tblGrid>
                <a:gridCol w="1152128">
                  <a:extLst>
                    <a:ext uri="{9D8B030D-6E8A-4147-A177-3AD203B41FA5}">
                      <a16:colId xmlns:a16="http://schemas.microsoft.com/office/drawing/2014/main" val="1914101662"/>
                    </a:ext>
                  </a:extLst>
                </a:gridCol>
                <a:gridCol w="504056">
                  <a:extLst>
                    <a:ext uri="{9D8B030D-6E8A-4147-A177-3AD203B41FA5}">
                      <a16:colId xmlns:a16="http://schemas.microsoft.com/office/drawing/2014/main" val="233002536"/>
                    </a:ext>
                  </a:extLst>
                </a:gridCol>
                <a:gridCol w="360040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评审维度</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权重</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核心问题</a:t>
                      </a:r>
                    </a:p>
                  </a:txBody>
                  <a:tcPr marL="72000" marR="72000" marT="36000" marB="3600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约束分析质量</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是否充分识别并量化了环境、资源、时间、成本约束？</a:t>
                      </a:r>
                    </a:p>
                  </a:txBody>
                  <a:tcPr marL="72000" marR="72000" marT="36000" marB="3600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WBS</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是否完整？是否符合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MECE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p>
                  </a:txBody>
                  <a:tcPr marL="72000" marR="72000" marT="36000" marB="36000" anchor="ctr"/>
                </a:tc>
                <a:extLst>
                  <a:ext uri="{0D108BD9-81ED-4DB2-BD59-A6C34878D82A}">
                    <a16:rowId xmlns:a16="http://schemas.microsoft.com/office/drawing/2014/main" val="201475294"/>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进度计划合理性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关键路径是否准确？总工期是否合理？</a:t>
                      </a:r>
                    </a:p>
                  </a:txBody>
                  <a:tcPr marL="72000" marR="72000" marT="36000" marB="36000" anchor="ctr"/>
                </a:tc>
                <a:extLst>
                  <a:ext uri="{0D108BD9-81ED-4DB2-BD59-A6C34878D82A}">
                    <a16:rowId xmlns:a16="http://schemas.microsoft.com/office/drawing/2014/main" val="170681413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成本合理性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成本核算是否完整？利润是否合理？</a:t>
                      </a:r>
                    </a:p>
                  </a:txBody>
                  <a:tcPr marL="72000" marR="72000" marT="36000" marB="36000" anchor="ctr"/>
                </a:tc>
                <a:extLst>
                  <a:ext uri="{0D108BD9-81ED-4DB2-BD59-A6C34878D82A}">
                    <a16:rowId xmlns:a16="http://schemas.microsoft.com/office/drawing/2014/main" val="3736725560"/>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风险覆盖度</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是否覆盖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个维度？应对措施是否具体？</a:t>
                      </a:r>
                    </a:p>
                  </a:txBody>
                  <a:tcPr marL="72000" marR="72000" marT="36000" marB="36000" anchor="ctr"/>
                </a:tc>
                <a:extLst>
                  <a:ext uri="{0D108BD9-81ED-4DB2-BD59-A6C34878D82A}">
                    <a16:rowId xmlns:a16="http://schemas.microsoft.com/office/drawing/2014/main" val="426296025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可执行性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15%</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在真实约束下是否可行？</a:t>
                      </a:r>
                    </a:p>
                  </a:txBody>
                  <a:tcPr marL="72000" marR="72000" marT="36000" marB="36000" anchor="ctr"/>
                </a:tc>
                <a:extLst>
                  <a:ext uri="{0D108BD9-81ED-4DB2-BD59-A6C34878D82A}">
                    <a16:rowId xmlns:a16="http://schemas.microsoft.com/office/drawing/2014/main" val="2197035448"/>
                  </a:ext>
                </a:extLst>
              </a:tr>
            </a:tbl>
          </a:graphicData>
        </a:graphic>
      </p:graphicFrame>
    </p:spTree>
    <p:extLst>
      <p:ext uri="{BB962C8B-B14F-4D97-AF65-F5344CB8AC3E}">
        <p14:creationId xmlns:p14="http://schemas.microsoft.com/office/powerpoint/2010/main" val="17705735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1111394"/>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评审团构成：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教师担任评标委员会主任，各小组推选的陈述人共同组成评标委员会，依据评审标准对各组方案进行评价。</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步骤一：小组陈述（</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10</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每组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分钟陈述。陈述人按照以下逻辑组织发言：</a:t>
            </a:r>
          </a:p>
        </p:txBody>
      </p:sp>
      <p:graphicFrame>
        <p:nvGraphicFramePr>
          <p:cNvPr id="7" name="表格 6"/>
          <p:cNvGraphicFramePr>
            <a:graphicFrameLocks noGrp="1"/>
          </p:cNvGraphicFramePr>
          <p:nvPr>
            <p:extLst>
              <p:ext uri="{D42A27DB-BD31-4B8C-83A1-F6EECF244321}">
                <p14:modId xmlns:p14="http://schemas.microsoft.com/office/powerpoint/2010/main" val="1790875633"/>
              </p:ext>
            </p:extLst>
          </p:nvPr>
        </p:nvGraphicFramePr>
        <p:xfrm>
          <a:off x="899592" y="2931790"/>
          <a:ext cx="7416824" cy="1783040"/>
        </p:xfrm>
        <a:graphic>
          <a:graphicData uri="http://schemas.openxmlformats.org/drawingml/2006/table">
            <a:tbl>
              <a:tblPr firstRow="1" firstCol="1" bandRow="1">
                <a:tableStyleId>{5C22544A-7EE6-4342-B048-85BDC9FD1C3A}</a:tableStyleId>
              </a:tblPr>
              <a:tblGrid>
                <a:gridCol w="864096">
                  <a:extLst>
                    <a:ext uri="{9D8B030D-6E8A-4147-A177-3AD203B41FA5}">
                      <a16:colId xmlns:a16="http://schemas.microsoft.com/office/drawing/2014/main" val="1914101662"/>
                    </a:ext>
                  </a:extLst>
                </a:gridCol>
                <a:gridCol w="1512168">
                  <a:extLst>
                    <a:ext uri="{9D8B030D-6E8A-4147-A177-3AD203B41FA5}">
                      <a16:colId xmlns:a16="http://schemas.microsoft.com/office/drawing/2014/main" val="233002536"/>
                    </a:ext>
                  </a:extLst>
                </a:gridCol>
                <a:gridCol w="5040560">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时间段</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内容重点</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72000" marR="72000" marT="36000" marB="3600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前</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约束分析与时间测算</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我们识别了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项关键约束，经测算，执行</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烧开</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降温</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冲泡</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的完整工艺需约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秒相比</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30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分解与成本核算</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“WBS</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按</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三个阶段分解，</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MECE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检查确认无重叠、无遗漏。成本核算为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元，利润</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01475294"/>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中</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40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关键路径与时间决策</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我们识别出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条路径，关键路径为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，总工期</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秒。时间决策为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70681413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最后</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秒</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风险应对与方案亮点</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风险识别覆盖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个维度，核心应对措施是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。本方案最大亮点是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736725560"/>
                  </a:ext>
                </a:extLst>
              </a:tr>
            </a:tbl>
          </a:graphicData>
        </a:graphic>
      </p:graphicFrame>
    </p:spTree>
    <p:extLst>
      <p:ext uri="{BB962C8B-B14F-4D97-AF65-F5344CB8AC3E}">
        <p14:creationId xmlns:p14="http://schemas.microsoft.com/office/powerpoint/2010/main" val="16534599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889795"/>
          </a:xfrm>
          <a:prstGeom prst="rect">
            <a:avLst/>
          </a:prstGeom>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步骤二：评审团提问与答辩（</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分钟）</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评审团对各组方案提出质疑，陈述人应答。建议从以下角度切入：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提问角度与话术：</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261964404"/>
              </p:ext>
            </p:extLst>
          </p:nvPr>
        </p:nvGraphicFramePr>
        <p:xfrm>
          <a:off x="899592" y="2562677"/>
          <a:ext cx="7632848" cy="2200208"/>
        </p:xfrm>
        <a:graphic>
          <a:graphicData uri="http://schemas.openxmlformats.org/drawingml/2006/table">
            <a:tbl>
              <a:tblPr firstRow="1" firstCol="1" bandRow="1">
                <a:tableStyleId>{5C22544A-7EE6-4342-B048-85BDC9FD1C3A}</a:tableStyleId>
              </a:tblPr>
              <a:tblGrid>
                <a:gridCol w="936104">
                  <a:extLst>
                    <a:ext uri="{9D8B030D-6E8A-4147-A177-3AD203B41FA5}">
                      <a16:colId xmlns:a16="http://schemas.microsoft.com/office/drawing/2014/main" val="233002536"/>
                    </a:ext>
                  </a:extLst>
                </a:gridCol>
                <a:gridCol w="6696744">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类型</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参考话术</a:t>
                      </a:r>
                    </a:p>
                  </a:txBody>
                  <a:tcPr marL="72000" marR="72000" marT="36000" marB="3600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约束分析</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你们识别了西二楼水压这一约束，但接水时间是如何估算的？是否考虑了水压波动？</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时间决策</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你们的方案总工期为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秒，超出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短于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300</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秒</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决策依据是什么？是否向发起人提交了工期变更申请？</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324086058"/>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成本合理性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成本核算中利润为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元，若突发设备故障需要启动备用方案，额外成本是否纳入预算？</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928240835"/>
                  </a:ext>
                </a:extLst>
              </a:tr>
              <a:tr h="216024">
                <a:tc>
                  <a:txBody>
                    <a:bodyPr/>
                    <a:lstStyle/>
                    <a:p>
                      <a:pPr marL="0" algn="ctr" defTabSz="914400" rtl="0" eaLnBrk="1" latinLnBrk="0" hangingPunct="1">
                        <a:spcAft>
                          <a:spcPts val="0"/>
                        </a:spcAft>
                      </a:pP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WBS</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完整性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列为第二级交付物，但它与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之间是否存在重叠？如何证明</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MECE</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相互独立</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747157446"/>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关键路径</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你们认定</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为关键路径，但</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任务的工期存在不确定性，若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延长，关键路径会如何变化？</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41355954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风险应对</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你们对</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风险的应对措施是</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减轻</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，触发条件设定为</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，若</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提前发生，预案是否仍然有效？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84320507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可执行性</a:t>
                      </a:r>
                    </a:p>
                  </a:txBody>
                  <a:tcPr marL="72000" marR="72000" marT="36000" marB="36000" anchor="ctr"/>
                </a:tc>
                <a:tc>
                  <a:txBody>
                    <a:bodyPr/>
                    <a:lstStyle/>
                    <a:p>
                      <a:pPr marL="0" algn="l" defTabSz="914400" rtl="0" eaLnBrk="1" latinLnBrk="0" hangingPunct="1">
                        <a:lnSpc>
                          <a:spcPct val="120000"/>
                        </a:lnSpc>
                        <a:spcAft>
                          <a:spcPts val="0"/>
                        </a:spcAft>
                      </a:pP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方案中的</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____</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步骤在现有资源条件下是否可执行？最大的执行风险是什么？</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endPar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201475294"/>
                  </a:ext>
                </a:extLst>
              </a:tr>
            </a:tbl>
          </a:graphicData>
        </a:graphic>
      </p:graphicFrame>
    </p:spTree>
    <p:extLst>
      <p:ext uri="{BB962C8B-B14F-4D97-AF65-F5344CB8AC3E}">
        <p14:creationId xmlns:p14="http://schemas.microsoft.com/office/powerpoint/2010/main" val="11865577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6745"/>
            <a:ext cx="4320480" cy="461665"/>
          </a:xfrm>
          <a:prstGeom prst="rect">
            <a:avLst/>
          </a:prstGeom>
          <a:solidFill>
            <a:srgbClr val="0070C0"/>
          </a:solidFill>
        </p:spPr>
        <p:txBody>
          <a:bodyPr wrap="square">
            <a:spAutoFit/>
          </a:bodyPr>
          <a:lstStyle/>
          <a:p>
            <a:r>
              <a:rPr lang="en-US" altLang="zh-CN" sz="24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400" b="1" smtClean="0">
                <a:solidFill>
                  <a:schemeClr val="bg1"/>
                </a:solidFill>
                <a:latin typeface="Times New Roman" panose="02020603050405020304" pitchFamily="18" charset="0"/>
                <a:ea typeface="微软雅黑" panose="020B0503020204020204" pitchFamily="34" charset="-122"/>
              </a:rPr>
              <a:t>设</a:t>
            </a:r>
            <a:r>
              <a:rPr lang="zh-CN" altLang="zh-CN" sz="2400" b="1">
                <a:solidFill>
                  <a:schemeClr val="bg1"/>
                </a:solidFill>
                <a:latin typeface="Times New Roman" panose="02020603050405020304" pitchFamily="18" charset="0"/>
                <a:ea typeface="微软雅黑" panose="020B0503020204020204" pitchFamily="34" charset="-122"/>
              </a:rPr>
              <a:t>计</a:t>
            </a:r>
            <a:r>
              <a:rPr lang="zh-CN" altLang="zh-CN" sz="2400" b="1" smtClean="0">
                <a:solidFill>
                  <a:schemeClr val="bg1"/>
                </a:solidFill>
                <a:latin typeface="Times New Roman" panose="02020603050405020304" pitchFamily="18" charset="0"/>
                <a:ea typeface="微软雅黑" panose="020B0503020204020204" pitchFamily="34" charset="-122"/>
              </a:rPr>
              <a:t>泡</a:t>
            </a:r>
            <a:r>
              <a:rPr lang="zh-CN" altLang="zh-CN" sz="2400" b="1">
                <a:solidFill>
                  <a:schemeClr val="bg1"/>
                </a:solidFill>
                <a:latin typeface="Times New Roman" panose="02020603050405020304" pitchFamily="18" charset="0"/>
                <a:ea typeface="微软雅黑" panose="020B0503020204020204" pitchFamily="34" charset="-122"/>
              </a:rPr>
              <a:t>茶项目管理方</a:t>
            </a:r>
            <a:r>
              <a:rPr lang="zh-CN" altLang="zh-CN" sz="2400" b="1" smtClean="0">
                <a:solidFill>
                  <a:schemeClr val="bg1"/>
                </a:solidFill>
                <a:latin typeface="Times New Roman" panose="02020603050405020304" pitchFamily="18" charset="0"/>
                <a:ea typeface="微软雅黑" panose="020B0503020204020204" pitchFamily="34" charset="-122"/>
              </a:rPr>
              <a:t>案</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矩形 7"/>
          <p:cNvSpPr/>
          <p:nvPr/>
        </p:nvSpPr>
        <p:spPr>
          <a:xfrm>
            <a:off x="899592" y="1707654"/>
            <a:ext cx="6984776" cy="2754600"/>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项目约束条件的识别与量化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；范围界定、</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分解与甘特图中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MECE</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原则、关键路径的理解与</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；项目成本核算与利润管理；风险登记册中应对策略的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具体化</a:t>
            </a:r>
            <a:r>
              <a:rPr lang="zh-CN"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（触发条件</a:t>
            </a:r>
            <a:r>
              <a:rPr lang="en-US"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具体措施</a:t>
            </a:r>
            <a:r>
              <a:rPr lang="en-US"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05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责任人）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执行者视角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管理者视角</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转换</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将情境信息转化为可量化的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管理约束</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；范围界定、</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分解与关键路径中的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边界判定</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、颗粒度把握与路径计算；成本核算中</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成本表的数据追溯与利润优化</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决策</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技术思维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向</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管理思维</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21034838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707654"/>
            <a:ext cx="7344816" cy="3167021"/>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学活动名称：</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——创客竞赛团队项目管理方案的制</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定</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引导学生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泡茶演练中习得的项目管理方法系统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至创客竞赛项目场景，在真实约束下</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从范围界定到质量管控的完整管理闭环，</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项目管理逻辑通用</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的方法论认知</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教学活动目标</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：各参赛团队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产出</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《创客竞赛团队项目管理方案》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份</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学活动描述：</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各团</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队</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依据</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课堂</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泡茶项目管理方案</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演练经验，将项目管理方法</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至真实的创客竞赛项目开发场景中。活动分为</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六个</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阶段，各阶段产出由团队负责人统筹整理，</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形成</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完整的《创客竞赛团队项目管理方案》</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7764221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51382"/>
            <a:ext cx="7776864" cy="3367076"/>
          </a:xfrm>
          <a:prstGeom prst="rect">
            <a:avLst/>
          </a:prstGeom>
          <a:ln w="25400">
            <a:noFill/>
          </a:ln>
        </p:spPr>
        <p:txBody>
          <a:bodyPr wrap="square">
            <a:spAutoFit/>
          </a:bodyPr>
          <a:lstStyle/>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第一阶段：项目启动</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项目章程与干系人识别</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明确项目的目标、范围边界、核心约束、预算与成功标准，使团队全体成员对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我们要做什么、为什么做、做到什么程度、花多少钱</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达成共识，为后续所有规划工作奠定基准。</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项目章程制定</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各团队依据设计思维工作坊产出的《创客竞赛选题设计报告》和创新方法工作坊产出的《创客竞赛选题验证报告》中的核心结论，制定本团队的项目章程。项目章程须包含以下要素：</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项目名称（暂定）：</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与选题方向一致，体现核心创新点。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用一句话说明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为谁解决了什么问题，带来了什么价值</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（可直接引用选题报告中的价值主张）。</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核心可交付成果：</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列出项目结束时须提交的全部产出物（如：功能原型、用户测试报告、路演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PPT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、项目文档等）。</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主要约束条件：</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明确时间（竞赛截止日期）、资源（预算、材料、设备）、范围（做什么、不做什么）三方面的核心限制。</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项目预算：</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列出项目各项成本估算及总预算。成本项可包括材料费、设备费、劳务费（如适用）</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其他费用等。</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274659519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637314"/>
            <a:ext cx="7560840" cy="911019"/>
          </a:xfrm>
          <a:prstGeom prst="rect">
            <a:avLst/>
          </a:prstGeom>
          <a:ln w="25400">
            <a:noFill/>
          </a:ln>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成</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功标准：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用可量化的指标定义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项目成功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（如：原型通过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位目标用户的可用性测试、路演评分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≥85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分等）。</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干系人清单</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识别对本项目有影响或受项目影响的所有关键干系人，并分析其核心诉求</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93306900"/>
              </p:ext>
            </p:extLst>
          </p:nvPr>
        </p:nvGraphicFramePr>
        <p:xfrm>
          <a:off x="899592" y="2587237"/>
          <a:ext cx="7344816" cy="1380704"/>
        </p:xfrm>
        <a:graphic>
          <a:graphicData uri="http://schemas.openxmlformats.org/drawingml/2006/table">
            <a:tbl>
              <a:tblPr firstRow="1" firstCol="1" bandRow="1">
                <a:tableStyleId>{5C22544A-7EE6-4342-B048-85BDC9FD1C3A}</a:tableStyleId>
              </a:tblPr>
              <a:tblGrid>
                <a:gridCol w="720080">
                  <a:extLst>
                    <a:ext uri="{9D8B030D-6E8A-4147-A177-3AD203B41FA5}">
                      <a16:colId xmlns:a16="http://schemas.microsoft.com/office/drawing/2014/main" val="1223871988"/>
                    </a:ext>
                  </a:extLst>
                </a:gridCol>
                <a:gridCol w="864096">
                  <a:extLst>
                    <a:ext uri="{9D8B030D-6E8A-4147-A177-3AD203B41FA5}">
                      <a16:colId xmlns:a16="http://schemas.microsoft.com/office/drawing/2014/main" val="1914101662"/>
                    </a:ext>
                  </a:extLst>
                </a:gridCol>
                <a:gridCol w="2448272">
                  <a:extLst>
                    <a:ext uri="{9D8B030D-6E8A-4147-A177-3AD203B41FA5}">
                      <a16:colId xmlns:a16="http://schemas.microsoft.com/office/drawing/2014/main" val="233002536"/>
                    </a:ext>
                  </a:extLst>
                </a:gridCol>
                <a:gridCol w="3312368">
                  <a:extLst>
                    <a:ext uri="{9D8B030D-6E8A-4147-A177-3AD203B41FA5}">
                      <a16:colId xmlns:a16="http://schemas.microsoft.com/office/drawing/2014/main" val="1209153042"/>
                    </a:ext>
                  </a:extLst>
                </a:gridCol>
              </a:tblGrid>
              <a:tr h="288032">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干系人</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角色</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关系</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核心诉求</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期望</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管理策略</a:t>
                      </a:r>
                    </a:p>
                  </a:txBody>
                  <a:tcPr marL="72000" marR="72000" marT="36000" marB="36000" anchor="ctr"/>
                </a:tc>
                <a:extLst>
                  <a:ext uri="{0D108BD9-81ED-4DB2-BD59-A6C34878D82A}">
                    <a16:rowId xmlns:a16="http://schemas.microsoft.com/office/drawing/2014/main" val="174513558"/>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指导老师</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技术指导</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方案可行性、创新性</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定期汇报进度</a:t>
                      </a:r>
                    </a:p>
                  </a:txBody>
                  <a:tcPr marL="72000" marR="72000" marT="36000" marB="36000" anchor="ctr"/>
                </a:tc>
                <a:extLst>
                  <a:ext uri="{0D108BD9-81ED-4DB2-BD59-A6C34878D82A}">
                    <a16:rowId xmlns:a16="http://schemas.microsoft.com/office/drawing/2014/main" val="1828928176"/>
                  </a:ext>
                </a:extLst>
              </a:tr>
              <a:tr h="259486">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目标用户</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需求方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解决实际问题、好用</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参与测试与反馈</a:t>
                      </a:r>
                    </a:p>
                  </a:txBody>
                  <a:tcPr marL="72000" marR="72000" marT="36000" marB="36000" anchor="ctr"/>
                </a:tc>
                <a:extLst>
                  <a:ext uri="{0D108BD9-81ED-4DB2-BD59-A6C34878D82A}">
                    <a16:rowId xmlns:a16="http://schemas.microsoft.com/office/drawing/2014/main" val="3845462762"/>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竞赛评委</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评审方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创造性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实用性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安全性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深度性</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规范性</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对标评审标准</a:t>
                      </a:r>
                    </a:p>
                  </a:txBody>
                  <a:tcPr marL="72000" marR="72000" marT="36000" marB="36000" anchor="ctr"/>
                </a:tc>
                <a:extLst>
                  <a:ext uri="{0D108BD9-81ED-4DB2-BD59-A6C34878D82A}">
                    <a16:rowId xmlns:a16="http://schemas.microsoft.com/office/drawing/2014/main" val="201475294"/>
                  </a:ext>
                </a:extLst>
              </a:tr>
              <a:tr h="216024">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团队成员</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执行方</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明确分工、按期完成</a:t>
                      </a:r>
                    </a:p>
                  </a:txBody>
                  <a:tcPr marL="72000" marR="72000" marT="36000" marB="36000" anchor="ctr"/>
                </a:tc>
                <a:tc>
                  <a:txBody>
                    <a:bodyPr/>
                    <a:lstStyle/>
                    <a:p>
                      <a:pPr marL="0" algn="l" defTabSz="914400" rtl="0" eaLnBrk="1" latinLnBrk="0" hangingPunct="1">
                        <a:lnSpc>
                          <a:spcPct val="120000"/>
                        </a:lnSpc>
                        <a:spcAft>
                          <a:spcPts val="0"/>
                        </a:spcAft>
                      </a:pP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通过</a:t>
                      </a:r>
                      <a:r>
                        <a:rPr lang="en-US"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RACI</a:t>
                      </a:r>
                      <a:r>
                        <a:rPr lang="zh-CN" sz="1100" kern="0">
                          <a:solidFill>
                            <a:schemeClr val="dk1"/>
                          </a:solidFill>
                          <a:effectLst/>
                          <a:latin typeface="Times New Roman" panose="02020603050405020304" pitchFamily="18" charset="0"/>
                          <a:ea typeface="仿宋" panose="02010609060101010101" pitchFamily="49" charset="-122"/>
                          <a:cs typeface="Times New Roman" panose="02020603050405020304" pitchFamily="18" charset="0"/>
                        </a:rPr>
                        <a:t>矩阵明确分工，通过状态报告同步进度</a:t>
                      </a:r>
                    </a:p>
                  </a:txBody>
                  <a:tcPr marL="72000" marR="72000" marT="36000" marB="36000" anchor="ctr"/>
                </a:tc>
                <a:extLst>
                  <a:ext uri="{0D108BD9-81ED-4DB2-BD59-A6C34878D82A}">
                    <a16:rowId xmlns:a16="http://schemas.microsoft.com/office/drawing/2014/main" val="1706814136"/>
                  </a:ext>
                </a:extLst>
              </a:tr>
            </a:tbl>
          </a:graphicData>
        </a:graphic>
      </p:graphicFrame>
      <p:sp>
        <p:nvSpPr>
          <p:cNvPr id="2" name="矩形 1"/>
          <p:cNvSpPr/>
          <p:nvPr/>
        </p:nvSpPr>
        <p:spPr>
          <a:xfrm>
            <a:off x="899592" y="4083918"/>
            <a:ext cx="7806887" cy="911019"/>
          </a:xfrm>
          <a:prstGeom prst="rect">
            <a:avLst/>
          </a:prstGeom>
        </p:spPr>
        <p:txBody>
          <a:bodyPr wrap="square">
            <a:spAutoFit/>
          </a:bodyPr>
          <a:lstStyle/>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《项目章程》（含项目预算）</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《干系人清单》</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第二阶段：范围管理</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分解与范围边界确认</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将项目目标逐层分解为可分配、可估算、可验收的工作包，明确项目范围边界，确保</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无遗漏、无重叠</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168501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367076"/>
          </a:xfrm>
          <a:prstGeom prst="rect">
            <a:avLst/>
          </a:prstGeom>
        </p:spPr>
        <p:txBody>
          <a:bodyPr wrap="square">
            <a:spAutoFit/>
          </a:bodyPr>
          <a:lstStyle/>
          <a:p>
            <a:pPr algn="just">
              <a:lnSpc>
                <a:spcPct val="120000"/>
              </a:lnSpc>
              <a:spcBef>
                <a:spcPts val="600"/>
              </a:spcBef>
              <a:spcAft>
                <a:spcPts val="0"/>
              </a:spcAft>
            </a:pPr>
            <a:r>
              <a:rPr lang="en-US" altLang="zh-CN" sz="1200" b="1" kern="100" smtClean="0">
                <a:latin typeface="Times New Roman" panose="02020603050405020304" pitchFamily="18" charset="0"/>
                <a:ea typeface="仿宋" panose="02010609060101010101" pitchFamily="49" charset="-122"/>
                <a:cs typeface="Times New Roman" panose="02020603050405020304" pitchFamily="18" charset="0"/>
              </a:rPr>
              <a:t>1</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 WBS</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分解</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各团队依据项目章程中的核心可交付成果，运用课堂所学的</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MECE</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原则，完成项目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的三级分解：</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第一级（阶段）：</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将项目划分为</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3-5</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个主要阶段（如：需求确认与方案细化</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原型开发与单元测试</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系统集成与联调</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用户测试与迭代</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展示准备与路演）。</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第二级（关键交付物）：每个阶段分解为</a:t>
            </a: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2-4</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个关键交付物。</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第三级（工作包）：</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选择至少</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2</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个第二级交付物展开为第三级工作包（其余保持二级）。所有工作包须覆盖技术开发、商业验证、团队协作三个维度，确保不遗漏非技术类关键任务（如：用户招募、测试安排、</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PPT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制作、演练等）。</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范围边界说明</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在</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基础上，明确列出项目范围内与范围外的内容，防止后续</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范围蔓延</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范围内（必须做）：</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工作包对应的核心任务。</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范围外（明确不做）：</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虽有关联但本次竞赛不纳入的工作（如：产品化量产设计、商业化推广计划等）</a:t>
            </a:r>
            <a:r>
              <a:rPr lang="zh-CN" altLang="zh-CN" sz="1200" kern="1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124379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1951303"/>
          </a:xfrm>
          <a:prstGeom prst="rect">
            <a:avLst/>
          </a:prstGeom>
        </p:spPr>
        <p:txBody>
          <a:bodyPr wrap="square">
            <a:spAutoFit/>
          </a:bodyPr>
          <a:lstStyle/>
          <a:p>
            <a:pPr algn="just">
              <a:lnSpc>
                <a:spcPct val="120000"/>
              </a:lnSpc>
              <a:spcBef>
                <a:spcPts val="600"/>
              </a:spcBef>
              <a:spcAft>
                <a:spcPts val="0"/>
              </a:spcAft>
            </a:pPr>
            <a:r>
              <a:rPr lang="zh-CN" altLang="zh-CN" sz="1200" b="1" kern="100"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二阶段成果归档</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：《项目</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分解图》（三级）</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《范围边界说明》</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第三阶段：</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进度管理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甘特图与关键路径</a:t>
            </a:r>
          </a:p>
          <a:p>
            <a:pPr algn="just">
              <a:lnSpc>
                <a:spcPct val="120000"/>
              </a:lnSpc>
              <a:spcBef>
                <a:spcPts val="600"/>
              </a:spcBef>
              <a:spcAft>
                <a:spcPts val="0"/>
              </a:spcAft>
            </a:pP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将</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工作包转化为可视化的时间计划，识别决定项目总工期的关键路径，设定管理检查点（里程碑）。</a:t>
            </a:r>
          </a:p>
          <a:p>
            <a:pPr algn="just">
              <a:lnSpc>
                <a:spcPct val="120000"/>
              </a:lnSpc>
              <a:spcBef>
                <a:spcPts val="600"/>
              </a:spcBef>
              <a:spcAft>
                <a:spcPts val="0"/>
              </a:spcAft>
            </a:pPr>
            <a:r>
              <a:rPr lang="en-US" altLang="zh-CN" sz="1200" b="1" kern="100">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kern="100">
                <a:latin typeface="Times New Roman" panose="02020603050405020304" pitchFamily="18" charset="0"/>
                <a:ea typeface="仿宋" panose="02010609060101010101" pitchFamily="49" charset="-122"/>
                <a:cs typeface="Times New Roman" panose="02020603050405020304" pitchFamily="18" charset="0"/>
              </a:rPr>
              <a:t>任务清单与依赖关系</a:t>
            </a:r>
            <a:endParaRPr lang="zh-CN" altLang="zh-CN" sz="1200" kern="100">
              <a:latin typeface="Times New Roman" panose="02020603050405020304" pitchFamily="18" charset="0"/>
              <a:ea typeface="仿宋" panose="02010609060101010101" pitchFamily="49" charset="-122"/>
              <a:cs typeface="Times New Roman" panose="02020603050405020304" pitchFamily="18" charset="0"/>
            </a:endParaRPr>
          </a:p>
          <a:p>
            <a:pPr algn="just">
              <a:lnSpc>
                <a:spcPct val="120000"/>
              </a:lnSpc>
              <a:spcBef>
                <a:spcPts val="600"/>
              </a:spcBef>
              <a:spcAft>
                <a:spcPts val="0"/>
              </a:spcAft>
            </a:pP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从</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中提取所有最底层工作包，按执行顺序排列，标注任务之间的依赖关系（</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FS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完成</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 / SS</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开始</a:t>
            </a:r>
            <a:r>
              <a:rPr lang="en-US" altLang="zh-CN" sz="1200" kern="1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kern="100">
                <a:latin typeface="Times New Roman" panose="02020603050405020304" pitchFamily="18" charset="0"/>
                <a:ea typeface="仿宋" panose="02010609060101010101" pitchFamily="49" charset="-122"/>
                <a:cs typeface="Times New Roman" panose="02020603050405020304" pitchFamily="18" charset="0"/>
              </a:rPr>
              <a:t>开始），估算每个工作包的工期（以天为单位）。</a:t>
            </a:r>
          </a:p>
        </p:txBody>
      </p:sp>
      <p:graphicFrame>
        <p:nvGraphicFramePr>
          <p:cNvPr id="3" name="表格 2"/>
          <p:cNvGraphicFramePr>
            <a:graphicFrameLocks noGrp="1"/>
          </p:cNvGraphicFramePr>
          <p:nvPr>
            <p:extLst>
              <p:ext uri="{D42A27DB-BD31-4B8C-83A1-F6EECF244321}">
                <p14:modId xmlns:p14="http://schemas.microsoft.com/office/powerpoint/2010/main" val="3350483316"/>
              </p:ext>
            </p:extLst>
          </p:nvPr>
        </p:nvGraphicFramePr>
        <p:xfrm>
          <a:off x="971600" y="3624185"/>
          <a:ext cx="5904656" cy="1106645"/>
        </p:xfrm>
        <a:graphic>
          <a:graphicData uri="http://schemas.openxmlformats.org/drawingml/2006/table">
            <a:tbl>
              <a:tblPr firstRow="1" firstCol="1" bandRow="1">
                <a:tableStyleId>{5C22544A-7EE6-4342-B048-85BDC9FD1C3A}</a:tableStyleId>
              </a:tblPr>
              <a:tblGrid>
                <a:gridCol w="648072">
                  <a:extLst>
                    <a:ext uri="{9D8B030D-6E8A-4147-A177-3AD203B41FA5}">
                      <a16:colId xmlns:a16="http://schemas.microsoft.com/office/drawing/2014/main" val="944398522"/>
                    </a:ext>
                  </a:extLst>
                </a:gridCol>
                <a:gridCol w="1008111">
                  <a:extLst>
                    <a:ext uri="{9D8B030D-6E8A-4147-A177-3AD203B41FA5}">
                      <a16:colId xmlns:a16="http://schemas.microsoft.com/office/drawing/2014/main" val="2203903113"/>
                    </a:ext>
                  </a:extLst>
                </a:gridCol>
                <a:gridCol w="1224136">
                  <a:extLst>
                    <a:ext uri="{9D8B030D-6E8A-4147-A177-3AD203B41FA5}">
                      <a16:colId xmlns:a16="http://schemas.microsoft.com/office/drawing/2014/main" val="1949628531"/>
                    </a:ext>
                  </a:extLst>
                </a:gridCol>
                <a:gridCol w="1080121">
                  <a:extLst>
                    <a:ext uri="{9D8B030D-6E8A-4147-A177-3AD203B41FA5}">
                      <a16:colId xmlns:a16="http://schemas.microsoft.com/office/drawing/2014/main" val="4154570329"/>
                    </a:ext>
                  </a:extLst>
                </a:gridCol>
                <a:gridCol w="1944216">
                  <a:extLst>
                    <a:ext uri="{9D8B030D-6E8A-4147-A177-3AD203B41FA5}">
                      <a16:colId xmlns:a16="http://schemas.microsoft.com/office/drawing/2014/main" val="3045189365"/>
                    </a:ext>
                  </a:extLst>
                </a:gridCol>
              </a:tblGrid>
              <a:tr h="387725">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a:t>
                      </a:r>
                      <a:r>
                        <a:rPr lang="en-US"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ID</a:t>
                      </a:r>
                      <a:endPar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任务名称</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前置任务</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工期（天）</a:t>
                      </a:r>
                    </a:p>
                  </a:txBody>
                  <a:tcPr marL="72000" marR="72000" marT="36000" marB="36000" anchor="ctr"/>
                </a:tc>
                <a:tc>
                  <a:txBody>
                    <a:bodyPr/>
                    <a:lstStyle/>
                    <a:p>
                      <a:pPr marL="0" algn="ctr" defTabSz="914400" rtl="0" eaLnBrk="1" latinLnBrk="0" hangingPunct="1">
                        <a:spcAft>
                          <a:spcPts val="0"/>
                        </a:spcAft>
                      </a:pPr>
                      <a:r>
                        <a:rPr lang="zh-CN" sz="1100" b="1" kern="100">
                          <a:solidFill>
                            <a:schemeClr val="lt1"/>
                          </a:solidFill>
                          <a:effectLst/>
                          <a:latin typeface="Times New Roman" panose="02020603050405020304" pitchFamily="18" charset="0"/>
                          <a:ea typeface="微软雅黑" panose="020B0503020204020204" pitchFamily="34" charset="-122"/>
                          <a:cs typeface="Times New Roman" panose="02020603050405020304" pitchFamily="18" charset="0"/>
                        </a:rPr>
                        <a:t>备注</a:t>
                      </a:r>
                    </a:p>
                  </a:txBody>
                  <a:tcPr marL="72000" marR="72000" marT="36000" marB="36000" anchor="ctr"/>
                </a:tc>
                <a:extLst>
                  <a:ext uri="{0D108BD9-81ED-4DB2-BD59-A6C34878D82A}">
                    <a16:rowId xmlns:a16="http://schemas.microsoft.com/office/drawing/2014/main" val="567455505"/>
                  </a:ext>
                </a:extLst>
              </a:tr>
              <a:tr h="0">
                <a:tc>
                  <a:txBody>
                    <a:bodyPr/>
                    <a:lstStyle/>
                    <a:p>
                      <a:pPr marL="0" indent="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A</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indent="0" algn="ctr">
                        <a:lnSpc>
                          <a:spcPct val="100000"/>
                        </a:lnSpc>
                        <a:spcAft>
                          <a:spcPts val="0"/>
                        </a:spcAft>
                      </a:pPr>
                      <a:r>
                        <a:rPr lang="en-US" sz="900" b="1"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523448116"/>
                  </a:ext>
                </a:extLst>
              </a:tr>
              <a:tr h="0">
                <a:tc>
                  <a:txBody>
                    <a:bodyPr/>
                    <a:lstStyle/>
                    <a:p>
                      <a:pPr marL="0" indent="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B</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indent="0" algn="ctr">
                        <a:lnSpc>
                          <a:spcPct val="100000"/>
                        </a:lnSpc>
                        <a:spcAft>
                          <a:spcPts val="0"/>
                        </a:spcAft>
                      </a:pPr>
                      <a:r>
                        <a:rPr lang="en-US" sz="900" b="1"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1179149778"/>
                  </a:ext>
                </a:extLst>
              </a:tr>
              <a:tr h="0">
                <a:tc>
                  <a:txBody>
                    <a:bodyPr/>
                    <a:lstStyle/>
                    <a:p>
                      <a:pPr marL="0" indent="0" algn="ctr" defTabSz="914400" rtl="0" eaLnBrk="1" latinLnBrk="0" hangingPunct="1">
                        <a:lnSpc>
                          <a:spcPct val="100000"/>
                        </a:lnSpc>
                        <a:spcAft>
                          <a:spcPts val="0"/>
                        </a:spcAft>
                      </a:pPr>
                      <a:r>
                        <a:rPr lang="en-US"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rPr>
                        <a:t>C</a:t>
                      </a:r>
                      <a:endParaRPr lang="zh-CN" sz="1100" b="1" kern="100">
                        <a:solidFill>
                          <a:schemeClr val="lt1"/>
                        </a:solidFill>
                        <a:effectLst/>
                        <a:latin typeface="Arial Black" panose="020B0A04020102020204" pitchFamily="34" charset="0"/>
                        <a:ea typeface="微软雅黑" panose="020B0503020204020204" pitchFamily="34" charset="-122"/>
                        <a:cs typeface="Times New Roman" panose="02020603050405020304" pitchFamily="18" charset="0"/>
                      </a:endParaRPr>
                    </a:p>
                  </a:txBody>
                  <a:tcPr marL="72000" marR="72000" marT="36000" marB="36000" anchor="ctr"/>
                </a:tc>
                <a:tc>
                  <a:txBody>
                    <a:bodyPr/>
                    <a:lstStyle/>
                    <a:p>
                      <a:pPr indent="0" algn="ctr">
                        <a:lnSpc>
                          <a:spcPct val="100000"/>
                        </a:lnSpc>
                        <a:spcAft>
                          <a:spcPts val="0"/>
                        </a:spcAft>
                      </a:pPr>
                      <a:r>
                        <a:rPr lang="en-US" sz="900" b="1" kern="100">
                          <a:effectLst/>
                          <a:latin typeface="Times New Roman" panose="02020603050405020304" pitchFamily="18" charset="0"/>
                          <a:ea typeface="微软雅黑" panose="020B0503020204020204" pitchFamily="34"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tc>
                  <a:txBody>
                    <a:bodyPr/>
                    <a:lstStyle/>
                    <a:p>
                      <a:pPr indent="0" algn="l">
                        <a:lnSpc>
                          <a:spcPct val="100000"/>
                        </a:lnSpc>
                        <a:spcAft>
                          <a:spcPts val="0"/>
                        </a:spcAft>
                      </a:pPr>
                      <a:r>
                        <a:rPr lang="en-US" sz="900" kern="0">
                          <a:solidFill>
                            <a:srgbClr val="0F1115"/>
                          </a:solidFill>
                          <a:effectLst/>
                          <a:latin typeface="Times New Roman" panose="02020603050405020304" pitchFamily="18" charset="0"/>
                          <a:ea typeface="仿宋" panose="02010609060101010101" pitchFamily="49" charset="-122"/>
                          <a:cs typeface="Times New Roman" panose="02020603050405020304" pitchFamily="18" charset="0"/>
                        </a:rPr>
                        <a:t> </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72000" marR="72000" marT="36000" marB="36000" anchor="ctr"/>
                </a:tc>
                <a:extLst>
                  <a:ext uri="{0D108BD9-81ED-4DB2-BD59-A6C34878D82A}">
                    <a16:rowId xmlns:a16="http://schemas.microsoft.com/office/drawing/2014/main" val="762567961"/>
                  </a:ext>
                </a:extLst>
              </a:tr>
            </a:tbl>
          </a:graphicData>
        </a:graphic>
      </p:graphicFrame>
    </p:spTree>
    <p:extLst>
      <p:ext uri="{BB962C8B-B14F-4D97-AF65-F5344CB8AC3E}">
        <p14:creationId xmlns:p14="http://schemas.microsoft.com/office/powerpoint/2010/main" val="42499726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367076"/>
          </a:xfrm>
          <a:prstGeom prst="rect">
            <a:avLst/>
          </a:prstGeom>
        </p:spPr>
        <p:txBody>
          <a:bodyPr wrap="square">
            <a:spAutoFit/>
          </a:bodyPr>
          <a:lstStyle/>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甘特图绘制与关键路径标注</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各团队绘制甘特图（精确到周），将任务按时间轴排列，标注依赖关系箭头、里程碑节点（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）和关键路径（红色粗线或高亮）。</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里程碑计划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设置不少于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3</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个里程碑（管理检查点），每个里程碑须包含：① 里程碑名称；② 类型（决策点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评审点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交付点）；③ 验收标准（完成什么、由谁确认）。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第三阶段成果归档：</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《任务清单与工期估算表》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《甘特图》（含关键路径与里程碑）</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第四阶段：团队与资源管理</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矩阵与协作机制</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基于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分解结果制定覆盖全部工作包的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矩阵，明确团队日常协作机制，确保分工清晰、信息同步、决策有据。</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RACI</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矩阵</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分解的基础上，列出覆盖全部工作包的任务清单，完成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矩阵的填写与校验</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234202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444020"/>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逐</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一检查每项任务的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列（责任人）是否有且仅有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个标记。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逐一检查每项任务的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列（批准人）是否有且仅有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个标记。</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检查每位成员的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任务数量是否大致均衡，如不均衡则协商调整。</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校验完成后，在矩阵末尾记录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校验结果：已确认每行有且仅有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团队协作机制约定</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各团队依据前序工作坊中暴露的协作痛点，制定本团队的协作规则：</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沟通机制：</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例会频率与形式（如：每周固定时间线下站会</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分钟）、信息同步渠道（如：微信群</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钉钉群）、异步沟通规则（如：重要消息需</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确认）。</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决策机制：</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常规决策方式（如：负责人拍板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投票表决）、争议升级路径（如：双方协商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全员讨论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指导老师介入）。</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文档管理：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项目文件的存储位置与命名规范、版本更新规则。</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冲突处理：</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任务延误或质量不达标时的处理流程</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551064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222421"/>
          </a:xfrm>
          <a:prstGeom prst="rect">
            <a:avLst/>
          </a:prstGeom>
        </p:spPr>
        <p:txBody>
          <a:bodyPr wrap="square">
            <a:spAutoFit/>
          </a:bodyPr>
          <a:lstStyle/>
          <a:p>
            <a:pPr>
              <a:lnSpc>
                <a:spcPct val="120000"/>
              </a:lnSpc>
              <a:spcBef>
                <a:spcPts val="600"/>
              </a:spcBef>
            </a:pP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第</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四阶段成果归档：《</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责任分配矩阵》</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《团队协作机制约定》</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第五阶段：风险与过程管控</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风险登记册、状态报告与</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PDCA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循环</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阶段目标：</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系统识别项目全周期可能面临的各类风险并制定应对预案；设计项目执行过程中的时间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成本</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质量三维追踪工具；建立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规划</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执行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检查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改进</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的持续优化机制。</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风险登记册（完整版）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各团队从以下五个维度系统性识别风险：</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技术风险：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核心功能实现难度超预期</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软硬件接口不兼容</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团队风险：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成员临时有事导致任务延误</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意见分歧无法达成共识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资源风险：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材料采购周期过长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实验室预约冲突</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外部风险：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竞赛规则微调</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展示当天设备异常</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用户测试对象失联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进度风险：</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如</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某阶段延期导致后续连锁反应</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关键路径上的任务未按时完成</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027825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222421"/>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填</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写《风险登记册》（不少于</a:t>
            </a:r>
            <a:r>
              <a:rPr lang="en-US" altLang="zh-CN" sz="1200">
                <a:latin typeface="Times New Roman" panose="02020603050405020304" pitchFamily="18" charset="0"/>
                <a:ea typeface="仿宋" panose="02010609060101010101" pitchFamily="49" charset="-122"/>
                <a:cs typeface="Times New Roman" panose="02020603050405020304" pitchFamily="18" charset="0"/>
              </a:rPr>
              <a:t>5</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项风险），对每项风险计算风险等级（概率</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影响），针对高优先级风险制定包含</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触发条件</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具体措施</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责任人</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的完整应对预案。</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项目状态报告模板设计</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各团队设计适用于本项目的状态报告模板，须包含：</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进度状态：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本周完成的任务、里程碑达成情况、与计划对比。</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成本状态：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已支出费用、剩余预算、是否超支。</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质量状态：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已完成工作的质量自评、用户测试反馈摘要。</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风险状态：</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本周新识别风险、已有风险的变化、需升级处理的事项。</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下周计划：</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关键任务与责任人。</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3. PDCA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循环计划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各团队明确项目执行阶段的</a:t>
            </a:r>
            <a:r>
              <a:rPr lang="en-US" altLang="zh-CN" sz="1200">
                <a:latin typeface="Times New Roman" panose="02020603050405020304" pitchFamily="18" charset="0"/>
                <a:ea typeface="仿宋" panose="02010609060101010101" pitchFamily="49" charset="-122"/>
                <a:cs typeface="Times New Roman" panose="02020603050405020304" pitchFamily="18" charset="0"/>
              </a:rPr>
              <a:t>PDCA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循环机制</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667007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3597908"/>
          </a:xfrm>
          <a:prstGeom prst="rect">
            <a:avLst/>
          </a:prstGeom>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P</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（计划）：</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和甘特图为基准，每周制定详细周计划。</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D</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（执行）：</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分工执行任务，记录执行过程。</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C</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（检查）：</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通过周例会和状态报告检查进度、成本、质量与风险。</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（改进）：</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根据检查结果调整下周计划，必要时修正</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或甘特图。</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第五阶段成果归档：《风险登记册》（完整版）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《项目状态报告模板》</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PDCA</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循环计划》</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第六阶段：方案整合与逻辑校验</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阶段目标：将前五个阶段成果整合为完整的《创客竞赛团队项目管理方案》，并进行跨模块一致性校验。</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方案整合</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各团队按照以下结构将全部成果整理为一份完整的方案文档：</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一、项目概述（项目章程</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干系人清单）</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二、范围管理（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分解图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范围边界说明）</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三、进度管理（任务清单</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甘特图</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里程碑计划</a:t>
            </a: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817661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p:cNvSpPr/>
          <p:nvPr/>
        </p:nvSpPr>
        <p:spPr>
          <a:xfrm>
            <a:off x="899592" y="1635646"/>
            <a:ext cx="7344816" cy="2846933"/>
          </a:xfrm>
          <a:prstGeom prst="rect">
            <a:avLst/>
          </a:prstGeom>
        </p:spPr>
        <p:txBody>
          <a:bodyPr wrap="square">
            <a:spAutoFit/>
          </a:bodyPr>
          <a:lstStyle/>
          <a:p>
            <a:pPr>
              <a:lnSpc>
                <a:spcPct val="120000"/>
              </a:lnSpc>
              <a:spcBef>
                <a:spcPts val="600"/>
              </a:spcBef>
            </a:pPr>
            <a:r>
              <a:rPr lang="zh-CN" altLang="zh-CN" sz="1200" smtClean="0">
                <a:latin typeface="Times New Roman" panose="02020603050405020304" pitchFamily="18" charset="0"/>
                <a:ea typeface="仿宋" panose="02010609060101010101" pitchFamily="49" charset="-122"/>
                <a:cs typeface="Times New Roman" panose="02020603050405020304" pitchFamily="18" charset="0"/>
              </a:rPr>
              <a:t>四</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、团队管理（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矩阵</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协作机制约定）</a:t>
            </a: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五、风险与过程管控（风险登记册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状态报告模板</a:t>
            </a:r>
            <a:r>
              <a:rPr lang="en-US" altLang="zh-CN" sz="1200">
                <a:latin typeface="Times New Roman" panose="02020603050405020304" pitchFamily="18" charset="0"/>
                <a:ea typeface="仿宋" panose="02010609060101010101" pitchFamily="49" charset="-122"/>
                <a:cs typeface="Times New Roman" panose="02020603050405020304" pitchFamily="18" charset="0"/>
              </a:rPr>
              <a:t> + PDCA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循环计划）</a:t>
            </a:r>
          </a:p>
          <a:p>
            <a:pPr>
              <a:lnSpc>
                <a:spcPct val="120000"/>
              </a:lnSpc>
              <a:spcBef>
                <a:spcPts val="600"/>
              </a:spcBef>
            </a:pPr>
            <a:r>
              <a:rPr lang="en-US" altLang="zh-CN" sz="1200" b="1">
                <a:latin typeface="Times New Roman" panose="02020603050405020304" pitchFamily="18" charset="0"/>
                <a:ea typeface="仿宋" panose="02010609060101010101" pitchFamily="49" charset="-122"/>
                <a:cs typeface="Times New Roman" panose="02020603050405020304" pitchFamily="18" charset="0"/>
              </a:rPr>
              <a:t>2.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逻辑校验</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a:p>
            <a:pPr>
              <a:lnSpc>
                <a:spcPct val="120000"/>
              </a:lnSpc>
              <a:spcBef>
                <a:spcPts val="600"/>
              </a:spcBef>
            </a:pPr>
            <a:r>
              <a:rPr lang="zh-CN" altLang="zh-CN" sz="1200">
                <a:latin typeface="Times New Roman" panose="02020603050405020304" pitchFamily="18" charset="0"/>
                <a:ea typeface="仿宋" panose="02010609060101010101" pitchFamily="49" charset="-122"/>
                <a:cs typeface="Times New Roman" panose="02020603050405020304" pitchFamily="18" charset="0"/>
              </a:rPr>
              <a:t>各团队在提交前完成以下三项校验，确保方案内部逻辑一致。校验规则如下：</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校验一：名称一致性核查。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第三级工作包清单与甘特图中的任务清单应一一对应，确保三者名称完全一致。</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校验二：</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矩阵合规性核查。</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RACI</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矩阵中每行有且仅有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和</a:t>
            </a:r>
            <a:r>
              <a:rPr lang="en-US" altLang="zh-CN" sz="1200">
                <a:latin typeface="Times New Roman" panose="02020603050405020304" pitchFamily="18" charset="0"/>
                <a:ea typeface="仿宋" panose="02010609060101010101" pitchFamily="49" charset="-122"/>
                <a:cs typeface="Times New Roman" panose="02020603050405020304" pitchFamily="18" charset="0"/>
              </a:rPr>
              <a:t>1</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个</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；成员间</a:t>
            </a:r>
            <a:r>
              <a:rPr lang="en-US" altLang="zh-CN" sz="1200">
                <a:latin typeface="Times New Roman" panose="02020603050405020304" pitchFamily="18" charset="0"/>
                <a:ea typeface="仿宋" panose="02010609060101010101" pitchFamily="49" charset="-122"/>
                <a:cs typeface="Times New Roman" panose="02020603050405020304" pitchFamily="18" charset="0"/>
              </a:rPr>
              <a:t>R</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任务量大致均衡。</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校验三：进度与范围匹配性核查。</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甘特图应覆盖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全部工作包，不存在</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中有但甘特图中没有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或</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甘特图中有但</a:t>
            </a:r>
            <a:r>
              <a:rPr lang="en-US" altLang="zh-CN" sz="1200">
                <a:latin typeface="Times New Roman" panose="02020603050405020304" pitchFamily="18" charset="0"/>
                <a:ea typeface="仿宋" panose="02010609060101010101" pitchFamily="49" charset="-122"/>
                <a:cs typeface="Times New Roman" panose="02020603050405020304" pitchFamily="18" charset="0"/>
              </a:rPr>
              <a:t>WBS</a:t>
            </a:r>
            <a:r>
              <a:rPr lang="zh-CN" altLang="zh-CN" sz="1200">
                <a:latin typeface="Times New Roman" panose="02020603050405020304" pitchFamily="18" charset="0"/>
                <a:ea typeface="仿宋" panose="02010609060101010101" pitchFamily="49" charset="-122"/>
                <a:cs typeface="Times New Roman" panose="02020603050405020304" pitchFamily="18" charset="0"/>
              </a:rPr>
              <a:t>中没有</a:t>
            </a:r>
            <a:r>
              <a:rPr lang="en-US" altLang="zh-CN" sz="1200">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a:latin typeface="Times New Roman" panose="02020603050405020304" pitchFamily="18" charset="0"/>
                <a:ea typeface="仿宋" panose="02010609060101010101" pitchFamily="49" charset="-122"/>
                <a:cs typeface="Times New Roman" panose="02020603050405020304" pitchFamily="18" charset="0"/>
              </a:rPr>
              <a:t>的任务。</a:t>
            </a:r>
          </a:p>
          <a:p>
            <a:pPr>
              <a:lnSpc>
                <a:spcPct val="120000"/>
              </a:lnSpc>
              <a:spcBef>
                <a:spcPts val="600"/>
              </a:spcBef>
            </a:pPr>
            <a:r>
              <a:rPr lang="zh-CN" altLang="zh-CN" sz="1200" b="1">
                <a:latin typeface="Times New Roman" panose="02020603050405020304" pitchFamily="18" charset="0"/>
                <a:ea typeface="仿宋" panose="02010609060101010101" pitchFamily="49" charset="-122"/>
                <a:cs typeface="Times New Roman" panose="02020603050405020304" pitchFamily="18" charset="0"/>
              </a:rPr>
              <a:t>第六阶段成果归档：《创客竞赛团队项目管理方案》</a:t>
            </a:r>
            <a:r>
              <a:rPr lang="en-US" altLang="zh-CN" sz="1200" b="1">
                <a:latin typeface="Times New Roman" panose="02020603050405020304" pitchFamily="18" charset="0"/>
                <a:ea typeface="仿宋" panose="02010609060101010101" pitchFamily="49" charset="-122"/>
                <a:cs typeface="Times New Roman" panose="02020603050405020304" pitchFamily="18" charset="0"/>
              </a:rPr>
              <a:t>+</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《逻辑校验记录表</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0753272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8" name="矩形 7"/>
          <p:cNvSpPr/>
          <p:nvPr/>
        </p:nvSpPr>
        <p:spPr>
          <a:xfrm>
            <a:off x="899592" y="1707654"/>
            <a:ext cx="6984776" cy="2385268"/>
          </a:xfrm>
          <a:prstGeom prst="rect">
            <a:avLst/>
          </a:prstGeom>
          <a:ln w="25400">
            <a:noFill/>
          </a:ln>
        </p:spPr>
        <p:txBody>
          <a:bodyPr wrap="square">
            <a:spAutoFit/>
          </a:bodyPr>
          <a:lstStyle/>
          <a:p>
            <a:pPr marL="288000" indent="-288000">
              <a:lnSpc>
                <a:spcPct val="120000"/>
              </a:lnSpc>
              <a:spcBef>
                <a:spcPts val="600"/>
              </a:spcBef>
              <a:buClr>
                <a:srgbClr val="0070C0"/>
              </a:buClr>
              <a:buFont typeface="Wingdings" panose="05000000000000000000" pitchFamily="2" charset="2"/>
              <a:buChar char="u"/>
            </a:pPr>
            <a:r>
              <a:rPr lang="zh-CN" altLang="zh-CN" sz="14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a:t>
            </a: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学活动重点：</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分解从课堂泡茶演练向竞赛项目的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；甘特图中关键路径的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识别与验证</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矩阵校验规则在完整任务清单上的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应用</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；项目管理方案内</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甘特图</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三表的名称一致性与逻辑互锁</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校验</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288000" indent="-288000">
              <a:lnSpc>
                <a:spcPct val="120000"/>
              </a:lnSpc>
              <a:spcBef>
                <a:spcPts val="600"/>
              </a:spcBef>
              <a:buClr>
                <a:srgbClr val="0070C0"/>
              </a:buClr>
              <a:buFont typeface="Wingdings" panose="05000000000000000000" pitchFamily="2" charset="2"/>
              <a:buChar char="u"/>
            </a:pPr>
            <a:r>
              <a:rPr lang="zh-CN" altLang="zh-CN" sz="1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教学活动难点：</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从泡茶演练到竞赛项目的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方法迁移</a:t>
            </a:r>
            <a:r>
              <a:rPr lang="zh-CN" altLang="zh-CN" sz="1100">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（场景结构差异的识别）</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WBS</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分解中工作包颗粒度的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判断标准</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RACI</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矩阵中责任人（</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）与批准人（</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）角色边界的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落实</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；从创新方法验证思维向项目管理执行思维的</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转换</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899592" y="1136745"/>
            <a:ext cx="7344816"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zh-CN" sz="2400" b="1" smtClean="0">
                <a:solidFill>
                  <a:srgbClr val="FFFF00"/>
                </a:solidFill>
                <a:latin typeface="微软雅黑" panose="020B0503020204020204" pitchFamily="34" charset="-122"/>
                <a:ea typeface="微软雅黑" panose="020B0503020204020204" pitchFamily="34" charset="-122"/>
              </a:rPr>
              <a:t>《</a:t>
            </a:r>
            <a:r>
              <a:rPr lang="zh-CN" altLang="en-US" sz="2400" b="1" smtClean="0">
                <a:solidFill>
                  <a:srgbClr val="FFFF00"/>
                </a:solidFill>
                <a:latin typeface="微软雅黑" panose="020B0503020204020204" pitchFamily="34" charset="-122"/>
                <a:ea typeface="微软雅黑" panose="020B0503020204020204" pitchFamily="34" charset="-122"/>
              </a:rPr>
              <a:t>制定竞赛项目管理方案</a:t>
            </a:r>
            <a:r>
              <a:rPr lang="zh-CN" altLang="zh-CN" sz="2400" b="1" smtClean="0">
                <a:solidFill>
                  <a:srgbClr val="FFFF00"/>
                </a:solidFill>
                <a:latin typeface="微软雅黑" panose="020B0503020204020204" pitchFamily="34" charset="-122"/>
                <a:ea typeface="微软雅黑" panose="020B0503020204020204" pitchFamily="34" charset="-122"/>
              </a:rPr>
              <a:t>》</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6044384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0" y="1"/>
            <a:ext cx="4211960"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defTabSz="914400">
              <a:lnSpc>
                <a:spcPct val="150000"/>
              </a:lnSpc>
            </a:pPr>
            <a:r>
              <a:rPr lang="zh-CN" altLang="en-US" sz="28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五、教育教学组织</a:t>
            </a:r>
            <a:endParaRPr lang="zh-CN" altLang="en-US" sz="2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矩形 6"/>
          <p:cNvSpPr/>
          <p:nvPr/>
        </p:nvSpPr>
        <p:spPr>
          <a:xfrm>
            <a:off x="899592" y="1779662"/>
            <a:ext cx="7394669" cy="431978"/>
          </a:xfrm>
          <a:prstGeom prst="rect">
            <a:avLst/>
          </a:prstGeom>
          <a:ln w="25400">
            <a:noFill/>
          </a:ln>
        </p:spPr>
        <p:txBody>
          <a:bodyPr wrap="square">
            <a:spAutoFit/>
          </a:bodyPr>
          <a:lstStyle/>
          <a:p>
            <a:pPr>
              <a:lnSpc>
                <a:spcPct val="120000"/>
              </a:lnSpc>
              <a:spcBef>
                <a:spcPts val="600"/>
              </a:spcBef>
            </a:pPr>
            <a:r>
              <a:rPr lang="en-US" altLang="zh-CN" sz="1200" b="1" smtClean="0">
                <a:latin typeface="Times New Roman" panose="02020603050405020304" pitchFamily="18" charset="0"/>
                <a:ea typeface="仿宋" panose="02010609060101010101" pitchFamily="49" charset="-122"/>
                <a:cs typeface="Times New Roman" panose="02020603050405020304" pitchFamily="18" charset="0"/>
              </a:rPr>
              <a:t>1. </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《创客竞赛团队项目管理方案</a:t>
            </a:r>
            <a:r>
              <a:rPr lang="zh-CN" altLang="zh-CN" sz="1200" b="1" smtClean="0">
                <a:latin typeface="Times New Roman" panose="02020603050405020304" pitchFamily="18" charset="0"/>
                <a:ea typeface="仿宋" panose="02010609060101010101" pitchFamily="49" charset="-122"/>
                <a:cs typeface="Times New Roman" panose="02020603050405020304" pitchFamily="18" charset="0"/>
              </a:rPr>
              <a:t>》</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r>
              <a:rPr lang="en-US" altLang="zh-CN" sz="2000" b="1" smtClean="0">
                <a:latin typeface="Arial Black" panose="020B0A04020102020204" pitchFamily="34" charset="0"/>
                <a:ea typeface="仿宋" panose="02010609060101010101" pitchFamily="49" charset="-122"/>
                <a:cs typeface="Times New Roman" panose="02020603050405020304" pitchFamily="18" charset="0"/>
              </a:rPr>
              <a:t>1</a:t>
            </a:r>
            <a:r>
              <a:rPr lang="zh-CN" altLang="en-US" sz="2000" b="1">
                <a:latin typeface="Arial Black" panose="020B0A04020102020204" pitchFamily="34" charset="0"/>
                <a:ea typeface="仿宋" panose="02010609060101010101" pitchFamily="49" charset="-122"/>
                <a:cs typeface="Times New Roman" panose="02020603050405020304" pitchFamily="18" charset="0"/>
              </a:rPr>
              <a:t>份</a:t>
            </a:r>
            <a:r>
              <a:rPr lang="zh-CN" altLang="en-US" sz="1200" b="1">
                <a:latin typeface="Times New Roman" panose="02020603050405020304" pitchFamily="18" charset="0"/>
                <a:ea typeface="仿宋" panose="02010609060101010101" pitchFamily="49" charset="-122"/>
                <a:cs typeface="Times New Roman" panose="02020603050405020304" pitchFamily="18" charset="0"/>
              </a:rPr>
              <a:t>（电</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子版，</a:t>
            </a:r>
            <a:r>
              <a:rPr lang="zh-CN" altLang="zh-CN" sz="1200" b="1">
                <a:latin typeface="Times New Roman" panose="02020603050405020304" pitchFamily="18" charset="0"/>
                <a:ea typeface="仿宋" panose="02010609060101010101" pitchFamily="49" charset="-122"/>
                <a:cs typeface="Times New Roman" panose="02020603050405020304" pitchFamily="18" charset="0"/>
              </a:rPr>
              <a:t>竞赛小组）</a:t>
            </a:r>
            <a:r>
              <a:rPr lang="zh-CN" altLang="en-US" sz="1200" b="1" smtClean="0">
                <a:latin typeface="Times New Roman" panose="02020603050405020304" pitchFamily="18" charset="0"/>
                <a:ea typeface="仿宋" panose="02010609060101010101" pitchFamily="49" charset="-122"/>
                <a:cs typeface="Times New Roman" panose="02020603050405020304" pitchFamily="18" charset="0"/>
              </a:rPr>
              <a:t>）</a:t>
            </a:r>
            <a:endParaRPr lang="zh-CN" altLang="zh-CN" sz="1200" b="1">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0" name="矩形 9"/>
          <p:cNvSpPr/>
          <p:nvPr/>
        </p:nvSpPr>
        <p:spPr>
          <a:xfrm>
            <a:off x="899592" y="2715766"/>
            <a:ext cx="7128792" cy="830997"/>
          </a:xfrm>
          <a:prstGeom prst="rect">
            <a:avLst/>
          </a:prstGeom>
        </p:spPr>
        <p:txBody>
          <a:bodyPr wrap="square">
            <a:spAutoFit/>
          </a:bodyPr>
          <a:lstStyle/>
          <a:p>
            <a:pPr>
              <a:lnSpc>
                <a:spcPct val="120000"/>
              </a:lnSpc>
              <a:spcBef>
                <a:spcPts val="600"/>
              </a:spcBef>
              <a:buClr>
                <a:srgbClr val="0070C0"/>
              </a:buClr>
            </a:pP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请同学们于</a:t>
            </a:r>
            <a:r>
              <a:rPr lang="en-US" altLang="zh-CN" sz="2000" b="1">
                <a:solidFill>
                  <a:srgbClr val="0070C0"/>
                </a:solidFill>
                <a:latin typeface="微软雅黑" panose="020B0503020204020204" pitchFamily="34" charset="-122"/>
                <a:ea typeface="微软雅黑" panose="020B0503020204020204" pitchFamily="34" charset="-122"/>
              </a:rPr>
              <a:t>2026</a:t>
            </a:r>
            <a:r>
              <a:rPr lang="zh-CN" altLang="zh-CN" sz="2000" b="1">
                <a:solidFill>
                  <a:srgbClr val="0070C0"/>
                </a:solidFill>
                <a:latin typeface="微软雅黑" panose="020B0503020204020204" pitchFamily="34" charset="-122"/>
                <a:ea typeface="微软雅黑" panose="020B0503020204020204" pitchFamily="34" charset="-122"/>
              </a:rPr>
              <a:t>年</a:t>
            </a:r>
            <a:r>
              <a:rPr lang="en-US" altLang="zh-CN" sz="2000" b="1" smtClean="0">
                <a:solidFill>
                  <a:srgbClr val="0070C0"/>
                </a:solidFill>
                <a:latin typeface="微软雅黑" panose="020B0503020204020204" pitchFamily="34" charset="-122"/>
                <a:ea typeface="微软雅黑" panose="020B0503020204020204" pitchFamily="34" charset="-122"/>
              </a:rPr>
              <a:t>08</a:t>
            </a:r>
            <a:r>
              <a:rPr lang="zh-CN" altLang="zh-CN" sz="2000" b="1" smtClean="0">
                <a:solidFill>
                  <a:srgbClr val="0070C0"/>
                </a:solidFill>
                <a:latin typeface="微软雅黑" panose="020B0503020204020204" pitchFamily="34" charset="-122"/>
                <a:ea typeface="微软雅黑" panose="020B0503020204020204" pitchFamily="34" charset="-122"/>
              </a:rPr>
              <a:t>月</a:t>
            </a:r>
            <a:r>
              <a:rPr lang="en-US" altLang="zh-CN" sz="2000" b="1" smtClean="0">
                <a:solidFill>
                  <a:srgbClr val="0070C0"/>
                </a:solidFill>
                <a:latin typeface="微软雅黑" panose="020B0503020204020204" pitchFamily="34" charset="-122"/>
                <a:ea typeface="微软雅黑" panose="020B0503020204020204" pitchFamily="34" charset="-122"/>
              </a:rPr>
              <a:t>26</a:t>
            </a:r>
            <a:r>
              <a:rPr lang="zh-CN" altLang="zh-CN" sz="2000" b="1" smtClean="0">
                <a:solidFill>
                  <a:srgbClr val="0070C0"/>
                </a:solidFill>
                <a:latin typeface="微软雅黑" panose="020B0503020204020204" pitchFamily="34" charset="-122"/>
                <a:ea typeface="微软雅黑" panose="020B0503020204020204" pitchFamily="34" charset="-122"/>
              </a:rPr>
              <a:t>日</a:t>
            </a:r>
            <a:r>
              <a:rPr lang="en-US" altLang="zh-CN" sz="2000" b="1" smtClean="0">
                <a:solidFill>
                  <a:srgbClr val="0070C0"/>
                </a:solidFill>
                <a:latin typeface="微软雅黑" panose="020B0503020204020204" pitchFamily="34" charset="-122"/>
                <a:ea typeface="微软雅黑" panose="020B0503020204020204" pitchFamily="34" charset="-122"/>
              </a:rPr>
              <a:t>22</a:t>
            </a:r>
            <a:r>
              <a:rPr lang="zh-CN" altLang="zh-CN" sz="2000" b="1" smtClean="0">
                <a:solidFill>
                  <a:srgbClr val="0070C0"/>
                </a:solidFill>
                <a:latin typeface="微软雅黑" panose="020B0503020204020204" pitchFamily="34" charset="-122"/>
                <a:ea typeface="微软雅黑" panose="020B0503020204020204" pitchFamily="34" charset="-122"/>
              </a:rPr>
              <a:t>时</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前</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登录</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实验教学和实验室综合管理系统</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http://ugee.hust.edu.cn/</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提</a:t>
            </a:r>
            <a:r>
              <a:rPr lang="zh-CN" altLang="zh-CN"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交</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smtClean="0">
                <a:solidFill>
                  <a:srgbClr val="0070C0"/>
                </a:solidFill>
                <a:latin typeface="微软雅黑" panose="020B0503020204020204" pitchFamily="34" charset="-122"/>
                <a:ea typeface="微软雅黑" panose="020B0503020204020204" pitchFamily="34" charset="-122"/>
              </a:rPr>
              <a:t>项目管理工作坊</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单</a:t>
            </a:r>
            <a:r>
              <a:rPr lang="zh-CN" altLang="en-US"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元</a:t>
            </a:r>
            <a:r>
              <a:rPr lang="zh-CN" altLang="zh-CN" sz="1400"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全部</a:t>
            </a:r>
            <a:r>
              <a:rPr lang="zh-CN" altLang="en-US"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课后</a:t>
            </a:r>
            <a:r>
              <a:rPr lang="zh-CN" altLang="zh-CN" sz="1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学习成果。</a:t>
            </a:r>
            <a:endParaRPr lang="zh-CN" altLang="en-US" sz="14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899592" y="1136745"/>
            <a:ext cx="7128792" cy="461665"/>
          </a:xfrm>
          <a:prstGeom prst="rect">
            <a:avLst/>
          </a:prstGeom>
          <a:solidFill>
            <a:srgbClr val="0070C0"/>
          </a:solidFill>
        </p:spPr>
        <p:txBody>
          <a:bodyPr wrap="square">
            <a:spAutoFit/>
          </a:bodyPr>
          <a:lstStyle/>
          <a:p>
            <a:r>
              <a:rPr lang="en-US" altLang="zh-CN"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400" b="1" smtClean="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400" b="1">
                <a:solidFill>
                  <a:schemeClr val="bg1"/>
                </a:solidFill>
                <a:latin typeface="微软雅黑" panose="020B0503020204020204" pitchFamily="34" charset="-122"/>
                <a:ea typeface="微软雅黑" panose="020B0503020204020204" pitchFamily="34" charset="-122"/>
              </a:rPr>
              <a:t>解读课后学习任务</a:t>
            </a:r>
            <a:r>
              <a:rPr lang="zh-CN" altLang="en-US" sz="2400" b="1" smtClean="0">
                <a:solidFill>
                  <a:schemeClr val="bg1"/>
                </a:solidFill>
                <a:latin typeface="微软雅黑" panose="020B0503020204020204" pitchFamily="34" charset="-122"/>
                <a:ea typeface="微软雅黑" panose="020B0503020204020204" pitchFamily="34" charset="-122"/>
              </a:rPr>
              <a:t>：</a:t>
            </a:r>
            <a:r>
              <a:rPr lang="zh-CN" altLang="en-US" sz="2400"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任务清单及成果提交要求</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33009640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0" y="1"/>
            <a:ext cx="4283968" cy="627534"/>
          </a:xfrm>
          <a:prstGeom prst="rect">
            <a:avLst/>
          </a:prstGeom>
          <a:solidFill>
            <a:schemeClr val="accent1"/>
          </a:solidFill>
        </p:spPr>
        <p:txBody>
          <a:bodyPr lIns="68580" tIns="34290" rIns="68580" bIns="34290"/>
          <a:lstStyle>
            <a:lvl1pPr algn="ctr" defTabSz="914400" rtl="0" eaLnBrk="1" latinLnBrk="0" hangingPunct="1">
              <a:spcBef>
                <a:spcPct val="0"/>
              </a:spcBef>
              <a:buNone/>
              <a:defRPr sz="4400" kern="1200">
                <a:solidFill>
                  <a:schemeClr val="tx1"/>
                </a:solidFill>
                <a:latin typeface="+mj-lt"/>
                <a:ea typeface="+mj-ea"/>
                <a:cs typeface="+mj-cs"/>
              </a:defRPr>
            </a:lvl1pPr>
          </a:lstStyle>
          <a:p>
            <a:pPr indent="457200" algn="l">
              <a:lnSpc>
                <a:spcPct val="150000"/>
              </a:lnSpc>
            </a:pPr>
            <a:r>
              <a:rPr lang="zh-CN" altLang="en-US" sz="2800" b="1">
                <a:solidFill>
                  <a:prstClr val="white"/>
                </a:solidFill>
                <a:latin typeface="微软雅黑" panose="020B0503020204020204" pitchFamily="34" charset="-122"/>
                <a:ea typeface="微软雅黑" panose="020B0503020204020204" pitchFamily="34" charset="-122"/>
              </a:rPr>
              <a:t>五、教育教学组织</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
        <p:nvSpPr>
          <p:cNvPr id="5" name="矩形 4"/>
          <p:cNvSpPr/>
          <p:nvPr/>
        </p:nvSpPr>
        <p:spPr>
          <a:xfrm>
            <a:off x="899592" y="1131590"/>
            <a:ext cx="6264696" cy="461665"/>
          </a:xfrm>
          <a:prstGeom prst="rect">
            <a:avLst/>
          </a:prstGeom>
          <a:solidFill>
            <a:srgbClr val="0070C0"/>
          </a:solidFill>
        </p:spPr>
        <p:txBody>
          <a:bodyPr wrap="square">
            <a:spAutoFit/>
          </a:bodyPr>
          <a:lstStyle/>
          <a:p>
            <a:r>
              <a:rPr lang="en-US" altLang="zh-CN" sz="2400" b="1">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5</a:t>
            </a:r>
            <a:r>
              <a:rPr lang="zh-CN" altLang="en-US" sz="2400" b="1"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解读</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选题评审</a:t>
            </a:r>
            <a:r>
              <a:rPr lang="zh-CN" altLang="zh-CN" sz="2400" b="1" smtClean="0">
                <a:solidFill>
                  <a:schemeClr val="bg1"/>
                </a:solidFill>
                <a:latin typeface="宋体" panose="02010600030101010101" pitchFamily="2" charset="-122"/>
                <a:cs typeface="Times New Roman" panose="02020603050405020304" pitchFamily="18" charset="0"/>
              </a:rPr>
              <a:t>”</a:t>
            </a:r>
            <a:r>
              <a:rPr lang="zh-CN" altLang="zh-CN"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单元</a:t>
            </a:r>
            <a:r>
              <a:rPr lang="zh-CN" altLang="en-US" sz="24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课前教学活</a:t>
            </a:r>
            <a:r>
              <a:rPr lang="zh-CN" altLang="en-US" sz="2400" b="1"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动</a:t>
            </a:r>
            <a:endParaRPr lang="en-US" altLang="zh-CN" sz="24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p:cNvSpPr/>
          <p:nvPr/>
        </p:nvSpPr>
        <p:spPr>
          <a:xfrm>
            <a:off x="899592" y="2715766"/>
            <a:ext cx="7128792" cy="430182"/>
          </a:xfrm>
          <a:prstGeom prst="rect">
            <a:avLst/>
          </a:prstGeom>
        </p:spPr>
        <p:txBody>
          <a:bodyPr wrap="square">
            <a:spAutoFit/>
          </a:bodyPr>
          <a:lstStyle/>
          <a:p>
            <a:pPr algn="ctr">
              <a:lnSpc>
                <a:spcPct val="120000"/>
              </a:lnSpc>
              <a:spcBef>
                <a:spcPts val="600"/>
              </a:spcBef>
              <a:buClr>
                <a:srgbClr val="0070C0"/>
              </a:buClr>
            </a:pPr>
            <a:r>
              <a:rPr lang="zh-CN" altLang="en-US" sz="2000" b="1" smtClean="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略，见课程平台</a:t>
            </a:r>
            <a:endPar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22569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395536" y="1787781"/>
            <a:ext cx="8352928" cy="1314133"/>
          </a:xfrm>
          <a:prstGeom prst="rect">
            <a:avLst/>
          </a:prstGeom>
          <a:ln w="25400">
            <a:noFill/>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3200" b="1">
                <a:solidFill>
                  <a:srgbClr val="C00000"/>
                </a:solidFill>
                <a:latin typeface="微软雅黑" panose="020B0503020204020204" pitchFamily="34" charset="-122"/>
                <a:ea typeface="微软雅黑" panose="020B0503020204020204" pitchFamily="34" charset="-122"/>
              </a:rPr>
              <a:t>管的是事，做的是人</a:t>
            </a:r>
            <a:endParaRPr lang="en-US" altLang="zh-CN" sz="3200" b="1">
              <a:solidFill>
                <a:srgbClr val="C00000"/>
              </a:solidFill>
              <a:latin typeface="微软雅黑" panose="020B0503020204020204" pitchFamily="34" charset="-122"/>
              <a:ea typeface="微软雅黑" panose="020B0503020204020204" pitchFamily="34" charset="-122"/>
            </a:endParaRPr>
          </a:p>
          <a:p>
            <a:pPr>
              <a:lnSpc>
                <a:spcPct val="120000"/>
              </a:lnSpc>
            </a:pPr>
            <a:r>
              <a:rPr lang="zh-CN" altLang="en-US" sz="3200" b="1">
                <a:solidFill>
                  <a:srgbClr val="C00000"/>
                </a:solidFill>
                <a:latin typeface="微软雅黑" panose="020B0503020204020204" pitchFamily="34" charset="-122"/>
                <a:ea typeface="微软雅黑" panose="020B0503020204020204" pitchFamily="34" charset="-122"/>
              </a:rPr>
              <a:t>成的是项目，显的是人性</a:t>
            </a:r>
            <a:endParaRPr lang="zh-CN" altLang="en-US" sz="3200" b="1" dirty="0">
              <a:solidFill>
                <a:srgbClr val="C00000"/>
              </a:solidFill>
              <a:latin typeface="微软雅黑" panose="020B0503020204020204" pitchFamily="34" charset="-122"/>
              <a:ea typeface="微软雅黑" panose="020B0503020204020204" pitchFamily="34" charset="-122"/>
            </a:endParaRPr>
          </a:p>
        </p:txBody>
      </p:sp>
      <p:sp>
        <p:nvSpPr>
          <p:cNvPr id="10" name="标题 1"/>
          <p:cNvSpPr txBox="1">
            <a:spLocks/>
          </p:cNvSpPr>
          <p:nvPr/>
        </p:nvSpPr>
        <p:spPr>
          <a:xfrm>
            <a:off x="6588224" y="4299942"/>
            <a:ext cx="2064334" cy="556268"/>
          </a:xfrm>
          <a:prstGeom prst="rect">
            <a:avLst/>
          </a:prstGeom>
          <a:ln w="25400">
            <a:noFill/>
          </a:ln>
        </p:spPr>
        <p:txBody>
          <a:bodyPr lIns="91430" tIns="45715" rIns="91430" bIns="45715"/>
          <a:lstStyle>
            <a:lvl1pPr algn="ctr" defTabSz="914400" rtl="0" eaLnBrk="1" latinLnBrk="0" hangingPunct="1">
              <a:spcBef>
                <a:spcPct val="0"/>
              </a:spcBef>
              <a:buNone/>
              <a:defRPr sz="4400" kern="1200">
                <a:solidFill>
                  <a:schemeClr val="tx1"/>
                </a:solidFill>
                <a:latin typeface="+mj-lt"/>
                <a:ea typeface="+mj-ea"/>
                <a:cs typeface="+mj-cs"/>
              </a:defRPr>
            </a:lvl1pPr>
          </a:lstStyle>
          <a:p>
            <a:pPr algn="l" defTabSz="914296">
              <a:lnSpc>
                <a:spcPct val="120000"/>
              </a:lnSpc>
              <a:spcBef>
                <a:spcPts val="600"/>
              </a:spcBef>
              <a:defRPr/>
            </a:pPr>
            <a:r>
              <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课件中的未标明出处的图片均</a:t>
            </a:r>
            <a:r>
              <a:rPr lang="zh-CN" altLang="en-US" sz="1200" b="1">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来</a:t>
            </a:r>
            <a:r>
              <a:rPr lang="zh-CN" altLang="en-US" sz="1200" b="1" smtClean="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自</a:t>
            </a:r>
            <a:r>
              <a:rPr lang="zh-CN" altLang="en-US" sz="1200" b="1" smtClean="0">
                <a:solidFill>
                  <a:srgbClr val="0070C0"/>
                </a:solidFill>
                <a:latin typeface="Times New Roman" panose="02020603050405020304" pitchFamily="18" charset="0"/>
                <a:ea typeface="微软雅黑" panose="020B0503020204020204" pitchFamily="34" charset="-122"/>
              </a:rPr>
              <a:t>网</a:t>
            </a:r>
            <a:r>
              <a:rPr lang="zh-CN" altLang="en-US" sz="1200" b="1">
                <a:solidFill>
                  <a:srgbClr val="0070C0"/>
                </a:solidFill>
                <a:latin typeface="Times New Roman" panose="02020603050405020304" pitchFamily="18" charset="0"/>
                <a:ea typeface="微软雅黑" panose="020B0503020204020204" pitchFamily="34" charset="-122"/>
              </a:rPr>
              <a:t>络，仅供教学使用</a:t>
            </a:r>
            <a:endParaRPr lang="zh-CN" altLang="en-US" sz="1200" b="1"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4110</TotalTime>
  <Words>30777</Words>
  <Application>Microsoft Office PowerPoint</Application>
  <PresentationFormat>全屏显示(16:9)</PresentationFormat>
  <Paragraphs>1988</Paragraphs>
  <Slides>111</Slides>
  <Notes>103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111</vt:i4>
      </vt:variant>
    </vt:vector>
  </HeadingPairs>
  <TitlesOfParts>
    <vt:vector size="122" baseType="lpstr">
      <vt:lpstr>等线</vt:lpstr>
      <vt:lpstr>仿宋</vt:lpstr>
      <vt:lpstr>宋体</vt:lpstr>
      <vt:lpstr>微软雅黑</vt:lpstr>
      <vt:lpstr>Arial</vt:lpstr>
      <vt:lpstr>Arial Black</vt:lpstr>
      <vt:lpstr>Calibri</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AutoBVT</dc:creator>
  <cp:lastModifiedBy>hp</cp:lastModifiedBy>
  <cp:revision>1016</cp:revision>
  <cp:lastPrinted>2026-08-17T23:55:55Z</cp:lastPrinted>
  <dcterms:created xsi:type="dcterms:W3CDTF">2018-11-04T09:21:00Z</dcterms:created>
  <dcterms:modified xsi:type="dcterms:W3CDTF">2026-08-25T23:46:57Z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25B18425B61547CFB3C7A39F229141A3_13</vt:lpwstr>
  </property>
  <property fmtid="{D5CDD505-2E9C-101B-9397-08002B2CF9AE}" pid="3" name="KSOProductBuildVer">
    <vt:lpwstr>2052-12.1.0.21915</vt:lpwstr>
  </property>
</Properties>
</file>