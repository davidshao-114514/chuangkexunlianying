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7"/>
  </p:notesMasterIdLst>
  <p:handoutMasterIdLst>
    <p:handoutMasterId r:id="rId98"/>
  </p:handoutMasterIdLst>
  <p:sldIdLst>
    <p:sldId id="829" r:id="rId2"/>
    <p:sldId id="830" r:id="rId3"/>
    <p:sldId id="393" r:id="rId4"/>
    <p:sldId id="663" r:id="rId5"/>
    <p:sldId id="831" r:id="rId6"/>
    <p:sldId id="852" r:id="rId7"/>
    <p:sldId id="853" r:id="rId8"/>
    <p:sldId id="633" r:id="rId9"/>
    <p:sldId id="694" r:id="rId10"/>
    <p:sldId id="612" r:id="rId11"/>
    <p:sldId id="847" r:id="rId12"/>
    <p:sldId id="692" r:id="rId13"/>
    <p:sldId id="614" r:id="rId14"/>
    <p:sldId id="846" r:id="rId15"/>
    <p:sldId id="664" r:id="rId16"/>
    <p:sldId id="665" r:id="rId17"/>
    <p:sldId id="666" r:id="rId18"/>
    <p:sldId id="678" r:id="rId19"/>
    <p:sldId id="679" r:id="rId20"/>
    <p:sldId id="684" r:id="rId21"/>
    <p:sldId id="685" r:id="rId22"/>
    <p:sldId id="850" r:id="rId23"/>
    <p:sldId id="851" r:id="rId24"/>
    <p:sldId id="848" r:id="rId25"/>
    <p:sldId id="849" r:id="rId26"/>
    <p:sldId id="752" r:id="rId27"/>
    <p:sldId id="753" r:id="rId28"/>
    <p:sldId id="754" r:id="rId29"/>
    <p:sldId id="755" r:id="rId30"/>
    <p:sldId id="756" r:id="rId31"/>
    <p:sldId id="757" r:id="rId32"/>
    <p:sldId id="758" r:id="rId33"/>
    <p:sldId id="760" r:id="rId34"/>
    <p:sldId id="761" r:id="rId35"/>
    <p:sldId id="762" r:id="rId36"/>
    <p:sldId id="764" r:id="rId37"/>
    <p:sldId id="765" r:id="rId38"/>
    <p:sldId id="826" r:id="rId39"/>
    <p:sldId id="767" r:id="rId40"/>
    <p:sldId id="563" r:id="rId41"/>
    <p:sldId id="768" r:id="rId42"/>
    <p:sldId id="769" r:id="rId43"/>
    <p:sldId id="770" r:id="rId44"/>
    <p:sldId id="771" r:id="rId45"/>
    <p:sldId id="772" r:id="rId46"/>
    <p:sldId id="773" r:id="rId47"/>
    <p:sldId id="833" r:id="rId48"/>
    <p:sldId id="774" r:id="rId49"/>
    <p:sldId id="775" r:id="rId50"/>
    <p:sldId id="834" r:id="rId51"/>
    <p:sldId id="777" r:id="rId52"/>
    <p:sldId id="778" r:id="rId53"/>
    <p:sldId id="779" r:id="rId54"/>
    <p:sldId id="780" r:id="rId55"/>
    <p:sldId id="781" r:id="rId56"/>
    <p:sldId id="782" r:id="rId57"/>
    <p:sldId id="783" r:id="rId58"/>
    <p:sldId id="784" r:id="rId59"/>
    <p:sldId id="785" r:id="rId60"/>
    <p:sldId id="786" r:id="rId61"/>
    <p:sldId id="787" r:id="rId62"/>
    <p:sldId id="788" r:id="rId63"/>
    <p:sldId id="789" r:id="rId64"/>
    <p:sldId id="790" r:id="rId65"/>
    <p:sldId id="791" r:id="rId66"/>
    <p:sldId id="792" r:id="rId67"/>
    <p:sldId id="793" r:id="rId68"/>
    <p:sldId id="794" r:id="rId69"/>
    <p:sldId id="795" r:id="rId70"/>
    <p:sldId id="796" r:id="rId71"/>
    <p:sldId id="797" r:id="rId72"/>
    <p:sldId id="798" r:id="rId73"/>
    <p:sldId id="799" r:id="rId74"/>
    <p:sldId id="801" r:id="rId75"/>
    <p:sldId id="802" r:id="rId76"/>
    <p:sldId id="804" r:id="rId77"/>
    <p:sldId id="805" r:id="rId78"/>
    <p:sldId id="835" r:id="rId79"/>
    <p:sldId id="807" r:id="rId80"/>
    <p:sldId id="836" r:id="rId81"/>
    <p:sldId id="838" r:id="rId82"/>
    <p:sldId id="837" r:id="rId83"/>
    <p:sldId id="839" r:id="rId84"/>
    <p:sldId id="841" r:id="rId85"/>
    <p:sldId id="842" r:id="rId86"/>
    <p:sldId id="843" r:id="rId87"/>
    <p:sldId id="844" r:id="rId88"/>
    <p:sldId id="845" r:id="rId89"/>
    <p:sldId id="840" r:id="rId90"/>
    <p:sldId id="806" r:id="rId91"/>
    <p:sldId id="808" r:id="rId92"/>
    <p:sldId id="809" r:id="rId93"/>
    <p:sldId id="820" r:id="rId94"/>
    <p:sldId id="803" r:id="rId95"/>
    <p:sldId id="549" r:id="rId96"/>
  </p:sldIdLst>
  <p:sldSz cx="9144000" cy="5143500" type="screen16x9"/>
  <p:notesSz cx="9926638"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1477">
          <p15:clr>
            <a:srgbClr val="A4A3A4"/>
          </p15:clr>
        </p15:guide>
        <p15:guide id="2" pos="4584">
          <p15:clr>
            <a:srgbClr val="A4A3A4"/>
          </p15:clr>
        </p15:guide>
        <p15:guide id="3" orient="horz" pos="2141">
          <p15:clr>
            <a:srgbClr val="A4A3A4"/>
          </p15:clr>
        </p15:guide>
        <p15:guide id="4" pos="312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B2C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autoAdjust="0"/>
    <p:restoredTop sz="96120" autoAdjust="0"/>
  </p:normalViewPr>
  <p:slideViewPr>
    <p:cSldViewPr showGuides="1">
      <p:cViewPr varScale="1">
        <p:scale>
          <a:sx n="139" d="100"/>
          <a:sy n="139" d="100"/>
        </p:scale>
        <p:origin x="120" y="210"/>
      </p:cViewPr>
      <p:guideLst>
        <p:guide orient="horz" pos="158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9" d="100"/>
          <a:sy n="79" d="100"/>
        </p:scale>
        <p:origin x="-4074" y="-102"/>
      </p:cViewPr>
      <p:guideLst>
        <p:guide orient="horz" pos="1477"/>
        <p:guide pos="4584"/>
        <p:guide orient="horz" pos="2141"/>
        <p:guide pos="312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4301607" cy="339878"/>
          </a:xfrm>
          <a:prstGeom prst="rect">
            <a:avLst/>
          </a:prstGeom>
        </p:spPr>
        <p:txBody>
          <a:bodyPr vert="horz" lIns="91440" tIns="45720" rIns="91440" bIns="45720" rtlCol="0"/>
          <a:lstStyle>
            <a:lvl1pPr algn="l">
              <a:defRPr sz="1600"/>
            </a:lvl1pPr>
          </a:lstStyle>
          <a:p>
            <a:endParaRPr lang="zh-CN" altLang="en-US"/>
          </a:p>
        </p:txBody>
      </p:sp>
      <p:sp>
        <p:nvSpPr>
          <p:cNvPr id="3" name="日期占位符 2"/>
          <p:cNvSpPr>
            <a:spLocks noGrp="1"/>
          </p:cNvSpPr>
          <p:nvPr>
            <p:ph type="dt" sz="quarter" idx="1"/>
          </p:nvPr>
        </p:nvSpPr>
        <p:spPr>
          <a:xfrm>
            <a:off x="5622885" y="1"/>
            <a:ext cx="4301607" cy="339878"/>
          </a:xfrm>
          <a:prstGeom prst="rect">
            <a:avLst/>
          </a:prstGeom>
        </p:spPr>
        <p:txBody>
          <a:bodyPr vert="horz" lIns="91440" tIns="45720" rIns="91440" bIns="45720" rtlCol="0"/>
          <a:lstStyle>
            <a:lvl1pPr algn="r">
              <a:defRPr sz="1600"/>
            </a:lvl1pPr>
          </a:lstStyle>
          <a:p>
            <a:fld id="{3B3E2D12-2F38-4D42-802C-11A388691E45}" type="datetimeFigureOut">
              <a:rPr lang="zh-CN" altLang="en-US" smtClean="0"/>
              <a:t>2026/8/23</a:t>
            </a:fld>
            <a:endParaRPr lang="zh-CN" altLang="en-US"/>
          </a:p>
        </p:txBody>
      </p:sp>
      <p:sp>
        <p:nvSpPr>
          <p:cNvPr id="4" name="页脚占位符 3"/>
          <p:cNvSpPr>
            <a:spLocks noGrp="1"/>
          </p:cNvSpPr>
          <p:nvPr>
            <p:ph type="ftr" sz="quarter" idx="2"/>
          </p:nvPr>
        </p:nvSpPr>
        <p:spPr>
          <a:xfrm>
            <a:off x="2" y="6456516"/>
            <a:ext cx="4301607" cy="339878"/>
          </a:xfrm>
          <a:prstGeom prst="rect">
            <a:avLst/>
          </a:prstGeom>
        </p:spPr>
        <p:txBody>
          <a:bodyPr vert="horz" lIns="91440" tIns="45720" rIns="91440" bIns="45720" rtlCol="0" anchor="b"/>
          <a:lstStyle>
            <a:lvl1pPr algn="l">
              <a:defRPr sz="1600"/>
            </a:lvl1pPr>
          </a:lstStyle>
          <a:p>
            <a:endParaRPr lang="zh-CN" altLang="en-US"/>
          </a:p>
        </p:txBody>
      </p:sp>
      <p:sp>
        <p:nvSpPr>
          <p:cNvPr id="5" name="灯片编号占位符 4"/>
          <p:cNvSpPr>
            <a:spLocks noGrp="1"/>
          </p:cNvSpPr>
          <p:nvPr>
            <p:ph type="sldNum" sz="quarter" idx="3"/>
          </p:nvPr>
        </p:nvSpPr>
        <p:spPr>
          <a:xfrm>
            <a:off x="5622885" y="6456516"/>
            <a:ext cx="4301607" cy="339878"/>
          </a:xfrm>
          <a:prstGeom prst="rect">
            <a:avLst/>
          </a:prstGeom>
        </p:spPr>
        <p:txBody>
          <a:bodyPr vert="horz" lIns="91440" tIns="45720" rIns="91440" bIns="45720" rtlCol="0" anchor="b"/>
          <a:lstStyle>
            <a:lvl1pPr algn="r">
              <a:defRPr sz="1600"/>
            </a:lvl1pPr>
          </a:lstStyle>
          <a:p>
            <a:fld id="{093CC510-0883-49F7-8F7A-F1982F114CA8}"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4302618" cy="33971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1841" y="1"/>
            <a:ext cx="4302618" cy="339716"/>
          </a:xfrm>
          <a:prstGeom prst="rect">
            <a:avLst/>
          </a:prstGeom>
        </p:spPr>
        <p:txBody>
          <a:bodyPr vert="horz" lIns="91440" tIns="45720" rIns="91440" bIns="45720" rtlCol="0"/>
          <a:lstStyle>
            <a:lvl1pPr algn="r">
              <a:defRPr sz="1200"/>
            </a:lvl1pPr>
          </a:lstStyle>
          <a:p>
            <a:fld id="{297120EB-600B-4735-BE86-090050C337CD}" type="datetimeFigureOut">
              <a:rPr lang="zh-CN" altLang="en-US" smtClean="0"/>
              <a:t>2026/8/23</a:t>
            </a:fld>
            <a:endParaRPr lang="zh-CN" altLang="en-US"/>
          </a:p>
        </p:txBody>
      </p:sp>
      <p:sp>
        <p:nvSpPr>
          <p:cNvPr id="4" name="幻灯片图像占位符 3"/>
          <p:cNvSpPr>
            <a:spLocks noGrp="1" noRot="1" noChangeAspect="1"/>
          </p:cNvSpPr>
          <p:nvPr>
            <p:ph type="sldImg" idx="2"/>
          </p:nvPr>
        </p:nvSpPr>
        <p:spPr>
          <a:xfrm>
            <a:off x="2697163" y="509588"/>
            <a:ext cx="4532312" cy="25495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913" y="3228929"/>
            <a:ext cx="7940963" cy="305852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6456773"/>
            <a:ext cx="4302618" cy="33971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1841" y="6456773"/>
            <a:ext cx="4302618" cy="339716"/>
          </a:xfrm>
          <a:prstGeom prst="rect">
            <a:avLst/>
          </a:prstGeom>
        </p:spPr>
        <p:txBody>
          <a:bodyPr vert="horz" lIns="91440" tIns="45720" rIns="91440" bIns="45720" rtlCol="0" anchor="b"/>
          <a:lstStyle>
            <a:lvl1pPr algn="r">
              <a:defRPr sz="1200"/>
            </a:lvl1pPr>
          </a:lstStyle>
          <a:p>
            <a:fld id="{87C88C8B-08D5-4B40-BCC9-A95CA2CAD9C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1</a:t>
            </a:fld>
            <a:endParaRPr lang="zh-CN" altLang="en-US"/>
          </a:p>
        </p:txBody>
      </p:sp>
    </p:spTree>
    <p:extLst>
      <p:ext uri="{BB962C8B-B14F-4D97-AF65-F5344CB8AC3E}">
        <p14:creationId xmlns:p14="http://schemas.microsoft.com/office/powerpoint/2010/main" val="2774996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红字感觉有点晃眼</a:t>
            </a:r>
          </a:p>
        </p:txBody>
      </p:sp>
      <p:sp>
        <p:nvSpPr>
          <p:cNvPr id="4" name="灯片编号占位符 3"/>
          <p:cNvSpPr>
            <a:spLocks noGrp="1"/>
          </p:cNvSpPr>
          <p:nvPr>
            <p:ph type="sldNum" sz="quarter" idx="5"/>
          </p:nvPr>
        </p:nvSpPr>
        <p:spPr/>
        <p:txBody>
          <a:bodyPr/>
          <a:lstStyle/>
          <a:p>
            <a:fld id="{87C88C8B-08D5-4B40-BCC9-A95CA2CAD9C2}"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a:t>
            </a:fld>
            <a:endParaRPr lang="zh-CN" altLang="en-US"/>
          </a:p>
        </p:txBody>
      </p:sp>
    </p:spTree>
    <p:extLst>
      <p:ext uri="{BB962C8B-B14F-4D97-AF65-F5344CB8AC3E}">
        <p14:creationId xmlns:p14="http://schemas.microsoft.com/office/powerpoint/2010/main" val="3205846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a:t>
            </a:fld>
            <a:endParaRPr lang="zh-CN" altLang="en-US"/>
          </a:p>
        </p:txBody>
      </p:sp>
    </p:spTree>
    <p:extLst>
      <p:ext uri="{BB962C8B-B14F-4D97-AF65-F5344CB8AC3E}">
        <p14:creationId xmlns:p14="http://schemas.microsoft.com/office/powerpoint/2010/main" val="3958763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a:t>
            </a:fld>
            <a:endParaRPr lang="zh-CN" altLang="en-US"/>
          </a:p>
        </p:txBody>
      </p:sp>
    </p:spTree>
    <p:extLst>
      <p:ext uri="{BB962C8B-B14F-4D97-AF65-F5344CB8AC3E}">
        <p14:creationId xmlns:p14="http://schemas.microsoft.com/office/powerpoint/2010/main" val="3631098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C88C8B-08D5-4B40-BCC9-A95CA2CAD9C2}" type="slidenum">
              <a:rPr lang="zh-CN" altLang="en-US" smtClean="0"/>
              <a:t>18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C88C8B-08D5-4B40-BCC9-A95CA2CAD9C2}" type="slidenum">
              <a:rPr lang="zh-CN" altLang="en-US" smtClean="0"/>
              <a:t>19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27</a:t>
            </a:fld>
            <a:endParaRPr lang="zh-CN" altLang="en-US"/>
          </a:p>
        </p:txBody>
      </p:sp>
    </p:spTree>
    <p:extLst>
      <p:ext uri="{BB962C8B-B14F-4D97-AF65-F5344CB8AC3E}">
        <p14:creationId xmlns:p14="http://schemas.microsoft.com/office/powerpoint/2010/main" val="3159455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30</a:t>
            </a:fld>
            <a:endParaRPr lang="zh-CN" altLang="en-US"/>
          </a:p>
        </p:txBody>
      </p:sp>
    </p:spTree>
    <p:extLst>
      <p:ext uri="{BB962C8B-B14F-4D97-AF65-F5344CB8AC3E}">
        <p14:creationId xmlns:p14="http://schemas.microsoft.com/office/powerpoint/2010/main" val="1100644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31</a:t>
            </a:fld>
            <a:endParaRPr lang="zh-CN" altLang="en-US"/>
          </a:p>
        </p:txBody>
      </p:sp>
    </p:spTree>
    <p:extLst>
      <p:ext uri="{BB962C8B-B14F-4D97-AF65-F5344CB8AC3E}">
        <p14:creationId xmlns:p14="http://schemas.microsoft.com/office/powerpoint/2010/main" val="103845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b="0" kern="100" dirty="0">
              <a:solidFill>
                <a:schemeClr val="dk1"/>
              </a:solidFill>
              <a:effectLst/>
              <a:latin typeface="Times New Roman" panose="02020603050405020304" pitchFamily="18" charset="0"/>
              <a:ea typeface="+mn-ea"/>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32</a:t>
            </a:fld>
            <a:endParaRPr lang="zh-CN" altLang="en-US"/>
          </a:p>
        </p:txBody>
      </p:sp>
    </p:spTree>
    <p:extLst>
      <p:ext uri="{BB962C8B-B14F-4D97-AF65-F5344CB8AC3E}">
        <p14:creationId xmlns:p14="http://schemas.microsoft.com/office/powerpoint/2010/main" val="3653850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33</a:t>
            </a:fld>
            <a:endParaRPr lang="zh-CN" altLang="en-US"/>
          </a:p>
        </p:txBody>
      </p:sp>
    </p:spTree>
    <p:extLst>
      <p:ext uri="{BB962C8B-B14F-4D97-AF65-F5344CB8AC3E}">
        <p14:creationId xmlns:p14="http://schemas.microsoft.com/office/powerpoint/2010/main" val="1356630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34</a:t>
            </a:fld>
            <a:endParaRPr lang="zh-CN" altLang="en-US"/>
          </a:p>
        </p:txBody>
      </p:sp>
    </p:spTree>
    <p:extLst>
      <p:ext uri="{BB962C8B-B14F-4D97-AF65-F5344CB8AC3E}">
        <p14:creationId xmlns:p14="http://schemas.microsoft.com/office/powerpoint/2010/main" val="28024035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35</a:t>
            </a:fld>
            <a:endParaRPr lang="zh-CN" altLang="en-US"/>
          </a:p>
        </p:txBody>
      </p:sp>
    </p:spTree>
    <p:extLst>
      <p:ext uri="{BB962C8B-B14F-4D97-AF65-F5344CB8AC3E}">
        <p14:creationId xmlns:p14="http://schemas.microsoft.com/office/powerpoint/2010/main" val="2603385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671870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41</a:t>
            </a:fld>
            <a:endParaRPr lang="zh-CN" altLang="en-US"/>
          </a:p>
        </p:txBody>
      </p:sp>
    </p:spTree>
    <p:extLst>
      <p:ext uri="{BB962C8B-B14F-4D97-AF65-F5344CB8AC3E}">
        <p14:creationId xmlns:p14="http://schemas.microsoft.com/office/powerpoint/2010/main" val="3967644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42</a:t>
            </a:fld>
            <a:endParaRPr lang="zh-CN" altLang="en-US"/>
          </a:p>
        </p:txBody>
      </p:sp>
    </p:spTree>
    <p:extLst>
      <p:ext uri="{BB962C8B-B14F-4D97-AF65-F5344CB8AC3E}">
        <p14:creationId xmlns:p14="http://schemas.microsoft.com/office/powerpoint/2010/main" val="1507629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43</a:t>
            </a:fld>
            <a:endParaRPr lang="zh-CN" altLang="en-US"/>
          </a:p>
        </p:txBody>
      </p:sp>
    </p:spTree>
    <p:extLst>
      <p:ext uri="{BB962C8B-B14F-4D97-AF65-F5344CB8AC3E}">
        <p14:creationId xmlns:p14="http://schemas.microsoft.com/office/powerpoint/2010/main" val="2696630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44</a:t>
            </a:fld>
            <a:endParaRPr lang="zh-CN" altLang="en-US"/>
          </a:p>
        </p:txBody>
      </p:sp>
    </p:spTree>
    <p:extLst>
      <p:ext uri="{BB962C8B-B14F-4D97-AF65-F5344CB8AC3E}">
        <p14:creationId xmlns:p14="http://schemas.microsoft.com/office/powerpoint/2010/main" val="2970629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95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dirty="0"/>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97D94A9-08CE-44DA-A0D5-17BD1D732DA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4300"/>
            <a:ext cx="7772400" cy="857250"/>
          </a:xfr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4629150"/>
            <a:ext cx="1905000" cy="342900"/>
          </a:xfrm>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5" name="页脚占位符 4"/>
          <p:cNvSpPr>
            <a:spLocks noGrp="1"/>
          </p:cNvSpPr>
          <p:nvPr>
            <p:ph type="ftr" sz="quarter" idx="11"/>
          </p:nvPr>
        </p:nvSpPr>
        <p:spPr>
          <a:xfrm>
            <a:off x="3124200" y="4629150"/>
            <a:ext cx="2895600" cy="342900"/>
          </a:xfrm>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4629150"/>
            <a:ext cx="1905000" cy="342900"/>
          </a:xfrm>
        </p:spPr>
        <p:txBody>
          <a:bodyPr/>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4300"/>
            <a:ext cx="7772400" cy="85725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200150"/>
            <a:ext cx="3810000" cy="3371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00150"/>
            <a:ext cx="3810000" cy="3371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a:xfrm>
            <a:off x="685800" y="4629150"/>
            <a:ext cx="1905000" cy="342900"/>
          </a:xfrm>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6" name="页脚占位符 5"/>
          <p:cNvSpPr>
            <a:spLocks noGrp="1"/>
          </p:cNvSpPr>
          <p:nvPr>
            <p:ph type="ftr" sz="quarter" idx="11"/>
          </p:nvPr>
        </p:nvSpPr>
        <p:spPr>
          <a:xfrm>
            <a:off x="3124200" y="4629150"/>
            <a:ext cx="2895600" cy="342900"/>
          </a:xfrm>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7" name="灯片编号占位符 6"/>
          <p:cNvSpPr>
            <a:spLocks noGrp="1"/>
          </p:cNvSpPr>
          <p:nvPr>
            <p:ph type="sldNum" sz="quarter" idx="12"/>
          </p:nvPr>
        </p:nvSpPr>
        <p:spPr>
          <a:xfrm>
            <a:off x="6553200" y="4629150"/>
            <a:ext cx="1905000" cy="342900"/>
          </a:xfrm>
        </p:spPr>
        <p:txBody>
          <a:bodyPr/>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14300"/>
            <a:ext cx="7772400" cy="44577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a:xfrm>
            <a:off x="685800" y="4629150"/>
            <a:ext cx="1905000" cy="342900"/>
          </a:xfrm>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4" name="页脚占位符 3"/>
          <p:cNvSpPr>
            <a:spLocks noGrp="1"/>
          </p:cNvSpPr>
          <p:nvPr>
            <p:ph type="ftr" sz="quarter" idx="11"/>
          </p:nvPr>
        </p:nvSpPr>
        <p:spPr>
          <a:xfrm>
            <a:off x="3124200" y="4629150"/>
            <a:ext cx="2895600" cy="342900"/>
          </a:xfrm>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4629150"/>
            <a:ext cx="1905000" cy="342900"/>
          </a:xfrm>
        </p:spPr>
        <p:txBody>
          <a:bodyPr/>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68580" tIns="34290" rIns="68580" bIns="34290"/>
          <a:lstStyle/>
          <a:p>
            <a:r>
              <a:rPr lang="zh-CN" altLang="en-US"/>
              <a:t>单击此处编辑母版标题样式</a:t>
            </a:r>
          </a:p>
        </p:txBody>
      </p:sp>
      <p:sp>
        <p:nvSpPr>
          <p:cNvPr id="3" name="日期占位符 2"/>
          <p:cNvSpPr>
            <a:spLocks noGrp="1"/>
          </p:cNvSpPr>
          <p:nvPr>
            <p:ph type="dt" sz="half" idx="10"/>
          </p:nvPr>
        </p:nvSpPr>
        <p:spPr>
          <a:xfrm>
            <a:off x="457200" y="4767264"/>
            <a:ext cx="2133600" cy="273844"/>
          </a:xfrm>
          <a:prstGeom prst="rect">
            <a:avLst/>
          </a:prstGeom>
        </p:spPr>
        <p:txBody>
          <a:bodyPr lIns="68580" tIns="34290" rIns="68580" bIns="34290"/>
          <a:lstStyle/>
          <a:p>
            <a:fld id="{32FAFEFE-9490-4349-BF18-C5E83338C085}" type="datetimeFigureOut">
              <a:rPr lang="zh-CN" altLang="en-US">
                <a:solidFill>
                  <a:prstClr val="black">
                    <a:tint val="75000"/>
                  </a:prstClr>
                </a:solidFill>
              </a:rPr>
              <a:t>2026/8/23</a:t>
            </a:fld>
            <a:endParaRPr lang="zh-CN" altLang="en-US">
              <a:solidFill>
                <a:prstClr val="black">
                  <a:tint val="75000"/>
                </a:prstClr>
              </a:solidFill>
            </a:endParaRPr>
          </a:p>
        </p:txBody>
      </p:sp>
      <p:sp>
        <p:nvSpPr>
          <p:cNvPr id="4" name="页脚占位符 3"/>
          <p:cNvSpPr>
            <a:spLocks noGrp="1"/>
          </p:cNvSpPr>
          <p:nvPr>
            <p:ph type="ftr" sz="quarter" idx="11"/>
          </p:nvPr>
        </p:nvSpPr>
        <p:spPr>
          <a:xfrm>
            <a:off x="3124200" y="4767264"/>
            <a:ext cx="2895600" cy="273844"/>
          </a:xfrm>
          <a:prstGeom prst="rect">
            <a:avLst/>
          </a:prstGeom>
        </p:spPr>
        <p:txBody>
          <a:bodyPr lIns="68580" tIns="34290" rIns="68580" bIns="34290"/>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a:xfrm>
            <a:off x="6553200" y="4767264"/>
            <a:ext cx="2133600" cy="273844"/>
          </a:xfrm>
          <a:prstGeom prst="rect">
            <a:avLst/>
          </a:prstGeom>
        </p:spPr>
        <p:txBody>
          <a:bodyPr lIns="68580" tIns="34290" rIns="68580" bIns="34290"/>
          <a:lstStyle/>
          <a:p>
            <a:fld id="{4F5B2A14-337C-4A11-92D9-9CF0574820B3}" type="slidenum">
              <a:rPr lang="zh-CN" altLang="en-US">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245660" y="28575"/>
            <a:ext cx="862844" cy="843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69721" y="1774641"/>
            <a:ext cx="7560841" cy="369332"/>
          </a:xfrm>
          <a:prstGeom prst="rect">
            <a:avLst/>
          </a:prstGeom>
        </p:spPr>
        <p:txBody>
          <a:bodyPr wrap="square">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欢迎同学们</a:t>
            </a:r>
            <a:r>
              <a:rPr lang="zh-CN" altLang="en-US" b="1" smtClean="0">
                <a:solidFill>
                  <a:srgbClr val="C00000"/>
                </a:solidFill>
                <a:latin typeface="微软雅黑" panose="020B0503020204020204" pitchFamily="34" charset="-122"/>
                <a:ea typeface="微软雅黑" panose="020B0503020204020204" pitchFamily="34" charset="-122"/>
              </a:rPr>
              <a:t>进入</a:t>
            </a:r>
            <a:r>
              <a:rPr lang="en-US" altLang="zh-CN" b="1" smtClean="0">
                <a:solidFill>
                  <a:srgbClr val="C00000"/>
                </a:solidFill>
                <a:latin typeface="微软雅黑" panose="020B0503020204020204" pitchFamily="34" charset="-122"/>
                <a:ea typeface="微软雅黑" panose="020B0503020204020204" pitchFamily="34" charset="-122"/>
              </a:rPr>
              <a:t>《</a:t>
            </a:r>
            <a:r>
              <a:rPr lang="zh-CN" altLang="en-US" b="1" smtClean="0">
                <a:solidFill>
                  <a:srgbClr val="C00000"/>
                </a:solidFill>
                <a:latin typeface="微软雅黑" panose="020B0503020204020204" pitchFamily="34" charset="-122"/>
                <a:ea typeface="微软雅黑" panose="020B0503020204020204" pitchFamily="34" charset="-122"/>
              </a:rPr>
              <a:t>创客训练营</a:t>
            </a:r>
            <a:r>
              <a:rPr lang="en-US" altLang="zh-CN" b="1" smtClean="0">
                <a:solidFill>
                  <a:srgbClr val="C00000"/>
                </a:solidFill>
                <a:latin typeface="微软雅黑" panose="020B0503020204020204" pitchFamily="34" charset="-122"/>
                <a:ea typeface="微软雅黑" panose="020B0503020204020204" pitchFamily="34" charset="-122"/>
              </a:rPr>
              <a:t>》</a:t>
            </a:r>
            <a:r>
              <a:rPr lang="zh-CN" altLang="en-US" b="1" smtClean="0">
                <a:solidFill>
                  <a:srgbClr val="C00000"/>
                </a:solidFill>
                <a:latin typeface="微软雅黑" panose="020B0503020204020204" pitchFamily="34" charset="-122"/>
                <a:ea typeface="微软雅黑" panose="020B0503020204020204" pitchFamily="34" charset="-122"/>
              </a:rPr>
              <a:t>课</a:t>
            </a:r>
            <a:r>
              <a:rPr lang="zh-CN" altLang="en-US" b="1" dirty="0" smtClean="0">
                <a:solidFill>
                  <a:srgbClr val="C00000"/>
                </a:solidFill>
                <a:latin typeface="微软雅黑" panose="020B0503020204020204" pitchFamily="34" charset="-122"/>
                <a:ea typeface="微软雅黑" panose="020B0503020204020204" pitchFamily="34" charset="-122"/>
              </a:rPr>
              <a:t>堂，请</a:t>
            </a:r>
            <a:r>
              <a:rPr lang="zh-CN" altLang="en-US" b="1" smtClean="0">
                <a:solidFill>
                  <a:srgbClr val="C00000"/>
                </a:solidFill>
                <a:latin typeface="微软雅黑" panose="020B0503020204020204" pitchFamily="34" charset="-122"/>
                <a:ea typeface="微软雅黑" panose="020B0503020204020204" pitchFamily="34" charset="-122"/>
              </a:rPr>
              <a:t>同学们按分组信息</a:t>
            </a:r>
            <a:r>
              <a:rPr lang="zh-CN" altLang="en-US" b="1" dirty="0" smtClean="0">
                <a:solidFill>
                  <a:srgbClr val="C00000"/>
                </a:solidFill>
                <a:latin typeface="微软雅黑" panose="020B0503020204020204" pitchFamily="34" charset="-122"/>
                <a:ea typeface="微软雅黑" panose="020B0503020204020204" pitchFamily="34" charset="-122"/>
              </a:rPr>
              <a:t>组入座！</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8" name="矩形 17"/>
          <p:cNvSpPr/>
          <p:nvPr/>
        </p:nvSpPr>
        <p:spPr>
          <a:xfrm>
            <a:off x="467544" y="1101973"/>
            <a:ext cx="7848872" cy="446276"/>
          </a:xfrm>
          <a:prstGeom prst="rect">
            <a:avLst/>
          </a:prstGeom>
          <a:solidFill>
            <a:srgbClr val="0070C0"/>
          </a:solidFill>
        </p:spPr>
        <p:txBody>
          <a:bodyPr wrap="square">
            <a:spAutoFit/>
          </a:bodyPr>
          <a:lstStyle/>
          <a:p>
            <a:pPr algn="ctr"/>
            <a:r>
              <a:rPr lang="zh-CN" altLang="en-US" sz="2300" b="1" smtClean="0">
                <a:solidFill>
                  <a:schemeClr val="bg1"/>
                </a:solidFill>
                <a:latin typeface="微软雅黑" panose="020B0503020204020204" pitchFamily="34" charset="-122"/>
                <a:ea typeface="微软雅黑" panose="020B0503020204020204" pitchFamily="34" charset="-122"/>
              </a:rPr>
              <a:t>创客</a:t>
            </a:r>
            <a:r>
              <a:rPr lang="en-US" altLang="zh-CN" sz="2300" b="1" smtClean="0">
                <a:solidFill>
                  <a:schemeClr val="bg1"/>
                </a:solidFill>
                <a:latin typeface="微软雅黑" panose="020B0503020204020204" pitchFamily="34" charset="-122"/>
                <a:ea typeface="微软雅黑" panose="020B0503020204020204" pitchFamily="34" charset="-122"/>
              </a:rPr>
              <a:t>2601</a:t>
            </a:r>
            <a:r>
              <a:rPr lang="zh-CN" altLang="zh-CN" sz="2300" b="1" smtClean="0">
                <a:solidFill>
                  <a:schemeClr val="bg1"/>
                </a:solidFill>
                <a:latin typeface="微软雅黑" panose="020B0503020204020204" pitchFamily="34" charset="-122"/>
                <a:ea typeface="微软雅黑" panose="020B0503020204020204" pitchFamily="34" charset="-122"/>
              </a:rPr>
              <a:t>班</a:t>
            </a:r>
            <a:r>
              <a:rPr lang="zh-CN" altLang="en-US" sz="2300" b="1" smtClean="0">
                <a:solidFill>
                  <a:schemeClr val="bg1"/>
                </a:solidFill>
                <a:latin typeface="微软雅黑" panose="020B0503020204020204" pitchFamily="34" charset="-122"/>
                <a:ea typeface="微软雅黑" panose="020B0503020204020204" pitchFamily="34" charset="-122"/>
              </a:rPr>
              <a:t>“创客训练营”</a:t>
            </a:r>
            <a:r>
              <a:rPr lang="zh-CN" altLang="zh-CN" sz="2300" b="1" smtClean="0">
                <a:solidFill>
                  <a:schemeClr val="bg1"/>
                </a:solidFill>
                <a:latin typeface="微软雅黑" panose="020B0503020204020204" pitchFamily="34" charset="-122"/>
                <a:ea typeface="微软雅黑" panose="020B0503020204020204" pitchFamily="34" charset="-122"/>
              </a:rPr>
              <a:t>课</a:t>
            </a:r>
            <a:r>
              <a:rPr lang="zh-CN" altLang="zh-CN" sz="2300" b="1" dirty="0">
                <a:solidFill>
                  <a:schemeClr val="bg1"/>
                </a:solidFill>
                <a:latin typeface="微软雅黑" panose="020B0503020204020204" pitchFamily="34" charset="-122"/>
                <a:ea typeface="微软雅黑" panose="020B0503020204020204" pitchFamily="34" charset="-122"/>
              </a:rPr>
              <a:t>程分组</a:t>
            </a:r>
            <a:r>
              <a:rPr lang="zh-CN" altLang="zh-CN" sz="2300" b="1" dirty="0" smtClean="0">
                <a:solidFill>
                  <a:schemeClr val="bg1"/>
                </a:solidFill>
                <a:latin typeface="微软雅黑" panose="020B0503020204020204" pitchFamily="34" charset="-122"/>
                <a:ea typeface="微软雅黑" panose="020B0503020204020204" pitchFamily="34" charset="-122"/>
              </a:rPr>
              <a:t>信息</a:t>
            </a:r>
            <a:endParaRPr lang="zh-CN" altLang="en-US" sz="2300" b="1" dirty="0">
              <a:solidFill>
                <a:srgbClr val="FFFF00"/>
              </a:solidFill>
              <a:latin typeface="微软雅黑" panose="020B0503020204020204" pitchFamily="34" charset="-122"/>
              <a:ea typeface="微软雅黑" panose="020B0503020204020204" pitchFamily="34" charset="-122"/>
            </a:endParaRPr>
          </a:p>
        </p:txBody>
      </p:sp>
      <p:sp>
        <p:nvSpPr>
          <p:cNvPr id="19" name="矩形 18"/>
          <p:cNvSpPr/>
          <p:nvPr/>
        </p:nvSpPr>
        <p:spPr>
          <a:xfrm>
            <a:off x="943057" y="1"/>
            <a:ext cx="4349026" cy="743976"/>
          </a:xfrm>
          <a:prstGeom prst="rect">
            <a:avLst/>
          </a:prstGeom>
          <a:solidFill>
            <a:srgbClr val="0070C0"/>
          </a:solidFill>
        </p:spPr>
        <p:txBody>
          <a:bodyPr wrap="square" lIns="91430" tIns="45715" rIns="91430" bIns="45715">
            <a:spAutoFit/>
          </a:bodyPr>
          <a:lstStyle/>
          <a:p>
            <a:pPr>
              <a:lnSpc>
                <a:spcPct val="150000"/>
              </a:lnSpc>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获得灵感</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让它发生</a:t>
            </a:r>
          </a:p>
        </p:txBody>
      </p:sp>
      <p:pic>
        <p:nvPicPr>
          <p:cNvPr id="2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44" r="13200" b="14934"/>
          <a:stretch>
            <a:fillRect/>
          </a:stretch>
        </p:blipFill>
        <p:spPr bwMode="auto">
          <a:xfrm>
            <a:off x="2706" y="3118"/>
            <a:ext cx="940351" cy="740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2" name="表格 21"/>
          <p:cNvGraphicFramePr>
            <a:graphicFrameLocks noGrp="1"/>
          </p:cNvGraphicFramePr>
          <p:nvPr>
            <p:extLst/>
          </p:nvPr>
        </p:nvGraphicFramePr>
        <p:xfrm>
          <a:off x="179512" y="2430374"/>
          <a:ext cx="1731951" cy="1874142"/>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55589">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韩俊彦</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李孝贤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李往泽</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83845">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贾奥然</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姜彧喆</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杨清威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4" name="表格 23"/>
          <p:cNvGraphicFramePr>
            <a:graphicFrameLocks noGrp="1"/>
          </p:cNvGraphicFramePr>
          <p:nvPr>
            <p:extLst/>
          </p:nvPr>
        </p:nvGraphicFramePr>
        <p:xfrm>
          <a:off x="1983470" y="2415516"/>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李希冰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郑宇洁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齐高雅</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肖佳彤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陈红旭</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   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5" name="表格 24"/>
          <p:cNvGraphicFramePr>
            <a:graphicFrameLocks noGrp="1"/>
          </p:cNvGraphicFramePr>
          <p:nvPr>
            <p:extLst/>
          </p:nvPr>
        </p:nvGraphicFramePr>
        <p:xfrm>
          <a:off x="3783670" y="2430374"/>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邵子中</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姜亚楷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李昊桐</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苏相龙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曹梓誉</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邵晨晨</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6" name="表格 25"/>
          <p:cNvGraphicFramePr>
            <a:graphicFrameLocks noGrp="1"/>
          </p:cNvGraphicFramePr>
          <p:nvPr>
            <p:extLst/>
          </p:nvPr>
        </p:nvGraphicFramePr>
        <p:xfrm>
          <a:off x="5583870" y="2415516"/>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张一帆</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张丽文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付智阳</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胡紫晨</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李佳曙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李鹏程</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7" name="表格 26"/>
          <p:cNvGraphicFramePr>
            <a:graphicFrameLocks noGrp="1"/>
          </p:cNvGraphicFramePr>
          <p:nvPr>
            <p:extLst/>
          </p:nvPr>
        </p:nvGraphicFramePr>
        <p:xfrm>
          <a:off x="7384070" y="2430374"/>
          <a:ext cx="1724434" cy="1590297"/>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徐禛种</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高佳玥</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陈宇辰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施建宇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赵伯兴</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bl>
          </a:graphicData>
        </a:graphic>
      </p:graphicFrame>
    </p:spTree>
    <p:extLst>
      <p:ext uri="{BB962C8B-B14F-4D97-AF65-F5344CB8AC3E}">
        <p14:creationId xmlns:p14="http://schemas.microsoft.com/office/powerpoint/2010/main" val="1609669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7236296"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en-US" altLang="zh-CN" sz="2800" b="1">
                <a:solidFill>
                  <a:prstClr val="white"/>
                </a:solidFill>
                <a:latin typeface="微软雅黑" panose="020B0503020204020204" pitchFamily="34" charset="-122"/>
                <a:ea typeface="微软雅黑" panose="020B0503020204020204" pitchFamily="34" charset="-122"/>
              </a:rPr>
              <a:t>0</a:t>
            </a:r>
            <a:r>
              <a:rPr lang="zh-CN" altLang="en-US" sz="2800" b="1">
                <a:solidFill>
                  <a:prstClr val="white"/>
                </a:solidFill>
                <a:latin typeface="微软雅黑" panose="020B0503020204020204" pitchFamily="34" charset="-122"/>
                <a:ea typeface="微软雅黑" panose="020B0503020204020204" pitchFamily="34" charset="-122"/>
              </a:rPr>
              <a:t>、</a:t>
            </a:r>
            <a:r>
              <a:rPr lang="zh-CN" altLang="en-US" sz="2800" b="1" smtClean="0">
                <a:solidFill>
                  <a:schemeClr val="bg1"/>
                </a:solidFill>
                <a:latin typeface="宋体" panose="02010600030101010101" pitchFamily="2" charset="-122"/>
              </a:rPr>
              <a:t>“</a:t>
            </a:r>
            <a:r>
              <a:rPr lang="zh-CN" altLang="en-US" sz="2800" b="1" smtClean="0">
                <a:solidFill>
                  <a:schemeClr val="bg1"/>
                </a:solidFill>
                <a:latin typeface="微软雅黑" panose="020B0503020204020204" pitchFamily="34" charset="-122"/>
                <a:ea typeface="微软雅黑" panose="020B0503020204020204" pitchFamily="34" charset="-122"/>
              </a:rPr>
              <a:t>设计思维工</a:t>
            </a:r>
            <a:r>
              <a:rPr lang="zh-CN" altLang="en-US" sz="2800" b="1">
                <a:solidFill>
                  <a:schemeClr val="bg1"/>
                </a:solidFill>
                <a:latin typeface="微软雅黑" panose="020B0503020204020204" pitchFamily="34" charset="-122"/>
                <a:ea typeface="微软雅黑" panose="020B0503020204020204" pitchFamily="34" charset="-122"/>
              </a:rPr>
              <a:t>作坊</a:t>
            </a:r>
            <a:r>
              <a:rPr lang="zh-CN" altLang="en-US" sz="2800" b="1">
                <a:solidFill>
                  <a:schemeClr val="bg1"/>
                </a:solidFill>
                <a:latin typeface="宋体" panose="02010600030101010101" pitchFamily="2" charset="-122"/>
              </a:rPr>
              <a:t>”</a:t>
            </a:r>
            <a:r>
              <a:rPr lang="zh-CN" altLang="en-US" sz="2800" b="1">
                <a:solidFill>
                  <a:schemeClr val="bg1"/>
                </a:solidFill>
                <a:latin typeface="微软雅黑" panose="020B0503020204020204" pitchFamily="34" charset="-122"/>
                <a:ea typeface="微软雅黑" panose="020B0503020204020204" pitchFamily="34" charset="-122"/>
              </a:rPr>
              <a:t>学习反思成果</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86066548"/>
      </p:ext>
    </p:extLst>
  </p:cSld>
  <p:clrMapOvr>
    <a:masterClrMapping/>
  </p:clrMapOvr>
  <p:transition advTm="31939">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1487929"/>
            <a:ext cx="9053195" cy="1371853"/>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3600" b="1">
                <a:solidFill>
                  <a:srgbClr val="0070C0"/>
                </a:solidFill>
                <a:latin typeface="微软雅黑" panose="020B0503020204020204" pitchFamily="34" charset="-122"/>
                <a:ea typeface="微软雅黑" panose="020B0503020204020204" pitchFamily="34" charset="-122"/>
              </a:rPr>
              <a:t>创</a:t>
            </a:r>
            <a:r>
              <a:rPr lang="zh-CN" altLang="en-US" sz="3600" b="1" dirty="0">
                <a:solidFill>
                  <a:srgbClr val="0070C0"/>
                </a:solidFill>
                <a:latin typeface="微软雅黑" panose="020B0503020204020204" pitchFamily="34" charset="-122"/>
                <a:ea typeface="微软雅黑" panose="020B0503020204020204" pitchFamily="34" charset="-122"/>
              </a:rPr>
              <a:t>客训</a:t>
            </a:r>
            <a:r>
              <a:rPr lang="zh-CN" altLang="en-US" sz="3600" b="1">
                <a:solidFill>
                  <a:srgbClr val="0070C0"/>
                </a:solidFill>
                <a:latin typeface="微软雅黑" panose="020B0503020204020204" pitchFamily="34" charset="-122"/>
                <a:ea typeface="微软雅黑" panose="020B0503020204020204" pitchFamily="34" charset="-122"/>
              </a:rPr>
              <a:t>练营</a:t>
            </a:r>
            <a:endParaRPr lang="en-US" altLang="zh-CN" sz="3600" b="1" dirty="0">
              <a:solidFill>
                <a:srgbClr val="0070C0"/>
              </a:solidFill>
              <a:latin typeface="微软雅黑" panose="020B0503020204020204" pitchFamily="34" charset="-122"/>
              <a:ea typeface="微软雅黑" panose="020B0503020204020204" pitchFamily="34" charset="-122"/>
            </a:endParaRPr>
          </a:p>
          <a:p>
            <a:pPr>
              <a:lnSpc>
                <a:spcPct val="120000"/>
              </a:lnSpc>
            </a:pPr>
            <a:r>
              <a:rPr lang="en-US" altLang="zh-CN" sz="3600" b="1" dirty="0">
                <a:solidFill>
                  <a:srgbClr val="0070C0"/>
                </a:solidFill>
                <a:latin typeface="微软雅黑" panose="020B0503020204020204" pitchFamily="34" charset="-122"/>
                <a:ea typeface="微软雅黑" panose="020B0503020204020204" pitchFamily="34" charset="-122"/>
              </a:rPr>
              <a:t>                        ——</a:t>
            </a:r>
            <a:r>
              <a:rPr lang="zh-CN" altLang="en-US" sz="3600" b="1" dirty="0">
                <a:solidFill>
                  <a:srgbClr val="0070C0"/>
                </a:solidFill>
                <a:latin typeface="微软雅黑" panose="020B0503020204020204" pitchFamily="34" charset="-122"/>
                <a:ea typeface="微软雅黑" panose="020B0503020204020204" pitchFamily="34" charset="-122"/>
              </a:rPr>
              <a:t>创新方法工作坊</a:t>
            </a:r>
          </a:p>
        </p:txBody>
      </p:sp>
      <p:sp>
        <p:nvSpPr>
          <p:cNvPr id="6" name="标题 1"/>
          <p:cNvSpPr txBox="1"/>
          <p:nvPr/>
        </p:nvSpPr>
        <p:spPr>
          <a:xfrm>
            <a:off x="406078" y="3291830"/>
            <a:ext cx="8352928" cy="1728192"/>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2800" b="1" dirty="0">
                <a:solidFill>
                  <a:schemeClr val="tx2"/>
                </a:solidFill>
                <a:latin typeface="微软雅黑" panose="020B0503020204020204" pitchFamily="34" charset="-122"/>
                <a:ea typeface="微软雅黑" panose="020B0503020204020204" pitchFamily="34" charset="-122"/>
              </a:rPr>
              <a:t>尹  仕</a:t>
            </a:r>
            <a:r>
              <a:rPr lang="en-US" altLang="zh-CN" sz="2800" b="1" dirty="0">
                <a:solidFill>
                  <a:schemeClr val="tx2"/>
                </a:solidFill>
                <a:latin typeface="微软雅黑" panose="020B0503020204020204" pitchFamily="34" charset="-122"/>
                <a:ea typeface="微软雅黑" panose="020B0503020204020204" pitchFamily="34" charset="-122"/>
              </a:rPr>
              <a:t/>
            </a:r>
            <a:br>
              <a:rPr lang="en-US" altLang="zh-CN" sz="2800" b="1" dirty="0">
                <a:solidFill>
                  <a:schemeClr val="tx2"/>
                </a:solidFill>
                <a:latin typeface="微软雅黑" panose="020B0503020204020204" pitchFamily="34" charset="-122"/>
                <a:ea typeface="微软雅黑" panose="020B0503020204020204" pitchFamily="34" charset="-122"/>
              </a:rPr>
            </a:br>
            <a:r>
              <a:rPr lang="zh-CN" altLang="en-US" sz="2800" b="1" dirty="0">
                <a:solidFill>
                  <a:schemeClr val="tx2"/>
                </a:solidFill>
                <a:latin typeface="微软雅黑" panose="020B0503020204020204" pitchFamily="34" charset="-122"/>
                <a:ea typeface="微软雅黑" panose="020B0503020204020204" pitchFamily="34" charset="-122"/>
              </a:rPr>
              <a:t>电气与电子工程学院实验教学中心</a:t>
            </a:r>
            <a:r>
              <a:rPr lang="en-US" altLang="zh-CN" sz="2800" b="1">
                <a:solidFill>
                  <a:schemeClr val="tx2"/>
                </a:solidFill>
                <a:latin typeface="微软雅黑" panose="020B0503020204020204" pitchFamily="34" charset="-122"/>
                <a:ea typeface="微软雅黑" panose="020B0503020204020204" pitchFamily="34" charset="-122"/>
              </a:rPr>
              <a:t/>
            </a:r>
            <a:br>
              <a:rPr lang="en-US" altLang="zh-CN" sz="2800" b="1">
                <a:solidFill>
                  <a:schemeClr val="tx2"/>
                </a:solidFill>
                <a:latin typeface="微软雅黑" panose="020B0503020204020204" pitchFamily="34" charset="-122"/>
                <a:ea typeface="微软雅黑" panose="020B0503020204020204" pitchFamily="34" charset="-122"/>
              </a:rPr>
            </a:br>
            <a:r>
              <a:rPr lang="en-US" altLang="zh-CN" sz="2800" b="1" smtClean="0">
                <a:solidFill>
                  <a:schemeClr val="tx2"/>
                </a:solidFill>
                <a:latin typeface="微软雅黑" panose="020B0503020204020204" pitchFamily="34" charset="-122"/>
                <a:ea typeface="微软雅黑" panose="020B0503020204020204" pitchFamily="34" charset="-122"/>
              </a:rPr>
              <a:t>2026</a:t>
            </a:r>
            <a:r>
              <a:rPr lang="zh-CN" altLang="en-US" sz="2800" b="1" smtClean="0">
                <a:solidFill>
                  <a:schemeClr val="tx2"/>
                </a:solidFill>
                <a:latin typeface="微软雅黑" panose="020B0503020204020204" pitchFamily="34" charset="-122"/>
                <a:ea typeface="微软雅黑" panose="020B0503020204020204" pitchFamily="34" charset="-122"/>
              </a:rPr>
              <a:t>年</a:t>
            </a:r>
            <a:r>
              <a:rPr lang="en-US" altLang="zh-CN" sz="2800" b="1" smtClean="0">
                <a:solidFill>
                  <a:schemeClr val="tx2"/>
                </a:solidFill>
                <a:latin typeface="微软雅黑" panose="020B0503020204020204" pitchFamily="34" charset="-122"/>
                <a:ea typeface="微软雅黑" panose="020B0503020204020204" pitchFamily="34" charset="-122"/>
              </a:rPr>
              <a:t>08</a:t>
            </a:r>
            <a:r>
              <a:rPr lang="zh-CN" altLang="en-US" sz="2800" b="1" smtClean="0">
                <a:solidFill>
                  <a:schemeClr val="tx2"/>
                </a:solidFill>
                <a:latin typeface="微软雅黑" panose="020B0503020204020204" pitchFamily="34" charset="-122"/>
                <a:ea typeface="微软雅黑" panose="020B0503020204020204" pitchFamily="34" charset="-122"/>
              </a:rPr>
              <a:t>月</a:t>
            </a:r>
            <a:r>
              <a:rPr lang="en-US" altLang="zh-CN" sz="2800" b="1" smtClean="0">
                <a:solidFill>
                  <a:schemeClr val="tx2"/>
                </a:solidFill>
                <a:latin typeface="微软雅黑" panose="020B0503020204020204" pitchFamily="34" charset="-122"/>
                <a:ea typeface="微软雅黑" panose="020B0503020204020204" pitchFamily="34" charset="-122"/>
              </a:rPr>
              <a:t>24</a:t>
            </a:r>
            <a:r>
              <a:rPr lang="zh-CN" altLang="en-US" sz="2800" b="1" smtClean="0">
                <a:solidFill>
                  <a:schemeClr val="tx2"/>
                </a:solidFill>
                <a:latin typeface="微软雅黑" panose="020B0503020204020204" pitchFamily="34" charset="-122"/>
                <a:ea typeface="微软雅黑" panose="020B0503020204020204" pitchFamily="34" charset="-122"/>
              </a:rPr>
              <a:t>日</a:t>
            </a:r>
            <a:endParaRPr lang="zh-CN" altLang="en-US" sz="2800" b="1" dirty="0">
              <a:solidFill>
                <a:schemeClr val="tx2"/>
              </a:solidFill>
              <a:latin typeface="微软雅黑" panose="020B0503020204020204" pitchFamily="34" charset="-122"/>
              <a:ea typeface="微软雅黑" panose="020B0503020204020204" pitchFamily="34" charset="-122"/>
            </a:endParaRPr>
          </a:p>
        </p:txBody>
      </p:sp>
      <p:sp>
        <p:nvSpPr>
          <p:cNvPr id="7" name="矩形 6"/>
          <p:cNvSpPr/>
          <p:nvPr/>
        </p:nvSpPr>
        <p:spPr>
          <a:xfrm>
            <a:off x="943057" y="1"/>
            <a:ext cx="4349026" cy="743976"/>
          </a:xfrm>
          <a:prstGeom prst="rect">
            <a:avLst/>
          </a:prstGeom>
          <a:solidFill>
            <a:srgbClr val="0070C0"/>
          </a:solidFill>
        </p:spPr>
        <p:txBody>
          <a:bodyPr wrap="square" lIns="91430" tIns="45715" rIns="91430" bIns="45715">
            <a:spAutoFit/>
          </a:bodyPr>
          <a:lstStyle/>
          <a:p>
            <a:pPr>
              <a:lnSpc>
                <a:spcPct val="150000"/>
              </a:lnSpc>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获得灵感</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让它发生</a:t>
            </a:r>
          </a:p>
        </p:txBody>
      </p:sp>
      <p:pic>
        <p:nvPicPr>
          <p:cNvPr id="9"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944" r="13200" b="14934"/>
          <a:stretch>
            <a:fillRect/>
          </a:stretch>
        </p:blipFill>
        <p:spPr bwMode="auto">
          <a:xfrm>
            <a:off x="2706" y="0"/>
            <a:ext cx="944308" cy="743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0"/>
            <a:ext cx="9144000" cy="89414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zh-CN" altLang="en-US" sz="3200" b="1" dirty="0">
                <a:solidFill>
                  <a:schemeClr val="accent1"/>
                </a:solidFill>
                <a:latin typeface="微软雅黑" panose="020B0503020204020204" pitchFamily="34" charset="-122"/>
                <a:ea typeface="微软雅黑" panose="020B0503020204020204" pitchFamily="34" charset="-122"/>
              </a:rPr>
              <a:t>目  录</a:t>
            </a:r>
            <a:endParaRPr lang="zh-CN" altLang="en-US" sz="3200" dirty="0">
              <a:latin typeface="+mn-ea"/>
            </a:endParaRPr>
          </a:p>
        </p:txBody>
      </p:sp>
      <p:sp>
        <p:nvSpPr>
          <p:cNvPr id="6" name="标题 1"/>
          <p:cNvSpPr>
            <a:spLocks noGrp="1"/>
          </p:cNvSpPr>
          <p:nvPr>
            <p:ph type="ctrTitle"/>
          </p:nvPr>
        </p:nvSpPr>
        <p:spPr>
          <a:xfrm>
            <a:off x="1547664" y="1752008"/>
            <a:ext cx="3024336" cy="2304256"/>
          </a:xfrm>
          <a:ln w="25400">
            <a:noFill/>
          </a:ln>
        </p:spPr>
        <p:txBody>
          <a:bodyPr/>
          <a:lstStyle/>
          <a:p>
            <a:pPr marL="179705" algn="l">
              <a:lnSpc>
                <a:spcPct val="120000"/>
              </a:lnSpc>
              <a:spcBef>
                <a:spcPts val="600"/>
              </a:spcBef>
            </a:pPr>
            <a:r>
              <a:rPr lang="zh-CN" altLang="en-US" sz="2400" b="1">
                <a:solidFill>
                  <a:srgbClr val="0070C0"/>
                </a:solidFill>
                <a:latin typeface="微软雅黑" panose="020B0503020204020204" pitchFamily="34" charset="-122"/>
                <a:ea typeface="微软雅黑" panose="020B0503020204020204" pitchFamily="34" charset="-122"/>
              </a:rPr>
              <a:t>一、教育教学情境</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二、教育教学目标</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三、教育教学评价</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四、教育教学活动</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五、教育教学组织</a:t>
            </a:r>
            <a:endParaRPr lang="zh-CN" altLang="en-US" sz="2400" dirty="0">
              <a:solidFill>
                <a:srgbClr val="0070C0"/>
              </a:solidFill>
              <a:latin typeface="微软雅黑" panose="020B0503020204020204" pitchFamily="34" charset="-122"/>
              <a:ea typeface="微软雅黑" panose="020B0503020204020204" pitchFamily="34" charset="-122"/>
            </a:endParaRPr>
          </a:p>
        </p:txBody>
      </p:sp>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1599" y="1752008"/>
            <a:ext cx="2794212"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599" y="1165527"/>
            <a:ext cx="6192689"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1</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创新方法工作坊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设置的情境</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971599" y="1779662"/>
            <a:ext cx="6984777" cy="2566857"/>
          </a:xfrm>
          <a:prstGeom prst="rect">
            <a:avLst/>
          </a:prstGeom>
        </p:spPr>
        <p:txBody>
          <a:bodyPr wrap="square">
            <a:spAutoFit/>
          </a:bodyPr>
          <a:lstStyle/>
          <a:p>
            <a:pPr>
              <a:lnSpc>
                <a:spcPct val="120000"/>
              </a:lnSpc>
              <a:spcBef>
                <a:spcPts val="600"/>
              </a:spcBef>
            </a:pPr>
            <a:r>
              <a:rPr lang="en-US" altLang="zh-CN" sz="14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创新方法工作坊</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是</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创客训练营</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课程的</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第四个</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教学单元。学生有了选题方向，却不知如何让它更好</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方案已定但改进</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靠</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灵光一现</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，团队讨论各有偏好却缺乏决策框架，创意是否值得做也心里没底。本单元的</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核心任务</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，是让学生在</a:t>
            </a:r>
            <a:r>
              <a:rPr lang="en-US" altLang="zh-CN" sz="1400">
                <a:latin typeface="Times New Roman" panose="02020603050405020304" pitchFamily="18" charset="0"/>
                <a:ea typeface="仿宋" panose="02010609060101010101" pitchFamily="49" charset="-122"/>
                <a:cs typeface="Times New Roman" panose="02020603050405020304" pitchFamily="18" charset="0"/>
              </a:rPr>
              <a:t>145</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分钟的课堂演练中，经历</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从</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头脑风暴</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（打开思路、生成足够多的创意方向）、</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（对选定方案进行多维度系统化改造）、</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六顶思考帽</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（并行评估方案的优劣与风险，形成团队决策）、</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到</a:t>
            </a:r>
            <a:r>
              <a:rPr lang="en-US" altLang="zh-CN" sz="14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（将方案转化为可执行的具体计划）</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的完整创新链条，使方案优化从</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凭感觉</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变为</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有方法</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70403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599" y="1165527"/>
            <a:ext cx="6192689"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1</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创新方法工作坊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设置的情境</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971599" y="1779662"/>
            <a:ext cx="7272809" cy="3200876"/>
          </a:xfrm>
          <a:prstGeom prst="rect">
            <a:avLst/>
          </a:prstGeom>
        </p:spPr>
        <p:txBody>
          <a:bodyPr wrap="square">
            <a:spAutoFit/>
          </a:bodyPr>
          <a:lstStyle/>
          <a:p>
            <a:pPr>
              <a:lnSpc>
                <a:spcPct val="120000"/>
              </a:lnSpc>
              <a:spcBef>
                <a:spcPts val="600"/>
              </a:spcBef>
            </a:pPr>
            <a:r>
              <a:rPr lang="zh-CN" altLang="zh-CN" sz="1400">
                <a:latin typeface="Times New Roman" panose="02020603050405020304" pitchFamily="18" charset="0"/>
                <a:ea typeface="仿宋" panose="02010609060101010101" pitchFamily="49" charset="-122"/>
                <a:cs typeface="Times New Roman" panose="02020603050405020304" pitchFamily="18" charset="0"/>
              </a:rPr>
              <a:t>创新方法的</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有效性</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可从认知心理学的两个核心理论获得支撑：思维定势与认知负荷理论。</a:t>
            </a:r>
          </a:p>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思维定势（</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Mental Set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指人们在长期经验中形成的</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固定化</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思考模式。其本质是大脑为</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降低</a:t>
            </a:r>
            <a:r>
              <a:rPr lang="zh-CN" altLang="zh-CN" sz="1400">
                <a:latin typeface="Times New Roman" panose="02020603050405020304" pitchFamily="18" charset="0"/>
                <a:ea typeface="仿宋" panose="02010609060101010101" pitchFamily="49" charset="-122"/>
                <a:cs typeface="Times New Roman" panose="02020603050405020304" pitchFamily="18" charset="0"/>
              </a:rPr>
              <a:t>认知成本而形成的</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思维捷径</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优先</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调用</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已有经验中</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曾经有效</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的解决方案，而非</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重新</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思考问题本身。这一机制在日常决策中</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提高</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了效率，却在创新情境中构成根本性</a:t>
            </a:r>
            <a:r>
              <a:rPr lang="zh-CN" altLang="zh-CN" sz="1400">
                <a:latin typeface="Times New Roman" panose="02020603050405020304" pitchFamily="18" charset="0"/>
                <a:ea typeface="仿宋" panose="02010609060101010101" pitchFamily="49" charset="-122"/>
                <a:cs typeface="Times New Roman" panose="02020603050405020304" pitchFamily="18" charset="0"/>
              </a:rPr>
              <a:t>障</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碍。创</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新方法工具的设计正是为了</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打破</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思维定</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势</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认知负荷理论（</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Cognitive Load Theory</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zh-CN" sz="1400">
                <a:latin typeface="Times New Roman" panose="02020603050405020304" pitchFamily="18" charset="0"/>
                <a:ea typeface="仿宋" panose="02010609060101010101" pitchFamily="49" charset="-122"/>
                <a:cs typeface="Times New Roman" panose="02020603050405020304" pitchFamily="18" charset="0"/>
              </a:rPr>
              <a:t>认为，</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工作记忆</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的容量是有限的。当理解问题、构想方案、评估可行性等多项认知任务同时</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涌向</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工作记忆时，有限的处理能力不足以</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支撑</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创造性的深度思</a:t>
            </a:r>
            <a:r>
              <a:rPr lang="zh-CN" altLang="zh-CN" sz="1400">
                <a:latin typeface="Times New Roman" panose="02020603050405020304" pitchFamily="18" charset="0"/>
                <a:ea typeface="仿宋" panose="02010609060101010101" pitchFamily="49" charset="-122"/>
                <a:cs typeface="Times New Roman" panose="02020603050405020304" pitchFamily="18" charset="0"/>
              </a:rPr>
              <a:t>考</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。创</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新方法工具的核心功能之一是</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降低</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工作记忆的认知负荷。</a:t>
            </a: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62025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599" y="1165527"/>
            <a:ext cx="6192689"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1</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创新方法工作坊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设置的情境</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539552" y="1779662"/>
            <a:ext cx="4360642" cy="3119703"/>
          </a:xfrm>
          <a:prstGeom prst="rect">
            <a:avLst/>
          </a:prstGeom>
        </p:spPr>
      </p:pic>
      <p:sp>
        <p:nvSpPr>
          <p:cNvPr id="4" name="矩形 3"/>
          <p:cNvSpPr/>
          <p:nvPr/>
        </p:nvSpPr>
        <p:spPr>
          <a:xfrm>
            <a:off x="5076056" y="1682913"/>
            <a:ext cx="3600400" cy="3431709"/>
          </a:xfrm>
          <a:prstGeom prst="rect">
            <a:avLst/>
          </a:prstGeom>
        </p:spPr>
        <p:txBody>
          <a:bodyPr wrap="square">
            <a:spAutoFit/>
          </a:bodyPr>
          <a:lstStyle/>
          <a:p>
            <a:pPr>
              <a:spcBef>
                <a:spcPts val="6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信息加工路径</a:t>
            </a:r>
            <a:endParaRPr lang="zh-CN" altLang="en-US" sz="1200">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感觉注册（感知阶段）</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：信息进入记忆系统的第一道入口，仅被注意的信息才能继续传递。</a:t>
            </a:r>
          </a:p>
          <a:p>
            <a:pPr>
              <a:spcBef>
                <a:spcPts val="6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注意与短期记忆</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：被注意的信息进入短期记忆，其容量有限（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Miller</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定律：约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7±2</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个信息块），保持时间约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18-30</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秒。未经复述的信息将在此阶段丢失。</a:t>
            </a:r>
          </a:p>
          <a:p>
            <a:pPr>
              <a:spcBef>
                <a:spcPts val="6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复述与长期记忆</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：工作记忆处理后的信息通过复述进入长期记忆。长期记忆具有无限容量，以突触连接的形式存储。当工作记忆需要解决复杂问题时，它还会从长期记忆中提取已有知识和经验作为认知资源。</a:t>
            </a:r>
          </a:p>
          <a:p>
            <a:pPr>
              <a:spcBef>
                <a:spcPts val="6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工作记忆的定位</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：工作记忆（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Working Memory</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）以短期记忆的存储功能为基础，调用其信息执行理解、分析、比较、决策等思维操作。</a:t>
            </a:r>
          </a:p>
          <a:p>
            <a:pPr>
              <a:spcBef>
                <a:spcPts val="6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三者的关系</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：感觉信息→短期记忆（存储）→工作记忆（加工）↔长期记忆（存储与提取）</a:t>
            </a:r>
          </a:p>
        </p:txBody>
      </p:sp>
    </p:spTree>
    <p:extLst>
      <p:ext uri="{BB962C8B-B14F-4D97-AF65-F5344CB8AC3E}">
        <p14:creationId xmlns:p14="http://schemas.microsoft.com/office/powerpoint/2010/main" val="2841124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txBox="1"/>
          <p:nvPr/>
        </p:nvSpPr>
        <p:spPr>
          <a:xfrm>
            <a:off x="8388424" y="4840841"/>
            <a:ext cx="755576" cy="274637"/>
          </a:xfrm>
          <a:prstGeom prst="rect">
            <a:avLst/>
          </a:prstGeom>
        </p:spPr>
        <p:txBody>
          <a:bodyPr vert="horz" lIns="91440" tIns="45720" rIns="91440" bIns="45720" rtlCol="0" anchor="ctr"/>
          <a:lstStyle>
            <a:defPPr>
              <a:defRPr lang="zh-CN"/>
            </a:defPPr>
            <a:lvl1pPr marL="0" algn="r" defTabSz="914400" rtl="0" eaLnBrk="1" latinLnBrk="0" hangingPunct="1">
              <a:defRPr sz="16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924A35F3-45A5-4876-AFF4-C0AF36812E14}" type="slidenum">
              <a:rPr lang="zh-CN" altLang="en-US" sz="1400" smtClean="0">
                <a:latin typeface="微软雅黑" panose="020B0503020204020204" pitchFamily="34" charset="-122"/>
                <a:ea typeface="微软雅黑" panose="020B0503020204020204" pitchFamily="34" charset="-122"/>
              </a:rPr>
              <a:t>8</a:t>
            </a:fld>
            <a:endParaRPr lang="zh-CN" altLang="en-US" sz="1400" dirty="0"/>
          </a:p>
        </p:txBody>
      </p:sp>
      <p:sp>
        <p:nvSpPr>
          <p:cNvPr id="5" name="矩形 4"/>
          <p:cNvSpPr/>
          <p:nvPr/>
        </p:nvSpPr>
        <p:spPr>
          <a:xfrm>
            <a:off x="971598" y="2650690"/>
            <a:ext cx="6962272" cy="1135696"/>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特点：</a:t>
            </a:r>
          </a:p>
          <a:p>
            <a:pPr marL="180000" lvl="1" indent="-180000">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惯性思维</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：如认为“创业必须遵循线性计划”“创新等同于技术突破”。</a:t>
            </a:r>
          </a:p>
          <a:p>
            <a:pPr marL="180000" lvl="1" indent="-180000">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风险规避</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：倾向于选择已验证的路径，回避不确定性。</a:t>
            </a:r>
          </a:p>
          <a:p>
            <a:pPr marL="180000" lvl="1" indent="-180000">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认知盲区</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：忽视跨界融合或用户潜在需求。</a:t>
            </a:r>
          </a:p>
        </p:txBody>
      </p:sp>
      <p:sp>
        <p:nvSpPr>
          <p:cNvPr id="9" name="矩形 8"/>
          <p:cNvSpPr/>
          <p:nvPr/>
        </p:nvSpPr>
        <p:spPr>
          <a:xfrm>
            <a:off x="971598" y="3861493"/>
            <a:ext cx="7061958" cy="1135696"/>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破解：</a:t>
            </a:r>
          </a:p>
          <a:p>
            <a:pPr marL="180000" lvl="1" indent="-180000">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批判性质疑：</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通过“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 Why</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分析法”解构传统假设（如“顾客真的需要这个功能吗？”）。</a:t>
            </a:r>
          </a:p>
          <a:p>
            <a:pPr marL="180000" lvl="1" indent="-180000">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设计思维（</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Design Thinking</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以用户同理心推动需求重构，替代“技术导向”定势。</a:t>
            </a:r>
          </a:p>
          <a:p>
            <a:pPr marL="180000" lvl="1" indent="-180000">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反案例教学：</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分析失败案例中的定势陷阱（如诺基亚的“硬件优先”思维）。</a:t>
            </a: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71598" y="1707654"/>
            <a:ext cx="7204249" cy="867930"/>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思维定势</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Mental Set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）指人们在长期经验中形成的</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固定化思考模式</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，倾向于用</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熟悉</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的方法解决问题，而</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忽视</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新视角或创新路径。在创新创业教育中，它表现为对传统商业逻辑、学科</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框架</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或成功</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案例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依赖</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11" name="矩形 10"/>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71598" y="1658506"/>
            <a:ext cx="7560841" cy="1495794"/>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商业思维（</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Business Mindset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是一种以价值创造和交换为核心的认知方式，强调通过市场机制解决问题、满足需求并实现可持续增长。其核心逻辑包括：</a:t>
            </a:r>
          </a:p>
          <a:p>
            <a:pPr marL="180000" lvl="1" indent="-180000">
              <a:lnSpc>
                <a:spcPct val="120000"/>
              </a:lnSpc>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价值驱动：</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关注“</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用户需要什么</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”，而非“</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我能做什么</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nSpc>
                <a:spcPct val="120000"/>
              </a:lnSpc>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资源优化：</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以最小成本获取最大收益（如杠杆效应、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ROI</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思维）。</a:t>
            </a:r>
          </a:p>
          <a:p>
            <a:pPr marL="180000" lvl="1" indent="-180000">
              <a:lnSpc>
                <a:spcPct val="120000"/>
              </a:lnSpc>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市场导向</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：动态响应竞争、供需和外部环境变化。</a:t>
            </a:r>
          </a:p>
          <a:p>
            <a:pPr marL="180000" lvl="1" indent="-180000">
              <a:lnSpc>
                <a:spcPct val="120000"/>
              </a:lnSpc>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系统化视角</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：将产品、用户、渠道、财务等要素整合为可盈利的商业模式。</a:t>
            </a:r>
          </a:p>
        </p:txBody>
      </p:sp>
      <p:graphicFrame>
        <p:nvGraphicFramePr>
          <p:cNvPr id="7" name="表格 6"/>
          <p:cNvGraphicFramePr>
            <a:graphicFrameLocks noGrp="1"/>
          </p:cNvGraphicFramePr>
          <p:nvPr>
            <p:extLst>
              <p:ext uri="{D42A27DB-BD31-4B8C-83A1-F6EECF244321}">
                <p14:modId xmlns:p14="http://schemas.microsoft.com/office/powerpoint/2010/main" val="4030747765"/>
              </p:ext>
            </p:extLst>
          </p:nvPr>
        </p:nvGraphicFramePr>
        <p:xfrm>
          <a:off x="971600" y="3435846"/>
          <a:ext cx="4968552" cy="1680877"/>
        </p:xfrm>
        <a:graphic>
          <a:graphicData uri="http://schemas.openxmlformats.org/drawingml/2006/table">
            <a:tbl>
              <a:tblPr firstRow="1" firstCol="1" bandRow="1">
                <a:tableStyleId>{5C22544A-7EE6-4342-B048-85BDC9FD1C3A}</a:tableStyleId>
              </a:tblPr>
              <a:tblGrid>
                <a:gridCol w="747834">
                  <a:extLst>
                    <a:ext uri="{9D8B030D-6E8A-4147-A177-3AD203B41FA5}">
                      <a16:colId xmlns:a16="http://schemas.microsoft.com/office/drawing/2014/main" val="20000"/>
                    </a:ext>
                  </a:extLst>
                </a:gridCol>
                <a:gridCol w="1772446">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288032">
                <a:tc>
                  <a:txBody>
                    <a:bodyPr/>
                    <a:lstStyle/>
                    <a:p>
                      <a:pPr marL="0" algn="ctr" defTabSz="914400" rtl="0" eaLnBrk="1" latinLnBrk="0" hangingPunct="1">
                        <a:lnSpc>
                          <a:spcPts val="1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0" marR="95250" marT="95250" marB="95250" anchor="ctr"/>
                </a:tc>
                <a:tc>
                  <a:txBody>
                    <a:bodyPr/>
                    <a:lstStyle/>
                    <a:p>
                      <a:pPr marL="0" algn="ctr" defTabSz="914400" rtl="0" eaLnBrk="1" latinLnBrk="0" hangingPunct="1">
                        <a:lnSpc>
                          <a:spcPts val="1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关键问题</a:t>
                      </a:r>
                    </a:p>
                  </a:txBody>
                  <a:tcPr marL="95250" marR="95250" marT="95250" marB="95250" anchor="ctr"/>
                </a:tc>
                <a:tc>
                  <a:txBody>
                    <a:bodyPr/>
                    <a:lstStyle/>
                    <a:p>
                      <a:pPr marL="0" algn="ctr" defTabSz="914400" rtl="0" eaLnBrk="1" latinLnBrk="0" hangingPunct="1">
                        <a:lnSpc>
                          <a:spcPts val="1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方法示例</a:t>
                      </a:r>
                    </a:p>
                  </a:txBody>
                  <a:tcPr marL="95250" marR="95250" marT="95250" marB="95250" anchor="ctr"/>
                </a:tc>
                <a:extLst>
                  <a:ext uri="{0D108BD9-81ED-4DB2-BD59-A6C34878D82A}">
                    <a16:rowId xmlns:a16="http://schemas.microsoft.com/office/drawing/2014/main" val="10000"/>
                  </a:ext>
                </a:extLst>
              </a:tr>
              <a:tr h="274692">
                <a:tc>
                  <a:txBody>
                    <a:bodyPr/>
                    <a:lstStyle/>
                    <a:p>
                      <a:pPr marL="0" algn="ctr" defTabSz="914400" rtl="0" eaLnBrk="1" latinLnBrk="0" hangingPunct="1">
                        <a:lnSpc>
                          <a:spcPts val="1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用户需求</a:t>
                      </a:r>
                    </a:p>
                  </a:txBody>
                  <a:tcPr marL="0" marR="95250" marT="95250" marB="95250" anchor="ctr"/>
                </a:tc>
                <a:tc>
                  <a:txBody>
                    <a:bodyPr/>
                    <a:lstStyle/>
                    <a:p>
                      <a:pPr algn="l">
                        <a:lnSpc>
                          <a:spcPts val="1000"/>
                        </a:lnSpc>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谁买单？痛点是否真实？</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algn="l">
                        <a:lnSpc>
                          <a:spcPts val="1000"/>
                        </a:lnSpc>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用户画像、</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Jobs-to-be-Done</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理论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1"/>
                  </a:ext>
                </a:extLst>
              </a:tr>
              <a:tr h="219824">
                <a:tc>
                  <a:txBody>
                    <a:bodyPr/>
                    <a:lstStyle/>
                    <a:p>
                      <a:pPr marL="0" algn="ctr" defTabSz="914400" rtl="0" eaLnBrk="1" latinLnBrk="0" hangingPunct="1">
                        <a:lnSpc>
                          <a:spcPts val="1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价值主张</a:t>
                      </a:r>
                    </a:p>
                  </a:txBody>
                  <a:tcPr marL="0" marR="95250" marT="95250" marB="95250" anchor="ctr"/>
                </a:tc>
                <a:tc>
                  <a:txBody>
                    <a:bodyPr/>
                    <a:lstStyle/>
                    <a:p>
                      <a:pPr algn="l">
                        <a:lnSpc>
                          <a:spcPts val="1000"/>
                        </a:lnSpc>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如何差异化？</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algn="l">
                        <a:lnSpc>
                          <a:spcPts val="1000"/>
                        </a:lnSpc>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价值曲线分析、独特卖点（</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USP</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2"/>
                  </a:ext>
                </a:extLst>
              </a:tr>
              <a:tr h="362093">
                <a:tc>
                  <a:txBody>
                    <a:bodyPr/>
                    <a:lstStyle/>
                    <a:p>
                      <a:pPr marL="0" algn="ctr" defTabSz="914400" rtl="0" eaLnBrk="1" latinLnBrk="0" hangingPunct="1">
                        <a:lnSpc>
                          <a:spcPts val="1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盈利模式</a:t>
                      </a:r>
                    </a:p>
                  </a:txBody>
                  <a:tcPr marL="0" marR="95250" marT="95250" marB="95250" anchor="ctr"/>
                </a:tc>
                <a:tc>
                  <a:txBody>
                    <a:bodyPr/>
                    <a:lstStyle/>
                    <a:p>
                      <a:pPr algn="l">
                        <a:lnSpc>
                          <a:spcPts val="1000"/>
                        </a:lnSpc>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钱从哪里来？</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algn="l">
                        <a:lnSpc>
                          <a:spcPts val="1000"/>
                        </a:lnSpc>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收入模型（订阅、佣金、</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Licensing</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3"/>
                  </a:ext>
                </a:extLst>
              </a:tr>
              <a:tr h="362093">
                <a:tc>
                  <a:txBody>
                    <a:bodyPr/>
                    <a:lstStyle/>
                    <a:p>
                      <a:pPr marL="0" algn="ctr" defTabSz="914400" rtl="0" eaLnBrk="1" latinLnBrk="0" hangingPunct="1">
                        <a:lnSpc>
                          <a:spcPts val="1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增长逻辑</a:t>
                      </a:r>
                    </a:p>
                  </a:txBody>
                  <a:tcPr marL="0" marR="95250" marT="95250" marB="95250" anchor="ctr"/>
                </a:tc>
                <a:tc>
                  <a:txBody>
                    <a:bodyPr/>
                    <a:lstStyle/>
                    <a:p>
                      <a:pPr algn="l">
                        <a:lnSpc>
                          <a:spcPts val="1000"/>
                        </a:lnSpc>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如何规模化？</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algn="l">
                        <a:lnSpc>
                          <a:spcPts val="1000"/>
                        </a:lnSpc>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病毒系数、</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LTV/CAC</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计算</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4"/>
                  </a:ext>
                </a:extLst>
              </a:tr>
            </a:tbl>
          </a:graphicData>
        </a:graphic>
      </p:graphicFrame>
      <p:sp>
        <p:nvSpPr>
          <p:cNvPr id="2" name="矩形 1"/>
          <p:cNvSpPr/>
          <p:nvPr/>
        </p:nvSpPr>
        <p:spPr>
          <a:xfrm>
            <a:off x="971598" y="3154300"/>
            <a:ext cx="2592290" cy="307777"/>
          </a:xfrm>
          <a:prstGeom prst="rect">
            <a:avLst/>
          </a:prstGeom>
        </p:spPr>
        <p:txBody>
          <a:bodyPr wrap="square">
            <a:spAutoFit/>
          </a:bodyPr>
          <a:lstStyle/>
          <a:p>
            <a:r>
              <a:rPr lang="zh-CN" altLang="en-US" sz="1400" b="1">
                <a:latin typeface="Times New Roman" panose="02020603050405020304" pitchFamily="18" charset="0"/>
                <a:ea typeface="仿宋" panose="02010609060101010101" pitchFamily="49" charset="-122"/>
                <a:cs typeface="Times New Roman" panose="02020603050405020304" pitchFamily="18" charset="0"/>
              </a:rPr>
              <a:t>商业思维的四大核心维度：</a:t>
            </a:r>
          </a:p>
        </p:txBody>
      </p:sp>
      <p:sp>
        <p:nvSpPr>
          <p:cNvPr id="5" name="矩形 4"/>
          <p:cNvSpPr/>
          <p:nvPr/>
        </p:nvSpPr>
        <p:spPr>
          <a:xfrm>
            <a:off x="6084168" y="3183363"/>
            <a:ext cx="2698264" cy="1797415"/>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技术思维与商业思维区别示例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nSpc>
                <a:spcPct val="120000"/>
              </a:lnSpc>
              <a:spcBef>
                <a:spcPts val="600"/>
              </a:spcBef>
              <a:buFont typeface="Wingdings" panose="05000000000000000000" pitchFamily="2" charset="2"/>
              <a:buChar char="u"/>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技术思维</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：开发一款高性能电池；</a:t>
            </a:r>
          </a:p>
          <a:p>
            <a:pPr marL="180000" lvl="1" indent="-180000">
              <a:lnSpc>
                <a:spcPct val="120000"/>
              </a:lnSpc>
              <a:spcBef>
                <a:spcPts val="600"/>
              </a:spcBef>
              <a:buFont typeface="Wingdings" panose="05000000000000000000" pitchFamily="2" charset="2"/>
              <a:buChar char="u"/>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商业思维</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：设计“电池租赁</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换电网络”的商业模式（如蔚来汽车）。</a:t>
            </a: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71598" y="1658506"/>
            <a:ext cx="7560841" cy="1803571"/>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技术思维（</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Technological Thinking</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是指以</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技术为核心驱动力</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的认知和决策模式，强调通过技术手段</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解决问题</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优化流程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或</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创造新价值</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。其核心特征包括：</a:t>
            </a:r>
          </a:p>
          <a:p>
            <a:pPr marL="180000" lvl="1" indent="-180000">
              <a:lnSpc>
                <a:spcPct val="120000"/>
              </a:lnSpc>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工具理性：</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关注“</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如何实现”</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How</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），而非“</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为什么做</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Why</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nSpc>
                <a:spcPct val="120000"/>
              </a:lnSpc>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效率优先：</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追求最优解、标准化和可复制的技术方案。</a:t>
            </a:r>
          </a:p>
          <a:p>
            <a:pPr marL="180000" lvl="1" indent="-180000">
              <a:lnSpc>
                <a:spcPct val="120000"/>
              </a:lnSpc>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线性逻辑：</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倾向于因果推理（如“输入→处理→输出”模型）。</a:t>
            </a:r>
          </a:p>
          <a:p>
            <a:pPr marL="180000" lvl="1" indent="-180000">
              <a:lnSpc>
                <a:spcPct val="120000"/>
              </a:lnSpc>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确定性偏好：</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依赖数据、算法和已验证的技术路径，规避模糊性。</a:t>
            </a:r>
          </a:p>
        </p:txBody>
      </p:sp>
      <p:sp>
        <p:nvSpPr>
          <p:cNvPr id="4" name="矩形 3"/>
          <p:cNvSpPr/>
          <p:nvPr/>
        </p:nvSpPr>
        <p:spPr>
          <a:xfrm>
            <a:off x="971598" y="3544383"/>
            <a:ext cx="3672410" cy="1574277"/>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积极作用</a:t>
            </a:r>
          </a:p>
          <a:p>
            <a:pPr marL="180000" lvl="1" indent="-18000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推动效率革命：</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如自动化技术取代人工重复劳动。</a:t>
            </a:r>
          </a:p>
          <a:p>
            <a:pPr marL="180000" lvl="1" indent="-18000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实现精准创新：</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通过数据驱动（如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A/B</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测试）降低试错成本。</a:t>
            </a:r>
          </a:p>
          <a:p>
            <a:pPr marL="180000" lvl="1" indent="-18000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技术壁垒构建</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：形成核心竞争力（如芯片制造中的光刻技术）。</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1" name="矩形 10"/>
          <p:cNvSpPr/>
          <p:nvPr/>
        </p:nvSpPr>
        <p:spPr>
          <a:xfrm>
            <a:off x="4716016" y="3455127"/>
            <a:ext cx="4032448" cy="1752788"/>
          </a:xfrm>
          <a:prstGeom prst="rect">
            <a:avLst/>
          </a:prstGeom>
        </p:spPr>
        <p:txBody>
          <a:bodyPr wrap="square">
            <a:spAutoFit/>
          </a:bodyPr>
          <a:lstStyle/>
          <a:p>
            <a:r>
              <a:rPr lang="zh-CN" altLang="en-US" sz="1400" b="1">
                <a:latin typeface="Times New Roman" panose="02020603050405020304" pitchFamily="18" charset="0"/>
                <a:ea typeface="仿宋" panose="02010609060101010101" pitchFamily="49" charset="-122"/>
                <a:cs typeface="Times New Roman" panose="02020603050405020304" pitchFamily="18" charset="0"/>
              </a:rPr>
              <a:t>消极影响</a:t>
            </a:r>
          </a:p>
          <a:p>
            <a:pPr marL="180000" lvl="1" indent="-18000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“解决方案先行”陷阱</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：技术思维可能跳过真实需求分析，导致“为技术而技术”（如区块链的盲目应用）。</a:t>
            </a:r>
          </a:p>
          <a:p>
            <a:pPr marL="180000" lvl="1" indent="-18000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忽视复杂性：</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社会问题（如教育公平）无法仅靠技术方案解决。</a:t>
            </a:r>
          </a:p>
          <a:p>
            <a:pPr marL="180000" lvl="1" indent="-18000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创新盲区：</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过度依赖现有技术范式，阻碍突破性创新（如内燃机时代对电动车的忽视）。</a:t>
            </a: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71598" y="1658506"/>
            <a:ext cx="6840762" cy="1708481"/>
          </a:xfrm>
          <a:prstGeom prst="rect">
            <a:avLst/>
          </a:prstGeom>
        </p:spPr>
        <p:txBody>
          <a:bodyPr wrap="square">
            <a:spAutoFit/>
          </a:bodyPr>
          <a:lstStyle/>
          <a:p>
            <a:pPr>
              <a:lnSpc>
                <a:spcPct val="120000"/>
              </a:lnSpc>
              <a:spcBef>
                <a:spcPts val="6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用户</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思</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维（</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User </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Thinking</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是</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一种以用户需求、体验和情感为中心的非技术性认知和决策模式，强调在设计、开发和创新的全过程中，始终从用户的立场出发理解和解决问题。其核心特征包括：</a:t>
            </a:r>
          </a:p>
          <a:p>
            <a:pPr marL="180000" lvl="1" indent="-180000">
              <a:lnSpc>
                <a:spcPct val="120000"/>
              </a:lnSpc>
              <a:spcBef>
                <a:spcPts val="600"/>
              </a:spcBef>
              <a:buFont typeface="Wingdings" panose="05000000000000000000" pitchFamily="2" charset="2"/>
              <a:buChar char="u"/>
            </a:pPr>
            <a:r>
              <a:rPr lang="zh-CN" altLang="en-US" sz="1100" b="1" smtClean="0">
                <a:latin typeface="Times New Roman" panose="02020603050405020304" pitchFamily="18" charset="0"/>
                <a:ea typeface="仿宋" panose="02010609060101010101" pitchFamily="49" charset="-122"/>
                <a:cs typeface="Times New Roman" panose="02020603050405020304" pitchFamily="18" charset="0"/>
              </a:rPr>
              <a:t>需</a:t>
            </a:r>
            <a:r>
              <a:rPr lang="zh-CN" altLang="en-US" sz="1100" b="1">
                <a:latin typeface="Times New Roman" panose="02020603050405020304" pitchFamily="18" charset="0"/>
                <a:ea typeface="仿宋" panose="02010609060101010101" pitchFamily="49" charset="-122"/>
                <a:cs typeface="Times New Roman" panose="02020603050405020304" pitchFamily="18" charset="0"/>
              </a:rPr>
              <a:t>求导向</a:t>
            </a:r>
            <a:r>
              <a:rPr lang="zh-CN" altLang="en-US" sz="1100">
                <a:latin typeface="Times New Roman" panose="02020603050405020304" pitchFamily="18" charset="0"/>
                <a:ea typeface="仿宋" panose="02010609060101010101" pitchFamily="49" charset="-122"/>
                <a:cs typeface="Times New Roman" panose="02020603050405020304" pitchFamily="18" charset="0"/>
              </a:rPr>
              <a:t>：首先关注“用户需要什么”和“为什么需要”，而非“能做什么”或“有什么技</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术</a:t>
            </a:r>
            <a:r>
              <a:rPr lang="zh-CN" altLang="en-US" sz="11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100" smtClean="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600"/>
              </a:spcBef>
              <a:buFont typeface="Wingdings" panose="05000000000000000000" pitchFamily="2" charset="2"/>
              <a:buChar char="u"/>
            </a:pPr>
            <a:r>
              <a:rPr lang="zh-CN" altLang="en-US" sz="1100" b="1" smtClean="0">
                <a:latin typeface="Times New Roman" panose="02020603050405020304" pitchFamily="18" charset="0"/>
                <a:ea typeface="仿宋" panose="02010609060101010101" pitchFamily="49" charset="-122"/>
                <a:cs typeface="Times New Roman" panose="02020603050405020304" pitchFamily="18" charset="0"/>
              </a:rPr>
              <a:t>情</a:t>
            </a:r>
            <a:r>
              <a:rPr lang="zh-CN" altLang="en-US" sz="1100" b="1">
                <a:latin typeface="Times New Roman" panose="02020603050405020304" pitchFamily="18" charset="0"/>
                <a:ea typeface="仿宋" panose="02010609060101010101" pitchFamily="49" charset="-122"/>
                <a:cs typeface="Times New Roman" panose="02020603050405020304" pitchFamily="18" charset="0"/>
              </a:rPr>
              <a:t>感共鸣</a:t>
            </a:r>
            <a:r>
              <a:rPr lang="zh-CN" altLang="en-US" sz="1100">
                <a:latin typeface="Times New Roman" panose="02020603050405020304" pitchFamily="18" charset="0"/>
                <a:ea typeface="仿宋" panose="02010609060101010101" pitchFamily="49" charset="-122"/>
                <a:cs typeface="Times New Roman" panose="02020603050405020304" pitchFamily="18" charset="0"/>
              </a:rPr>
              <a:t>：强调同理心</a:t>
            </a:r>
            <a:r>
              <a:rPr lang="en-US" altLang="zh-CN" sz="1100">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a:latin typeface="Times New Roman" panose="02020603050405020304" pitchFamily="18" charset="0"/>
                <a:ea typeface="仿宋" panose="02010609060101010101" pitchFamily="49" charset="-122"/>
                <a:cs typeface="Times New Roman" panose="02020603050405020304" pitchFamily="18" charset="0"/>
              </a:rPr>
              <a:t>理解用户的情绪、痛点和未被言说的深层</a:t>
            </a:r>
            <a:r>
              <a:rPr lang="zh-CN" altLang="en-US" sz="1100">
                <a:latin typeface="Times New Roman" panose="02020603050405020304" pitchFamily="18" charset="0"/>
                <a:ea typeface="仿宋" panose="02010609060101010101" pitchFamily="49" charset="-122"/>
                <a:cs typeface="Times New Roman" panose="02020603050405020304" pitchFamily="18" charset="0"/>
              </a:rPr>
              <a:t>诉</a:t>
            </a:r>
            <a:r>
              <a:rPr lang="zh-CN" altLang="en-US" sz="1100" smtClean="0">
                <a:latin typeface="Times New Roman" panose="02020603050405020304" pitchFamily="18" charset="0"/>
                <a:ea typeface="仿宋" panose="02010609060101010101" pitchFamily="49" charset="-122"/>
                <a:cs typeface="Times New Roman" panose="02020603050405020304" pitchFamily="18" charset="0"/>
              </a:rPr>
              <a:t>求</a:t>
            </a:r>
            <a:endParaRPr lang="en-US" altLang="zh-CN" sz="1100" smtClean="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600"/>
              </a:spcBef>
              <a:buFont typeface="Wingdings" panose="05000000000000000000" pitchFamily="2" charset="2"/>
              <a:buChar char="u"/>
            </a:pPr>
            <a:r>
              <a:rPr lang="zh-CN" altLang="en-US" sz="1100" b="1" smtClean="0">
                <a:latin typeface="Times New Roman" panose="02020603050405020304" pitchFamily="18" charset="0"/>
                <a:ea typeface="仿宋" panose="02010609060101010101" pitchFamily="49" charset="-122"/>
                <a:cs typeface="Times New Roman" panose="02020603050405020304" pitchFamily="18" charset="0"/>
              </a:rPr>
              <a:t>体</a:t>
            </a:r>
            <a:r>
              <a:rPr lang="zh-CN" altLang="en-US" sz="1100" b="1">
                <a:latin typeface="Times New Roman" panose="02020603050405020304" pitchFamily="18" charset="0"/>
                <a:ea typeface="仿宋" panose="02010609060101010101" pitchFamily="49" charset="-122"/>
                <a:cs typeface="Times New Roman" panose="02020603050405020304" pitchFamily="18" charset="0"/>
              </a:rPr>
              <a:t>验优先</a:t>
            </a:r>
            <a:r>
              <a:rPr lang="zh-CN" altLang="en-US" sz="1100">
                <a:latin typeface="Times New Roman" panose="02020603050405020304" pitchFamily="18" charset="0"/>
                <a:ea typeface="仿宋" panose="02010609060101010101" pitchFamily="49" charset="-122"/>
                <a:cs typeface="Times New Roman" panose="02020603050405020304" pitchFamily="18" charset="0"/>
              </a:rPr>
              <a:t>：追求“好用”和“有意义”，而非单纯的功能堆砌或性能</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提</a:t>
            </a:r>
            <a:r>
              <a:rPr lang="zh-CN" altLang="en-US" sz="1100" smtClean="0">
                <a:latin typeface="Times New Roman" panose="02020603050405020304" pitchFamily="18" charset="0"/>
                <a:ea typeface="仿宋" panose="02010609060101010101" pitchFamily="49" charset="-122"/>
                <a:cs typeface="Times New Roman" panose="02020603050405020304" pitchFamily="18" charset="0"/>
              </a:rPr>
              <a:t>升</a:t>
            </a:r>
            <a:endParaRPr lang="en-US" altLang="zh-CN" sz="1100" smtClean="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600"/>
              </a:spcBef>
              <a:buFont typeface="Wingdings" panose="05000000000000000000" pitchFamily="2" charset="2"/>
              <a:buChar char="u"/>
            </a:pPr>
            <a:r>
              <a:rPr lang="zh-CN" altLang="en-US" sz="1100" b="1" smtClean="0">
                <a:latin typeface="Times New Roman" panose="02020603050405020304" pitchFamily="18" charset="0"/>
                <a:ea typeface="仿宋" panose="02010609060101010101" pitchFamily="49" charset="-122"/>
                <a:cs typeface="Times New Roman" panose="02020603050405020304" pitchFamily="18" charset="0"/>
              </a:rPr>
              <a:t>迭</a:t>
            </a:r>
            <a:r>
              <a:rPr lang="zh-CN" altLang="en-US" sz="1100" b="1">
                <a:latin typeface="Times New Roman" panose="02020603050405020304" pitchFamily="18" charset="0"/>
                <a:ea typeface="仿宋" panose="02010609060101010101" pitchFamily="49" charset="-122"/>
                <a:cs typeface="Times New Roman" panose="02020603050405020304" pitchFamily="18" charset="0"/>
              </a:rPr>
              <a:t>代反馈</a:t>
            </a:r>
            <a:r>
              <a:rPr lang="zh-CN" altLang="en-US" sz="1100">
                <a:latin typeface="Times New Roman" panose="02020603050405020304" pitchFamily="18" charset="0"/>
                <a:ea typeface="仿宋" panose="02010609060101010101" pitchFamily="49" charset="-122"/>
                <a:cs typeface="Times New Roman" panose="02020603050405020304" pitchFamily="18" charset="0"/>
              </a:rPr>
              <a:t>：依赖用户测试、行为观察和反馈闭环来验证假设并驱动改进，而非依赖内部逻辑的</a:t>
            </a:r>
            <a:r>
              <a:rPr lang="zh-CN" altLang="en-US" sz="1100">
                <a:latin typeface="Times New Roman" panose="02020603050405020304" pitchFamily="18" charset="0"/>
                <a:ea typeface="仿宋" panose="02010609060101010101" pitchFamily="49" charset="-122"/>
                <a:cs typeface="Times New Roman" panose="02020603050405020304" pitchFamily="18" charset="0"/>
              </a:rPr>
              <a:t>自</a:t>
            </a:r>
            <a:r>
              <a:rPr lang="zh-CN" altLang="en-US" sz="1100" smtClean="0">
                <a:latin typeface="Times New Roman" panose="02020603050405020304" pitchFamily="18" charset="0"/>
                <a:ea typeface="仿宋" panose="02010609060101010101" pitchFamily="49" charset="-122"/>
                <a:cs typeface="Times New Roman" panose="02020603050405020304" pitchFamily="18" charset="0"/>
              </a:rPr>
              <a:t>洽</a:t>
            </a:r>
            <a:endParaRPr lang="zh-CN" altLang="en-US" sz="11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矩形 3"/>
          <p:cNvSpPr/>
          <p:nvPr/>
        </p:nvSpPr>
        <p:spPr>
          <a:xfrm>
            <a:off x="990869" y="3259778"/>
            <a:ext cx="2933059" cy="1897443"/>
          </a:xfrm>
          <a:prstGeom prst="rect">
            <a:avLst/>
          </a:prstGeom>
        </p:spPr>
        <p:txBody>
          <a:bodyPr wrap="square">
            <a:spAutoFit/>
          </a:bodyPr>
          <a:lstStyle/>
          <a:p>
            <a:pPr>
              <a:lnSpc>
                <a:spcPct val="120000"/>
              </a:lnSpc>
              <a:spcBef>
                <a:spcPts val="600"/>
              </a:spcBef>
            </a:pPr>
            <a:r>
              <a:rPr lang="zh-CN" altLang="en-US" sz="1050" b="1">
                <a:latin typeface="Times New Roman" panose="02020603050405020304" pitchFamily="18" charset="0"/>
                <a:ea typeface="仿宋" panose="02010609060101010101" pitchFamily="49" charset="-122"/>
                <a:cs typeface="Times New Roman" panose="02020603050405020304" pitchFamily="18" charset="0"/>
              </a:rPr>
              <a:t>积极作用</a:t>
            </a:r>
          </a:p>
          <a:p>
            <a:pPr marL="180000" lvl="1" indent="-180000">
              <a:lnSpc>
                <a:spcPct val="120000"/>
              </a:lnSpc>
              <a:spcBef>
                <a:spcPts val="300"/>
              </a:spcBef>
              <a:buFont typeface="Wingdings" panose="05000000000000000000" pitchFamily="2" charset="2"/>
              <a:buChar char="u"/>
            </a:pPr>
            <a:r>
              <a:rPr lang="zh-CN" altLang="en-US" sz="900" b="1" smtClean="0">
                <a:latin typeface="Times New Roman" panose="02020603050405020304" pitchFamily="18" charset="0"/>
                <a:ea typeface="仿宋" panose="02010609060101010101" pitchFamily="49" charset="-122"/>
                <a:cs typeface="Times New Roman" panose="02020603050405020304" pitchFamily="18" charset="0"/>
              </a:rPr>
              <a:t>精</a:t>
            </a:r>
            <a:r>
              <a:rPr lang="zh-CN" altLang="en-US" sz="900" b="1">
                <a:latin typeface="Times New Roman" panose="02020603050405020304" pitchFamily="18" charset="0"/>
                <a:ea typeface="仿宋" panose="02010609060101010101" pitchFamily="49" charset="-122"/>
                <a:cs typeface="Times New Roman" panose="02020603050405020304" pitchFamily="18" charset="0"/>
              </a:rPr>
              <a:t>准定位需求</a:t>
            </a:r>
            <a:r>
              <a:rPr lang="zh-CN" altLang="en-US" sz="900">
                <a:latin typeface="Times New Roman" panose="02020603050405020304" pitchFamily="18" charset="0"/>
                <a:ea typeface="仿宋" panose="02010609060101010101" pitchFamily="49" charset="-122"/>
                <a:cs typeface="Times New Roman" panose="02020603050405020304" pitchFamily="18" charset="0"/>
              </a:rPr>
              <a:t>：避免“为产品找用户”的困境，确保方案解决真实问题（如微信支付通过理解小额高频支付场景，而非复制</a:t>
            </a:r>
            <a:r>
              <a:rPr lang="en-US" altLang="zh-CN" sz="900">
                <a:latin typeface="Times New Roman" panose="02020603050405020304" pitchFamily="18" charset="0"/>
                <a:ea typeface="仿宋" panose="02010609060101010101" pitchFamily="49" charset="-122"/>
                <a:cs typeface="Times New Roman" panose="02020603050405020304" pitchFamily="18" charset="0"/>
              </a:rPr>
              <a:t>PC</a:t>
            </a:r>
            <a:r>
              <a:rPr lang="zh-CN" altLang="en-US" sz="900">
                <a:latin typeface="Times New Roman" panose="02020603050405020304" pitchFamily="18" charset="0"/>
                <a:ea typeface="仿宋" panose="02010609060101010101" pitchFamily="49" charset="-122"/>
                <a:cs typeface="Times New Roman" panose="02020603050405020304" pitchFamily="18" charset="0"/>
              </a:rPr>
              <a:t>端网银体</a:t>
            </a:r>
            <a:r>
              <a:rPr lang="zh-CN" altLang="en-US" sz="900">
                <a:latin typeface="Times New Roman" panose="02020603050405020304" pitchFamily="18" charset="0"/>
                <a:ea typeface="仿宋" panose="02010609060101010101" pitchFamily="49" charset="-122"/>
                <a:cs typeface="Times New Roman" panose="02020603050405020304" pitchFamily="18" charset="0"/>
              </a:rPr>
              <a:t>验</a:t>
            </a:r>
            <a:r>
              <a:rPr lang="zh-CN" altLang="en-US" sz="9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900" smtClean="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300"/>
              </a:spcBef>
              <a:buFont typeface="Wingdings" panose="05000000000000000000" pitchFamily="2" charset="2"/>
              <a:buChar char="u"/>
            </a:pPr>
            <a:r>
              <a:rPr lang="zh-CN" altLang="en-US" sz="900" b="1" smtClean="0">
                <a:latin typeface="Times New Roman" panose="02020603050405020304" pitchFamily="18" charset="0"/>
                <a:ea typeface="仿宋" panose="02010609060101010101" pitchFamily="49" charset="-122"/>
                <a:cs typeface="Times New Roman" panose="02020603050405020304" pitchFamily="18" charset="0"/>
              </a:rPr>
              <a:t>降</a:t>
            </a:r>
            <a:r>
              <a:rPr lang="zh-CN" altLang="en-US" sz="900" b="1">
                <a:latin typeface="Times New Roman" panose="02020603050405020304" pitchFamily="18" charset="0"/>
                <a:ea typeface="仿宋" panose="02010609060101010101" pitchFamily="49" charset="-122"/>
                <a:cs typeface="Times New Roman" panose="02020603050405020304" pitchFamily="18" charset="0"/>
              </a:rPr>
              <a:t>低市场风险</a:t>
            </a:r>
            <a:r>
              <a:rPr lang="zh-CN" altLang="en-US" sz="900">
                <a:latin typeface="Times New Roman" panose="02020603050405020304" pitchFamily="18" charset="0"/>
                <a:ea typeface="仿宋" panose="02010609060101010101" pitchFamily="49" charset="-122"/>
                <a:cs typeface="Times New Roman" panose="02020603050405020304" pitchFamily="18" charset="0"/>
              </a:rPr>
              <a:t>：通过早期用户验证，减少产品上线后遭遇冷遇的可能性（如戴森无叶风扇以“用户怕扇叶伤手”为起点而非“我要发明新技术</a:t>
            </a:r>
            <a:r>
              <a:rPr lang="zh-CN" altLang="en-US" sz="900">
                <a:latin typeface="Times New Roman" panose="02020603050405020304" pitchFamily="18" charset="0"/>
                <a:ea typeface="仿宋" panose="02010609060101010101" pitchFamily="49" charset="-122"/>
                <a:cs typeface="Times New Roman" panose="02020603050405020304" pitchFamily="18" charset="0"/>
              </a:rPr>
              <a:t>”</a:t>
            </a:r>
            <a:r>
              <a:rPr lang="zh-CN" altLang="en-US" sz="9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900" smtClean="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300"/>
              </a:spcBef>
              <a:buFont typeface="Wingdings" panose="05000000000000000000" pitchFamily="2" charset="2"/>
              <a:buChar char="u"/>
            </a:pPr>
            <a:r>
              <a:rPr lang="zh-CN" altLang="en-US" sz="900" b="1" smtClean="0">
                <a:latin typeface="Times New Roman" panose="02020603050405020304" pitchFamily="18" charset="0"/>
                <a:ea typeface="仿宋" panose="02010609060101010101" pitchFamily="49" charset="-122"/>
                <a:cs typeface="Times New Roman" panose="02020603050405020304" pitchFamily="18" charset="0"/>
              </a:rPr>
              <a:t>提</a:t>
            </a:r>
            <a:r>
              <a:rPr lang="zh-CN" altLang="en-US" sz="900" b="1">
                <a:latin typeface="Times New Roman" panose="02020603050405020304" pitchFamily="18" charset="0"/>
                <a:ea typeface="仿宋" panose="02010609060101010101" pitchFamily="49" charset="-122"/>
                <a:cs typeface="Times New Roman" panose="02020603050405020304" pitchFamily="18" charset="0"/>
              </a:rPr>
              <a:t>升用户忠诚度</a:t>
            </a:r>
            <a:r>
              <a:rPr lang="zh-CN" altLang="en-US" sz="900">
                <a:latin typeface="Times New Roman" panose="02020603050405020304" pitchFamily="18" charset="0"/>
                <a:ea typeface="仿宋" panose="02010609060101010101" pitchFamily="49" charset="-122"/>
                <a:cs typeface="Times New Roman" panose="02020603050405020304" pitchFamily="18" charset="0"/>
              </a:rPr>
              <a:t>：同理心驱动的设计能创造超越功能的情感价值（如苹果</a:t>
            </a:r>
            <a:r>
              <a:rPr lang="en-US" altLang="zh-CN" sz="900">
                <a:latin typeface="Times New Roman" panose="02020603050405020304" pitchFamily="18" charset="0"/>
                <a:ea typeface="仿宋" panose="02010609060101010101" pitchFamily="49" charset="-122"/>
                <a:cs typeface="Times New Roman" panose="02020603050405020304" pitchFamily="18" charset="0"/>
              </a:rPr>
              <a:t>AirPods</a:t>
            </a:r>
            <a:r>
              <a:rPr lang="zh-CN" altLang="en-US" sz="900">
                <a:latin typeface="Times New Roman" panose="02020603050405020304" pitchFamily="18" charset="0"/>
                <a:ea typeface="仿宋" panose="02010609060101010101" pitchFamily="49" charset="-122"/>
                <a:cs typeface="Times New Roman" panose="02020603050405020304" pitchFamily="18" charset="0"/>
              </a:rPr>
              <a:t>的“无感交互”源于对用户“耳机线缆缠绕”困扰的深度共</a:t>
            </a:r>
            <a:r>
              <a:rPr lang="zh-CN" altLang="en-US" sz="900">
                <a:latin typeface="Times New Roman" panose="02020603050405020304" pitchFamily="18" charset="0"/>
                <a:ea typeface="仿宋" panose="02010609060101010101" pitchFamily="49" charset="-122"/>
                <a:cs typeface="Times New Roman" panose="02020603050405020304" pitchFamily="18" charset="0"/>
              </a:rPr>
              <a:t>情</a:t>
            </a:r>
            <a:r>
              <a:rPr lang="zh-CN" altLang="en-US" sz="9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9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1" name="矩形 10"/>
          <p:cNvSpPr/>
          <p:nvPr/>
        </p:nvSpPr>
        <p:spPr>
          <a:xfrm>
            <a:off x="3963213" y="3366986"/>
            <a:ext cx="4320480" cy="1683025"/>
          </a:xfrm>
          <a:prstGeom prst="rect">
            <a:avLst/>
          </a:prstGeom>
        </p:spPr>
        <p:txBody>
          <a:bodyPr wrap="square">
            <a:spAutoFit/>
          </a:bodyPr>
          <a:lstStyle/>
          <a:p>
            <a:r>
              <a:rPr lang="zh-CN" altLang="en-US" sz="1050" b="1">
                <a:latin typeface="Times New Roman" panose="02020603050405020304" pitchFamily="18" charset="0"/>
                <a:ea typeface="仿宋" panose="02010609060101010101" pitchFamily="49" charset="-122"/>
                <a:cs typeface="Times New Roman" panose="02020603050405020304" pitchFamily="18" charset="0"/>
              </a:rPr>
              <a:t>消极影响</a:t>
            </a:r>
          </a:p>
          <a:p>
            <a:pPr marL="180000" lvl="1" indent="-180000">
              <a:lnSpc>
                <a:spcPct val="120000"/>
              </a:lnSpc>
              <a:spcBef>
                <a:spcPts val="300"/>
              </a:spcBef>
              <a:buFont typeface="Wingdings" panose="05000000000000000000" pitchFamily="2" charset="2"/>
              <a:buChar char="u"/>
            </a:pPr>
            <a:r>
              <a:rPr lang="zh-CN" altLang="en-US" sz="900" b="1" smtClean="0">
                <a:latin typeface="Times New Roman" panose="02020603050405020304" pitchFamily="18" charset="0"/>
                <a:ea typeface="仿宋" panose="02010609060101010101" pitchFamily="49" charset="-122"/>
                <a:cs typeface="Times New Roman" panose="02020603050405020304" pitchFamily="18" charset="0"/>
              </a:rPr>
              <a:t>需</a:t>
            </a:r>
            <a:r>
              <a:rPr lang="zh-CN" altLang="en-US" sz="900" b="1">
                <a:latin typeface="Times New Roman" panose="02020603050405020304" pitchFamily="18" charset="0"/>
                <a:ea typeface="仿宋" panose="02010609060101010101" pitchFamily="49" charset="-122"/>
                <a:cs typeface="Times New Roman" panose="02020603050405020304" pitchFamily="18" charset="0"/>
              </a:rPr>
              <a:t>求碎片化陷阱</a:t>
            </a:r>
            <a:r>
              <a:rPr lang="zh-CN" altLang="en-US" sz="900">
                <a:latin typeface="Times New Roman" panose="02020603050405020304" pitchFamily="18" charset="0"/>
                <a:ea typeface="仿宋" panose="02010609060101010101" pitchFamily="49" charset="-122"/>
                <a:cs typeface="Times New Roman" panose="02020603050405020304" pitchFamily="18" charset="0"/>
              </a:rPr>
              <a:t>：过度个体化的用户洞察，可能导致需求碎片化、难以提炼出具有普遍性的核心命</a:t>
            </a:r>
            <a:r>
              <a:rPr lang="zh-CN" altLang="en-US" sz="900">
                <a:latin typeface="Times New Roman" panose="02020603050405020304" pitchFamily="18" charset="0"/>
                <a:ea typeface="仿宋" panose="02010609060101010101" pitchFamily="49" charset="-122"/>
                <a:cs typeface="Times New Roman" panose="02020603050405020304" pitchFamily="18" charset="0"/>
              </a:rPr>
              <a:t>题</a:t>
            </a:r>
            <a:r>
              <a:rPr lang="zh-CN" altLang="en-US" sz="9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900" smtClean="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300"/>
              </a:spcBef>
              <a:buFont typeface="Wingdings" panose="05000000000000000000" pitchFamily="2" charset="2"/>
              <a:buChar char="u"/>
            </a:pPr>
            <a:r>
              <a:rPr lang="zh-CN" altLang="en-US" sz="900" b="1" smtClean="0">
                <a:latin typeface="Times New Roman" panose="02020603050405020304" pitchFamily="18" charset="0"/>
                <a:ea typeface="仿宋" panose="02010609060101010101" pitchFamily="49" charset="-122"/>
                <a:cs typeface="Times New Roman" panose="02020603050405020304" pitchFamily="18" charset="0"/>
              </a:rPr>
              <a:t>技</a:t>
            </a:r>
            <a:r>
              <a:rPr lang="zh-CN" altLang="en-US" sz="900" b="1">
                <a:latin typeface="Times New Roman" panose="02020603050405020304" pitchFamily="18" charset="0"/>
                <a:ea typeface="仿宋" panose="02010609060101010101" pitchFamily="49" charset="-122"/>
                <a:cs typeface="Times New Roman" panose="02020603050405020304" pitchFamily="18" charset="0"/>
              </a:rPr>
              <a:t>术可行性忽视</a:t>
            </a:r>
            <a:r>
              <a:rPr lang="zh-CN" altLang="en-US" sz="900">
                <a:latin typeface="Times New Roman" panose="02020603050405020304" pitchFamily="18" charset="0"/>
                <a:ea typeface="仿宋" panose="02010609060101010101" pitchFamily="49" charset="-122"/>
                <a:cs typeface="Times New Roman" panose="02020603050405020304" pitchFamily="18" charset="0"/>
              </a:rPr>
              <a:t>：过度迎合用户表面需求，可能忽略技术边界、成本结构或商业可持续性（如用户说“我想要更快更准的搜索”，但真正需要的是“找到最优解”的能力，而非单纯的速度提升</a:t>
            </a:r>
            <a:r>
              <a:rPr lang="zh-CN" altLang="en-US" sz="900">
                <a:latin typeface="Times New Roman" panose="02020603050405020304" pitchFamily="18" charset="0"/>
                <a:ea typeface="仿宋" panose="02010609060101010101" pitchFamily="49" charset="-122"/>
                <a:cs typeface="Times New Roman" panose="02020603050405020304" pitchFamily="18" charset="0"/>
              </a:rPr>
              <a:t>）</a:t>
            </a:r>
            <a:r>
              <a:rPr lang="zh-CN" altLang="en-US" sz="9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900" smtClean="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300"/>
              </a:spcBef>
              <a:buFont typeface="Wingdings" panose="05000000000000000000" pitchFamily="2" charset="2"/>
              <a:buChar char="u"/>
            </a:pPr>
            <a:r>
              <a:rPr lang="zh-CN" altLang="en-US" sz="900" b="1" smtClean="0">
                <a:latin typeface="Times New Roman" panose="02020603050405020304" pitchFamily="18" charset="0"/>
                <a:ea typeface="仿宋" panose="02010609060101010101" pitchFamily="49" charset="-122"/>
                <a:cs typeface="Times New Roman" panose="02020603050405020304" pitchFamily="18" charset="0"/>
              </a:rPr>
              <a:t>创</a:t>
            </a:r>
            <a:r>
              <a:rPr lang="zh-CN" altLang="en-US" sz="900" b="1">
                <a:latin typeface="Times New Roman" panose="02020603050405020304" pitchFamily="18" charset="0"/>
                <a:ea typeface="仿宋" panose="02010609060101010101" pitchFamily="49" charset="-122"/>
                <a:cs typeface="Times New Roman" panose="02020603050405020304" pitchFamily="18" charset="0"/>
              </a:rPr>
              <a:t>新被需求绑架</a:t>
            </a:r>
            <a:r>
              <a:rPr lang="zh-CN" altLang="en-US" sz="900">
                <a:latin typeface="Times New Roman" panose="02020603050405020304" pitchFamily="18" charset="0"/>
                <a:ea typeface="仿宋" panose="02010609060101010101" pitchFamily="49" charset="-122"/>
                <a:cs typeface="Times New Roman" panose="02020603050405020304" pitchFamily="18" charset="0"/>
              </a:rPr>
              <a:t>：用户往往只能表达“对已有产品的改进意见”，而难以描述“自己从未见过的新可能性”</a:t>
            </a:r>
            <a:r>
              <a:rPr lang="en-US" altLang="zh-CN" sz="900">
                <a:latin typeface="Times New Roman" panose="02020603050405020304" pitchFamily="18" charset="0"/>
                <a:ea typeface="仿宋" panose="02010609060101010101" pitchFamily="49" charset="-122"/>
                <a:cs typeface="Times New Roman" panose="02020603050405020304" pitchFamily="18" charset="0"/>
              </a:rPr>
              <a:t>——</a:t>
            </a:r>
            <a:r>
              <a:rPr lang="zh-CN" altLang="en-US" sz="900">
                <a:latin typeface="Times New Roman" panose="02020603050405020304" pitchFamily="18" charset="0"/>
                <a:ea typeface="仿宋" panose="02010609060101010101" pitchFamily="49" charset="-122"/>
                <a:cs typeface="Times New Roman" panose="02020603050405020304" pitchFamily="18" charset="0"/>
              </a:rPr>
              <a:t>完全按用户反馈推进，可能错失突破性创新机会（如“如果你问用户想要什么，他们会告诉你‘一匹更快的马’”）。</a:t>
            </a: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0274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D:\我的文档\Tencent Files\1326411371\Image\C2C\2A02FF62E76A0EF65429023078C2AE77.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2139702"/>
            <a:ext cx="4804248" cy="2402124"/>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5940152" y="2242001"/>
            <a:ext cx="2448272" cy="2197525"/>
          </a:xfrm>
          <a:prstGeom prst="rect">
            <a:avLst/>
          </a:prstGeom>
        </p:spPr>
        <p:txBody>
          <a:bodyPr wrap="square">
            <a:spAutoFit/>
          </a:bodyPr>
          <a:lstStyle/>
          <a:p>
            <a:pPr>
              <a:lnSpc>
                <a:spcPct val="120000"/>
              </a:lnSpc>
            </a:pPr>
            <a:r>
              <a:rPr lang="zh-CN" altLang="en-US" sz="2000" b="1" dirty="0">
                <a:solidFill>
                  <a:srgbClr val="0070C0"/>
                </a:solidFill>
                <a:latin typeface="微软雅黑" panose="020B0503020204020204" pitchFamily="34" charset="-122"/>
                <a:ea typeface="微软雅黑" panose="020B0503020204020204" pitchFamily="34" charset="-122"/>
              </a:rPr>
              <a:t>乔布斯</a:t>
            </a:r>
            <a:r>
              <a:rPr lang="zh-CN" altLang="en-US" sz="1400" dirty="0">
                <a:solidFill>
                  <a:srgbClr val="0070C0"/>
                </a:solidFill>
                <a:latin typeface="微软雅黑" panose="020B0503020204020204" pitchFamily="34" charset="-122"/>
                <a:ea typeface="微软雅黑" panose="020B0503020204020204" pitchFamily="34" charset="-122"/>
              </a:rPr>
              <a:t>以一种绝妙的方式让整个世界</a:t>
            </a:r>
            <a:r>
              <a:rPr lang="zh-CN" altLang="en-US" sz="2000" b="1" dirty="0">
                <a:solidFill>
                  <a:srgbClr val="0070C0"/>
                </a:solidFill>
                <a:latin typeface="微软雅黑" panose="020B0503020204020204" pitchFamily="34" charset="-122"/>
                <a:ea typeface="微软雅黑" panose="020B0503020204020204" pitchFamily="34" charset="-122"/>
              </a:rPr>
              <a:t>记住</a:t>
            </a:r>
            <a:r>
              <a:rPr lang="zh-CN" altLang="en-US" sz="1400" dirty="0">
                <a:solidFill>
                  <a:srgbClr val="0070C0"/>
                </a:solidFill>
                <a:latin typeface="微软雅黑" panose="020B0503020204020204" pitchFamily="34" charset="-122"/>
                <a:ea typeface="微软雅黑" panose="020B0503020204020204" pitchFamily="34" charset="-122"/>
              </a:rPr>
              <a:t>了自己，当他匆匆</a:t>
            </a:r>
            <a:r>
              <a:rPr lang="zh-CN" altLang="en-US" sz="2000" b="1" dirty="0">
                <a:solidFill>
                  <a:srgbClr val="0070C0"/>
                </a:solidFill>
                <a:latin typeface="微软雅黑" panose="020B0503020204020204" pitchFamily="34" charset="-122"/>
                <a:ea typeface="微软雅黑" panose="020B0503020204020204" pitchFamily="34" charset="-122"/>
              </a:rPr>
              <a:t>结束</a:t>
            </a:r>
            <a:r>
              <a:rPr lang="zh-CN" altLang="en-US" sz="1400" dirty="0">
                <a:solidFill>
                  <a:srgbClr val="0070C0"/>
                </a:solidFill>
                <a:latin typeface="微软雅黑" panose="020B0503020204020204" pitchFamily="34" charset="-122"/>
                <a:ea typeface="微软雅黑" panose="020B0503020204020204" pitchFamily="34" charset="-122"/>
              </a:rPr>
              <a:t>自己的脚</a:t>
            </a:r>
            <a:r>
              <a:rPr lang="zh-CN" altLang="en-US" sz="1400">
                <a:solidFill>
                  <a:srgbClr val="0070C0"/>
                </a:solidFill>
                <a:latin typeface="微软雅黑" panose="020B0503020204020204" pitchFamily="34" charset="-122"/>
                <a:ea typeface="微软雅黑" panose="020B0503020204020204" pitchFamily="34" charset="-122"/>
              </a:rPr>
              <a:t>步</a:t>
            </a:r>
            <a:r>
              <a:rPr lang="zh-CN" altLang="en-US" sz="1400" smtClean="0">
                <a:solidFill>
                  <a:srgbClr val="0070C0"/>
                </a:solidFill>
                <a:latin typeface="微软雅黑" panose="020B0503020204020204" pitchFamily="34" charset="-122"/>
                <a:ea typeface="微软雅黑" panose="020B0503020204020204" pitchFamily="34" charset="-122"/>
              </a:rPr>
              <a:t>时，全</a:t>
            </a:r>
            <a:r>
              <a:rPr lang="zh-CN" altLang="en-US" sz="1400" dirty="0">
                <a:solidFill>
                  <a:srgbClr val="0070C0"/>
                </a:solidFill>
                <a:latin typeface="微软雅黑" panose="020B0503020204020204" pitchFamily="34" charset="-122"/>
                <a:ea typeface="微软雅黑" panose="020B0503020204020204" pitchFamily="34" charset="-122"/>
              </a:rPr>
              <a:t>球的人们便开始以各种各样的方式</a:t>
            </a:r>
            <a:r>
              <a:rPr lang="zh-CN" altLang="en-US" sz="2000" b="1" dirty="0">
                <a:solidFill>
                  <a:srgbClr val="0070C0"/>
                </a:solidFill>
                <a:latin typeface="微软雅黑" panose="020B0503020204020204" pitchFamily="34" charset="-122"/>
                <a:ea typeface="微软雅黑" panose="020B0503020204020204" pitchFamily="34" charset="-122"/>
              </a:rPr>
              <a:t>描绘</a:t>
            </a:r>
            <a:r>
              <a:rPr lang="zh-CN" altLang="en-US" sz="1400" dirty="0">
                <a:solidFill>
                  <a:srgbClr val="0070C0"/>
                </a:solidFill>
                <a:latin typeface="微软雅黑" panose="020B0503020204020204" pitchFamily="34" charset="-122"/>
                <a:ea typeface="微软雅黑" panose="020B0503020204020204" pitchFamily="34" charset="-122"/>
              </a:rPr>
              <a:t>着他们各自</a:t>
            </a:r>
            <a:r>
              <a:rPr lang="zh-CN" altLang="en-US" sz="2000" b="1" dirty="0">
                <a:solidFill>
                  <a:srgbClr val="0070C0"/>
                </a:solidFill>
                <a:latin typeface="微软雅黑" panose="020B0503020204020204" pitchFamily="34" charset="-122"/>
                <a:ea typeface="微软雅黑" panose="020B0503020204020204" pitchFamily="34" charset="-122"/>
              </a:rPr>
              <a:t>心中</a:t>
            </a:r>
            <a:r>
              <a:rPr lang="zh-CN" altLang="en-US" sz="1400" dirty="0">
                <a:solidFill>
                  <a:srgbClr val="0070C0"/>
                </a:solidFill>
                <a:latin typeface="微软雅黑" panose="020B0503020204020204" pitchFamily="34" charset="-122"/>
                <a:ea typeface="微软雅黑" panose="020B0503020204020204" pitchFamily="34" charset="-122"/>
              </a:rPr>
              <a:t>的那个</a:t>
            </a:r>
            <a:r>
              <a:rPr lang="zh-CN" altLang="en-US" sz="2000" b="1" dirty="0">
                <a:solidFill>
                  <a:srgbClr val="0070C0"/>
                </a:solidFill>
                <a:latin typeface="微软雅黑" panose="020B0503020204020204" pitchFamily="34" charset="-122"/>
                <a:ea typeface="微软雅黑" panose="020B0503020204020204" pitchFamily="34" charset="-122"/>
              </a:rPr>
              <a:t>乔布斯</a:t>
            </a:r>
            <a:r>
              <a:rPr lang="zh-CN" altLang="en-US" sz="1400" dirty="0">
                <a:solidFill>
                  <a:srgbClr val="0070C0"/>
                </a:solidFill>
                <a:latin typeface="微软雅黑" panose="020B0503020204020204" pitchFamily="34" charset="-122"/>
                <a:ea typeface="微软雅黑" panose="020B0503020204020204" pitchFamily="34" charset="-122"/>
              </a:rPr>
              <a:t>！</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Text Box 6"/>
          <p:cNvSpPr txBox="1">
            <a:spLocks noChangeArrowheads="1"/>
          </p:cNvSpPr>
          <p:nvPr/>
        </p:nvSpPr>
        <p:spPr bwMode="auto">
          <a:xfrm>
            <a:off x="899592" y="4599007"/>
            <a:ext cx="4802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None/>
            </a:pPr>
            <a:r>
              <a:rPr lang="zh-CN" altLang="en-US" sz="1200" smtClean="0">
                <a:latin typeface="华文仿宋" panose="02010600040101010101" pitchFamily="2" charset="-122"/>
                <a:ea typeface="华文仿宋" panose="02010600040101010101" pitchFamily="2" charset="-122"/>
              </a:rPr>
              <a:t>图片摘自知乎，详细出处不详</a:t>
            </a:r>
            <a:endParaRPr lang="zh-CN" altLang="en-US" sz="1200" dirty="0">
              <a:latin typeface="华文仿宋" panose="02010600040101010101" pitchFamily="2" charset="-122"/>
              <a:ea typeface="华文仿宋" panose="02010600040101010101" pitchFamily="2" charset="-122"/>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3" name="矩形 2"/>
          <p:cNvSpPr/>
          <p:nvPr/>
        </p:nvSpPr>
        <p:spPr>
          <a:xfrm>
            <a:off x="971599" y="1672504"/>
            <a:ext cx="1980029" cy="350865"/>
          </a:xfrm>
          <a:prstGeom prst="rect">
            <a:avLst/>
          </a:prstGeom>
        </p:spPr>
        <p:txBody>
          <a:bodyPr wrap="none">
            <a:spAutoFit/>
          </a:bodyPr>
          <a:lstStyle/>
          <a:p>
            <a:pPr>
              <a:lnSpc>
                <a:spcPct val="120000"/>
              </a:lnSpc>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用户思维与技术思</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维：</a:t>
            </a:r>
            <a:endParaRPr lang="zh-CN" altLang="en-US" sz="1400" b="1" dirty="0">
              <a:latin typeface="Times New Roman" panose="02020603050405020304" pitchFamily="18" charset="0"/>
              <a:ea typeface="仿宋" panose="02010609060101010101" pitchFamily="49"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我的文档\Tencent Files\1326411371\Image\C2C\B8130F708396E96C5B3B3577CDA41C9A.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2067694"/>
            <a:ext cx="4464496" cy="2232248"/>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Text Box 6"/>
          <p:cNvSpPr txBox="1">
            <a:spLocks noChangeArrowheads="1"/>
          </p:cNvSpPr>
          <p:nvPr/>
        </p:nvSpPr>
        <p:spPr bwMode="auto">
          <a:xfrm>
            <a:off x="971600" y="4371950"/>
            <a:ext cx="44644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None/>
            </a:pPr>
            <a:r>
              <a:rPr lang="zh-CN" altLang="en-US" sz="1200" smtClean="0">
                <a:latin typeface="华文仿宋" panose="02010600040101010101" pitchFamily="2" charset="-122"/>
                <a:ea typeface="华文仿宋" panose="02010600040101010101" pitchFamily="2" charset="-122"/>
              </a:rPr>
              <a:t>图片摘自知乎，详细出处不详</a:t>
            </a:r>
            <a:endParaRPr lang="zh-CN" altLang="en-US" sz="1200" dirty="0">
              <a:latin typeface="华文仿宋" panose="02010600040101010101" pitchFamily="2" charset="-122"/>
              <a:ea typeface="华文仿宋" panose="02010600040101010101" pitchFamily="2" charset="-122"/>
            </a:endParaRPr>
          </a:p>
        </p:txBody>
      </p:sp>
      <p:sp>
        <p:nvSpPr>
          <p:cNvPr id="10" name="矩形 9"/>
          <p:cNvSpPr/>
          <p:nvPr/>
        </p:nvSpPr>
        <p:spPr>
          <a:xfrm>
            <a:off x="971599" y="1672504"/>
            <a:ext cx="1980029" cy="350865"/>
          </a:xfrm>
          <a:prstGeom prst="rect">
            <a:avLst/>
          </a:prstGeom>
        </p:spPr>
        <p:txBody>
          <a:bodyPr wrap="square">
            <a:spAutoFit/>
          </a:bodyPr>
          <a:lstStyle/>
          <a:p>
            <a:pPr>
              <a:lnSpc>
                <a:spcPct val="120000"/>
              </a:lnSpc>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用户思维与技术思</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维：</a:t>
            </a:r>
            <a:endParaRPr lang="zh-CN" altLang="en-US" sz="1400" b="1"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1" name="矩形 10"/>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12" name="矩形 11"/>
          <p:cNvSpPr/>
          <p:nvPr/>
        </p:nvSpPr>
        <p:spPr>
          <a:xfrm>
            <a:off x="5868144" y="2102417"/>
            <a:ext cx="2448272" cy="2197525"/>
          </a:xfrm>
          <a:prstGeom prst="rect">
            <a:avLst/>
          </a:prstGeom>
        </p:spPr>
        <p:txBody>
          <a:bodyPr wrap="square">
            <a:spAutoFit/>
          </a:bodyPr>
          <a:lstStyle/>
          <a:p>
            <a:pPr>
              <a:lnSpc>
                <a:spcPct val="120000"/>
              </a:lnSpc>
            </a:pPr>
            <a:r>
              <a:rPr lang="zh-CN" altLang="en-US" sz="2000" b="1" dirty="0">
                <a:solidFill>
                  <a:srgbClr val="0070C0"/>
                </a:solidFill>
                <a:latin typeface="微软雅黑" panose="020B0503020204020204" pitchFamily="34" charset="-122"/>
                <a:ea typeface="微软雅黑" panose="020B0503020204020204" pitchFamily="34" charset="-122"/>
              </a:rPr>
              <a:t>乔布斯</a:t>
            </a:r>
            <a:r>
              <a:rPr lang="zh-CN" altLang="en-US" sz="1400" dirty="0">
                <a:solidFill>
                  <a:srgbClr val="0070C0"/>
                </a:solidFill>
                <a:latin typeface="微软雅黑" panose="020B0503020204020204" pitchFamily="34" charset="-122"/>
                <a:ea typeface="微软雅黑" panose="020B0503020204020204" pitchFamily="34" charset="-122"/>
              </a:rPr>
              <a:t>以一种绝妙的方式让整个世界</a:t>
            </a:r>
            <a:r>
              <a:rPr lang="zh-CN" altLang="en-US" sz="2000" b="1" dirty="0">
                <a:solidFill>
                  <a:srgbClr val="0070C0"/>
                </a:solidFill>
                <a:latin typeface="微软雅黑" panose="020B0503020204020204" pitchFamily="34" charset="-122"/>
                <a:ea typeface="微软雅黑" panose="020B0503020204020204" pitchFamily="34" charset="-122"/>
              </a:rPr>
              <a:t>记住</a:t>
            </a:r>
            <a:r>
              <a:rPr lang="zh-CN" altLang="en-US" sz="1400" dirty="0">
                <a:solidFill>
                  <a:srgbClr val="0070C0"/>
                </a:solidFill>
                <a:latin typeface="微软雅黑" panose="020B0503020204020204" pitchFamily="34" charset="-122"/>
                <a:ea typeface="微软雅黑" panose="020B0503020204020204" pitchFamily="34" charset="-122"/>
              </a:rPr>
              <a:t>了自己，当他匆匆</a:t>
            </a:r>
            <a:r>
              <a:rPr lang="zh-CN" altLang="en-US" sz="2000" b="1" dirty="0">
                <a:solidFill>
                  <a:srgbClr val="0070C0"/>
                </a:solidFill>
                <a:latin typeface="微软雅黑" panose="020B0503020204020204" pitchFamily="34" charset="-122"/>
                <a:ea typeface="微软雅黑" panose="020B0503020204020204" pitchFamily="34" charset="-122"/>
              </a:rPr>
              <a:t>结束</a:t>
            </a:r>
            <a:r>
              <a:rPr lang="zh-CN" altLang="en-US" sz="1400" dirty="0">
                <a:solidFill>
                  <a:srgbClr val="0070C0"/>
                </a:solidFill>
                <a:latin typeface="微软雅黑" panose="020B0503020204020204" pitchFamily="34" charset="-122"/>
                <a:ea typeface="微软雅黑" panose="020B0503020204020204" pitchFamily="34" charset="-122"/>
              </a:rPr>
              <a:t>自己的脚</a:t>
            </a:r>
            <a:r>
              <a:rPr lang="zh-CN" altLang="en-US" sz="1400">
                <a:solidFill>
                  <a:srgbClr val="0070C0"/>
                </a:solidFill>
                <a:latin typeface="微软雅黑" panose="020B0503020204020204" pitchFamily="34" charset="-122"/>
                <a:ea typeface="微软雅黑" panose="020B0503020204020204" pitchFamily="34" charset="-122"/>
              </a:rPr>
              <a:t>步</a:t>
            </a:r>
            <a:r>
              <a:rPr lang="zh-CN" altLang="en-US" sz="1400" smtClean="0">
                <a:solidFill>
                  <a:srgbClr val="0070C0"/>
                </a:solidFill>
                <a:latin typeface="微软雅黑" panose="020B0503020204020204" pitchFamily="34" charset="-122"/>
                <a:ea typeface="微软雅黑" panose="020B0503020204020204" pitchFamily="34" charset="-122"/>
              </a:rPr>
              <a:t>时，全</a:t>
            </a:r>
            <a:r>
              <a:rPr lang="zh-CN" altLang="en-US" sz="1400" dirty="0">
                <a:solidFill>
                  <a:srgbClr val="0070C0"/>
                </a:solidFill>
                <a:latin typeface="微软雅黑" panose="020B0503020204020204" pitchFamily="34" charset="-122"/>
                <a:ea typeface="微软雅黑" panose="020B0503020204020204" pitchFamily="34" charset="-122"/>
              </a:rPr>
              <a:t>球的人们便开始以各种各样的方式</a:t>
            </a:r>
            <a:r>
              <a:rPr lang="zh-CN" altLang="en-US" sz="2000" b="1" dirty="0">
                <a:solidFill>
                  <a:srgbClr val="0070C0"/>
                </a:solidFill>
                <a:latin typeface="微软雅黑" panose="020B0503020204020204" pitchFamily="34" charset="-122"/>
                <a:ea typeface="微软雅黑" panose="020B0503020204020204" pitchFamily="34" charset="-122"/>
              </a:rPr>
              <a:t>描绘</a:t>
            </a:r>
            <a:r>
              <a:rPr lang="zh-CN" altLang="en-US" sz="1400" dirty="0">
                <a:solidFill>
                  <a:srgbClr val="0070C0"/>
                </a:solidFill>
                <a:latin typeface="微软雅黑" panose="020B0503020204020204" pitchFamily="34" charset="-122"/>
                <a:ea typeface="微软雅黑" panose="020B0503020204020204" pitchFamily="34" charset="-122"/>
              </a:rPr>
              <a:t>着他们各自</a:t>
            </a:r>
            <a:r>
              <a:rPr lang="zh-CN" altLang="en-US" sz="2000" b="1" dirty="0">
                <a:solidFill>
                  <a:srgbClr val="0070C0"/>
                </a:solidFill>
                <a:latin typeface="微软雅黑" panose="020B0503020204020204" pitchFamily="34" charset="-122"/>
                <a:ea typeface="微软雅黑" panose="020B0503020204020204" pitchFamily="34" charset="-122"/>
              </a:rPr>
              <a:t>心中</a:t>
            </a:r>
            <a:r>
              <a:rPr lang="zh-CN" altLang="en-US" sz="1400" dirty="0">
                <a:solidFill>
                  <a:srgbClr val="0070C0"/>
                </a:solidFill>
                <a:latin typeface="微软雅黑" panose="020B0503020204020204" pitchFamily="34" charset="-122"/>
                <a:ea typeface="微软雅黑" panose="020B0503020204020204" pitchFamily="34" charset="-122"/>
              </a:rPr>
              <a:t>的那个</a:t>
            </a:r>
            <a:r>
              <a:rPr lang="zh-CN" altLang="en-US" sz="2000" b="1" dirty="0">
                <a:solidFill>
                  <a:srgbClr val="0070C0"/>
                </a:solidFill>
                <a:latin typeface="微软雅黑" panose="020B0503020204020204" pitchFamily="34" charset="-122"/>
                <a:ea typeface="微软雅黑" panose="020B0503020204020204" pitchFamily="34" charset="-122"/>
              </a:rPr>
              <a:t>乔布斯</a:t>
            </a:r>
            <a:r>
              <a:rPr lang="zh-CN" altLang="en-US" sz="1400" dirty="0">
                <a:solidFill>
                  <a:srgbClr val="0070C0"/>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0" name="矩形 9"/>
          <p:cNvSpPr/>
          <p:nvPr/>
        </p:nvSpPr>
        <p:spPr>
          <a:xfrm>
            <a:off x="971599" y="1672504"/>
            <a:ext cx="6912769" cy="3160865"/>
          </a:xfrm>
          <a:prstGeom prst="rect">
            <a:avLst/>
          </a:prstGeom>
        </p:spPr>
        <p:txBody>
          <a:bodyPr wrap="square">
            <a:spAutoFit/>
          </a:bodyPr>
          <a:lstStyle/>
          <a:p>
            <a:pPr>
              <a:lnSpc>
                <a:spcPct val="120000"/>
              </a:lnSpc>
              <a:spcBef>
                <a:spcPts val="600"/>
              </a:spcBef>
            </a:pP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前序各</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种思维方式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b="1">
                <a:latin typeface="Times New Roman" panose="02020603050405020304" pitchFamily="18" charset="0"/>
                <a:ea typeface="仿宋" panose="02010609060101010101" pitchFamily="49" charset="-122"/>
                <a:cs typeface="Times New Roman" panose="02020603050405020304" pitchFamily="18" charset="0"/>
              </a:rPr>
              <a:t>无论</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是技术思维的“解决方案先行”、商业思维的“价值驱动逻辑”，</a:t>
            </a:r>
            <a:r>
              <a:rPr lang="zh-CN" altLang="en-US" b="1">
                <a:latin typeface="Times New Roman" panose="02020603050405020304" pitchFamily="18" charset="0"/>
                <a:ea typeface="仿宋" panose="02010609060101010101" pitchFamily="49" charset="-122"/>
                <a:cs typeface="Times New Roman" panose="02020603050405020304" pitchFamily="18" charset="0"/>
              </a:rPr>
              <a:t>还是</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用户思维的“需求洞察视角”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在特定情境下都具有重要价值，但也各自存在局限性。技术思维</a:t>
            </a:r>
            <a:r>
              <a:rPr lang="zh-CN" altLang="en-US" b="1">
                <a:latin typeface="Times New Roman" panose="02020603050405020304" pitchFamily="18" charset="0"/>
                <a:ea typeface="仿宋" panose="02010609060101010101" pitchFamily="49" charset="-122"/>
                <a:cs typeface="Times New Roman" panose="02020603050405020304" pitchFamily="18" charset="0"/>
              </a:rPr>
              <a:t>可能</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跳过真实需求分析，商业思维可能忽视用户的深层情感诉求，用户思维则可能因过度聚焦个体体验而</a:t>
            </a:r>
            <a:r>
              <a:rPr lang="zh-CN" altLang="en-US" b="1">
                <a:latin typeface="Times New Roman" panose="02020603050405020304" pitchFamily="18" charset="0"/>
                <a:ea typeface="仿宋" panose="02010609060101010101" pitchFamily="49" charset="-122"/>
                <a:cs typeface="Times New Roman" panose="02020603050405020304" pitchFamily="18" charset="0"/>
              </a:rPr>
              <a:t>忽略</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技术可行性与商业可持续性的平衡。</a:t>
            </a:r>
          </a:p>
          <a:p>
            <a:pPr>
              <a:lnSpc>
                <a:spcPct val="120000"/>
              </a:lnSpc>
              <a:spcBef>
                <a:spcPts val="6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正是这些思维局限，催生了结构化创新方法工具的需求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当</a:t>
            </a:r>
            <a:r>
              <a:rPr lang="zh-CN" altLang="en-US" b="1">
                <a:latin typeface="Times New Roman" panose="02020603050405020304" pitchFamily="18" charset="0"/>
                <a:ea typeface="仿宋" panose="02010609060101010101" pitchFamily="49" charset="-122"/>
                <a:cs typeface="Times New Roman" panose="02020603050405020304" pitchFamily="18" charset="0"/>
              </a:rPr>
              <a:t>单一</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思维模式无法应对复杂的创新挑战时，我们需要一套</a:t>
            </a:r>
            <a:r>
              <a:rPr lang="zh-CN" altLang="en-US" b="1">
                <a:latin typeface="Times New Roman" panose="02020603050405020304" pitchFamily="18" charset="0"/>
                <a:ea typeface="仿宋" panose="02010609060101010101" pitchFamily="49" charset="-122"/>
                <a:cs typeface="Times New Roman" panose="02020603050405020304" pitchFamily="18" charset="0"/>
              </a:rPr>
              <a:t>可拆解</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b="1">
                <a:latin typeface="Times New Roman" panose="02020603050405020304" pitchFamily="18" charset="0"/>
                <a:ea typeface="仿宋" panose="02010609060101010101" pitchFamily="49" charset="-122"/>
                <a:cs typeface="Times New Roman" panose="02020603050405020304" pitchFamily="18" charset="0"/>
              </a:rPr>
              <a:t>可组合</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的工具模块来突破思维定势、整合多元视角、验证创意假设。奥斯本检核表法通过</a:t>
            </a:r>
            <a:r>
              <a:rPr lang="en-US" altLang="zh-CN" b="1">
                <a:latin typeface="Times New Roman" panose="02020603050405020304" pitchFamily="18" charset="0"/>
                <a:ea typeface="仿宋" panose="02010609060101010101" pitchFamily="49" charset="-122"/>
                <a:cs typeface="Times New Roman" panose="02020603050405020304" pitchFamily="18" charset="0"/>
              </a:rPr>
              <a:t>9</a:t>
            </a:r>
            <a:r>
              <a:rPr lang="zh-CN" altLang="en-US" b="1">
                <a:latin typeface="Times New Roman" panose="02020603050405020304" pitchFamily="18" charset="0"/>
                <a:ea typeface="仿宋" panose="02010609060101010101" pitchFamily="49" charset="-122"/>
                <a:cs typeface="Times New Roman" panose="02020603050405020304" pitchFamily="18" charset="0"/>
              </a:rPr>
              <a:t>类</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标准化提问强制思考，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通过</a:t>
            </a:r>
            <a:r>
              <a:rPr lang="zh-CN" altLang="en-US" b="1">
                <a:latin typeface="Times New Roman" panose="02020603050405020304" pitchFamily="18" charset="0"/>
                <a:ea typeface="仿宋" panose="02010609060101010101" pitchFamily="49" charset="-122"/>
                <a:cs typeface="Times New Roman" panose="02020603050405020304" pitchFamily="18" charset="0"/>
              </a:rPr>
              <a:t>七个</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维度系统改造方案，六顶思考帽通过</a:t>
            </a:r>
            <a:r>
              <a:rPr lang="zh-CN" altLang="en-US" b="1">
                <a:latin typeface="Times New Roman" panose="02020603050405020304" pitchFamily="18" charset="0"/>
                <a:ea typeface="仿宋" panose="02010609060101010101" pitchFamily="49" charset="-122"/>
                <a:cs typeface="Times New Roman" panose="02020603050405020304" pitchFamily="18" charset="0"/>
              </a:rPr>
              <a:t>六种</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角色实现并行思维，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通过七</a:t>
            </a:r>
            <a:r>
              <a:rPr lang="zh-CN" altLang="en-US" b="1">
                <a:latin typeface="Times New Roman" panose="02020603050405020304" pitchFamily="18" charset="0"/>
                <a:ea typeface="仿宋" panose="02010609060101010101" pitchFamily="49" charset="-122"/>
                <a:cs typeface="Times New Roman" panose="02020603050405020304" pitchFamily="18" charset="0"/>
              </a:rPr>
              <a:t>个</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维度驱动系统提问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这些工具的共同特征，正是以</a:t>
            </a:r>
            <a:r>
              <a:rPr lang="zh-CN" altLang="en-US" b="1">
                <a:latin typeface="Times New Roman" panose="02020603050405020304" pitchFamily="18" charset="0"/>
                <a:ea typeface="仿宋" panose="02010609060101010101" pitchFamily="49" charset="-122"/>
                <a:cs typeface="Times New Roman" panose="02020603050405020304" pitchFamily="18" charset="0"/>
              </a:rPr>
              <a:t>结构化</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的方式弥补单一思维的盲区，使创新从“依赖某种思维”</a:t>
            </a:r>
            <a:r>
              <a:rPr lang="zh-CN" altLang="en-US" b="1">
                <a:latin typeface="Times New Roman" panose="02020603050405020304" pitchFamily="18" charset="0"/>
                <a:ea typeface="仿宋" panose="02010609060101010101" pitchFamily="49" charset="-122"/>
                <a:cs typeface="Times New Roman" panose="02020603050405020304" pitchFamily="18" charset="0"/>
              </a:rPr>
              <a:t>走向</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“综合运用方法</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b="1"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1" name="矩形 10"/>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8788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971599" y="1707654"/>
            <a:ext cx="5233706" cy="3266356"/>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180000" indent="-180000" algn="l">
              <a:lnSpc>
                <a:spcPct val="120000"/>
              </a:lnSpc>
              <a:spcBef>
                <a:spcPts val="600"/>
              </a:spcBef>
              <a:buClr>
                <a:schemeClr val="tx1"/>
              </a:buClr>
              <a:buFont typeface="Wingdings" panose="05000000000000000000" pitchFamily="2" charset="2"/>
              <a:buChar char="u"/>
            </a:pPr>
            <a:r>
              <a:rPr lang="zh-CN" altLang="en-US" sz="12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方法</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：是主体依据对客体发展规律的</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认识</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为自己</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规定</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的活动</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方式</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和行为</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准则</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，是人们实现特定活动目的的</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手段</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或</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途径</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，是主体接近、把握以至改造客体的</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。方法是从已知领域过渡到未知领城的</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桥梁</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gn="l">
              <a:lnSpc>
                <a:spcPct val="120000"/>
              </a:lnSpc>
              <a:spcBef>
                <a:spcPts val="600"/>
              </a:spcBef>
              <a:buClr>
                <a:schemeClr val="tx1"/>
              </a:buClr>
              <a:buFont typeface="Wingdings" panose="05000000000000000000" pitchFamily="2" charset="2"/>
              <a:buChar char="u"/>
            </a:pPr>
            <a:r>
              <a:rPr lang="zh-CN" altLang="en-US" sz="12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：是指创新活动中带有</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普遍</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规律性的方法和技巧。创新方法是</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创新思维</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在创新</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实践</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层面的表现，是创新主体实现创新的有效</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途径</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gn="l">
              <a:lnSpc>
                <a:spcPct val="120000"/>
              </a:lnSpc>
              <a:spcBef>
                <a:spcPts val="600"/>
              </a:spcBef>
              <a:buClr>
                <a:schemeClr val="tx1"/>
              </a:buClr>
              <a:buFont typeface="Wingdings" panose="05000000000000000000" pitchFamily="2" charset="2"/>
              <a:buChar char="u"/>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创新观</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创新方法有</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规律可循</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、有</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步骤可依</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、有</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技巧可用</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、有</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方法可行</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1900381"/>
            <a:ext cx="2273853" cy="2998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971599" y="1655380"/>
            <a:ext cx="7272808" cy="855870"/>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chemeClr val="tx1"/>
              </a:buClr>
            </a:pPr>
            <a:r>
              <a:rPr lang="zh-CN"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新方法可根据其作用方式和应用场景分为</a:t>
            </a:r>
            <a:r>
              <a:rPr lang="zh-CN" altLang="zh-CN"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三大类</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，三类方法在创新实践中</a:t>
            </a:r>
            <a:r>
              <a:rPr lang="zh-CN" altLang="zh-CN"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形成</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思维引导</a:t>
            </a: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工具驱动</a:t>
            </a: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流程整合</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的互补关系：</a:t>
            </a:r>
          </a:p>
          <a:p>
            <a:pPr algn="l">
              <a:lnSpc>
                <a:spcPct val="120000"/>
              </a:lnSpc>
              <a:spcBef>
                <a:spcPts val="600"/>
              </a:spcBef>
              <a:buClr>
                <a:schemeClr val="tx1"/>
              </a:buClr>
            </a:pPr>
            <a:endParaRPr lang="en-US" altLang="zh-CN"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728331894"/>
              </p:ext>
            </p:extLst>
          </p:nvPr>
        </p:nvGraphicFramePr>
        <p:xfrm>
          <a:off x="539552" y="2511250"/>
          <a:ext cx="8280920" cy="1728192"/>
        </p:xfrm>
        <a:graphic>
          <a:graphicData uri="http://schemas.openxmlformats.org/drawingml/2006/table">
            <a:tbl>
              <a:tblPr firstRow="1" firstCol="1" bandRow="1">
                <a:tableStyleId>{5C22544A-7EE6-4342-B048-85BDC9FD1C3A}</a:tableStyleId>
              </a:tblPr>
              <a:tblGrid>
                <a:gridCol w="936104">
                  <a:extLst>
                    <a:ext uri="{9D8B030D-6E8A-4147-A177-3AD203B41FA5}">
                      <a16:colId xmlns:a16="http://schemas.microsoft.com/office/drawing/2014/main" val="1277088294"/>
                    </a:ext>
                  </a:extLst>
                </a:gridCol>
                <a:gridCol w="2088232">
                  <a:extLst>
                    <a:ext uri="{9D8B030D-6E8A-4147-A177-3AD203B41FA5}">
                      <a16:colId xmlns:a16="http://schemas.microsoft.com/office/drawing/2014/main" val="2313742588"/>
                    </a:ext>
                  </a:extLst>
                </a:gridCol>
                <a:gridCol w="2376264">
                  <a:extLst>
                    <a:ext uri="{9D8B030D-6E8A-4147-A177-3AD203B41FA5}">
                      <a16:colId xmlns:a16="http://schemas.microsoft.com/office/drawing/2014/main" val="2505089529"/>
                    </a:ext>
                  </a:extLst>
                </a:gridCol>
                <a:gridCol w="2880320">
                  <a:extLst>
                    <a:ext uri="{9D8B030D-6E8A-4147-A177-3AD203B41FA5}">
                      <a16:colId xmlns:a16="http://schemas.microsoft.com/office/drawing/2014/main" val="1454978042"/>
                    </a:ext>
                  </a:extLst>
                </a:gridCol>
              </a:tblGrid>
              <a:tr h="29744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分类</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定义</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代表方法</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特点</a:t>
                      </a:r>
                    </a:p>
                  </a:txBody>
                  <a:tcPr marL="68580" marR="68580" marT="0" marB="0" anchor="ctr"/>
                </a:tc>
                <a:extLst>
                  <a:ext uri="{0D108BD9-81ED-4DB2-BD59-A6C34878D82A}">
                    <a16:rowId xmlns:a16="http://schemas.microsoft.com/office/drawing/2014/main" val="306593724"/>
                  </a:ext>
                </a:extLst>
              </a:tr>
              <a:tr h="56665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思维类方法</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聚焦于改变思考方式和认知视角，突破固有思维模式</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逆向思维、发散思维、六顶思考帽</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不依赖特定技术或流程，可随时调用</a:t>
                      </a:r>
                    </a:p>
                  </a:txBody>
                  <a:tcPr marL="68580" marR="68580" marT="0" marB="0" anchor="ctr"/>
                </a:tc>
                <a:extLst>
                  <a:ext uri="{0D108BD9-81ED-4DB2-BD59-A6C34878D82A}">
                    <a16:rowId xmlns:a16="http://schemas.microsoft.com/office/drawing/2014/main" val="909920351"/>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工具类方法</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提供结构化的检视清单或分析框架，对方案进行系统化改造</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、奥斯本检核表法、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TRIZ</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逐条对照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的操作清单，降低思维盲区</a:t>
                      </a:r>
                    </a:p>
                  </a:txBody>
                  <a:tcPr marL="68580" marR="68580" marT="0" marB="0" anchor="ctr"/>
                </a:tc>
                <a:extLst>
                  <a:ext uri="{0D108BD9-81ED-4DB2-BD59-A6C34878D82A}">
                    <a16:rowId xmlns:a16="http://schemas.microsoft.com/office/drawing/2014/main" val="1876775619"/>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流程类方法</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提供从问题发现到方案验证的完整操作路径</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设计思维、敏捷开发</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从起点到终点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的路径指引</a:t>
                      </a:r>
                    </a:p>
                  </a:txBody>
                  <a:tcPr marL="68580" marR="68580" marT="0" marB="0" anchor="ctr"/>
                </a:tc>
                <a:extLst>
                  <a:ext uri="{0D108BD9-81ED-4DB2-BD59-A6C34878D82A}">
                    <a16:rowId xmlns:a16="http://schemas.microsoft.com/office/drawing/2014/main" val="1408307963"/>
                  </a:ext>
                </a:extLst>
              </a:tr>
            </a:tbl>
          </a:graphicData>
        </a:graphic>
      </p:graphicFrame>
    </p:spTree>
  </p:cSld>
  <p:clrMapOvr>
    <a:masterClrMapping/>
  </p:clrMapOvr>
  <p:transition advTm="31939">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2915816" y="1851670"/>
            <a:ext cx="5256584" cy="2574460"/>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180000" indent="-180000" algn="l">
              <a:lnSpc>
                <a:spcPct val="120000"/>
              </a:lnSpc>
              <a:spcBef>
                <a:spcPts val="600"/>
              </a:spcBef>
              <a:buClr>
                <a:schemeClr val="tx1"/>
              </a:buClr>
              <a:buFont typeface="Wingdings" panose="05000000000000000000" pitchFamily="2" charset="2"/>
              <a:buChar char="u"/>
            </a:pP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奥斯本</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检核表</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法：是指以该技法的发明者</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奥斯本</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命名、</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引导</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主体根据创造和解决问题的需要，列出一系列提纲式的</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，形成检核表，然后对问题进行</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讨论</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，最终</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确定</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最优方案的方</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法。</a:t>
            </a:r>
            <a:endPar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gn="l">
              <a:lnSpc>
                <a:spcPct val="120000"/>
              </a:lnSpc>
              <a:spcBef>
                <a:spcPts val="600"/>
              </a:spcBef>
              <a:buClr>
                <a:schemeClr val="tx1"/>
              </a:buClr>
              <a:buFont typeface="Wingdings" panose="05000000000000000000" pitchFamily="2" charset="2"/>
              <a:buChar char="u"/>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分类</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：奥斯本创造的检核表共有</a:t>
            </a:r>
            <a:r>
              <a:rPr lang="en-US" altLang="zh-CN"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75</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个问题，可以归纳为</a:t>
            </a:r>
            <a:r>
              <a:rPr lang="en-US" altLang="zh-CN"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9</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类</a:t>
            </a: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能否</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他用</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借用</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改变</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扩大</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缩小</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替代</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调整</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颠倒</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组合</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gn="l">
              <a:lnSpc>
                <a:spcPct val="120000"/>
              </a:lnSpc>
              <a:spcBef>
                <a:spcPts val="600"/>
              </a:spcBef>
              <a:buClr>
                <a:schemeClr val="tx1"/>
              </a:buClr>
              <a:buFont typeface="Wingdings" panose="05000000000000000000" pitchFamily="2" charset="2"/>
              <a:buChar char="u"/>
            </a:pP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实施</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确定</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核对</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与</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创想</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8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筛选</a:t>
            </a:r>
            <a:r>
              <a:rPr lang="zh-CN" altLang="en-US"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797490"/>
            <a:ext cx="1872208" cy="236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6"/>
          <p:cNvSpPr txBox="1">
            <a:spLocks noChangeArrowheads="1"/>
          </p:cNvSpPr>
          <p:nvPr/>
        </p:nvSpPr>
        <p:spPr bwMode="auto">
          <a:xfrm>
            <a:off x="901510" y="4229675"/>
            <a:ext cx="17887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1200" dirty="0">
                <a:latin typeface="华文仿宋" panose="02010600040101010101" pitchFamily="2" charset="-122"/>
                <a:ea typeface="华文仿宋" panose="02010600040101010101" pitchFamily="2" charset="-122"/>
              </a:rPr>
              <a:t>亚历克斯</a:t>
            </a:r>
            <a:r>
              <a:rPr lang="en-US" altLang="zh-CN" sz="1200" dirty="0">
                <a:latin typeface="华文仿宋" panose="02010600040101010101" pitchFamily="2" charset="-122"/>
                <a:ea typeface="华文仿宋" panose="02010600040101010101" pitchFamily="2" charset="-122"/>
              </a:rPr>
              <a:t>·</a:t>
            </a:r>
            <a:r>
              <a:rPr lang="zh-CN" altLang="en-US" sz="1200" dirty="0">
                <a:latin typeface="华文仿宋" panose="02010600040101010101" pitchFamily="2" charset="-122"/>
                <a:ea typeface="华文仿宋" panose="02010600040101010101" pitchFamily="2" charset="-122"/>
              </a:rPr>
              <a:t>奥斯本，创造学和创造工程之父、头脑风暴法的发明人</a:t>
            </a: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2" y="1779662"/>
            <a:ext cx="7056784" cy="2736304"/>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lvl="0" algn="l">
              <a:lnSpc>
                <a:spcPct val="120000"/>
              </a:lnSpc>
              <a:spcBef>
                <a:spcPts val="600"/>
              </a:spcBef>
              <a:buClr>
                <a:schemeClr val="tx1"/>
              </a:buClr>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奥斯本检核表</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法</a:t>
            </a:r>
            <a:r>
              <a:rPr lang="zh-CN" altLang="en-US" sz="20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特征：</a:t>
            </a:r>
            <a:endParaRPr lang="en-US" altLang="zh-CN"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lvl="0" indent="-180000" algn="l">
              <a:lnSpc>
                <a:spcPct val="120000"/>
              </a:lnSpc>
              <a:spcBef>
                <a:spcPts val="600"/>
              </a:spcBef>
              <a:buClr>
                <a:schemeClr val="tx1"/>
              </a:buClr>
              <a:buFont typeface="Wingdings" panose="05000000000000000000" pitchFamily="2" charset="2"/>
              <a:buChar char="u"/>
            </a:pPr>
            <a:r>
              <a:rPr lang="zh-CN" altLang="en-US"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强</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制思考：奥斯本检核表法</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强制人</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去思考，有利于突破一些人</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不愿</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提问题或</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不善</a:t>
            </a:r>
            <a:r>
              <a:rPr lang="zh-CN" altLang="en-US"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于</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提问题的心理障碍。</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lvl="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发散思考：奥斯本检核表法是一种多向发散的思考，使人的思维</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角度</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、思维</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更丰富。</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lvl="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指引思考：奥斯本检核表法提供了创新活动最基本的思路，可以使创新者尽快</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集中</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精力，朝提示的目标方向去</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构想</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、去</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创造</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新</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7"/>
          <p:cNvSpPr txBox="1"/>
          <p:nvPr/>
        </p:nvSpPr>
        <p:spPr>
          <a:xfrm>
            <a:off x="971599" y="1627192"/>
            <a:ext cx="4680521" cy="307777"/>
          </a:xfrm>
          <a:prstGeom prst="rect">
            <a:avLst/>
          </a:prstGeom>
          <a:noFill/>
        </p:spPr>
        <p:txBody>
          <a:bodyPr wrap="square" rtlCol="0">
            <a:spAutoFit/>
          </a:bodyPr>
          <a:lstStyle/>
          <a:p>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奥斯本检核表法</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案</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例</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智能水杯创想</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创</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想</a:t>
            </a:r>
          </a:p>
        </p:txBody>
      </p:sp>
      <p:sp>
        <p:nvSpPr>
          <p:cNvPr id="12"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2982989226"/>
              </p:ext>
            </p:extLst>
          </p:nvPr>
        </p:nvGraphicFramePr>
        <p:xfrm>
          <a:off x="827584" y="1934969"/>
          <a:ext cx="7885384" cy="3240533"/>
        </p:xfrm>
        <a:graphic>
          <a:graphicData uri="http://schemas.openxmlformats.org/drawingml/2006/table">
            <a:tbl>
              <a:tblPr firstRow="1" firstCol="1" bandRow="1">
                <a:tableStyleId>{5C22544A-7EE6-4342-B048-85BDC9FD1C3A}</a:tableStyleId>
              </a:tblPr>
              <a:tblGrid>
                <a:gridCol w="468560">
                  <a:extLst>
                    <a:ext uri="{9D8B030D-6E8A-4147-A177-3AD203B41FA5}">
                      <a16:colId xmlns:a16="http://schemas.microsoft.com/office/drawing/2014/main" val="3411357719"/>
                    </a:ext>
                  </a:extLst>
                </a:gridCol>
                <a:gridCol w="720080">
                  <a:extLst>
                    <a:ext uri="{9D8B030D-6E8A-4147-A177-3AD203B41FA5}">
                      <a16:colId xmlns:a16="http://schemas.microsoft.com/office/drawing/2014/main" val="3193549126"/>
                    </a:ext>
                  </a:extLst>
                </a:gridCol>
                <a:gridCol w="3240360">
                  <a:extLst>
                    <a:ext uri="{9D8B030D-6E8A-4147-A177-3AD203B41FA5}">
                      <a16:colId xmlns:a16="http://schemas.microsoft.com/office/drawing/2014/main" val="3078242588"/>
                    </a:ext>
                  </a:extLst>
                </a:gridCol>
                <a:gridCol w="1080120">
                  <a:extLst>
                    <a:ext uri="{9D8B030D-6E8A-4147-A177-3AD203B41FA5}">
                      <a16:colId xmlns:a16="http://schemas.microsoft.com/office/drawing/2014/main" val="2893165422"/>
                    </a:ext>
                  </a:extLst>
                </a:gridCol>
                <a:gridCol w="2376264">
                  <a:extLst>
                    <a:ext uri="{9D8B030D-6E8A-4147-A177-3AD203B41FA5}">
                      <a16:colId xmlns:a16="http://schemas.microsoft.com/office/drawing/2014/main" val="3910289416"/>
                    </a:ext>
                  </a:extLst>
                </a:gridCol>
              </a:tblGrid>
              <a:tr h="297443">
                <a:tc>
                  <a:txBody>
                    <a:bodyPr/>
                    <a:lstStyle/>
                    <a:p>
                      <a:pPr marL="0" algn="ctr" defTabSz="914400" rtl="0" eaLnBrk="1" latinLnBrk="0" hangingPunct="1">
                        <a:lnSpc>
                          <a:spcPct val="100000"/>
                        </a:lnSpc>
                        <a:spcAft>
                          <a:spcPts val="0"/>
                        </a:spcAft>
                      </a:pPr>
                      <a:r>
                        <a:rPr lang="zh-CN" altLang="en-US" sz="1000" b="1" kern="100">
                          <a:solidFill>
                            <a:schemeClr val="lt1"/>
                          </a:solidFill>
                          <a:effectLst/>
                          <a:latin typeface="微软雅黑" panose="020B0503020204020204" pitchFamily="34" charset="-122"/>
                          <a:ea typeface="微软雅黑" panose="020B0503020204020204" pitchFamily="34" charset="-122"/>
                          <a:cs typeface="+mn-cs"/>
                        </a:rPr>
                        <a:t>序号</a:t>
                      </a:r>
                    </a:p>
                  </a:txBody>
                  <a:tcPr marL="72000" marR="72000" marT="36000" marB="36000" anchor="ctr"/>
                </a:tc>
                <a:tc>
                  <a:txBody>
                    <a:bodyPr/>
                    <a:lstStyle/>
                    <a:p>
                      <a:pPr marL="0" algn="ctr" defTabSz="914400" rtl="0" eaLnBrk="1" latinLnBrk="0" hangingPunct="1">
                        <a:lnSpc>
                          <a:spcPct val="100000"/>
                        </a:lnSpc>
                        <a:spcAft>
                          <a:spcPts val="0"/>
                        </a:spcAft>
                      </a:pPr>
                      <a:r>
                        <a:rPr lang="zh-CN" altLang="en-US" sz="1000" b="1" kern="100">
                          <a:solidFill>
                            <a:schemeClr val="lt1"/>
                          </a:solidFill>
                          <a:effectLst/>
                          <a:latin typeface="微软雅黑" panose="020B0503020204020204" pitchFamily="34" charset="-122"/>
                          <a:ea typeface="微软雅黑" panose="020B0503020204020204" pitchFamily="34" charset="-122"/>
                          <a:cs typeface="+mn-cs"/>
                        </a:rPr>
                        <a:t>检核项目</a:t>
                      </a:r>
                    </a:p>
                  </a:txBody>
                  <a:tcPr marL="72000" marR="72000" marT="36000" marB="36000" anchor="ctr"/>
                </a:tc>
                <a:tc>
                  <a:txBody>
                    <a:bodyPr/>
                    <a:lstStyle/>
                    <a:p>
                      <a:pPr marL="0" algn="ctr" defTabSz="914400" rtl="0" eaLnBrk="1" latinLnBrk="0" hangingPunct="1">
                        <a:lnSpc>
                          <a:spcPct val="100000"/>
                        </a:lnSpc>
                        <a:spcAft>
                          <a:spcPts val="0"/>
                        </a:spcAft>
                      </a:pPr>
                      <a:r>
                        <a:rPr lang="zh-CN" altLang="en-US" sz="1000" b="1" kern="100">
                          <a:solidFill>
                            <a:schemeClr val="lt1"/>
                          </a:solidFill>
                          <a:effectLst/>
                          <a:latin typeface="微软雅黑" panose="020B0503020204020204" pitchFamily="34" charset="-122"/>
                          <a:ea typeface="微软雅黑" panose="020B0503020204020204" pitchFamily="34" charset="-122"/>
                          <a:cs typeface="+mn-cs"/>
                        </a:rPr>
                        <a:t>发散性设想</a:t>
                      </a:r>
                    </a:p>
                  </a:txBody>
                  <a:tcPr marL="72000" marR="72000" marT="36000" marB="36000" anchor="ctr"/>
                </a:tc>
                <a:tc>
                  <a:txBody>
                    <a:bodyPr/>
                    <a:lstStyle/>
                    <a:p>
                      <a:pPr marL="0" algn="ctr" defTabSz="914400" rtl="0" eaLnBrk="1" latinLnBrk="0" hangingPunct="1">
                        <a:lnSpc>
                          <a:spcPct val="100000"/>
                        </a:lnSpc>
                        <a:spcAft>
                          <a:spcPts val="0"/>
                        </a:spcAft>
                      </a:pPr>
                      <a:r>
                        <a:rPr lang="zh-CN" altLang="en-US" sz="1000" b="1" kern="100">
                          <a:solidFill>
                            <a:schemeClr val="lt1"/>
                          </a:solidFill>
                          <a:effectLst/>
                          <a:latin typeface="微软雅黑" panose="020B0503020204020204" pitchFamily="34" charset="-122"/>
                          <a:ea typeface="微软雅黑" panose="020B0503020204020204" pitchFamily="34" charset="-122"/>
                          <a:cs typeface="+mn-cs"/>
                        </a:rPr>
                        <a:t>初选方案</a:t>
                      </a:r>
                    </a:p>
                  </a:txBody>
                  <a:tcPr marL="72000" marR="72000" marT="36000" marB="36000" anchor="ctr"/>
                </a:tc>
                <a:tc>
                  <a:txBody>
                    <a:bodyPr/>
                    <a:lstStyle/>
                    <a:p>
                      <a:pPr marL="0" algn="ctr" defTabSz="914400" rtl="0" eaLnBrk="1" latinLnBrk="0" hangingPunct="1">
                        <a:lnSpc>
                          <a:spcPct val="100000"/>
                        </a:lnSpc>
                        <a:spcAft>
                          <a:spcPts val="0"/>
                        </a:spcAft>
                      </a:pPr>
                      <a:r>
                        <a:rPr lang="zh-CN" altLang="en-US" sz="1000" b="1" kern="100">
                          <a:solidFill>
                            <a:schemeClr val="lt1"/>
                          </a:solidFill>
                          <a:effectLst/>
                          <a:latin typeface="微软雅黑" panose="020B0503020204020204" pitchFamily="34" charset="-122"/>
                          <a:ea typeface="微软雅黑" panose="020B0503020204020204" pitchFamily="34" charset="-122"/>
                          <a:cs typeface="+mn-cs"/>
                        </a:rPr>
                        <a:t>选择理由</a:t>
                      </a:r>
                    </a:p>
                  </a:txBody>
                  <a:tcPr marL="72000" marR="72000" marT="36000" marB="36000" anchor="ctr"/>
                </a:tc>
                <a:extLst>
                  <a:ext uri="{0D108BD9-81ED-4DB2-BD59-A6C34878D82A}">
                    <a16:rowId xmlns:a16="http://schemas.microsoft.com/office/drawing/2014/main" val="4206901533"/>
                  </a:ext>
                </a:extLst>
              </a:tr>
              <a:tr h="0">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1</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能否他用</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作药盒、作香薰扩散器、作桌面盆栽容器、作文具收纳</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药盒</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水杯一体</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满足用户“随身携带药品”的隐藏需求</a:t>
                      </a:r>
                    </a:p>
                  </a:txBody>
                  <a:tcPr marL="72000" marR="72000" marT="36000" marB="36000" anchor="ctr"/>
                </a:tc>
                <a:extLst>
                  <a:ext uri="{0D108BD9-81ED-4DB2-BD59-A6C34878D82A}">
                    <a16:rowId xmlns:a16="http://schemas.microsoft.com/office/drawing/2014/main" val="3816529919"/>
                  </a:ext>
                </a:extLst>
              </a:tr>
              <a:tr h="103257">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2</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能否借用</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借鉴运动手环（饮水提醒）、借鉴智能秤（称重）、借鉴保温杯（温控）、借鉴加湿器（雾化）</a:t>
                      </a:r>
                    </a:p>
                  </a:txBody>
                  <a:tcPr marL="72000" marR="72000" marT="36000" marB="36000" anchor="ctr"/>
                </a:tc>
                <a:tc>
                  <a:txBody>
                    <a:bodyPr/>
                    <a:lstStyle/>
                    <a:p>
                      <a:pPr marL="0" algn="l" defTabSz="914400" rtl="0" eaLnBrk="1" latinLnBrk="0" hangingPunct="1">
                        <a:lnSpc>
                          <a:spcPct val="100000"/>
                        </a:lnSpc>
                        <a:spcAft>
                          <a:spcPts val="0"/>
                        </a:spcAft>
                      </a:pPr>
                      <a:r>
                        <a:rPr 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AI</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饮水提醒</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水质监测</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解决“忘记喝水”的核心痛点，</a:t>
                      </a:r>
                      <a:r>
                        <a:rPr 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AI</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语音提醒具备差异化价值</a:t>
                      </a:r>
                    </a:p>
                  </a:txBody>
                  <a:tcPr marL="72000" marR="72000" marT="36000" marB="36000" anchor="ctr"/>
                </a:tc>
                <a:extLst>
                  <a:ext uri="{0D108BD9-81ED-4DB2-BD59-A6C34878D82A}">
                    <a16:rowId xmlns:a16="http://schemas.microsoft.com/office/drawing/2014/main" val="2677558592"/>
                  </a:ext>
                </a:extLst>
              </a:tr>
              <a:tr h="0">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3</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能否改变</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可变容量（伸缩）、可变温度（加热</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制冷）、可变外观（电子墨水屏）、可变提示（语音</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灯光</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震动）</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电子墨水屏显示水温与饮水量</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可视化数据增强用户交互体验</a:t>
                      </a:r>
                    </a:p>
                  </a:txBody>
                  <a:tcPr marL="72000" marR="72000" marT="36000" marB="36000" anchor="ctr"/>
                </a:tc>
                <a:extLst>
                  <a:ext uri="{0D108BD9-81ED-4DB2-BD59-A6C34878D82A}">
                    <a16:rowId xmlns:a16="http://schemas.microsoft.com/office/drawing/2014/main" val="2578620674"/>
                  </a:ext>
                </a:extLst>
              </a:tr>
              <a:tr h="357769">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4</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能否扩大</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扩大至全家用水监测、扩大至运动补水建议、扩大至健康数据分析、扩大至多人共享</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全家人水杯数据联动</a:t>
                      </a:r>
                      <a:r>
                        <a:rPr 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APP</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从单品到家庭场景，提升用户粘性</a:t>
                      </a:r>
                    </a:p>
                  </a:txBody>
                  <a:tcPr marL="72000" marR="72000" marT="36000" marB="36000" anchor="ctr"/>
                </a:tc>
                <a:extLst>
                  <a:ext uri="{0D108BD9-81ED-4DB2-BD59-A6C34878D82A}">
                    <a16:rowId xmlns:a16="http://schemas.microsoft.com/office/drawing/2014/main" val="5105570"/>
                  </a:ext>
                </a:extLst>
              </a:tr>
              <a:tr h="233490">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5</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能否缩小</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缩小至便携胶囊杯、缩小至挂扣式、缩小至折叠杯</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折叠胶囊杯</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解决户外携带不便问题</a:t>
                      </a:r>
                    </a:p>
                  </a:txBody>
                  <a:tcPr marL="72000" marR="72000" marT="36000" marB="36000" anchor="ctr"/>
                </a:tc>
                <a:extLst>
                  <a:ext uri="{0D108BD9-81ED-4DB2-BD59-A6C34878D82A}">
                    <a16:rowId xmlns:a16="http://schemas.microsoft.com/office/drawing/2014/main" val="837780530"/>
                  </a:ext>
                </a:extLst>
              </a:tr>
              <a:tr h="297443">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6</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能否替代</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替代塑料（竹纤维）、替代电子屏（灯光投影）、替代按键（手势</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语音控制）、替代充电（太阳能）</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太阳能</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语音控制</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解决频繁充电的痛点，降低使用门槛</a:t>
                      </a:r>
                    </a:p>
                  </a:txBody>
                  <a:tcPr marL="72000" marR="72000" marT="36000" marB="36000" anchor="ctr"/>
                </a:tc>
                <a:extLst>
                  <a:ext uri="{0D108BD9-81ED-4DB2-BD59-A6C34878D82A}">
                    <a16:rowId xmlns:a16="http://schemas.microsoft.com/office/drawing/2014/main" val="4280721375"/>
                  </a:ext>
                </a:extLst>
              </a:tr>
              <a:tr h="297443">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7</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能否调整</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调整杯身透明度（隐私模式）、调整饮水提醒频率（根据用户活动量）、调整口感（矿物质添加）</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根据用户活动量动态调整提醒</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个性化饮水方案，</a:t>
                      </a:r>
                      <a:r>
                        <a:rPr 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AI</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驱动</a:t>
                      </a:r>
                    </a:p>
                  </a:txBody>
                  <a:tcPr marL="72000" marR="72000" marT="36000" marB="36000" anchor="ctr"/>
                </a:tc>
                <a:extLst>
                  <a:ext uri="{0D108BD9-81ED-4DB2-BD59-A6C34878D82A}">
                    <a16:rowId xmlns:a16="http://schemas.microsoft.com/office/drawing/2014/main" val="1960057922"/>
                  </a:ext>
                </a:extLst>
              </a:tr>
              <a:tr h="218015">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8</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能否颠倒</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倒置为保温底座、倒置为手机支架、倒置为加湿器</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倒置保温底座</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一物多用，提升产品价值</a:t>
                      </a:r>
                    </a:p>
                  </a:txBody>
                  <a:tcPr marL="72000" marR="72000" marT="36000" marB="36000" anchor="ctr"/>
                </a:tc>
                <a:extLst>
                  <a:ext uri="{0D108BD9-81ED-4DB2-BD59-A6C34878D82A}">
                    <a16:rowId xmlns:a16="http://schemas.microsoft.com/office/drawing/2014/main" val="3534676075"/>
                  </a:ext>
                </a:extLst>
              </a:tr>
              <a:tr h="297443">
                <a:tc>
                  <a:txBody>
                    <a:bodyPr/>
                    <a:lstStyle/>
                    <a:p>
                      <a:pPr marL="0" algn="ctr" defTabSz="914400" rtl="0" eaLnBrk="1" latinLnBrk="0" hangingPunct="1">
                        <a:lnSpc>
                          <a:spcPct val="100000"/>
                        </a:lnSpc>
                        <a:spcAft>
                          <a:spcPts val="0"/>
                        </a:spcAft>
                      </a:pPr>
                      <a:r>
                        <a:rPr lang="en-US" altLang="zh-CN" sz="1000" b="1" kern="100">
                          <a:solidFill>
                            <a:schemeClr val="lt1"/>
                          </a:solidFill>
                          <a:effectLst/>
                          <a:latin typeface="Arial Black" panose="020B0A04020102020204" pitchFamily="34" charset="0"/>
                          <a:ea typeface="微软雅黑" panose="020B0503020204020204" pitchFamily="34" charset="-122"/>
                          <a:cs typeface="+mn-cs"/>
                        </a:rPr>
                        <a:t>9</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能否组合</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与充电宝组合、与蓝牙音箱组合、与药盒组合、与空气质量监测器组合</a:t>
                      </a:r>
                    </a:p>
                  </a:txBody>
                  <a:tcPr marL="72000" marR="72000" marT="36000" marB="36000" anchor="ctr"/>
                </a:tc>
                <a:tc>
                  <a:txBody>
                    <a:bodyPr/>
                    <a:lstStyle/>
                    <a:p>
                      <a:pPr marL="0" algn="l" defTabSz="914400" rtl="0" eaLnBrk="1" latinLnBrk="0" hangingPunct="1">
                        <a:lnSpc>
                          <a:spcPct val="100000"/>
                        </a:lnSpc>
                        <a:spcAft>
                          <a:spcPts val="0"/>
                        </a:spcAft>
                      </a:pP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水杯</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充电宝</a:t>
                      </a:r>
                      <a:r>
                        <a:rPr lang="en-US" altLang="zh-CN"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空气质量监测</a:t>
                      </a:r>
                    </a:p>
                  </a:txBody>
                  <a:tcPr marL="72000" marR="72000" marT="36000" marB="36000" anchor="ctr"/>
                </a:tc>
                <a:tc>
                  <a:txBody>
                    <a:bodyPr/>
                    <a:lstStyle/>
                    <a:p>
                      <a:pPr marL="0" algn="l" defTabSz="914400" rtl="0" eaLnBrk="1" latinLnBrk="0" hangingPunct="1">
                        <a:lnSpc>
                          <a:spcPct val="100000"/>
                        </a:lnSpc>
                        <a:spcAft>
                          <a:spcPts val="0"/>
                        </a:spcAft>
                      </a:pPr>
                      <a:r>
                        <a:rPr 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AI</a:t>
                      </a:r>
                      <a:r>
                        <a:rPr lang="zh-CN" altLang="en-US" sz="10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分析环境数据，自动建议饮水策略</a:t>
                      </a:r>
                    </a:p>
                  </a:txBody>
                  <a:tcPr marL="72000" marR="72000" marT="36000" marB="36000" anchor="ctr"/>
                </a:tc>
                <a:extLst>
                  <a:ext uri="{0D108BD9-81ED-4DB2-BD59-A6C34878D82A}">
                    <a16:rowId xmlns:a16="http://schemas.microsoft.com/office/drawing/2014/main" val="2305745030"/>
                  </a:ext>
                </a:extLst>
              </a:tr>
            </a:tbl>
          </a:graphicData>
        </a:graphic>
      </p:graphicFrame>
    </p:spTree>
  </p:cSld>
  <p:clrMapOvr>
    <a:masterClrMapping/>
  </p:clrMapOvr>
  <p:transition advTm="31939">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915781" y="2120106"/>
            <a:ext cx="4392488" cy="1944216"/>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0"/>
              </a:spcBef>
              <a:buClr>
                <a:srgbClr val="00B0F0"/>
              </a:buClr>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来源及作用：</a:t>
            </a:r>
            <a:r>
              <a:rPr lang="en-US" altLang="zh-CN" sz="20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5W2H</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分析法又叫七何分析法，是二战中美国陆军兵器</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修理部</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首创，简单、方便，易于理解、使用，富有启发意义，广泛用于企业</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管理</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技术</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活动，对于</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决策</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执行性</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的活动措施也非常有帮助，也有助于弥补考虑问题的</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疏漏</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5652120" y="1877260"/>
            <a:ext cx="2532100" cy="2429908"/>
          </a:xfrm>
          <a:prstGeom prst="rect">
            <a:avLst/>
          </a:prstGeom>
        </p:spPr>
      </p:pic>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7" name="文本框 7"/>
          <p:cNvSpPr txBox="1"/>
          <p:nvPr/>
        </p:nvSpPr>
        <p:spPr>
          <a:xfrm>
            <a:off x="971599" y="1745439"/>
            <a:ext cx="3816426" cy="307777"/>
          </a:xfrm>
          <a:prstGeom prst="rect">
            <a:avLst/>
          </a:prstGeom>
          <a:noFill/>
        </p:spPr>
        <p:txBody>
          <a:bodyPr wrap="square" rtlCol="0">
            <a:spAutoFit/>
          </a:bodyPr>
          <a:lstStyle/>
          <a:p>
            <a:r>
              <a:rPr lang="en-US" altLang="zh-CN" sz="1400" b="1" smtClean="0">
                <a:latin typeface="Times New Roman" panose="02020603050405020304" pitchFamily="18" charset="0"/>
                <a:ea typeface="仿宋" panose="02010609060101010101" pitchFamily="49" charset="-122"/>
                <a:cs typeface="Times New Roman" panose="02020603050405020304" pitchFamily="18" charset="0"/>
              </a:rPr>
              <a:t>5W2H</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分析法：</a:t>
            </a:r>
            <a:endParaRPr lang="zh-CN" altLang="en-US" sz="1400" b="1" dirty="0">
              <a:latin typeface="Times New Roman" panose="02020603050405020304" pitchFamily="18" charset="0"/>
              <a:ea typeface="仿宋" panose="02010609060101010101" pitchFamily="49" charset="-122"/>
              <a:cs typeface="Times New Roman" panose="02020603050405020304" pitchFamily="18" charset="0"/>
            </a:endParaRPr>
          </a:p>
        </p:txBody>
      </p:sp>
    </p:spTree>
  </p:cSld>
  <p:clrMapOvr>
    <a:masterClrMapping/>
  </p:clrMapOvr>
  <p:transition advTm="31939">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971599" y="1694569"/>
            <a:ext cx="6264698" cy="800542"/>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chemeClr val="tx1"/>
              </a:buClr>
            </a:pP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5W2H</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分析</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法</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应用案例</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要素定义</a:t>
            </a:r>
          </a:p>
          <a:p>
            <a:pPr algn="l">
              <a:lnSpc>
                <a:spcPct val="120000"/>
              </a:lnSpc>
              <a:spcBef>
                <a:spcPts val="600"/>
              </a:spcBef>
              <a:buClr>
                <a:schemeClr val="tx1"/>
              </a:buClr>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功能定位：</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项目启动时，用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5W2H</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澄清任务的基本要素，确保团队对“做什么、谁来做、何时做、何地做”达成</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共</a:t>
            </a:r>
            <a:r>
              <a:rPr lang="zh-CN" altLang="en-US"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识。</a:t>
            </a:r>
            <a:endParaRPr lang="en-US" altLang="zh-CN"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1465426309"/>
              </p:ext>
            </p:extLst>
          </p:nvPr>
        </p:nvGraphicFramePr>
        <p:xfrm>
          <a:off x="1005601" y="2540992"/>
          <a:ext cx="3998447" cy="2206135"/>
        </p:xfrm>
        <a:graphic>
          <a:graphicData uri="http://schemas.openxmlformats.org/drawingml/2006/table">
            <a:tbl>
              <a:tblPr firstRow="1" firstCol="1" bandRow="1">
                <a:tableStyleId>{5C22544A-7EE6-4342-B048-85BDC9FD1C3A}</a:tableStyleId>
              </a:tblPr>
              <a:tblGrid>
                <a:gridCol w="1190135">
                  <a:extLst>
                    <a:ext uri="{9D8B030D-6E8A-4147-A177-3AD203B41FA5}">
                      <a16:colId xmlns:a16="http://schemas.microsoft.com/office/drawing/2014/main" val="3411357719"/>
                    </a:ext>
                  </a:extLst>
                </a:gridCol>
                <a:gridCol w="2808312">
                  <a:extLst>
                    <a:ext uri="{9D8B030D-6E8A-4147-A177-3AD203B41FA5}">
                      <a16:colId xmlns:a16="http://schemas.microsoft.com/office/drawing/2014/main" val="3193549126"/>
                    </a:ext>
                  </a:extLst>
                </a:gridCol>
              </a:tblGrid>
              <a:tr h="297443">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维度</a:t>
                      </a:r>
                    </a:p>
                  </a:txBody>
                  <a:tcPr marL="72000" marR="72000" marT="36000" marB="36000" anchor="ctr"/>
                </a:tc>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引导问题</a:t>
                      </a:r>
                    </a:p>
                  </a:txBody>
                  <a:tcPr marL="72000" marR="72000" marT="36000" marB="36000" anchor="ctr"/>
                </a:tc>
                <a:extLst>
                  <a:ext uri="{0D108BD9-81ED-4DB2-BD59-A6C34878D82A}">
                    <a16:rowId xmlns:a16="http://schemas.microsoft.com/office/drawing/2014/main" val="4206901533"/>
                  </a:ext>
                </a:extLst>
              </a:tr>
              <a:tr h="0">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WHAT</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是什么？目的是什么？做什么工作？</a:t>
                      </a:r>
                    </a:p>
                  </a:txBody>
                  <a:tcPr marL="72000" marR="72000" marT="36000" marB="36000" anchor="ctr"/>
                </a:tc>
                <a:extLst>
                  <a:ext uri="{0D108BD9-81ED-4DB2-BD59-A6C34878D82A}">
                    <a16:rowId xmlns:a16="http://schemas.microsoft.com/office/drawing/2014/main" val="3816529919"/>
                  </a:ext>
                </a:extLst>
              </a:tr>
              <a:tr h="0">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WHO</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谁？谁来承担？谁来完成？谁来负责？</a:t>
                      </a:r>
                    </a:p>
                  </a:txBody>
                  <a:tcPr marL="72000" marR="72000" marT="36000" marB="36000" anchor="ctr"/>
                </a:tc>
                <a:extLst>
                  <a:ext uri="{0D108BD9-81ED-4DB2-BD59-A6C34878D82A}">
                    <a16:rowId xmlns:a16="http://schemas.microsoft.com/office/drawing/2014/main" val="5105570"/>
                  </a:ext>
                </a:extLst>
              </a:tr>
              <a:tr h="233490">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WHEN</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何时？什么时候完成？什么时机最适宜？</a:t>
                      </a:r>
                    </a:p>
                  </a:txBody>
                  <a:tcPr marL="72000" marR="72000" marT="36000" marB="36000" anchor="ctr"/>
                </a:tc>
                <a:extLst>
                  <a:ext uri="{0D108BD9-81ED-4DB2-BD59-A6C34878D82A}">
                    <a16:rowId xmlns:a16="http://schemas.microsoft.com/office/drawing/2014/main" val="837780530"/>
                  </a:ext>
                </a:extLst>
              </a:tr>
              <a:tr h="297443">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WHERE</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何处？在哪里做？从哪里入手？</a:t>
                      </a:r>
                    </a:p>
                  </a:txBody>
                  <a:tcPr marL="72000" marR="72000" marT="36000" marB="36000" anchor="ctr"/>
                </a:tc>
                <a:extLst>
                  <a:ext uri="{0D108BD9-81ED-4DB2-BD59-A6C34878D82A}">
                    <a16:rowId xmlns:a16="http://schemas.microsoft.com/office/drawing/2014/main" val="4280721375"/>
                  </a:ext>
                </a:extLst>
              </a:tr>
              <a:tr h="297443">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WHY</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为什么？为什么要这么做？原因是什么？</a:t>
                      </a:r>
                    </a:p>
                  </a:txBody>
                  <a:tcPr marL="72000" marR="72000" marT="36000" marB="36000" anchor="ctr"/>
                </a:tc>
                <a:extLst>
                  <a:ext uri="{0D108BD9-81ED-4DB2-BD59-A6C34878D82A}">
                    <a16:rowId xmlns:a16="http://schemas.microsoft.com/office/drawing/2014/main" val="1960057922"/>
                  </a:ext>
                </a:extLst>
              </a:tr>
              <a:tr h="297443">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HOW</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怎么做？如何提高效率？如何实施？</a:t>
                      </a:r>
                    </a:p>
                  </a:txBody>
                  <a:tcPr marL="72000" marR="72000" marT="36000" marB="36000" anchor="ctr"/>
                </a:tc>
                <a:extLst>
                  <a:ext uri="{0D108BD9-81ED-4DB2-BD59-A6C34878D82A}">
                    <a16:rowId xmlns:a16="http://schemas.microsoft.com/office/drawing/2014/main" val="3534676075"/>
                  </a:ext>
                </a:extLst>
              </a:tr>
              <a:tr h="297443">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HOW MUCH</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多少？做到什么程度？成本多少？</a:t>
                      </a:r>
                    </a:p>
                  </a:txBody>
                  <a:tcPr marL="72000" marR="72000" marT="36000" marB="36000" anchor="ctr"/>
                </a:tc>
                <a:extLst>
                  <a:ext uri="{0D108BD9-81ED-4DB2-BD59-A6C34878D82A}">
                    <a16:rowId xmlns:a16="http://schemas.microsoft.com/office/drawing/2014/main" val="2305745030"/>
                  </a:ext>
                </a:extLst>
              </a:tr>
            </a:tbl>
          </a:graphicData>
        </a:graphic>
      </p:graphicFrame>
    </p:spTree>
  </p:cSld>
  <p:clrMapOvr>
    <a:masterClrMapping/>
  </p:clrMapOvr>
  <p:transition advTm="31939">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971599" y="1694569"/>
            <a:ext cx="6264698" cy="661157"/>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chemeClr val="tx1"/>
              </a:buClr>
            </a:pP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5W2H</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分析</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法</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应用案例</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场景</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探</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索</a:t>
            </a:r>
            <a:endPar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buClr>
                <a:schemeClr val="tx1"/>
              </a:buClr>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功能定</a:t>
            </a: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位</a:t>
            </a:r>
            <a:r>
              <a:rPr lang="zh-CN" altLang="en-US"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案构思或问题诊断时，结合具体应用场景，在各维度中寻找改进机会。</a:t>
            </a:r>
          </a:p>
          <a:p>
            <a:pPr algn="l">
              <a:lnSpc>
                <a:spcPct val="120000"/>
              </a:lnSpc>
              <a:spcBef>
                <a:spcPts val="600"/>
              </a:spcBef>
              <a:buClr>
                <a:schemeClr val="tx1"/>
              </a:buClr>
            </a:pPr>
            <a:endParaRPr lang="en-US" altLang="zh-CN"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774476142"/>
              </p:ext>
            </p:extLst>
          </p:nvPr>
        </p:nvGraphicFramePr>
        <p:xfrm>
          <a:off x="971599" y="2387265"/>
          <a:ext cx="3998447" cy="2206135"/>
        </p:xfrm>
        <a:graphic>
          <a:graphicData uri="http://schemas.openxmlformats.org/drawingml/2006/table">
            <a:tbl>
              <a:tblPr firstRow="1" firstCol="1" bandRow="1">
                <a:tableStyleId>{5C22544A-7EE6-4342-B048-85BDC9FD1C3A}</a:tableStyleId>
              </a:tblPr>
              <a:tblGrid>
                <a:gridCol w="1190135">
                  <a:extLst>
                    <a:ext uri="{9D8B030D-6E8A-4147-A177-3AD203B41FA5}">
                      <a16:colId xmlns:a16="http://schemas.microsoft.com/office/drawing/2014/main" val="3411357719"/>
                    </a:ext>
                  </a:extLst>
                </a:gridCol>
                <a:gridCol w="2808312">
                  <a:extLst>
                    <a:ext uri="{9D8B030D-6E8A-4147-A177-3AD203B41FA5}">
                      <a16:colId xmlns:a16="http://schemas.microsoft.com/office/drawing/2014/main" val="3193549126"/>
                    </a:ext>
                  </a:extLst>
                </a:gridCol>
              </a:tblGrid>
              <a:tr h="297443">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维度</a:t>
                      </a:r>
                    </a:p>
                  </a:txBody>
                  <a:tcPr marL="72000" marR="72000" marT="36000" marB="36000" anchor="ctr"/>
                </a:tc>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引导问题</a:t>
                      </a:r>
                    </a:p>
                  </a:txBody>
                  <a:tcPr marL="72000" marR="72000" marT="36000" marB="36000" anchor="ctr"/>
                </a:tc>
                <a:extLst>
                  <a:ext uri="{0D108BD9-81ED-4DB2-BD59-A6C34878D82A}">
                    <a16:rowId xmlns:a16="http://schemas.microsoft.com/office/drawing/2014/main" val="4206901533"/>
                  </a:ext>
                </a:extLst>
              </a:tr>
              <a:tr h="0">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WHAT</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是什么？目的是什么？做什么工作？</a:t>
                      </a:r>
                    </a:p>
                  </a:txBody>
                  <a:tcPr marL="72000" marR="72000" marT="36000" marB="36000" anchor="ctr"/>
                </a:tc>
                <a:extLst>
                  <a:ext uri="{0D108BD9-81ED-4DB2-BD59-A6C34878D82A}">
                    <a16:rowId xmlns:a16="http://schemas.microsoft.com/office/drawing/2014/main" val="3816529919"/>
                  </a:ext>
                </a:extLst>
              </a:tr>
              <a:tr h="0">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WHO</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谁？谁来承担？谁来完成？谁来负责？</a:t>
                      </a:r>
                    </a:p>
                  </a:txBody>
                  <a:tcPr marL="72000" marR="72000" marT="36000" marB="36000" anchor="ctr"/>
                </a:tc>
                <a:extLst>
                  <a:ext uri="{0D108BD9-81ED-4DB2-BD59-A6C34878D82A}">
                    <a16:rowId xmlns:a16="http://schemas.microsoft.com/office/drawing/2014/main" val="5105570"/>
                  </a:ext>
                </a:extLst>
              </a:tr>
              <a:tr h="233490">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WHEN</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何时？什么时候完成？什么时机最适宜？</a:t>
                      </a:r>
                    </a:p>
                  </a:txBody>
                  <a:tcPr marL="72000" marR="72000" marT="36000" marB="36000" anchor="ctr"/>
                </a:tc>
                <a:extLst>
                  <a:ext uri="{0D108BD9-81ED-4DB2-BD59-A6C34878D82A}">
                    <a16:rowId xmlns:a16="http://schemas.microsoft.com/office/drawing/2014/main" val="837780530"/>
                  </a:ext>
                </a:extLst>
              </a:tr>
              <a:tr h="297443">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WHERE</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何处？在哪里做？从哪里入手？</a:t>
                      </a:r>
                    </a:p>
                  </a:txBody>
                  <a:tcPr marL="72000" marR="72000" marT="36000" marB="36000" anchor="ctr"/>
                </a:tc>
                <a:extLst>
                  <a:ext uri="{0D108BD9-81ED-4DB2-BD59-A6C34878D82A}">
                    <a16:rowId xmlns:a16="http://schemas.microsoft.com/office/drawing/2014/main" val="4280721375"/>
                  </a:ext>
                </a:extLst>
              </a:tr>
              <a:tr h="297443">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WHY</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为什么？为什么要这么做？原因是什么？</a:t>
                      </a:r>
                    </a:p>
                  </a:txBody>
                  <a:tcPr marL="72000" marR="72000" marT="36000" marB="36000" anchor="ctr"/>
                </a:tc>
                <a:extLst>
                  <a:ext uri="{0D108BD9-81ED-4DB2-BD59-A6C34878D82A}">
                    <a16:rowId xmlns:a16="http://schemas.microsoft.com/office/drawing/2014/main" val="1960057922"/>
                  </a:ext>
                </a:extLst>
              </a:tr>
              <a:tr h="297443">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HOW</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怎么做？如何提高效率？如何实施？</a:t>
                      </a:r>
                    </a:p>
                  </a:txBody>
                  <a:tcPr marL="72000" marR="72000" marT="36000" marB="36000" anchor="ctr"/>
                </a:tc>
                <a:extLst>
                  <a:ext uri="{0D108BD9-81ED-4DB2-BD59-A6C34878D82A}">
                    <a16:rowId xmlns:a16="http://schemas.microsoft.com/office/drawing/2014/main" val="3534676075"/>
                  </a:ext>
                </a:extLst>
              </a:tr>
              <a:tr h="297443">
                <a:tc>
                  <a:txBody>
                    <a:bodyPr/>
                    <a:lstStyle/>
                    <a:p>
                      <a:pPr marL="0" algn="ctr" defTabSz="914400" rtl="0" eaLnBrk="1" latinLnBrk="0" hangingPunct="1">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HOW MUCH</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多少？做到什么程度？成本多少？</a:t>
                      </a:r>
                    </a:p>
                  </a:txBody>
                  <a:tcPr marL="72000" marR="72000" marT="36000" marB="36000" anchor="ctr"/>
                </a:tc>
                <a:extLst>
                  <a:ext uri="{0D108BD9-81ED-4DB2-BD59-A6C34878D82A}">
                    <a16:rowId xmlns:a16="http://schemas.microsoft.com/office/drawing/2014/main" val="2305745030"/>
                  </a:ext>
                </a:extLst>
              </a:tr>
            </a:tbl>
          </a:graphicData>
        </a:graphic>
      </p:graphicFrame>
    </p:spTree>
    <p:extLst>
      <p:ext uri="{BB962C8B-B14F-4D97-AF65-F5344CB8AC3E}">
        <p14:creationId xmlns:p14="http://schemas.microsoft.com/office/powerpoint/2010/main" val="2760971635"/>
      </p:ext>
    </p:extLst>
  </p:cSld>
  <p:clrMapOvr>
    <a:masterClrMapping/>
  </p:clrMapOvr>
  <p:transition advTm="31939">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971599" y="1694569"/>
            <a:ext cx="6264698" cy="877181"/>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chemeClr val="tx1"/>
              </a:buClr>
            </a:pP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5W2H</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分析</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法</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应用案例</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决</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策追问</a:t>
            </a:r>
          </a:p>
          <a:p>
            <a:pPr algn="l">
              <a:lnSpc>
                <a:spcPct val="120000"/>
              </a:lnSpc>
              <a:spcBef>
                <a:spcPts val="600"/>
              </a:spcBef>
              <a:buClr>
                <a:schemeClr val="tx1"/>
              </a:buClr>
            </a:pPr>
            <a:r>
              <a:rPr lang="zh-CN" altLang="en-US"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功</a:t>
            </a: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能定</a:t>
            </a: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位</a:t>
            </a:r>
            <a:r>
              <a:rPr lang="zh-CN" altLang="en-US"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案筛选或优化决策时，通过四层递进追问（是什么→为什么→有更合适的吗→为什么更合适），从“提问”走向“结论”，为每个维度做出最优选择。</a:t>
            </a:r>
          </a:p>
          <a:p>
            <a:pPr algn="l">
              <a:lnSpc>
                <a:spcPct val="120000"/>
              </a:lnSpc>
              <a:spcBef>
                <a:spcPts val="600"/>
              </a:spcBef>
              <a:buClr>
                <a:schemeClr val="tx1"/>
              </a:buClr>
            </a:pPr>
            <a:endPar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buClr>
                <a:schemeClr val="tx1"/>
              </a:buClr>
            </a:pPr>
            <a:endPar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3386017762"/>
              </p:ext>
            </p:extLst>
          </p:nvPr>
        </p:nvGraphicFramePr>
        <p:xfrm>
          <a:off x="971599" y="2571750"/>
          <a:ext cx="6984776" cy="2206135"/>
        </p:xfrm>
        <a:graphic>
          <a:graphicData uri="http://schemas.openxmlformats.org/drawingml/2006/table">
            <a:tbl>
              <a:tblPr firstRow="1" firstCol="1" bandRow="1">
                <a:tableStyleId>{5C22544A-7EE6-4342-B048-85BDC9FD1C3A}</a:tableStyleId>
              </a:tblPr>
              <a:tblGrid>
                <a:gridCol w="1152128">
                  <a:extLst>
                    <a:ext uri="{9D8B030D-6E8A-4147-A177-3AD203B41FA5}">
                      <a16:colId xmlns:a16="http://schemas.microsoft.com/office/drawing/2014/main" val="3411357719"/>
                    </a:ext>
                  </a:extLst>
                </a:gridCol>
                <a:gridCol w="720080">
                  <a:extLst>
                    <a:ext uri="{9D8B030D-6E8A-4147-A177-3AD203B41FA5}">
                      <a16:colId xmlns:a16="http://schemas.microsoft.com/office/drawing/2014/main" val="3193549126"/>
                    </a:ext>
                  </a:extLst>
                </a:gridCol>
                <a:gridCol w="1440160">
                  <a:extLst>
                    <a:ext uri="{9D8B030D-6E8A-4147-A177-3AD203B41FA5}">
                      <a16:colId xmlns:a16="http://schemas.microsoft.com/office/drawing/2014/main" val="3078242588"/>
                    </a:ext>
                  </a:extLst>
                </a:gridCol>
                <a:gridCol w="1368152">
                  <a:extLst>
                    <a:ext uri="{9D8B030D-6E8A-4147-A177-3AD203B41FA5}">
                      <a16:colId xmlns:a16="http://schemas.microsoft.com/office/drawing/2014/main" val="2893165422"/>
                    </a:ext>
                  </a:extLst>
                </a:gridCol>
                <a:gridCol w="1656184">
                  <a:extLst>
                    <a:ext uri="{9D8B030D-6E8A-4147-A177-3AD203B41FA5}">
                      <a16:colId xmlns:a16="http://schemas.microsoft.com/office/drawing/2014/main" val="3910289416"/>
                    </a:ext>
                  </a:extLst>
                </a:gridCol>
                <a:gridCol w="648072">
                  <a:extLst>
                    <a:ext uri="{9D8B030D-6E8A-4147-A177-3AD203B41FA5}">
                      <a16:colId xmlns:a16="http://schemas.microsoft.com/office/drawing/2014/main" val="3754214776"/>
                    </a:ext>
                  </a:extLst>
                </a:gridCol>
              </a:tblGrid>
              <a:tr h="297443">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维度</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第一层</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第二层</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第三层</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第四层</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结论</a:t>
                      </a:r>
                    </a:p>
                  </a:txBody>
                  <a:tcPr marL="72000" marR="72000" marT="36000" marB="36000" anchor="ctr"/>
                </a:tc>
                <a:extLst>
                  <a:ext uri="{0D108BD9-81ED-4DB2-BD59-A6C34878D82A}">
                    <a16:rowId xmlns:a16="http://schemas.microsoft.com/office/drawing/2014/main" val="4206901533"/>
                  </a:ext>
                </a:extLst>
              </a:tr>
              <a:tr h="0">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WHAT</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何人</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ta</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有更合适的人吗</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为什么是更合适的人</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定人</a:t>
                      </a:r>
                    </a:p>
                  </a:txBody>
                  <a:tcPr marL="72000" marR="72000" marT="36000" marB="36000" anchor="ctr"/>
                </a:tc>
                <a:extLst>
                  <a:ext uri="{0D108BD9-81ED-4DB2-BD59-A6C34878D82A}">
                    <a16:rowId xmlns:a16="http://schemas.microsoft.com/office/drawing/2014/main" val="3816529919"/>
                  </a:ext>
                </a:extLst>
              </a:tr>
              <a:tr h="0">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WHO</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何时</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为什么是这个时间</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有更合适的时间吗</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为什么是更合适的时间</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定时</a:t>
                      </a:r>
                    </a:p>
                  </a:txBody>
                  <a:tcPr marL="72000" marR="72000" marT="36000" marB="36000" anchor="ctr"/>
                </a:tc>
                <a:extLst>
                  <a:ext uri="{0D108BD9-81ED-4DB2-BD59-A6C34878D82A}">
                    <a16:rowId xmlns:a16="http://schemas.microsoft.com/office/drawing/2014/main" val="5105570"/>
                  </a:ext>
                </a:extLst>
              </a:tr>
              <a:tr h="233490">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WHEN</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何地</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为什么是这个地点</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有更合适的地点吗</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为什么是更合适的地点</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定位</a:t>
                      </a:r>
                    </a:p>
                  </a:txBody>
                  <a:tcPr marL="72000" marR="72000" marT="36000" marB="36000" anchor="ctr"/>
                </a:tc>
                <a:extLst>
                  <a:ext uri="{0D108BD9-81ED-4DB2-BD59-A6C34878D82A}">
                    <a16:rowId xmlns:a16="http://schemas.microsoft.com/office/drawing/2014/main" val="837780530"/>
                  </a:ext>
                </a:extLst>
              </a:tr>
              <a:tr h="297443">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WHERE</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何故</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为什么是这个原因</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有更合适的理由吗</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为什么是更合适的理由</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定原因</a:t>
                      </a:r>
                    </a:p>
                  </a:txBody>
                  <a:tcPr marL="72000" marR="72000" marT="36000" marB="36000" anchor="ctr"/>
                </a:tc>
                <a:extLst>
                  <a:ext uri="{0D108BD9-81ED-4DB2-BD59-A6C34878D82A}">
                    <a16:rowId xmlns:a16="http://schemas.microsoft.com/office/drawing/2014/main" val="4280721375"/>
                  </a:ext>
                </a:extLst>
              </a:tr>
              <a:tr h="297443">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WHY</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何事</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为什么做这个事</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有更合适的事情吗</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为什么是更合适的事情</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定事</a:t>
                      </a:r>
                    </a:p>
                  </a:txBody>
                  <a:tcPr marL="72000" marR="72000" marT="36000" marB="36000" anchor="ctr"/>
                </a:tc>
                <a:extLst>
                  <a:ext uri="{0D108BD9-81ED-4DB2-BD59-A6C34878D82A}">
                    <a16:rowId xmlns:a16="http://schemas.microsoft.com/office/drawing/2014/main" val="1960057922"/>
                  </a:ext>
                </a:extLst>
              </a:tr>
              <a:tr h="297443">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HOW</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何法</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为什么采用这个方法</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有更合适的方法吗</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为什么是更合适的方法</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定方法</a:t>
                      </a:r>
                    </a:p>
                  </a:txBody>
                  <a:tcPr marL="72000" marR="72000" marT="36000" marB="36000" anchor="ctr"/>
                </a:tc>
                <a:extLst>
                  <a:ext uri="{0D108BD9-81ED-4DB2-BD59-A6C34878D82A}">
                    <a16:rowId xmlns:a16="http://schemas.microsoft.com/office/drawing/2014/main" val="3534676075"/>
                  </a:ext>
                </a:extLst>
              </a:tr>
              <a:tr h="297443">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mn-cs"/>
                        </a:rPr>
                        <a:t>HOW MUCH</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花费</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为什么要这些花费</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有更合适的花费吗</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为什么是更合适的花费</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定耗费</a:t>
                      </a:r>
                    </a:p>
                  </a:txBody>
                  <a:tcPr marL="72000" marR="72000" marT="36000" marB="36000" anchor="ctr"/>
                </a:tc>
                <a:extLst>
                  <a:ext uri="{0D108BD9-81ED-4DB2-BD59-A6C34878D82A}">
                    <a16:rowId xmlns:a16="http://schemas.microsoft.com/office/drawing/2014/main" val="2305745030"/>
                  </a:ext>
                </a:extLst>
              </a:tr>
            </a:tbl>
          </a:graphicData>
        </a:graphic>
      </p:graphicFrame>
    </p:spTree>
    <p:extLst>
      <p:ext uri="{BB962C8B-B14F-4D97-AF65-F5344CB8AC3E}">
        <p14:creationId xmlns:p14="http://schemas.microsoft.com/office/powerpoint/2010/main" val="1629967459"/>
      </p:ext>
    </p:extLst>
  </p:cSld>
  <p:clrMapOvr>
    <a:masterClrMapping/>
  </p:clrMapOvr>
  <p:transition advTm="31939">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971599" y="1707654"/>
            <a:ext cx="7200801" cy="1872208"/>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en-US" altLang="zh-CN"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MVP</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Minimum Viable </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Product</a:t>
            </a:r>
            <a:r>
              <a:rPr lang="zh-CN" altLang="en-US"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验</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证</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法：</a:t>
            </a:r>
            <a:endParaRPr lang="en-US" altLang="zh-CN"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en-US"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MVP</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（最小可行产品）是</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精益创业方法论</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的核心概念，由</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Eric Ries</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在</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精益创业</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The Lean Startup</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）中系统提出，指用</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最低成本快速验证</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商业或技术假设的产品形态。其核心逻辑是“</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构建→测量→学习</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”的迭代循环，强调通过科学实验</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替代</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主观预测，</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消除</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创新过程中的资源浪费。</a:t>
            </a:r>
          </a:p>
        </p:txBody>
      </p:sp>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extLst>
              <p:ext uri="{D42A27DB-BD31-4B8C-83A1-F6EECF244321}">
                <p14:modId xmlns:p14="http://schemas.microsoft.com/office/powerpoint/2010/main" val="3637665855"/>
              </p:ext>
            </p:extLst>
          </p:nvPr>
        </p:nvGraphicFramePr>
        <p:xfrm>
          <a:off x="971599" y="3637225"/>
          <a:ext cx="7344817" cy="1224136"/>
        </p:xfrm>
        <a:graphic>
          <a:graphicData uri="http://schemas.openxmlformats.org/drawingml/2006/table">
            <a:tbl>
              <a:tblPr firstRow="1" firstCol="1" bandRow="1">
                <a:tableStyleId>{5C22544A-7EE6-4342-B048-85BDC9FD1C3A}</a:tableStyleId>
              </a:tblPr>
              <a:tblGrid>
                <a:gridCol w="1080121">
                  <a:extLst>
                    <a:ext uri="{9D8B030D-6E8A-4147-A177-3AD203B41FA5}">
                      <a16:colId xmlns:a16="http://schemas.microsoft.com/office/drawing/2014/main" val="1277088294"/>
                    </a:ext>
                  </a:extLst>
                </a:gridCol>
                <a:gridCol w="2376264">
                  <a:extLst>
                    <a:ext uri="{9D8B030D-6E8A-4147-A177-3AD203B41FA5}">
                      <a16:colId xmlns:a16="http://schemas.microsoft.com/office/drawing/2014/main" val="2313742588"/>
                    </a:ext>
                  </a:extLst>
                </a:gridCol>
                <a:gridCol w="3888432">
                  <a:extLst>
                    <a:ext uri="{9D8B030D-6E8A-4147-A177-3AD203B41FA5}">
                      <a16:colId xmlns:a16="http://schemas.microsoft.com/office/drawing/2014/main" val="2505089529"/>
                    </a:ext>
                  </a:extLst>
                </a:gridCol>
              </a:tblGrid>
              <a:tr h="297443">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要素</a:t>
                      </a:r>
                    </a:p>
                  </a:txBody>
                  <a:tcPr marL="72000" marR="72000" marT="36000" marB="36000" anchor="ctr"/>
                </a:tc>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引导问题</a:t>
                      </a:r>
                    </a:p>
                  </a:txBody>
                  <a:tcPr marL="72000" marR="72000" marT="36000" marB="36000" anchor="ctr"/>
                </a:tc>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说明</a:t>
                      </a:r>
                    </a:p>
                  </a:txBody>
                  <a:tcPr marL="72000" marR="72000" marT="36000" marB="36000" anchor="ctr"/>
                </a:tc>
                <a:extLst>
                  <a:ext uri="{0D108BD9-81ED-4DB2-BD59-A6C34878D82A}">
                    <a16:rowId xmlns:a16="http://schemas.microsoft.com/office/drawing/2014/main" val="306593724"/>
                  </a:ext>
                </a:extLst>
              </a:tr>
              <a:tr h="350629">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核心假设</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如果什么成立，方案就可行？</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格式：“我们假设</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条件下能够成立”</a:t>
                      </a:r>
                    </a:p>
                  </a:txBody>
                  <a:tcPr marL="72000" marR="72000" marT="36000" marB="36000" anchor="ctr"/>
                </a:tc>
                <a:extLst>
                  <a:ext uri="{0D108BD9-81ED-4DB2-BD59-A6C34878D82A}">
                    <a16:rowId xmlns:a16="http://schemas.microsoft.com/office/drawing/2014/main" val="909920351"/>
                  </a:ext>
                </a:extLst>
              </a:tr>
              <a:tr h="288032">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验证方式</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用什么方法、什么形态验证？</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纸面原型</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界面草图</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视频演示</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问卷验证</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服务蓝图等</a:t>
                      </a:r>
                    </a:p>
                  </a:txBody>
                  <a:tcPr marL="72000" marR="72000" marT="36000" marB="36000" anchor="ctr"/>
                </a:tc>
                <a:extLst>
                  <a:ext uri="{0D108BD9-81ED-4DB2-BD59-A6C34878D82A}">
                    <a16:rowId xmlns:a16="http://schemas.microsoft.com/office/drawing/2014/main" val="1408307963"/>
                  </a:ext>
                </a:extLst>
              </a:tr>
              <a:tr h="288032">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成功</a:t>
                      </a:r>
                      <a:r>
                        <a:rPr lang="en-US" altLang="zh-CN" sz="1100" b="1" kern="100">
                          <a:solidFill>
                            <a:schemeClr val="lt1"/>
                          </a:solidFill>
                          <a:effectLst/>
                          <a:latin typeface="微软雅黑" panose="020B0503020204020204" pitchFamily="34" charset="-122"/>
                          <a:ea typeface="微软雅黑" panose="020B0503020204020204" pitchFamily="34" charset="-122"/>
                          <a:cs typeface="+mn-cs"/>
                        </a:rPr>
                        <a:t>/</a:t>
                      </a: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失败标准</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什么结果可判断假设成立或不成立？</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须量化，如“≥</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80%</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用户完成核心操作”</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测试完成率＜</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a:t>
                      </a:r>
                    </a:p>
                  </a:txBody>
                  <a:tcPr marL="72000" marR="72000" marT="36000" marB="36000" anchor="ctr"/>
                </a:tc>
                <a:extLst>
                  <a:ext uri="{0D108BD9-81ED-4DB2-BD59-A6C34878D82A}">
                    <a16:rowId xmlns:a16="http://schemas.microsoft.com/office/drawing/2014/main" val="3809597835"/>
                  </a:ext>
                </a:extLst>
              </a:tr>
            </a:tbl>
          </a:graphicData>
        </a:graphic>
      </p:graphicFrame>
    </p:spTree>
    <p:extLst>
      <p:ext uri="{BB962C8B-B14F-4D97-AF65-F5344CB8AC3E}">
        <p14:creationId xmlns:p14="http://schemas.microsoft.com/office/powerpoint/2010/main" val="1380510648"/>
      </p:ext>
    </p:extLst>
  </p:cSld>
  <p:clrMapOvr>
    <a:masterClrMapping/>
  </p:clrMapOvr>
  <p:transition advTm="31939">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971599" y="1635646"/>
            <a:ext cx="7200801" cy="360040"/>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altLang="zh-CN"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MVP</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保真度分级参</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考</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创新方法工</a:t>
            </a:r>
            <a:r>
              <a:rPr lang="zh-CN" altLang="en-US" sz="2400" b="1" smtClean="0">
                <a:solidFill>
                  <a:schemeClr val="bg1"/>
                </a:solidFill>
                <a:latin typeface="微软雅黑" panose="020B0503020204020204" pitchFamily="34" charset="-122"/>
                <a:ea typeface="微软雅黑" panose="020B0503020204020204" pitchFamily="34" charset="-122"/>
              </a:rPr>
              <a:t>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extLst>
              <p:ext uri="{D42A27DB-BD31-4B8C-83A1-F6EECF244321}">
                <p14:modId xmlns:p14="http://schemas.microsoft.com/office/powerpoint/2010/main" val="1493083293"/>
              </p:ext>
            </p:extLst>
          </p:nvPr>
        </p:nvGraphicFramePr>
        <p:xfrm>
          <a:off x="971599" y="1993585"/>
          <a:ext cx="6912769" cy="1313806"/>
        </p:xfrm>
        <a:graphic>
          <a:graphicData uri="http://schemas.openxmlformats.org/drawingml/2006/table">
            <a:tbl>
              <a:tblPr firstRow="1" firstCol="1" bandRow="1">
                <a:tableStyleId>{5C22544A-7EE6-4342-B048-85BDC9FD1C3A}</a:tableStyleId>
              </a:tblPr>
              <a:tblGrid>
                <a:gridCol w="1080121">
                  <a:extLst>
                    <a:ext uri="{9D8B030D-6E8A-4147-A177-3AD203B41FA5}">
                      <a16:colId xmlns:a16="http://schemas.microsoft.com/office/drawing/2014/main" val="1277088294"/>
                    </a:ext>
                  </a:extLst>
                </a:gridCol>
                <a:gridCol w="1872208">
                  <a:extLst>
                    <a:ext uri="{9D8B030D-6E8A-4147-A177-3AD203B41FA5}">
                      <a16:colId xmlns:a16="http://schemas.microsoft.com/office/drawing/2014/main" val="2313742588"/>
                    </a:ext>
                  </a:extLst>
                </a:gridCol>
                <a:gridCol w="1152128">
                  <a:extLst>
                    <a:ext uri="{9D8B030D-6E8A-4147-A177-3AD203B41FA5}">
                      <a16:colId xmlns:a16="http://schemas.microsoft.com/office/drawing/2014/main" val="1880977790"/>
                    </a:ext>
                  </a:extLst>
                </a:gridCol>
                <a:gridCol w="2808312">
                  <a:extLst>
                    <a:ext uri="{9D8B030D-6E8A-4147-A177-3AD203B41FA5}">
                      <a16:colId xmlns:a16="http://schemas.microsoft.com/office/drawing/2014/main" val="2505089529"/>
                    </a:ext>
                  </a:extLst>
                </a:gridCol>
              </a:tblGrid>
              <a:tr h="297443">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MVP</a:t>
                      </a: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等级</a:t>
                      </a:r>
                    </a:p>
                  </a:txBody>
                  <a:tcPr marL="72000" marR="72000" marT="36000" marB="36000" anchor="ctr"/>
                </a:tc>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核心特征</a:t>
                      </a:r>
                    </a:p>
                  </a:txBody>
                  <a:tcPr marL="72000" marR="72000" marT="36000" marB="36000" anchor="ctr"/>
                </a:tc>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适用阶段</a:t>
                      </a:r>
                    </a:p>
                  </a:txBody>
                  <a:tcPr marL="72000" marR="72000" marT="36000" marB="36000" anchor="ctr"/>
                </a:tc>
                <a:tc>
                  <a:txBody>
                    <a:bodyPr/>
                    <a:lstStyle/>
                    <a:p>
                      <a:pPr marL="0" algn="ctr" defTabSz="914400" rtl="0" eaLnBrk="1" latinLnBrk="0" hangingPunct="1">
                        <a:spcAft>
                          <a:spcPts val="0"/>
                        </a:spcAft>
                      </a:pPr>
                      <a:r>
                        <a:rPr lang="zh-CN" altLang="en-US" sz="1100" b="1" kern="100">
                          <a:solidFill>
                            <a:schemeClr val="lt1"/>
                          </a:solidFill>
                          <a:effectLst/>
                          <a:latin typeface="微软雅黑" panose="020B0503020204020204" pitchFamily="34" charset="-122"/>
                          <a:ea typeface="微软雅黑" panose="020B0503020204020204" pitchFamily="34" charset="-122"/>
                          <a:cs typeface="+mn-cs"/>
                        </a:rPr>
                        <a:t>验收指标参考</a:t>
                      </a:r>
                    </a:p>
                  </a:txBody>
                  <a:tcPr marL="72000" marR="72000" marT="36000" marB="36000" anchor="ctr"/>
                </a:tc>
                <a:extLst>
                  <a:ext uri="{0D108BD9-81ED-4DB2-BD59-A6C34878D82A}">
                    <a16:rowId xmlns:a16="http://schemas.microsoft.com/office/drawing/2014/main" val="3907292648"/>
                  </a:ext>
                </a:extLst>
              </a:tr>
              <a:tr h="208714">
                <a:tc>
                  <a:txBody>
                    <a:bodyPr/>
                    <a:lstStyle/>
                    <a:p>
                      <a:pPr marL="0" algn="ctr" defTabSz="914400" rtl="0" eaLnBrk="1" latinLnBrk="0" hangingPunct="1">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纸原型</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手绘</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纸质材料快速呈现</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概念初步验证</a:t>
                      </a:r>
                    </a:p>
                  </a:txBody>
                  <a:tcPr marL="72000" marR="72000" marT="36000" marB="36000" anchor="ctr"/>
                </a:tc>
                <a:tc>
                  <a:txBody>
                    <a:bodyPr/>
                    <a:lstStyle/>
                    <a:p>
                      <a:pPr marL="0" algn="l" defTabSz="914400" rtl="0" eaLnBrk="1" latinLnBrk="0" hangingPunct="1">
                        <a:spcAft>
                          <a:spcPts val="0"/>
                        </a:spcAft>
                      </a:pP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用户理解核心功能；收集≥</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条改进建议</a:t>
                      </a:r>
                    </a:p>
                  </a:txBody>
                  <a:tcPr marL="72000" marR="72000" marT="36000" marB="36000" anchor="ctr"/>
                </a:tc>
                <a:extLst>
                  <a:ext uri="{0D108BD9-81ED-4DB2-BD59-A6C34878D82A}">
                    <a16:rowId xmlns:a16="http://schemas.microsoft.com/office/drawing/2014/main" val="4222970368"/>
                  </a:ext>
                </a:extLst>
              </a:tr>
              <a:tr h="185098">
                <a:tc>
                  <a:txBody>
                    <a:bodyPr/>
                    <a:lstStyle/>
                    <a:p>
                      <a:pPr marL="0" algn="ctr" defTabSz="914400" rtl="0" eaLnBrk="1" latinLnBrk="0" hangingPunct="1">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数字原型</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数字化交互模拟</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功能逻辑验证</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系统可用性评分≥</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6.5/10</a:t>
                      </a:r>
                    </a:p>
                  </a:txBody>
                  <a:tcPr marL="72000" marR="72000" marT="36000" marB="36000" anchor="ctr"/>
                </a:tc>
                <a:extLst>
                  <a:ext uri="{0D108BD9-81ED-4DB2-BD59-A6C34878D82A}">
                    <a16:rowId xmlns:a16="http://schemas.microsoft.com/office/drawing/2014/main" val="1842868320"/>
                  </a:ext>
                </a:extLst>
              </a:tr>
              <a:tr h="233490">
                <a:tc>
                  <a:txBody>
                    <a:bodyPr/>
                    <a:lstStyle/>
                    <a:p>
                      <a:pPr marL="0" algn="ctr" defTabSz="914400" rtl="0" eaLnBrk="1" latinLnBrk="0" hangingPunct="1">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高保真原型</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接近最终产品的可操作原型</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用户体验验证</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任务效率提升≥</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25%</a:t>
                      </a:r>
                    </a:p>
                  </a:txBody>
                  <a:tcPr marL="72000" marR="72000" marT="36000" marB="36000" anchor="ctr"/>
                </a:tc>
                <a:extLst>
                  <a:ext uri="{0D108BD9-81ED-4DB2-BD59-A6C34878D82A}">
                    <a16:rowId xmlns:a16="http://schemas.microsoft.com/office/drawing/2014/main" val="3945465567"/>
                  </a:ext>
                </a:extLst>
              </a:tr>
              <a:tr h="297443">
                <a:tc>
                  <a:txBody>
                    <a:bodyPr/>
                    <a:lstStyle/>
                    <a:p>
                      <a:pPr marL="0" algn="ctr" defTabSz="914400" rtl="0" eaLnBrk="1" latinLnBrk="0" hangingPunct="1">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最小可行产品</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具备核心功能的可运行版本</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市场可行性验证</a:t>
                      </a:r>
                    </a:p>
                  </a:txBody>
                  <a:tcPr marL="72000" marR="72000" marT="36000" marB="36000" anchor="ctr"/>
                </a:tc>
                <a:tc>
                  <a:txBody>
                    <a:bodyPr/>
                    <a:lstStyle/>
                    <a:p>
                      <a:pPr marL="0" algn="l" defTabSz="914400" rtl="0" eaLnBrk="1" latinLnBrk="0" hangingPunct="1">
                        <a:spcAft>
                          <a:spcPts val="0"/>
                        </a:spcAft>
                      </a:pPr>
                      <a:r>
                        <a:rPr lang="zh-CN" alt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用户留存率≥</a:t>
                      </a:r>
                      <a:r>
                        <a:rPr lang="en-US" alt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40%</a:t>
                      </a:r>
                    </a:p>
                  </a:txBody>
                  <a:tcPr marL="72000" marR="72000" marT="36000" marB="36000" anchor="ctr"/>
                </a:tc>
                <a:extLst>
                  <a:ext uri="{0D108BD9-81ED-4DB2-BD59-A6C34878D82A}">
                    <a16:rowId xmlns:a16="http://schemas.microsoft.com/office/drawing/2014/main" val="306593724"/>
                  </a:ext>
                </a:extLst>
              </a:tr>
            </a:tbl>
          </a:graphicData>
        </a:graphic>
      </p:graphicFrame>
      <p:sp>
        <p:nvSpPr>
          <p:cNvPr id="3" name="矩形 2"/>
          <p:cNvSpPr/>
          <p:nvPr/>
        </p:nvSpPr>
        <p:spPr>
          <a:xfrm>
            <a:off x="971599" y="3363838"/>
            <a:ext cx="7183452" cy="1720471"/>
          </a:xfrm>
          <a:prstGeom prst="rect">
            <a:avLst/>
          </a:prstGeom>
        </p:spPr>
        <p:txBody>
          <a:bodyPr wrap="square">
            <a:spAutoFit/>
          </a:bodyPr>
          <a:lstStyle/>
          <a:p>
            <a:pPr>
              <a:lnSpc>
                <a:spcPct val="120000"/>
              </a:lnSpc>
              <a:spcBef>
                <a:spcPts val="600"/>
              </a:spcBef>
            </a:pPr>
            <a:r>
              <a:rPr lang="zh-CN" altLang="en-US" sz="1200" b="1">
                <a:solidFill>
                  <a:srgbClr val="0F1115"/>
                </a:solidFill>
                <a:latin typeface="Times New Roman" panose="02020603050405020304" pitchFamily="18" charset="0"/>
                <a:ea typeface="仿宋" panose="02010609060101010101" pitchFamily="49" charset="-122"/>
                <a:cs typeface="Times New Roman" panose="02020603050405020304" pitchFamily="18" charset="0"/>
              </a:rPr>
              <a:t>经典案例：</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 美团外卖的</a:t>
            </a:r>
            <a:r>
              <a:rPr lang="en-US" altLang="zh-CN"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MVP</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验证。</a:t>
            </a:r>
            <a:r>
              <a:rPr lang="en-US" altLang="zh-CN"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2013</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年，美团决定试水外卖业务，但不确定用户是否真的愿意为外卖服务买单。团队没有一上来就开发完整的配送系统，而是做了一个</a:t>
            </a:r>
            <a:r>
              <a:rPr lang="zh-CN" altLang="en-US" sz="1200" b="1">
                <a:solidFill>
                  <a:srgbClr val="0F1115"/>
                </a:solidFill>
                <a:latin typeface="Times New Roman" panose="02020603050405020304" pitchFamily="18" charset="0"/>
                <a:ea typeface="仿宋" panose="02010609060101010101" pitchFamily="49" charset="-122"/>
                <a:cs typeface="Times New Roman" panose="02020603050405020304" pitchFamily="18" charset="0"/>
              </a:rPr>
              <a:t>极其简陋的网页原型</a:t>
            </a:r>
            <a:r>
              <a:rPr lang="en-US" altLang="zh-CN"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——UI</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界面简陋、功能单一，只有楼上楼下几家餐厅可供选择，用户下单后美团甚至需要人工给餐厅打电话确认订单。就在这样原始的条件下，一些高频用户一周能下</a:t>
            </a:r>
            <a:r>
              <a:rPr lang="en-US" altLang="zh-CN"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3</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次单，复购率非常高。</a:t>
            </a:r>
            <a:r>
              <a:rPr lang="zh-CN" altLang="en-US" sz="1200" b="1">
                <a:solidFill>
                  <a:srgbClr val="0F1115"/>
                </a:solidFill>
                <a:latin typeface="Times New Roman" panose="02020603050405020304" pitchFamily="18" charset="0"/>
                <a:ea typeface="仿宋" panose="02010609060101010101" pitchFamily="49" charset="-122"/>
                <a:cs typeface="Times New Roman" panose="02020603050405020304" pitchFamily="18" charset="0"/>
              </a:rPr>
              <a:t>这个教科书般的</a:t>
            </a:r>
            <a:r>
              <a:rPr lang="en-US" altLang="zh-CN" sz="1200" b="1">
                <a:solidFill>
                  <a:srgbClr val="0F1115"/>
                </a:solidFill>
                <a:latin typeface="Times New Roman" panose="02020603050405020304" pitchFamily="18" charset="0"/>
                <a:ea typeface="仿宋" panose="02010609060101010101" pitchFamily="49" charset="-122"/>
                <a:cs typeface="Times New Roman" panose="02020603050405020304" pitchFamily="18" charset="0"/>
              </a:rPr>
              <a:t>MVP</a:t>
            </a:r>
            <a:r>
              <a:rPr lang="zh-CN" altLang="en-US" sz="1200" b="1">
                <a:solidFill>
                  <a:srgbClr val="0F1115"/>
                </a:solidFill>
                <a:latin typeface="Times New Roman" panose="02020603050405020304" pitchFamily="18" charset="0"/>
                <a:ea typeface="仿宋" panose="02010609060101010101" pitchFamily="49" charset="-122"/>
                <a:cs typeface="Times New Roman" panose="02020603050405020304" pitchFamily="18" charset="0"/>
              </a:rPr>
              <a:t>验证过程，让美团用最低成本证明了外卖需求真实存在</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，为后续全力投入外卖业务提供了最关键的决策依</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据</a:t>
            </a:r>
            <a:r>
              <a:rPr lang="zh-CN" altLang="en-US" sz="1200" smtClean="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solidFill>
                <a:srgbClr val="0F1115"/>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smtClean="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启示：</a:t>
            </a:r>
            <a:r>
              <a:rPr lang="en-US" altLang="zh-CN" sz="1200" b="1" smtClean="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MVP</a:t>
            </a:r>
            <a:r>
              <a:rPr lang="zh-CN" altLang="en-US" sz="1200" smtClean="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验</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证的不是用户“怎么说”，而是用户“怎么做</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smtClean="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。参赛团队应</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思考</a:t>
            </a:r>
            <a:r>
              <a:rPr lang="en-US" altLang="zh-CN"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0F1115"/>
                </a:solidFill>
                <a:latin typeface="Times New Roman" panose="02020603050405020304" pitchFamily="18" charset="0"/>
                <a:ea typeface="仿宋" panose="02010609060101010101" pitchFamily="49" charset="-122"/>
                <a:cs typeface="Times New Roman" panose="02020603050405020304" pitchFamily="18" charset="0"/>
              </a:rPr>
              <a:t>什么样的最低成本实验，能让用户用真实行为来验证你的核心假设？</a:t>
            </a:r>
          </a:p>
        </p:txBody>
      </p:sp>
    </p:spTree>
    <p:extLst>
      <p:ext uri="{BB962C8B-B14F-4D97-AF65-F5344CB8AC3E}">
        <p14:creationId xmlns:p14="http://schemas.microsoft.com/office/powerpoint/2010/main" val="2898508984"/>
      </p:ext>
    </p:extLst>
  </p:cSld>
  <p:clrMapOvr>
    <a:masterClrMapping/>
  </p:clrMapOvr>
  <p:transition advTm="31939">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二、教育教</a:t>
            </a:r>
            <a:r>
              <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学目标</a:t>
            </a:r>
          </a:p>
        </p:txBody>
      </p:sp>
      <p:sp>
        <p:nvSpPr>
          <p:cNvPr id="2" name="矩形 1"/>
          <p:cNvSpPr/>
          <p:nvPr/>
        </p:nvSpPr>
        <p:spPr>
          <a:xfrm>
            <a:off x="899592" y="1635646"/>
            <a:ext cx="7416824" cy="3382464"/>
          </a:xfrm>
          <a:prstGeom prst="rect">
            <a:avLst/>
          </a:prstGeom>
        </p:spPr>
        <p:txBody>
          <a:bodyPr wrap="square">
            <a:spAutoFit/>
          </a:bodyPr>
          <a:lstStyle/>
          <a:p>
            <a:pPr>
              <a:lnSpc>
                <a:spcPct val="120000"/>
              </a:lnSpc>
              <a:spcBef>
                <a:spcPts val="600"/>
              </a:spcBef>
            </a:pPr>
            <a:r>
              <a:rPr lang="zh-CN" altLang="zh-CN" sz="1400" b="1"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知</a:t>
            </a:r>
            <a:r>
              <a:rPr lang="zh-CN" altLang="zh-CN" sz="14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识维度</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初级认知框架</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创新方法的核心概念、四大核心要</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素及</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三类分类体</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系；</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阐述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奥斯本检核表法、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验证方法等核心工具的实施步骤与适用场景；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解释</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创新方法与设计思维在创新流程中的不同功能定位。</a:t>
            </a:r>
          </a:p>
          <a:p>
            <a:pPr>
              <a:lnSpc>
                <a:spcPct val="120000"/>
              </a:lnSpc>
              <a:spcBef>
                <a:spcPts val="600"/>
              </a:spcBef>
            </a:pPr>
            <a:r>
              <a:rPr lang="zh-CN" altLang="zh-CN" sz="1400" b="1"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能</a:t>
            </a:r>
            <a:r>
              <a:rPr lang="zh-CN" altLang="zh-CN" sz="14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力维度：</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培养学生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创新方法解决实际问题的能力</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遵循</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优化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四阶段流程完成从创意生成到方案落地的完整创新实践</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技法完成方案的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系统化改进与审查；</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六顶思考帽完成方案的多角色综合评估与决策；</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分析法制定可执行的实施规划；</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验证方法设计最小成本实验；将课堂所学创新方法工具</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至创客竞赛选题的真实决策场景，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《创客竞赛选题验证报告》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899592" y="1131590"/>
            <a:ext cx="6840760"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单元教师教育教学目的：</a:t>
            </a:r>
            <a:r>
              <a:rPr lang="zh-CN" altLang="en-US" sz="2400" b="1" dirty="0">
                <a:solidFill>
                  <a:srgbClr val="FFFF00"/>
                </a:solidFill>
                <a:latin typeface="微软雅黑" panose="020B0503020204020204" pitchFamily="34" charset="-122"/>
                <a:ea typeface="微软雅黑" panose="020B0503020204020204" pitchFamily="34" charset="-122"/>
              </a:rPr>
              <a:t>期望与愿景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86922383"/>
      </p:ext>
    </p:extLst>
  </p:cSld>
  <p:clrMapOvr>
    <a:masterClrMapping/>
  </p:clrMapOvr>
  <p:transition advTm="31939">
    <p:wipe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二、教育教</a:t>
            </a:r>
            <a:r>
              <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学目标</a:t>
            </a:r>
          </a:p>
        </p:txBody>
      </p:sp>
      <p:sp>
        <p:nvSpPr>
          <p:cNvPr id="2" name="矩形 1"/>
          <p:cNvSpPr/>
          <p:nvPr/>
        </p:nvSpPr>
        <p:spPr>
          <a:xfrm>
            <a:off x="899592" y="1707654"/>
            <a:ext cx="6912768" cy="830997"/>
          </a:xfrm>
          <a:prstGeom prst="rect">
            <a:avLst/>
          </a:prstGeom>
        </p:spPr>
        <p:txBody>
          <a:bodyPr wrap="square">
            <a:spAutoFit/>
          </a:bodyPr>
          <a:lstStyle/>
          <a:p>
            <a:pPr>
              <a:lnSpc>
                <a:spcPct val="120000"/>
              </a:lnSpc>
              <a:spcBef>
                <a:spcPts val="600"/>
              </a:spcBef>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素</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养维度</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引</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导学生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“方法驱动创新”的思维习惯，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创意不等于可行方案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的核心判断，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证据驱动决策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的工程决策意识。</a:t>
            </a:r>
          </a:p>
        </p:txBody>
      </p:sp>
      <p:sp>
        <p:nvSpPr>
          <p:cNvPr id="8" name="矩形 7"/>
          <p:cNvSpPr/>
          <p:nvPr/>
        </p:nvSpPr>
        <p:spPr>
          <a:xfrm>
            <a:off x="899592" y="1131590"/>
            <a:ext cx="6840760"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单元教师教育教学目的：</a:t>
            </a:r>
            <a:r>
              <a:rPr lang="zh-CN" altLang="en-US" sz="2400" b="1" dirty="0">
                <a:solidFill>
                  <a:srgbClr val="FFFF00"/>
                </a:solidFill>
                <a:latin typeface="微软雅黑" panose="020B0503020204020204" pitchFamily="34" charset="-122"/>
                <a:ea typeface="微软雅黑" panose="020B0503020204020204" pitchFamily="34" charset="-122"/>
              </a:rPr>
              <a:t>期望与愿景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50363000"/>
      </p:ext>
    </p:extLst>
  </p:cSld>
  <p:clrMapOvr>
    <a:masterClrMapping/>
  </p:clrMapOvr>
  <p:transition advTm="31939">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二、教育教</a:t>
            </a:r>
            <a:r>
              <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学目标</a:t>
            </a:r>
          </a:p>
        </p:txBody>
      </p:sp>
      <p:sp>
        <p:nvSpPr>
          <p:cNvPr id="7" name="矩形 6"/>
          <p:cNvSpPr/>
          <p:nvPr/>
        </p:nvSpPr>
        <p:spPr>
          <a:xfrm>
            <a:off x="899592" y="1707654"/>
            <a:ext cx="7416824" cy="3254737"/>
          </a:xfrm>
          <a:prstGeom prst="rect">
            <a:avLst/>
          </a:prstGeom>
        </p:spPr>
        <p:txBody>
          <a:bodyPr wrap="square" lIns="68580" tIns="34290" rIns="68580" bIns="34290">
            <a:spAutoFit/>
          </a:bodyPr>
          <a:lstStyle/>
          <a:p>
            <a:pPr>
              <a:lnSpc>
                <a:spcPct val="120000"/>
              </a:lnSpc>
              <a:spcBef>
                <a:spcPts val="600"/>
              </a:spcBef>
            </a:pPr>
            <a:r>
              <a:rPr lang="zh-CN" altLang="zh-CN" sz="1400"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课</a:t>
            </a:r>
            <a:r>
              <a:rPr lang="zh-CN" altLang="zh-CN" sz="1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程结束后，</a:t>
            </a:r>
            <a:r>
              <a:rPr lang="zh-CN"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生</a:t>
            </a:r>
            <a:r>
              <a:rPr lang="zh-CN" altLang="zh-CN" sz="2000" b="1"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能</a:t>
            </a:r>
            <a:r>
              <a:rPr lang="zh-CN" altLang="en-US"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smtClean="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1</a:t>
            </a: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创新方法的核心概念、四大核心要素</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（目的性、系统性、突破性、实践性）</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与三类分类体系</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（思维类方法、工具类方法、流程类方法</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奥斯本检核表法、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分析法等创新工具的核心流程与适用场景，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区分</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创新方法与设计思维在创新流程中的不同功能定位。</a:t>
            </a: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2.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阐述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技法、奥斯本检核表法、六顶思考帽、</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验证方法的实施步骤与适用边界，</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说明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优化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四阶段流程中各阶段的方法选择逻辑。</a:t>
            </a: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3.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技法对已有方案完成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的系统化改进或审查，</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六顶思考帽完成方案的多角色综合评估与决策，</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分析法将方案转化为可执行的实施规划</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899592" y="1131590"/>
            <a:ext cx="6840760"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单元学生学习目</a:t>
            </a:r>
            <a:r>
              <a:rPr lang="zh-CN" altLang="en-US" sz="2400" b="1" dirty="0">
                <a:solidFill>
                  <a:schemeClr val="bg1"/>
                </a:solidFill>
                <a:latin typeface="微软雅黑" panose="020B0503020204020204" pitchFamily="34" charset="-122"/>
                <a:ea typeface="微软雅黑" panose="020B0503020204020204" pitchFamily="34" charset="-122"/>
              </a:rPr>
              <a:t>标：</a:t>
            </a:r>
            <a:r>
              <a:rPr lang="zh-CN" altLang="en-US" sz="2400" b="1" dirty="0">
                <a:solidFill>
                  <a:srgbClr val="FFFF00"/>
                </a:solidFill>
                <a:latin typeface="微软雅黑" panose="020B0503020204020204" pitchFamily="34" charset="-122"/>
                <a:ea typeface="微软雅黑" panose="020B0503020204020204" pitchFamily="34" charset="-122"/>
              </a:rPr>
              <a:t>可观测、可量化</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3930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二、教育教</a:t>
            </a:r>
            <a:r>
              <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学目标</a:t>
            </a:r>
          </a:p>
        </p:txBody>
      </p:sp>
      <p:sp>
        <p:nvSpPr>
          <p:cNvPr id="7" name="矩形 6"/>
          <p:cNvSpPr/>
          <p:nvPr/>
        </p:nvSpPr>
        <p:spPr>
          <a:xfrm>
            <a:off x="899592" y="1635646"/>
            <a:ext cx="7344816" cy="3473259"/>
          </a:xfrm>
          <a:prstGeom prst="rect">
            <a:avLst/>
          </a:prstGeom>
        </p:spPr>
        <p:txBody>
          <a:bodyPr wrap="square" lIns="68580" tIns="34290" rIns="68580" bIns="34290">
            <a:spAutoFit/>
          </a:bodyPr>
          <a:lstStyle/>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4.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遵循</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优化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四阶段流程，</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从创意生成到方案落地的完整体验，</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《创新方法实践档案袋》</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（含头脑风暴创意集与方案筛选记录、</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分析记录与方案优化版本、六顶思考帽讨论纪要与最终方案决策书、</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实施规划表）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5.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验证方法设计</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验证创意是否值得做</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的最小成本实验</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（含核心假设、验证方式、成功</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失败标准三要素）</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，将课堂所学创新方法工具</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至创客竞赛选题的真实决策场景，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《创客竞赛选题验证报告》</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（含</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审查记录、六顶思考帽讨论纪要、</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验证规划、最终验证结论及创新方法应用反思）</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6.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依据</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审查中发现的问题属性</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（优势</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薄弱</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待验证）</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判断方案的薄弱环节与潜在风险，</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依据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六顶思考帽各帽视角的评估结论判断方案的决策倾向</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（推进</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调整</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放弃）</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反思</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创新方法工具在选题验证中的互补作用及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两种思维方式的差异。</a:t>
            </a:r>
          </a:p>
        </p:txBody>
      </p:sp>
      <p:sp>
        <p:nvSpPr>
          <p:cNvPr id="8" name="矩形 7"/>
          <p:cNvSpPr/>
          <p:nvPr/>
        </p:nvSpPr>
        <p:spPr>
          <a:xfrm>
            <a:off x="899592" y="1131590"/>
            <a:ext cx="6840760"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单元学生学习目</a:t>
            </a:r>
            <a:r>
              <a:rPr lang="zh-CN" altLang="en-US" sz="2400" b="1" dirty="0">
                <a:solidFill>
                  <a:schemeClr val="bg1"/>
                </a:solidFill>
                <a:latin typeface="微软雅黑" panose="020B0503020204020204" pitchFamily="34" charset="-122"/>
                <a:ea typeface="微软雅黑" panose="020B0503020204020204" pitchFamily="34" charset="-122"/>
              </a:rPr>
              <a:t>标：</a:t>
            </a:r>
            <a:r>
              <a:rPr lang="zh-CN" altLang="en-US" sz="2400" b="1" dirty="0">
                <a:solidFill>
                  <a:srgbClr val="FFFF00"/>
                </a:solidFill>
                <a:latin typeface="微软雅黑" panose="020B0503020204020204" pitchFamily="34" charset="-122"/>
                <a:ea typeface="微软雅黑" panose="020B0503020204020204" pitchFamily="34" charset="-122"/>
              </a:rPr>
              <a:t>可观测、可量化</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43625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131590"/>
            <a:ext cx="37444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a:t>
            </a:r>
            <a:r>
              <a:rPr lang="zh-CN"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价</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方案</a:t>
            </a:r>
            <a:endParaRPr lang="zh-CN" altLang="en-US"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827585" y="1627430"/>
            <a:ext cx="7776863" cy="323165"/>
          </a:xfrm>
          <a:prstGeom prst="rect">
            <a:avLst/>
          </a:prstGeom>
        </p:spPr>
        <p:txBody>
          <a:bodyPr wrap="square">
            <a:spAutoFit/>
          </a:bodyPr>
          <a:lstStyle/>
          <a:p>
            <a:pPr algn="ctr">
              <a:lnSpc>
                <a:spcPct val="125000"/>
              </a:lnSpc>
              <a:spcBef>
                <a:spcPts val="600"/>
              </a:spcBef>
              <a:spcAft>
                <a:spcPts val="0"/>
              </a:spcAft>
            </a:pPr>
            <a:r>
              <a:rPr lang="en-US" altLang="zh-CN" sz="1200" b="1" kern="100" smtClean="0">
                <a:latin typeface="微软雅黑" panose="020B0503020204020204" pitchFamily="34" charset="-122"/>
                <a:ea typeface="微软雅黑" panose="020B0503020204020204" pitchFamily="34" charset="-122"/>
              </a:rPr>
              <a:t>“</a:t>
            </a:r>
            <a:r>
              <a:rPr lang="zh-CN" altLang="en-US" sz="1200" b="1" kern="100" smtClean="0">
                <a:latin typeface="微软雅黑" panose="020B0503020204020204" pitchFamily="34" charset="-122"/>
                <a:ea typeface="微软雅黑" panose="020B0503020204020204" pitchFamily="34" charset="-122"/>
              </a:rPr>
              <a:t>创新方法工作坊</a:t>
            </a:r>
            <a:r>
              <a:rPr lang="en-US" altLang="zh-CN" sz="1200" b="1" kern="100" smtClean="0">
                <a:latin typeface="微软雅黑" panose="020B0503020204020204" pitchFamily="34" charset="-122"/>
                <a:ea typeface="微软雅黑" panose="020B0503020204020204" pitchFamily="34" charset="-122"/>
              </a:rPr>
              <a:t>”</a:t>
            </a:r>
            <a:r>
              <a:rPr lang="zh-CN" altLang="zh-CN" sz="1200" b="1" kern="100">
                <a:latin typeface="微软雅黑" panose="020B0503020204020204" pitchFamily="34" charset="-122"/>
                <a:ea typeface="微软雅黑" panose="020B0503020204020204" pitchFamily="34" charset="-122"/>
              </a:rPr>
              <a:t>单元评</a:t>
            </a:r>
            <a:r>
              <a:rPr lang="zh-CN" altLang="zh-CN" sz="1200" b="1" kern="100" smtClean="0">
                <a:latin typeface="微软雅黑" panose="020B0503020204020204" pitchFamily="34" charset="-122"/>
                <a:ea typeface="微软雅黑" panose="020B0503020204020204" pitchFamily="34" charset="-122"/>
              </a:rPr>
              <a:t>价</a:t>
            </a:r>
            <a:r>
              <a:rPr lang="zh-CN" altLang="en-US" sz="1200" b="1" kern="100" smtClean="0">
                <a:latin typeface="微软雅黑" panose="020B0503020204020204" pitchFamily="34" charset="-122"/>
                <a:ea typeface="微软雅黑" panose="020B0503020204020204" pitchFamily="34" charset="-122"/>
              </a:rPr>
              <a:t>方案</a:t>
            </a:r>
            <a:endParaRPr lang="zh-CN" altLang="zh-CN" sz="1600" kern="10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655704283"/>
              </p:ext>
            </p:extLst>
          </p:nvPr>
        </p:nvGraphicFramePr>
        <p:xfrm>
          <a:off x="827585" y="1923678"/>
          <a:ext cx="7272807" cy="3168352"/>
        </p:xfrm>
        <a:graphic>
          <a:graphicData uri="http://schemas.openxmlformats.org/drawingml/2006/table">
            <a:tbl>
              <a:tblPr firstRow="1" firstCol="1" bandRow="1">
                <a:tableStyleId>{5C22544A-7EE6-4342-B048-85BDC9FD1C3A}</a:tableStyleId>
              </a:tblPr>
              <a:tblGrid>
                <a:gridCol w="797866">
                  <a:extLst>
                    <a:ext uri="{9D8B030D-6E8A-4147-A177-3AD203B41FA5}">
                      <a16:colId xmlns:a16="http://schemas.microsoft.com/office/drawing/2014/main" val="3357332060"/>
                    </a:ext>
                  </a:extLst>
                </a:gridCol>
                <a:gridCol w="489310">
                  <a:extLst>
                    <a:ext uri="{9D8B030D-6E8A-4147-A177-3AD203B41FA5}">
                      <a16:colId xmlns:a16="http://schemas.microsoft.com/office/drawing/2014/main" val="1384947682"/>
                    </a:ext>
                  </a:extLst>
                </a:gridCol>
                <a:gridCol w="4401455">
                  <a:extLst>
                    <a:ext uri="{9D8B030D-6E8A-4147-A177-3AD203B41FA5}">
                      <a16:colId xmlns:a16="http://schemas.microsoft.com/office/drawing/2014/main" val="1128112023"/>
                    </a:ext>
                  </a:extLst>
                </a:gridCol>
                <a:gridCol w="1584176">
                  <a:extLst>
                    <a:ext uri="{9D8B030D-6E8A-4147-A177-3AD203B41FA5}">
                      <a16:colId xmlns:a16="http://schemas.microsoft.com/office/drawing/2014/main" val="1305334509"/>
                    </a:ext>
                  </a:extLst>
                </a:gridCol>
              </a:tblGrid>
              <a:tr h="309708">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评价维度</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权重</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评价内容与方式</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评价依据</a:t>
                      </a: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工具</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39589081"/>
                  </a:ext>
                </a:extLst>
              </a:tr>
              <a:tr h="842420">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初级认知任务学习成果</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100" kern="0">
                          <a:effectLst/>
                          <a:latin typeface="Arial Black" panose="020B0A04020102020204" pitchFamily="34" charset="0"/>
                        </a:rPr>
                        <a:t>20%</a:t>
                      </a:r>
                      <a:endParaRPr lang="zh-CN" sz="14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个体完成《初级认知任务》，考查对创新方法核心概念与分类体系、奥斯本检核表法、</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技法、</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5W2H</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与</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7W5H</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分析法等创新工具的核心认知，以及创新方法与设计思维的辩证关系理解</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教师评分（依据标准答案及分值）</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创新方法工作坊</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单元的初级认知任务》解答文档</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88804797"/>
                  </a:ext>
                </a:extLst>
              </a:tr>
              <a:tr h="108012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课堂学习成果</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Arial Black" panose="020B0A04020102020204" pitchFamily="34" charset="0"/>
                          <a:ea typeface="+mn-ea"/>
                          <a:cs typeface="+mn-cs"/>
                        </a:rPr>
                        <a:t>40%</a:t>
                      </a:r>
                      <a:endParaRPr lang="zh-CN" sz="1100" kern="0">
                        <a:solidFill>
                          <a:schemeClr val="dk1"/>
                        </a:solidFill>
                        <a:effectLst/>
                        <a:latin typeface="Arial Black" panose="020B0A04020102020204" pitchFamily="34" charset="0"/>
                        <a:ea typeface="+mn-ea"/>
                        <a:cs typeface="+mn-cs"/>
                      </a:endParaRPr>
                    </a:p>
                  </a:txBody>
                  <a:tcPr marL="68580" marR="68580" marT="0" marB="0" anchor="ctr"/>
                </a:tc>
                <a:tc>
                  <a:txBody>
                    <a:bodyPr/>
                    <a:lstStyle/>
                    <a:p>
                      <a:pPr algn="l">
                        <a:spcAft>
                          <a:spcPts val="0"/>
                        </a:spcAft>
                      </a:pP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各学习小组（</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6</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人）完整体验</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构思</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优化</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决策</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规划</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创新方法递进应用流程，产出《创新方法实践档案袋》，含头脑风暴创意集与方案筛选记录、</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分析记录与方案优化版本、六顶思考帽讨论纪要与最终方案决策书、</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5W2H</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实施规划表，并经跨组互评与教师评审验证</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依据表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4.2"</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创新方法实践档案袋</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课堂成果评价量表评分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《创新方法实践档案袋》课堂成果评价量表</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89934089"/>
                  </a:ext>
                </a:extLst>
              </a:tr>
              <a:tr h="93610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课后选题设计成果</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Arial Black" panose="020B0A04020102020204" pitchFamily="34" charset="0"/>
                          <a:ea typeface="+mn-ea"/>
                          <a:cs typeface="+mn-cs"/>
                        </a:rPr>
                        <a:t>40%</a:t>
                      </a:r>
                      <a:endParaRPr lang="zh-CN" sz="1100" kern="0">
                        <a:solidFill>
                          <a:schemeClr val="dk1"/>
                        </a:solidFill>
                        <a:effectLst/>
                        <a:latin typeface="Arial Black" panose="020B0A04020102020204" pitchFamily="34" charset="0"/>
                        <a:ea typeface="+mn-ea"/>
                        <a:cs typeface="+mn-cs"/>
                      </a:endParaRPr>
                    </a:p>
                  </a:txBody>
                  <a:tcPr marL="68580" marR="68580" marT="0" marB="0" anchor="ctr"/>
                </a:tc>
                <a:tc>
                  <a:txBody>
                    <a:bodyPr/>
                    <a:lstStyle/>
                    <a:p>
                      <a:pPr algn="l">
                        <a:spcAft>
                          <a:spcPts val="0"/>
                        </a:spcAft>
                      </a:pP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各参赛小组（</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人）将创新方法迁移至创客竞赛选题验证场景，产出《创客竞赛选题验证报告》，含</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审查记录、六顶思考帽讨论纪要、</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MVP</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验证规划、最终验证结论及创新方法应用反思</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依据表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4.3"</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《创客竞赛选题验证报告》评价量表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教师评分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《创客竞赛选题验证报告》评价量表</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338465"/>
                  </a:ext>
                </a:extLst>
              </a:tr>
            </a:tbl>
          </a:graphicData>
        </a:graphic>
      </p:graphicFrame>
    </p:spTree>
    <p:extLst>
      <p:ext uri="{BB962C8B-B14F-4D97-AF65-F5344CB8AC3E}">
        <p14:creationId xmlns:p14="http://schemas.microsoft.com/office/powerpoint/2010/main" val="4029421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639124046"/>
              </p:ext>
            </p:extLst>
          </p:nvPr>
        </p:nvGraphicFramePr>
        <p:xfrm>
          <a:off x="179512" y="2060154"/>
          <a:ext cx="8784976" cy="2959868"/>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2520280">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469255">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构思质量（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a:t>
                      </a:r>
                      <a:r>
                        <a:rPr lang="zh-CN" sz="1100" b="0" kern="100">
                          <a:solidFill>
                            <a:schemeClr val="dk1"/>
                          </a:solidFill>
                          <a:effectLst/>
                          <a:latin typeface="Times New Roman" panose="02020603050405020304" pitchFamily="18" charset="0"/>
                          <a:ea typeface="+mn-ea"/>
                          <a:cs typeface="Times New Roman" panose="02020603050405020304" pitchFamily="18" charset="0"/>
                        </a:rPr>
                        <a:t>头脑风暴创意数量</a:t>
                      </a:r>
                      <a:r>
                        <a:rPr lang="en-US" sz="1100" b="0" kern="100">
                          <a:solidFill>
                            <a:schemeClr val="dk1"/>
                          </a:solidFill>
                          <a:effectLst/>
                          <a:latin typeface="Times New Roman" panose="02020603050405020304" pitchFamily="18" charset="0"/>
                          <a:ea typeface="+mn-ea"/>
                          <a:cs typeface="Times New Roman" panose="02020603050405020304" pitchFamily="18" charset="0"/>
                        </a:rPr>
                        <a:t>≥20</a:t>
                      </a:r>
                      <a:r>
                        <a:rPr lang="zh-CN" sz="1100" b="0" kern="100">
                          <a:solidFill>
                            <a:schemeClr val="dk1"/>
                          </a:solidFill>
                          <a:effectLst/>
                          <a:latin typeface="Times New Roman" panose="02020603050405020304" pitchFamily="18" charset="0"/>
                          <a:ea typeface="+mn-ea"/>
                          <a:cs typeface="Times New Roman" panose="02020603050405020304" pitchFamily="18" charset="0"/>
                        </a:rPr>
                        <a:t>个，便签记录完整，每个创意表述清晰可辨</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a:t>
                      </a:r>
                      <a:r>
                        <a:rPr lang="zh-CN" sz="1100" b="0" kern="100">
                          <a:solidFill>
                            <a:schemeClr val="dk1"/>
                          </a:solidFill>
                          <a:effectLst/>
                          <a:latin typeface="Times New Roman" panose="02020603050405020304" pitchFamily="18" charset="0"/>
                          <a:ea typeface="+mn-ea"/>
                          <a:cs typeface="Times New Roman" panose="02020603050405020304" pitchFamily="18" charset="0"/>
                        </a:rPr>
                        <a:t>创意数量</a:t>
                      </a:r>
                      <a:r>
                        <a:rPr lang="en-US" sz="1100" b="0" kern="100">
                          <a:solidFill>
                            <a:schemeClr val="dk1"/>
                          </a:solidFill>
                          <a:effectLst/>
                          <a:latin typeface="Times New Roman" panose="02020603050405020304" pitchFamily="18" charset="0"/>
                          <a:ea typeface="+mn-ea"/>
                          <a:cs typeface="Times New Roman" panose="02020603050405020304" pitchFamily="18" charset="0"/>
                        </a:rPr>
                        <a:t>15-19</a:t>
                      </a:r>
                      <a:r>
                        <a:rPr lang="zh-CN" sz="1100" b="0" kern="100">
                          <a:solidFill>
                            <a:schemeClr val="dk1"/>
                          </a:solidFill>
                          <a:effectLst/>
                          <a:latin typeface="Times New Roman" panose="02020603050405020304" pitchFamily="18" charset="0"/>
                          <a:ea typeface="+mn-ea"/>
                          <a:cs typeface="Times New Roman" panose="02020603050405020304" pitchFamily="18" charset="0"/>
                        </a:rPr>
                        <a:t>个，大部分便签记录清晰</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a:t>
                      </a:r>
                      <a:r>
                        <a:rPr lang="zh-CN" sz="1100" b="0" kern="100">
                          <a:solidFill>
                            <a:schemeClr val="dk1"/>
                          </a:solidFill>
                          <a:effectLst/>
                          <a:latin typeface="Times New Roman" panose="02020603050405020304" pitchFamily="18" charset="0"/>
                          <a:ea typeface="+mn-ea"/>
                          <a:cs typeface="Times New Roman" panose="02020603050405020304" pitchFamily="18" charset="0"/>
                        </a:rPr>
                        <a:t>创意数量</a:t>
                      </a:r>
                      <a:r>
                        <a:rPr lang="en-US" sz="1100" b="0" kern="100">
                          <a:solidFill>
                            <a:schemeClr val="dk1"/>
                          </a:solidFill>
                          <a:effectLst/>
                          <a:latin typeface="Times New Roman" panose="02020603050405020304" pitchFamily="18" charset="0"/>
                          <a:ea typeface="+mn-ea"/>
                          <a:cs typeface="Times New Roman" panose="02020603050405020304" pitchFamily="18" charset="0"/>
                        </a:rPr>
                        <a:t>&lt;15</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个或便签记录过于简略无法判断</a:t>
                      </a:r>
                    </a:p>
                  </a:txBody>
                  <a:tcPr marL="68580" marR="68580" marT="0" marB="0"/>
                </a:tc>
                <a:extLst>
                  <a:ext uri="{0D108BD9-81ED-4DB2-BD59-A6C34878D82A}">
                    <a16:rowId xmlns:a16="http://schemas.microsoft.com/office/drawing/2014/main" val="10001"/>
                  </a:ext>
                </a:extLst>
              </a:tr>
              <a:tr h="360040">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A2</a:t>
                      </a:r>
                      <a:r>
                        <a:rPr lang="zh-CN" sz="1100" b="0" kern="100">
                          <a:solidFill>
                            <a:schemeClr val="dk1"/>
                          </a:solidFill>
                          <a:effectLst/>
                          <a:latin typeface="Times New Roman" panose="02020603050405020304" pitchFamily="18" charset="0"/>
                          <a:ea typeface="+mn-ea"/>
                          <a:cs typeface="Times New Roman" panose="02020603050405020304" pitchFamily="18" charset="0"/>
                        </a:rPr>
                        <a:t>便签张贴有序，标注有</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受</a:t>
                      </a:r>
                      <a:r>
                        <a:rPr lang="en-US" sz="1100" b="0" kern="100">
                          <a:solidFill>
                            <a:schemeClr val="dk1"/>
                          </a:solidFill>
                          <a:effectLst/>
                          <a:latin typeface="Times New Roman" panose="02020603050405020304" pitchFamily="18" charset="0"/>
                          <a:ea typeface="+mn-ea"/>
                          <a:cs typeface="Times New Roman" panose="02020603050405020304" pitchFamily="18" charset="0"/>
                        </a:rPr>
                        <a:t>XX</a:t>
                      </a:r>
                      <a:r>
                        <a:rPr lang="zh-CN" sz="1100" b="0" kern="100">
                          <a:solidFill>
                            <a:schemeClr val="dk1"/>
                          </a:solidFill>
                          <a:effectLst/>
                          <a:latin typeface="Times New Roman" panose="02020603050405020304" pitchFamily="18" charset="0"/>
                          <a:ea typeface="+mn-ea"/>
                          <a:cs typeface="Times New Roman" panose="02020603050405020304" pitchFamily="18" charset="0"/>
                        </a:rPr>
                        <a:t>启发</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的联想激发标记</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B2</a:t>
                      </a:r>
                      <a:r>
                        <a:rPr lang="zh-CN" sz="1100" b="0" kern="100">
                          <a:solidFill>
                            <a:schemeClr val="dk1"/>
                          </a:solidFill>
                          <a:effectLst/>
                          <a:latin typeface="Times New Roman" panose="02020603050405020304" pitchFamily="18" charset="0"/>
                          <a:ea typeface="+mn-ea"/>
                          <a:cs typeface="Times New Roman" panose="02020603050405020304" pitchFamily="18" charset="0"/>
                        </a:rPr>
                        <a:t>便签张贴基本有序，部分联想激发有标记</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C2</a:t>
                      </a:r>
                      <a:r>
                        <a:rPr lang="zh-CN" sz="1100" b="0" kern="100">
                          <a:solidFill>
                            <a:schemeClr val="dk1"/>
                          </a:solidFill>
                          <a:effectLst/>
                          <a:latin typeface="Times New Roman" panose="02020603050405020304" pitchFamily="18" charset="0"/>
                          <a:ea typeface="+mn-ea"/>
                          <a:cs typeface="Times New Roman" panose="02020603050405020304" pitchFamily="18" charset="0"/>
                        </a:rPr>
                        <a:t>便签张贴混乱或无联想激发标记</a:t>
                      </a:r>
                    </a:p>
                  </a:txBody>
                  <a:tcPr marL="68580" marR="68580" marT="0" marB="0"/>
                </a:tc>
                <a:extLst>
                  <a:ext uri="{0D108BD9-81ED-4DB2-BD59-A6C34878D82A}">
                    <a16:rowId xmlns:a16="http://schemas.microsoft.com/office/drawing/2014/main" val="10002"/>
                  </a:ext>
                </a:extLst>
              </a:tr>
              <a:tr h="394324">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A3</a:t>
                      </a:r>
                      <a:r>
                        <a:rPr lang="zh-CN" sz="1100" b="0" kern="100">
                          <a:solidFill>
                            <a:schemeClr val="dk1"/>
                          </a:solidFill>
                          <a:effectLst/>
                          <a:latin typeface="Times New Roman" panose="02020603050405020304" pitchFamily="18" charset="0"/>
                          <a:ea typeface="+mn-ea"/>
                          <a:cs typeface="Times New Roman" panose="02020603050405020304" pitchFamily="18" charset="0"/>
                        </a:rPr>
                        <a:t>方案筛选基于可行性、有效性、创新性三个标准，投票记录完整，筛选结果有据可查</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B3</a:t>
                      </a:r>
                      <a:r>
                        <a:rPr lang="zh-CN" sz="1100" b="0" kern="100">
                          <a:solidFill>
                            <a:schemeClr val="dk1"/>
                          </a:solidFill>
                          <a:effectLst/>
                          <a:latin typeface="Times New Roman" panose="02020603050405020304" pitchFamily="18" charset="0"/>
                          <a:ea typeface="+mn-ea"/>
                          <a:cs typeface="Times New Roman" panose="02020603050405020304" pitchFamily="18" charset="0"/>
                        </a:rPr>
                        <a:t>方案筛选基于三个标准但部分标准分析较浅，投票记录基本完整</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C3</a:t>
                      </a:r>
                      <a:r>
                        <a:rPr lang="zh-CN" sz="1100" b="0" kern="100">
                          <a:solidFill>
                            <a:schemeClr val="dk1"/>
                          </a:solidFill>
                          <a:effectLst/>
                          <a:latin typeface="Times New Roman" panose="02020603050405020304" pitchFamily="18" charset="0"/>
                          <a:ea typeface="+mn-ea"/>
                          <a:cs typeface="Times New Roman" panose="02020603050405020304" pitchFamily="18" charset="0"/>
                        </a:rPr>
                        <a:t>筛选标准不全或未进行正式投票</a:t>
                      </a:r>
                    </a:p>
                  </a:txBody>
                  <a:tcPr marL="68580" marR="68580" marT="0" marB="0"/>
                </a:tc>
                <a:extLst>
                  <a:ext uri="{0D108BD9-81ED-4DB2-BD59-A6C34878D82A}">
                    <a16:rowId xmlns:a16="http://schemas.microsoft.com/office/drawing/2014/main" val="10003"/>
                  </a:ext>
                </a:extLst>
              </a:tr>
              <a:tr h="504056">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优化质量</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A4 SCAMPER</a:t>
                      </a:r>
                      <a:r>
                        <a:rPr lang="zh-CN" sz="1100" b="0" kern="100">
                          <a:solidFill>
                            <a:schemeClr val="dk1"/>
                          </a:solidFill>
                          <a:effectLst/>
                          <a:latin typeface="Times New Roman" panose="02020603050405020304" pitchFamily="18" charset="0"/>
                          <a:ea typeface="+mn-ea"/>
                          <a:cs typeface="Times New Roman" panose="02020603050405020304" pitchFamily="18" charset="0"/>
                        </a:rPr>
                        <a:t>分析覆盖至少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4</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个维度，每个维度至少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个具体改进点</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B4 SCAMPER</a:t>
                      </a:r>
                      <a:r>
                        <a:rPr lang="zh-CN" sz="1100" b="0" kern="100">
                          <a:solidFill>
                            <a:schemeClr val="dk1"/>
                          </a:solidFill>
                          <a:effectLst/>
                          <a:latin typeface="Times New Roman" panose="02020603050405020304" pitchFamily="18" charset="0"/>
                          <a:ea typeface="+mn-ea"/>
                          <a:cs typeface="Times New Roman" panose="02020603050405020304" pitchFamily="18" charset="0"/>
                        </a:rPr>
                        <a:t>分析覆盖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4</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个维度，大部分改进点具体可操作</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C4 SCAMPER</a:t>
                      </a:r>
                      <a:r>
                        <a:rPr lang="zh-CN" sz="1100" b="0" kern="100">
                          <a:solidFill>
                            <a:schemeClr val="dk1"/>
                          </a:solidFill>
                          <a:effectLst/>
                          <a:latin typeface="Times New Roman" panose="02020603050405020304" pitchFamily="18" charset="0"/>
                          <a:ea typeface="+mn-ea"/>
                          <a:cs typeface="Times New Roman" panose="02020603050405020304" pitchFamily="18" charset="0"/>
                        </a:rPr>
                        <a:t>覆盖维度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&lt;4</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个，或改进点笼统抽象</a:t>
                      </a:r>
                    </a:p>
                  </a:txBody>
                  <a:tcPr marL="68580" marR="68580" marT="0" marB="0"/>
                </a:tc>
                <a:extLst>
                  <a:ext uri="{0D108BD9-81ED-4DB2-BD59-A6C34878D82A}">
                    <a16:rowId xmlns:a16="http://schemas.microsoft.com/office/drawing/2014/main" val="10004"/>
                  </a:ext>
                </a:extLst>
              </a:tr>
              <a:tr h="469312">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A5</a:t>
                      </a:r>
                      <a:r>
                        <a:rPr lang="zh-CN" sz="1100" b="0" kern="100">
                          <a:solidFill>
                            <a:schemeClr val="dk1"/>
                          </a:solidFill>
                          <a:effectLst/>
                          <a:latin typeface="Times New Roman" panose="02020603050405020304" pitchFamily="18" charset="0"/>
                          <a:ea typeface="+mn-ea"/>
                          <a:cs typeface="Times New Roman" panose="02020603050405020304" pitchFamily="18" charset="0"/>
                        </a:rPr>
                        <a:t>每个改进点包含</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改什么</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怎么改</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为什么改</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三要素</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B5</a:t>
                      </a:r>
                      <a:r>
                        <a:rPr lang="zh-CN" sz="1100" b="0" kern="100">
                          <a:solidFill>
                            <a:schemeClr val="dk1"/>
                          </a:solidFill>
                          <a:effectLst/>
                          <a:latin typeface="Times New Roman" panose="02020603050405020304" pitchFamily="18" charset="0"/>
                          <a:ea typeface="+mn-ea"/>
                          <a:cs typeface="Times New Roman" panose="02020603050405020304" pitchFamily="18" charset="0"/>
                        </a:rPr>
                        <a:t>改进点包含三要素但部分要素表述不够清晰</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C5</a:t>
                      </a:r>
                      <a:r>
                        <a:rPr lang="zh-CN" sz="1100" b="0" kern="100">
                          <a:solidFill>
                            <a:schemeClr val="dk1"/>
                          </a:solidFill>
                          <a:effectLst/>
                          <a:latin typeface="Times New Roman" panose="02020603050405020304" pitchFamily="18" charset="0"/>
                          <a:ea typeface="+mn-ea"/>
                          <a:cs typeface="Times New Roman" panose="02020603050405020304" pitchFamily="18" charset="0"/>
                        </a:rPr>
                        <a:t>改进点缺少要素或仅为</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增加功能</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等笼统表述</a:t>
                      </a:r>
                    </a:p>
                  </a:txBody>
                  <a:tcPr marL="68580" marR="68580" marT="0" marB="0"/>
                </a:tc>
                <a:extLst>
                  <a:ext uri="{0D108BD9-81ED-4DB2-BD59-A6C34878D82A}">
                    <a16:rowId xmlns:a16="http://schemas.microsoft.com/office/drawing/2014/main" val="3701765048"/>
                  </a:ext>
                </a:extLst>
              </a:tr>
              <a:tr h="470892">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A6</a:t>
                      </a:r>
                      <a:r>
                        <a:rPr lang="zh-CN" sz="1100" b="0" kern="100">
                          <a:solidFill>
                            <a:schemeClr val="dk1"/>
                          </a:solidFill>
                          <a:effectLst/>
                          <a:latin typeface="Times New Roman" panose="02020603050405020304" pitchFamily="18" charset="0"/>
                          <a:ea typeface="+mn-ea"/>
                          <a:cs typeface="Times New Roman" panose="02020603050405020304" pitchFamily="18" charset="0"/>
                        </a:rPr>
                        <a:t>方案优化版本整合各维度改进点，形成完整方案描述，说明优化前后差异</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B6</a:t>
                      </a:r>
                      <a:r>
                        <a:rPr lang="zh-CN" sz="1100" b="0" kern="100">
                          <a:solidFill>
                            <a:schemeClr val="dk1"/>
                          </a:solidFill>
                          <a:effectLst/>
                          <a:latin typeface="Times New Roman" panose="02020603050405020304" pitchFamily="18" charset="0"/>
                          <a:ea typeface="+mn-ea"/>
                          <a:cs typeface="Times New Roman" panose="02020603050405020304" pitchFamily="18" charset="0"/>
                        </a:rPr>
                        <a:t>方案优化版本基本整合各维度改进点，差异说明较简略</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C6</a:t>
                      </a:r>
                      <a:r>
                        <a:rPr lang="zh-CN" sz="1100" b="0" kern="100">
                          <a:solidFill>
                            <a:schemeClr val="dk1"/>
                          </a:solidFill>
                          <a:effectLst/>
                          <a:latin typeface="Times New Roman" panose="02020603050405020304" pitchFamily="18" charset="0"/>
                          <a:ea typeface="+mn-ea"/>
                          <a:cs typeface="Times New Roman" panose="02020603050405020304" pitchFamily="18" charset="0"/>
                        </a:rPr>
                        <a:t>未形成方案优化版本或优化版本与维度分析脱节</a:t>
                      </a:r>
                    </a:p>
                  </a:txBody>
                  <a:tcPr marL="68580" marR="68580" marT="0" marB="0"/>
                </a:tc>
                <a:extLst>
                  <a:ext uri="{0D108BD9-81ED-4DB2-BD59-A6C34878D82A}">
                    <a16:rowId xmlns:a16="http://schemas.microsoft.com/office/drawing/2014/main" val="10005"/>
                  </a:ext>
                </a:extLst>
              </a:tr>
            </a:tbl>
          </a:graphicData>
        </a:graphic>
      </p:graphicFrame>
      <p:sp>
        <p:nvSpPr>
          <p:cNvPr id="10" name="矩形 9"/>
          <p:cNvSpPr/>
          <p:nvPr/>
        </p:nvSpPr>
        <p:spPr>
          <a:xfrm>
            <a:off x="899591" y="1648029"/>
            <a:ext cx="7200801" cy="369332"/>
          </a:xfrm>
          <a:prstGeom prst="rect">
            <a:avLst/>
          </a:prstGeom>
        </p:spPr>
        <p:txBody>
          <a:bodyPr wrap="square">
            <a:spAutoFit/>
          </a:bodyPr>
          <a:lstStyle/>
          <a:p>
            <a:pPr algn="ctr"/>
            <a:r>
              <a:rPr lang="zh-CN" altLang="zh-CN" b="1"/>
              <a:t> </a:t>
            </a:r>
            <a:r>
              <a:rPr lang="en-US" altLang="zh-CN" sz="1100" b="1" smtClean="0">
                <a:latin typeface="微软雅黑" panose="020B0503020204020204" pitchFamily="34" charset="-122"/>
                <a:ea typeface="微软雅黑" panose="020B0503020204020204" pitchFamily="34" charset="-122"/>
              </a:rPr>
              <a:t>“</a:t>
            </a:r>
            <a:r>
              <a:rPr lang="zh-CN" altLang="en-US" sz="1100" b="1" smtClean="0">
                <a:latin typeface="微软雅黑" panose="020B0503020204020204" pitchFamily="34" charset="-122"/>
                <a:ea typeface="微软雅黑" panose="020B0503020204020204" pitchFamily="34" charset="-122"/>
              </a:rPr>
              <a:t>创新方法</a:t>
            </a:r>
            <a:r>
              <a:rPr lang="zh-CN" altLang="zh-CN" sz="1100" b="1" smtClean="0">
                <a:latin typeface="微软雅黑" panose="020B0503020204020204" pitchFamily="34" charset="-122"/>
                <a:ea typeface="微软雅黑" panose="020B0503020204020204" pitchFamily="34" charset="-122"/>
              </a:rPr>
              <a:t>实</a:t>
            </a:r>
            <a:r>
              <a:rPr lang="zh-CN" altLang="zh-CN" sz="1100" b="1">
                <a:latin typeface="微软雅黑" panose="020B0503020204020204" pitchFamily="34" charset="-122"/>
                <a:ea typeface="微软雅黑" panose="020B0503020204020204" pitchFamily="34" charset="-122"/>
              </a:rPr>
              <a:t>践档案袋</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课堂成果评</a:t>
            </a:r>
            <a:r>
              <a:rPr lang="zh-CN" altLang="zh-CN" sz="1100" b="1" dirty="0">
                <a:latin typeface="微软雅黑" panose="020B0503020204020204" pitchFamily="34" charset="-122"/>
                <a:ea typeface="微软雅黑" panose="020B0503020204020204" pitchFamily="34" charset="-122"/>
              </a:rPr>
              <a:t>价</a:t>
            </a:r>
            <a:r>
              <a:rPr lang="zh-CN" altLang="zh-CN" sz="1100" b="1">
                <a:latin typeface="微软雅黑" panose="020B0503020204020204" pitchFamily="34" charset="-122"/>
                <a:ea typeface="微软雅黑" panose="020B0503020204020204" pitchFamily="34" charset="-122"/>
              </a:rPr>
              <a:t>量表（课</a:t>
            </a:r>
            <a:r>
              <a:rPr lang="zh-CN" altLang="en-US" sz="1100" b="1">
                <a:latin typeface="微软雅黑" panose="020B0503020204020204" pitchFamily="34" charset="-122"/>
                <a:ea typeface="微软雅黑" panose="020B0503020204020204" pitchFamily="34" charset="-122"/>
              </a:rPr>
              <a:t>堂</a:t>
            </a:r>
            <a:r>
              <a:rPr lang="zh-CN" altLang="zh-CN" sz="1100" b="1">
                <a:latin typeface="微软雅黑" panose="020B0503020204020204" pitchFamily="34" charset="-122"/>
                <a:ea typeface="微软雅黑" panose="020B0503020204020204" pitchFamily="34" charset="-122"/>
              </a:rPr>
              <a:t>教学活动</a:t>
            </a:r>
            <a:r>
              <a:rPr lang="zh-CN" altLang="en-US" sz="1100" b="1">
                <a:latin typeface="微软雅黑" panose="020B0503020204020204" pitchFamily="34" charset="-122"/>
                <a:ea typeface="微软雅黑" panose="020B0503020204020204" pitchFamily="34" charset="-122"/>
              </a:rPr>
              <a:t>二</a:t>
            </a:r>
            <a:r>
              <a:rPr lang="zh-CN" altLang="zh-CN" sz="1100" b="1">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71257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4027760744"/>
              </p:ext>
            </p:extLst>
          </p:nvPr>
        </p:nvGraphicFramePr>
        <p:xfrm>
          <a:off x="179512" y="1967605"/>
          <a:ext cx="8640960" cy="3189715"/>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gridCol w="2304256">
                  <a:extLst>
                    <a:ext uri="{9D8B030D-6E8A-4147-A177-3AD203B41FA5}">
                      <a16:colId xmlns:a16="http://schemas.microsoft.com/office/drawing/2014/main" val="20002"/>
                    </a:ext>
                  </a:extLst>
                </a:gridCol>
                <a:gridCol w="1944216">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476295">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决策质量</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A7</a:t>
                      </a:r>
                      <a:r>
                        <a:rPr lang="zh-CN" sz="1100" b="0" kern="100">
                          <a:solidFill>
                            <a:schemeClr val="dk1"/>
                          </a:solidFill>
                          <a:effectLst/>
                          <a:latin typeface="Times New Roman" panose="02020603050405020304" pitchFamily="18" charset="0"/>
                          <a:ea typeface="+mn-ea"/>
                          <a:cs typeface="Times New Roman" panose="02020603050405020304" pitchFamily="18" charset="0"/>
                        </a:rPr>
                        <a:t>六顶思考帽讨论纪要完整，六帽角色发言均有记录</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B7</a:t>
                      </a:r>
                      <a:r>
                        <a:rPr lang="zh-CN" sz="1100" b="0" kern="100">
                          <a:solidFill>
                            <a:schemeClr val="dk1"/>
                          </a:solidFill>
                          <a:effectLst/>
                          <a:latin typeface="Times New Roman" panose="02020603050405020304" pitchFamily="18" charset="0"/>
                          <a:ea typeface="+mn-ea"/>
                          <a:cs typeface="Times New Roman" panose="02020603050405020304" pitchFamily="18" charset="0"/>
                        </a:rPr>
                        <a:t>六帽讨论纪要基本完整，覆盖主要帽子角色</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C7</a:t>
                      </a:r>
                      <a:r>
                        <a:rPr lang="zh-CN" sz="1100" b="0" kern="100">
                          <a:solidFill>
                            <a:schemeClr val="dk1"/>
                          </a:solidFill>
                          <a:effectLst/>
                          <a:latin typeface="Times New Roman" panose="02020603050405020304" pitchFamily="18" charset="0"/>
                          <a:ea typeface="+mn-ea"/>
                          <a:cs typeface="Times New Roman" panose="02020603050405020304" pitchFamily="18" charset="0"/>
                        </a:rPr>
                        <a:t>讨论纪要缺失或记录不完整</a:t>
                      </a:r>
                    </a:p>
                  </a:txBody>
                  <a:tcPr marL="68580" marR="68580" marT="0" marB="0"/>
                </a:tc>
                <a:extLst>
                  <a:ext uri="{0D108BD9-81ED-4DB2-BD59-A6C34878D82A}">
                    <a16:rowId xmlns:a16="http://schemas.microsoft.com/office/drawing/2014/main" val="10001"/>
                  </a:ext>
                </a:extLst>
              </a:tr>
              <a:tr h="288032">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A8</a:t>
                      </a:r>
                      <a:r>
                        <a:rPr lang="zh-CN" sz="1100" b="0" kern="100">
                          <a:solidFill>
                            <a:schemeClr val="dk1"/>
                          </a:solidFill>
                          <a:effectLst/>
                          <a:latin typeface="Times New Roman" panose="02020603050405020304" pitchFamily="18" charset="0"/>
                          <a:ea typeface="+mn-ea"/>
                          <a:cs typeface="Times New Roman" panose="02020603050405020304" pitchFamily="18" charset="0"/>
                        </a:rPr>
                        <a:t>黑帽发言为客观风险评估（如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现有研究表明</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可能存在</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风险</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），非主观否定</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B8</a:t>
                      </a:r>
                      <a:r>
                        <a:rPr lang="zh-CN" sz="1100" b="0" kern="100">
                          <a:solidFill>
                            <a:schemeClr val="dk1"/>
                          </a:solidFill>
                          <a:effectLst/>
                          <a:latin typeface="Times New Roman" panose="02020603050405020304" pitchFamily="18" charset="0"/>
                          <a:ea typeface="+mn-ea"/>
                          <a:cs typeface="Times New Roman" panose="02020603050405020304" pitchFamily="18" charset="0"/>
                        </a:rPr>
                        <a:t>黑帽发言基本为风险判断但偶有主观化倾向</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C8</a:t>
                      </a:r>
                      <a:r>
                        <a:rPr lang="zh-CN" sz="1100" b="0" kern="100">
                          <a:solidFill>
                            <a:schemeClr val="dk1"/>
                          </a:solidFill>
                          <a:effectLst/>
                          <a:latin typeface="Times New Roman" panose="02020603050405020304" pitchFamily="18" charset="0"/>
                          <a:ea typeface="+mn-ea"/>
                          <a:cs typeface="Times New Roman" panose="02020603050405020304" pitchFamily="18" charset="0"/>
                        </a:rPr>
                        <a:t>黑帽发言为</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我觉得不行</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等主观否定</a:t>
                      </a:r>
                    </a:p>
                  </a:txBody>
                  <a:tcPr marL="68580" marR="68580" marT="0" marB="0"/>
                </a:tc>
                <a:extLst>
                  <a:ext uri="{0D108BD9-81ED-4DB2-BD59-A6C34878D82A}">
                    <a16:rowId xmlns:a16="http://schemas.microsoft.com/office/drawing/2014/main" val="10003"/>
                  </a:ext>
                </a:extLst>
              </a:tr>
              <a:tr h="466037">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A9</a:t>
                      </a:r>
                      <a:r>
                        <a:rPr lang="zh-CN" sz="1100" b="0" kern="100">
                          <a:solidFill>
                            <a:schemeClr val="dk1"/>
                          </a:solidFill>
                          <a:effectLst/>
                          <a:latin typeface="Times New Roman" panose="02020603050405020304" pitchFamily="18" charset="0"/>
                          <a:ea typeface="+mn-ea"/>
                          <a:cs typeface="Times New Roman" panose="02020603050405020304" pitchFamily="18" charset="0"/>
                        </a:rPr>
                        <a:t>最终方案决策书包含选定方案名称、综合六帽视角的决策理由、明确决策结论（通过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修改后通过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暂缓）</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B9</a:t>
                      </a:r>
                      <a:r>
                        <a:rPr lang="zh-CN" sz="1100" b="0" kern="100">
                          <a:solidFill>
                            <a:schemeClr val="dk1"/>
                          </a:solidFill>
                          <a:effectLst/>
                          <a:latin typeface="Times New Roman" panose="02020603050405020304" pitchFamily="18" charset="0"/>
                          <a:ea typeface="+mn-ea"/>
                          <a:cs typeface="Times New Roman" panose="02020603050405020304" pitchFamily="18" charset="0"/>
                        </a:rPr>
                        <a:t>决策书包含方案名称、决策理由和结论，但理由分析不够深入</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C9</a:t>
                      </a:r>
                      <a:r>
                        <a:rPr lang="zh-CN" sz="1100" b="0" kern="100">
                          <a:solidFill>
                            <a:schemeClr val="dk1"/>
                          </a:solidFill>
                          <a:effectLst/>
                          <a:latin typeface="Times New Roman" panose="02020603050405020304" pitchFamily="18" charset="0"/>
                          <a:ea typeface="+mn-ea"/>
                          <a:cs typeface="Times New Roman" panose="02020603050405020304" pitchFamily="18" charset="0"/>
                        </a:rPr>
                        <a:t>无决策书或决策书要素缺失</a:t>
                      </a:r>
                    </a:p>
                  </a:txBody>
                  <a:tcPr marL="68580" marR="68580" marT="0" marB="0"/>
                </a:tc>
                <a:extLst>
                  <a:ext uri="{0D108BD9-81ED-4DB2-BD59-A6C34878D82A}">
                    <a16:rowId xmlns:a16="http://schemas.microsoft.com/office/drawing/2014/main" val="10004"/>
                  </a:ext>
                </a:extLst>
              </a:tr>
              <a:tr h="224962">
                <a:tc rowSpan="2">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规划质量（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A10 5W2H</a:t>
                      </a:r>
                      <a:r>
                        <a:rPr lang="zh-CN" sz="1100" b="0" kern="100">
                          <a:solidFill>
                            <a:schemeClr val="dk1"/>
                          </a:solidFill>
                          <a:effectLst/>
                          <a:latin typeface="Times New Roman" panose="02020603050405020304" pitchFamily="18" charset="0"/>
                          <a:ea typeface="+mn-ea"/>
                          <a:cs typeface="Times New Roman" panose="02020603050405020304" pitchFamily="18" charset="0"/>
                        </a:rPr>
                        <a:t>实施规划表</a:t>
                      </a:r>
                      <a:r>
                        <a:rPr lang="en-US" sz="1100" b="0" kern="100">
                          <a:solidFill>
                            <a:schemeClr val="dk1"/>
                          </a:solidFill>
                          <a:effectLst/>
                          <a:latin typeface="Times New Roman" panose="02020603050405020304" pitchFamily="18" charset="0"/>
                          <a:ea typeface="+mn-ea"/>
                          <a:cs typeface="Times New Roman" panose="02020603050405020304" pitchFamily="18" charset="0"/>
                        </a:rPr>
                        <a:t>7</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个维度完整覆盖</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B10 5W2H</a:t>
                      </a:r>
                      <a:r>
                        <a:rPr lang="zh-CN" sz="1100" b="0" kern="100">
                          <a:solidFill>
                            <a:schemeClr val="dk1"/>
                          </a:solidFill>
                          <a:effectLst/>
                          <a:latin typeface="Times New Roman" panose="02020603050405020304" pitchFamily="18" charset="0"/>
                          <a:ea typeface="+mn-ea"/>
                          <a:cs typeface="Times New Roman" panose="02020603050405020304" pitchFamily="18" charset="0"/>
                        </a:rPr>
                        <a:t>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6-7</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C10 5W2H</a:t>
                      </a:r>
                      <a:r>
                        <a:rPr lang="zh-CN" sz="1100" b="0" kern="100">
                          <a:solidFill>
                            <a:schemeClr val="dk1"/>
                          </a:solidFill>
                          <a:effectLst/>
                          <a:latin typeface="Times New Roman" panose="02020603050405020304" pitchFamily="18" charset="0"/>
                          <a:ea typeface="+mn-ea"/>
                          <a:cs typeface="Times New Roman" panose="02020603050405020304" pitchFamily="18" charset="0"/>
                        </a:rPr>
                        <a:t>覆盖维度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&lt;5</a:t>
                      </a:r>
                      <a:r>
                        <a:rPr lang="zh-CN" sz="1100" b="0" kern="100">
                          <a:solidFill>
                            <a:schemeClr val="dk1"/>
                          </a:solidFill>
                          <a:effectLst/>
                          <a:latin typeface="Times New Roman" panose="02020603050405020304" pitchFamily="18" charset="0"/>
                          <a:ea typeface="+mn-ea"/>
                          <a:cs typeface="Times New Roman" panose="02020603050405020304" pitchFamily="18" charset="0"/>
                        </a:rPr>
                        <a:t>个</a:t>
                      </a:r>
                    </a:p>
                  </a:txBody>
                  <a:tcPr marL="68580" marR="68580" marT="0" marB="0"/>
                </a:tc>
                <a:extLst>
                  <a:ext uri="{0D108BD9-81ED-4DB2-BD59-A6C34878D82A}">
                    <a16:rowId xmlns:a16="http://schemas.microsoft.com/office/drawing/2014/main" val="3701765048"/>
                  </a:ext>
                </a:extLst>
              </a:tr>
              <a:tr h="432048">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A11 How</a:t>
                      </a:r>
                      <a:r>
                        <a:rPr lang="zh-CN" sz="1100" b="0" kern="100">
                          <a:solidFill>
                            <a:schemeClr val="dk1"/>
                          </a:solidFill>
                          <a:effectLst/>
                          <a:latin typeface="Times New Roman" panose="02020603050405020304" pitchFamily="18" charset="0"/>
                          <a:ea typeface="+mn-ea"/>
                          <a:cs typeface="Times New Roman" panose="02020603050405020304" pitchFamily="18" charset="0"/>
                        </a:rPr>
                        <a:t>包含至少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个关键步骤且步骤具体可执行</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B11 How</a:t>
                      </a:r>
                      <a:r>
                        <a:rPr lang="zh-CN" sz="1100" b="0" kern="100">
                          <a:solidFill>
                            <a:schemeClr val="dk1"/>
                          </a:solidFill>
                          <a:effectLst/>
                          <a:latin typeface="Times New Roman" panose="02020603050405020304" pitchFamily="18" charset="0"/>
                          <a:ea typeface="+mn-ea"/>
                          <a:cs typeface="Times New Roman" panose="02020603050405020304" pitchFamily="18" charset="0"/>
                        </a:rPr>
                        <a:t>包含至少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个步骤，大部分具体可执行</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C11 How</a:t>
                      </a:r>
                      <a:r>
                        <a:rPr lang="zh-CN" sz="1100" b="0" kern="100">
                          <a:solidFill>
                            <a:schemeClr val="dk1"/>
                          </a:solidFill>
                          <a:effectLst/>
                          <a:latin typeface="Times New Roman" panose="02020603050405020304" pitchFamily="18" charset="0"/>
                          <a:ea typeface="+mn-ea"/>
                          <a:cs typeface="Times New Roman" panose="02020603050405020304" pitchFamily="18" charset="0"/>
                        </a:rPr>
                        <a:t>步骤</a:t>
                      </a:r>
                      <a:r>
                        <a:rPr lang="en-US" sz="1100" b="0" kern="100">
                          <a:solidFill>
                            <a:schemeClr val="dk1"/>
                          </a:solidFill>
                          <a:effectLst/>
                          <a:latin typeface="Times New Roman" panose="02020603050405020304" pitchFamily="18" charset="0"/>
                          <a:ea typeface="+mn-ea"/>
                          <a:cs typeface="Times New Roman" panose="02020603050405020304" pitchFamily="18" charset="0"/>
                        </a:rPr>
                        <a:t>&lt;3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个或步骤笼统（如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加强宣传</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68580" marR="68580" marT="0" marB="0"/>
                </a:tc>
                <a:extLst>
                  <a:ext uri="{0D108BD9-81ED-4DB2-BD59-A6C34878D82A}">
                    <a16:rowId xmlns:a16="http://schemas.microsoft.com/office/drawing/2014/main" val="10005"/>
                  </a:ext>
                </a:extLst>
              </a:tr>
              <a:tr h="470892">
                <a:tc rowSpan="2">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方法组合策略（</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A13</a:t>
                      </a:r>
                      <a:r>
                        <a:rPr lang="zh-CN" sz="1100" b="0" kern="100">
                          <a:solidFill>
                            <a:schemeClr val="dk1"/>
                          </a:solidFill>
                          <a:effectLst/>
                          <a:latin typeface="Times New Roman" panose="02020603050405020304" pitchFamily="18" charset="0"/>
                          <a:ea typeface="+mn-ea"/>
                          <a:cs typeface="Times New Roman" panose="02020603050405020304" pitchFamily="18" charset="0"/>
                        </a:rPr>
                        <a:t>汇报中能清晰说明各阶段方法选择逻辑（</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为什么在这个阶段选择</a:t>
                      </a:r>
                      <a:r>
                        <a:rPr lang="en-US" sz="1100" b="0" kern="100">
                          <a:solidFill>
                            <a:schemeClr val="dk1"/>
                          </a:solidFill>
                          <a:effectLst/>
                          <a:latin typeface="Times New Roman" panose="02020603050405020304" pitchFamily="18" charset="0"/>
                          <a:ea typeface="+mn-ea"/>
                          <a:cs typeface="Times New Roman" panose="02020603050405020304" pitchFamily="18" charset="0"/>
                        </a:rPr>
                        <a:t>A</a:t>
                      </a:r>
                      <a:r>
                        <a:rPr lang="zh-CN" sz="1100" b="0" kern="100">
                          <a:solidFill>
                            <a:schemeClr val="dk1"/>
                          </a:solidFill>
                          <a:effectLst/>
                          <a:latin typeface="Times New Roman" panose="02020603050405020304" pitchFamily="18" charset="0"/>
                          <a:ea typeface="+mn-ea"/>
                          <a:cs typeface="Times New Roman" panose="02020603050405020304" pitchFamily="18" charset="0"/>
                        </a:rPr>
                        <a:t>方法而非</a:t>
                      </a:r>
                      <a:r>
                        <a:rPr lang="en-US" sz="1100" b="0" kern="100">
                          <a:solidFill>
                            <a:schemeClr val="dk1"/>
                          </a:solidFill>
                          <a:effectLst/>
                          <a:latin typeface="Times New Roman" panose="02020603050405020304" pitchFamily="18" charset="0"/>
                          <a:ea typeface="+mn-ea"/>
                          <a:cs typeface="Times New Roman" panose="02020603050405020304" pitchFamily="18" charset="0"/>
                        </a:rPr>
                        <a:t>B</a:t>
                      </a:r>
                      <a:r>
                        <a:rPr lang="zh-CN" sz="1100" b="0" kern="100">
                          <a:solidFill>
                            <a:schemeClr val="dk1"/>
                          </a:solidFill>
                          <a:effectLst/>
                          <a:latin typeface="Times New Roman" panose="02020603050405020304" pitchFamily="18" charset="0"/>
                          <a:ea typeface="+mn-ea"/>
                          <a:cs typeface="Times New Roman" panose="02020603050405020304" pitchFamily="18" charset="0"/>
                        </a:rPr>
                        <a:t>方法</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B13</a:t>
                      </a:r>
                      <a:r>
                        <a:rPr lang="zh-CN" sz="1100" b="0" kern="100">
                          <a:solidFill>
                            <a:schemeClr val="dk1"/>
                          </a:solidFill>
                          <a:effectLst/>
                          <a:latin typeface="Times New Roman" panose="02020603050405020304" pitchFamily="18" charset="0"/>
                          <a:ea typeface="+mn-ea"/>
                          <a:cs typeface="Times New Roman" panose="02020603050405020304" pitchFamily="18" charset="0"/>
                        </a:rPr>
                        <a:t>汇报中能基本说明方法选择逻辑但分析较浅</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C13</a:t>
                      </a:r>
                      <a:r>
                        <a:rPr lang="zh-CN" sz="1100" b="0" kern="100">
                          <a:solidFill>
                            <a:schemeClr val="dk1"/>
                          </a:solidFill>
                          <a:effectLst/>
                          <a:latin typeface="Times New Roman" panose="02020603050405020304" pitchFamily="18" charset="0"/>
                          <a:ea typeface="+mn-ea"/>
                          <a:cs typeface="Times New Roman" panose="02020603050405020304" pitchFamily="18" charset="0"/>
                        </a:rPr>
                        <a:t>汇报中无法说明方法选择逻辑</a:t>
                      </a:r>
                    </a:p>
                  </a:txBody>
                  <a:tcPr marL="68580" marR="68580" marT="0" marB="0"/>
                </a:tc>
                <a:extLst>
                  <a:ext uri="{0D108BD9-81ED-4DB2-BD59-A6C34878D82A}">
                    <a16:rowId xmlns:a16="http://schemas.microsoft.com/office/drawing/2014/main" val="289255034"/>
                  </a:ext>
                </a:extLst>
              </a:tr>
              <a:tr h="470892">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A14</a:t>
                      </a:r>
                      <a:r>
                        <a:rPr lang="zh-CN" sz="1100" b="0" kern="100">
                          <a:solidFill>
                            <a:schemeClr val="dk1"/>
                          </a:solidFill>
                          <a:effectLst/>
                          <a:latin typeface="Times New Roman" panose="02020603050405020304" pitchFamily="18" charset="0"/>
                          <a:ea typeface="+mn-ea"/>
                          <a:cs typeface="Times New Roman" panose="02020603050405020304" pitchFamily="18" charset="0"/>
                        </a:rPr>
                        <a:t>能说明阶段切换的衔接依据，体现</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构思</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优化</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决策</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规划</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递进关系的理解</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B14</a:t>
                      </a:r>
                      <a:r>
                        <a:rPr lang="zh-CN" sz="1100" b="0" kern="100">
                          <a:solidFill>
                            <a:schemeClr val="dk1"/>
                          </a:solidFill>
                          <a:effectLst/>
                          <a:latin typeface="Times New Roman" panose="02020603050405020304" pitchFamily="18" charset="0"/>
                          <a:ea typeface="+mn-ea"/>
                          <a:cs typeface="Times New Roman" panose="02020603050405020304" pitchFamily="18" charset="0"/>
                        </a:rPr>
                        <a:t>能提及阶段衔接但未充分说明递进关系</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C14</a:t>
                      </a:r>
                      <a:r>
                        <a:rPr lang="zh-CN" sz="1100" b="0" kern="100">
                          <a:solidFill>
                            <a:schemeClr val="dk1"/>
                          </a:solidFill>
                          <a:effectLst/>
                          <a:latin typeface="Times New Roman" panose="02020603050405020304" pitchFamily="18" charset="0"/>
                          <a:ea typeface="+mn-ea"/>
                          <a:cs typeface="Times New Roman" panose="02020603050405020304" pitchFamily="18" charset="0"/>
                        </a:rPr>
                        <a:t>阶段成果相互孤立，无递进关系说明</a:t>
                      </a:r>
                    </a:p>
                  </a:txBody>
                  <a:tcPr marL="68580" marR="68580" marT="0" marB="0"/>
                </a:tc>
                <a:extLst>
                  <a:ext uri="{0D108BD9-81ED-4DB2-BD59-A6C34878D82A}">
                    <a16:rowId xmlns:a16="http://schemas.microsoft.com/office/drawing/2014/main" val="3863581330"/>
                  </a:ext>
                </a:extLst>
              </a:tr>
            </a:tbl>
          </a:graphicData>
        </a:graphic>
      </p:graphicFrame>
      <p:sp>
        <p:nvSpPr>
          <p:cNvPr id="10" name="矩形 9"/>
          <p:cNvSpPr/>
          <p:nvPr/>
        </p:nvSpPr>
        <p:spPr>
          <a:xfrm>
            <a:off x="179512" y="1598273"/>
            <a:ext cx="7904616" cy="369332"/>
          </a:xfrm>
          <a:prstGeom prst="rect">
            <a:avLst/>
          </a:prstGeom>
        </p:spPr>
        <p:txBody>
          <a:bodyPr wrap="square">
            <a:spAutoFit/>
          </a:bodyPr>
          <a:lstStyle/>
          <a:p>
            <a:r>
              <a:rPr lang="zh-CN" altLang="zh-CN" b="1"/>
              <a:t> </a:t>
            </a:r>
            <a:r>
              <a:rPr lang="zh-CN" altLang="en-US" sz="1100" b="1">
                <a:latin typeface="微软雅黑" panose="020B0503020204020204" pitchFamily="34" charset="-122"/>
                <a:ea typeface="微软雅黑" panose="020B0503020204020204" pitchFamily="34" charset="-122"/>
              </a:rPr>
              <a:t>续</a:t>
            </a:r>
            <a:r>
              <a:rPr lang="en-US" altLang="zh-CN" sz="1100" b="1" smtClean="0">
                <a:latin typeface="微软雅黑" panose="020B0503020204020204" pitchFamily="34" charset="-122"/>
                <a:ea typeface="微软雅黑" panose="020B0503020204020204" pitchFamily="34" charset="-122"/>
              </a:rPr>
              <a:t>“</a:t>
            </a:r>
            <a:r>
              <a:rPr lang="zh-CN" altLang="en-US" sz="1100" b="1">
                <a:latin typeface="微软雅黑" panose="020B0503020204020204" pitchFamily="34" charset="-122"/>
                <a:ea typeface="微软雅黑" panose="020B0503020204020204" pitchFamily="34" charset="-122"/>
              </a:rPr>
              <a:t>创新方法</a:t>
            </a:r>
            <a:r>
              <a:rPr lang="zh-CN" altLang="zh-CN" sz="1100" b="1" smtClean="0">
                <a:latin typeface="微软雅黑" panose="020B0503020204020204" pitchFamily="34" charset="-122"/>
                <a:ea typeface="微软雅黑" panose="020B0503020204020204" pitchFamily="34" charset="-122"/>
              </a:rPr>
              <a:t>实</a:t>
            </a:r>
            <a:r>
              <a:rPr lang="zh-CN" altLang="zh-CN" sz="1100" b="1">
                <a:latin typeface="微软雅黑" panose="020B0503020204020204" pitchFamily="34" charset="-122"/>
                <a:ea typeface="微软雅黑" panose="020B0503020204020204" pitchFamily="34" charset="-122"/>
              </a:rPr>
              <a:t>践档案袋</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课堂成果评</a:t>
            </a:r>
            <a:r>
              <a:rPr lang="zh-CN" altLang="zh-CN" sz="1100" b="1" dirty="0">
                <a:latin typeface="微软雅黑" panose="020B0503020204020204" pitchFamily="34" charset="-122"/>
                <a:ea typeface="微软雅黑" panose="020B0503020204020204" pitchFamily="34" charset="-122"/>
              </a:rPr>
              <a:t>价</a:t>
            </a:r>
            <a:r>
              <a:rPr lang="zh-CN" altLang="zh-CN" sz="1100" b="1">
                <a:latin typeface="微软雅黑" panose="020B0503020204020204" pitchFamily="34" charset="-122"/>
                <a:ea typeface="微软雅黑" panose="020B0503020204020204" pitchFamily="34" charset="-122"/>
              </a:rPr>
              <a:t>量表（</a:t>
            </a:r>
            <a:r>
              <a:rPr lang="zh-CN" altLang="zh-CN" sz="1100" b="1" smtClean="0">
                <a:latin typeface="微软雅黑" panose="020B0503020204020204" pitchFamily="34" charset="-122"/>
                <a:ea typeface="微软雅黑" panose="020B0503020204020204" pitchFamily="34" charset="-122"/>
              </a:rPr>
              <a:t>课</a:t>
            </a:r>
            <a:r>
              <a:rPr lang="zh-CN" altLang="en-US" sz="1100" b="1" smtClean="0">
                <a:latin typeface="微软雅黑" panose="020B0503020204020204" pitchFamily="34" charset="-122"/>
                <a:ea typeface="微软雅黑" panose="020B0503020204020204" pitchFamily="34" charset="-122"/>
              </a:rPr>
              <a:t>堂</a:t>
            </a:r>
            <a:r>
              <a:rPr lang="zh-CN" altLang="zh-CN" sz="1100" b="1" smtClean="0">
                <a:latin typeface="微软雅黑" panose="020B0503020204020204" pitchFamily="34" charset="-122"/>
                <a:ea typeface="微软雅黑" panose="020B0503020204020204" pitchFamily="34" charset="-122"/>
              </a:rPr>
              <a:t>教</a:t>
            </a:r>
            <a:r>
              <a:rPr lang="zh-CN" altLang="zh-CN" sz="1100" b="1">
                <a:latin typeface="微软雅黑" panose="020B0503020204020204" pitchFamily="34" charset="-122"/>
                <a:ea typeface="微软雅黑" panose="020B0503020204020204" pitchFamily="34" charset="-122"/>
              </a:rPr>
              <a:t>学活</a:t>
            </a:r>
            <a:r>
              <a:rPr lang="zh-CN" altLang="zh-CN" sz="1100" b="1" smtClean="0">
                <a:latin typeface="微软雅黑" panose="020B0503020204020204" pitchFamily="34" charset="-122"/>
                <a:ea typeface="微软雅黑" panose="020B0503020204020204" pitchFamily="34" charset="-122"/>
              </a:rPr>
              <a:t>动</a:t>
            </a:r>
            <a:r>
              <a:rPr lang="zh-CN" altLang="en-US" sz="1100" b="1" smtClean="0">
                <a:latin typeface="微软雅黑" panose="020B0503020204020204" pitchFamily="34" charset="-122"/>
                <a:ea typeface="微软雅黑" panose="020B0503020204020204" pitchFamily="34" charset="-122"/>
              </a:rPr>
              <a:t>二</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380298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669519971"/>
              </p:ext>
            </p:extLst>
          </p:nvPr>
        </p:nvGraphicFramePr>
        <p:xfrm>
          <a:off x="323528" y="1882974"/>
          <a:ext cx="8496944" cy="3199874"/>
        </p:xfrm>
        <a:graphic>
          <a:graphicData uri="http://schemas.openxmlformats.org/drawingml/2006/table">
            <a:tbl>
              <a:tblPr firstRow="1" firstCol="1" bandRow="1">
                <a:tableStyleId>{5C22544A-7EE6-4342-B048-85BDC9FD1C3A}</a:tableStyleId>
              </a:tblPr>
              <a:tblGrid>
                <a:gridCol w="864096">
                  <a:extLst>
                    <a:ext uri="{9D8B030D-6E8A-4147-A177-3AD203B41FA5}">
                      <a16:colId xmlns:a16="http://schemas.microsoft.com/office/drawing/2014/main" val="20000"/>
                    </a:ext>
                  </a:extLst>
                </a:gridCol>
                <a:gridCol w="3240360">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1944216">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469255">
                <a:tc rowSpan="3">
                  <a:txBody>
                    <a:bodyPr/>
                    <a:lstStyle/>
                    <a:p>
                      <a:pPr marL="0" algn="ctr" defTabSz="914400" rtl="0" eaLnBrk="1" latinLnBrk="0" hangingPunct="1">
                        <a:spcAft>
                          <a:spcPts val="0"/>
                        </a:spcAft>
                      </a:pP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SCAMPER</a:t>
                      </a: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审</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查质量（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a:t>
                      </a:r>
                      <a:r>
                        <a:rPr lang="zh-CN" sz="1100" b="0" kern="100">
                          <a:solidFill>
                            <a:schemeClr val="dk1"/>
                          </a:solidFill>
                          <a:effectLst/>
                          <a:latin typeface="Times New Roman" panose="02020603050405020304" pitchFamily="18" charset="0"/>
                          <a:ea typeface="+mn-ea"/>
                          <a:cs typeface="Times New Roman" panose="02020603050405020304" pitchFamily="18" charset="0"/>
                        </a:rPr>
                        <a:t>覆盖至少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4</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个维度，每个维度产出审查判断（</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该维度揭示了方案的什么问题</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风险</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机会</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a:t>
                      </a:r>
                      <a:r>
                        <a:rPr lang="zh-CN" sz="1100" b="0" kern="100">
                          <a:solidFill>
                            <a:schemeClr val="dk1"/>
                          </a:solidFill>
                          <a:effectLst/>
                          <a:latin typeface="Times New Roman" panose="02020603050405020304" pitchFamily="18" charset="0"/>
                          <a:ea typeface="+mn-ea"/>
                          <a:cs typeface="Times New Roman" panose="02020603050405020304" pitchFamily="18" charset="0"/>
                        </a:rPr>
                        <a:t>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4</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个维度，大部分维度产出审查判断</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a:t>
                      </a:r>
                      <a:r>
                        <a:rPr lang="zh-CN" sz="1100" b="0" kern="100">
                          <a:solidFill>
                            <a:schemeClr val="dk1"/>
                          </a:solidFill>
                          <a:effectLst/>
                          <a:latin typeface="Times New Roman" panose="02020603050405020304" pitchFamily="18" charset="0"/>
                          <a:ea typeface="+mn-ea"/>
                          <a:cs typeface="Times New Roman" panose="02020603050405020304" pitchFamily="18" charset="0"/>
                        </a:rPr>
                        <a:t>覆盖维度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&lt;4</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个，或审查判断笼统抽象</a:t>
                      </a:r>
                    </a:p>
                  </a:txBody>
                  <a:tcPr marL="68580" marR="68580" marT="0" marB="0"/>
                </a:tc>
                <a:extLst>
                  <a:ext uri="{0D108BD9-81ED-4DB2-BD59-A6C34878D82A}">
                    <a16:rowId xmlns:a16="http://schemas.microsoft.com/office/drawing/2014/main" val="10001"/>
                  </a:ext>
                </a:extLst>
              </a:tr>
              <a:tr h="360040">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A2</a:t>
                      </a:r>
                      <a:r>
                        <a:rPr lang="zh-CN" sz="1100" b="0" kern="100">
                          <a:solidFill>
                            <a:schemeClr val="dk1"/>
                          </a:solidFill>
                          <a:effectLst/>
                          <a:latin typeface="Times New Roman" panose="02020603050405020304" pitchFamily="18" charset="0"/>
                          <a:ea typeface="+mn-ea"/>
                          <a:cs typeface="Times New Roman" panose="02020603050405020304" pitchFamily="18" charset="0"/>
                        </a:rPr>
                        <a:t>每个审查判断标注</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需要进一步验证的假设</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或</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可直接采纳的改进点</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的属性归类</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B2</a:t>
                      </a:r>
                      <a:r>
                        <a:rPr lang="zh-CN" sz="1100" b="0" kern="100">
                          <a:solidFill>
                            <a:schemeClr val="dk1"/>
                          </a:solidFill>
                          <a:effectLst/>
                          <a:latin typeface="Times New Roman" panose="02020603050405020304" pitchFamily="18" charset="0"/>
                          <a:ea typeface="+mn-ea"/>
                          <a:cs typeface="Times New Roman" panose="02020603050405020304" pitchFamily="18" charset="0"/>
                        </a:rPr>
                        <a:t>审查判断有属性归类但部分归类不够清晰</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C2</a:t>
                      </a:r>
                      <a:r>
                        <a:rPr lang="zh-CN" sz="1100" b="0" kern="100">
                          <a:solidFill>
                            <a:schemeClr val="dk1"/>
                          </a:solidFill>
                          <a:effectLst/>
                          <a:latin typeface="Times New Roman" panose="02020603050405020304" pitchFamily="18" charset="0"/>
                          <a:ea typeface="+mn-ea"/>
                          <a:cs typeface="Times New Roman" panose="02020603050405020304" pitchFamily="18" charset="0"/>
                        </a:rPr>
                        <a:t>无属性归类或归类混乱</a:t>
                      </a:r>
                    </a:p>
                  </a:txBody>
                  <a:tcPr marL="68580" marR="68580" marT="0" marB="0"/>
                </a:tc>
                <a:extLst>
                  <a:ext uri="{0D108BD9-81ED-4DB2-BD59-A6C34878D82A}">
                    <a16:rowId xmlns:a16="http://schemas.microsoft.com/office/drawing/2014/main" val="10002"/>
                  </a:ext>
                </a:extLst>
              </a:tr>
              <a:tr h="485700">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A3</a:t>
                      </a:r>
                      <a:r>
                        <a:rPr lang="zh-CN" sz="1100" b="0" kern="100">
                          <a:solidFill>
                            <a:schemeClr val="dk1"/>
                          </a:solidFill>
                          <a:effectLst/>
                          <a:latin typeface="Times New Roman" panose="02020603050405020304" pitchFamily="18" charset="0"/>
                          <a:ea typeface="+mn-ea"/>
                          <a:cs typeface="Times New Roman" panose="02020603050405020304" pitchFamily="18" charset="0"/>
                        </a:rPr>
                        <a:t>待验证假设清单格式规范（</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我们假设</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在</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条件下能够成立</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），与审查发现直接对应</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B3</a:t>
                      </a:r>
                      <a:r>
                        <a:rPr lang="zh-CN" sz="1100" b="0" kern="100">
                          <a:solidFill>
                            <a:schemeClr val="dk1"/>
                          </a:solidFill>
                          <a:effectLst/>
                          <a:latin typeface="Times New Roman" panose="02020603050405020304" pitchFamily="18" charset="0"/>
                          <a:ea typeface="+mn-ea"/>
                          <a:cs typeface="Times New Roman" panose="02020603050405020304" pitchFamily="18" charset="0"/>
                        </a:rPr>
                        <a:t>待验证假设清单基本完整，部分与审查发现的对应关系不够明确</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C3</a:t>
                      </a:r>
                      <a:r>
                        <a:rPr lang="zh-CN" sz="1100" b="0" kern="100">
                          <a:solidFill>
                            <a:schemeClr val="dk1"/>
                          </a:solidFill>
                          <a:effectLst/>
                          <a:latin typeface="Times New Roman" panose="02020603050405020304" pitchFamily="18" charset="0"/>
                          <a:ea typeface="+mn-ea"/>
                          <a:cs typeface="Times New Roman" panose="02020603050405020304" pitchFamily="18" charset="0"/>
                        </a:rPr>
                        <a:t>待验证假设清单缺失或与审查发现脱节</a:t>
                      </a:r>
                    </a:p>
                  </a:txBody>
                  <a:tcPr marL="68580" marR="68580" marT="0" marB="0"/>
                </a:tc>
                <a:extLst>
                  <a:ext uri="{0D108BD9-81ED-4DB2-BD59-A6C34878D82A}">
                    <a16:rowId xmlns:a16="http://schemas.microsoft.com/office/drawing/2014/main" val="10003"/>
                  </a:ext>
                </a:extLst>
              </a:tr>
              <a:tr h="504056">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六顶思考帽评</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估质</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A4</a:t>
                      </a:r>
                      <a:r>
                        <a:rPr lang="zh-CN" sz="1100" b="0" kern="100">
                          <a:solidFill>
                            <a:schemeClr val="dk1"/>
                          </a:solidFill>
                          <a:effectLst/>
                          <a:latin typeface="Times New Roman" panose="02020603050405020304" pitchFamily="18" charset="0"/>
                          <a:ea typeface="+mn-ea"/>
                          <a:cs typeface="Times New Roman" panose="02020603050405020304" pitchFamily="18" charset="0"/>
                        </a:rPr>
                        <a:t>讨论纪要完整，六帽角色发言均有记录，各帽发言体现角色特征</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B4</a:t>
                      </a:r>
                      <a:r>
                        <a:rPr lang="zh-CN" sz="1100" b="0" kern="100">
                          <a:solidFill>
                            <a:schemeClr val="dk1"/>
                          </a:solidFill>
                          <a:effectLst/>
                          <a:latin typeface="Times New Roman" panose="02020603050405020304" pitchFamily="18" charset="0"/>
                          <a:ea typeface="+mn-ea"/>
                          <a:cs typeface="Times New Roman" panose="02020603050405020304" pitchFamily="18" charset="0"/>
                        </a:rPr>
                        <a:t>讨论纪要覆盖主要帽子角色，大部分记录完整</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C4</a:t>
                      </a:r>
                      <a:r>
                        <a:rPr lang="zh-CN" sz="1100" b="0" kern="100">
                          <a:solidFill>
                            <a:schemeClr val="dk1"/>
                          </a:solidFill>
                          <a:effectLst/>
                          <a:latin typeface="Times New Roman" panose="02020603050405020304" pitchFamily="18" charset="0"/>
                          <a:ea typeface="+mn-ea"/>
                          <a:cs typeface="Times New Roman" panose="02020603050405020304" pitchFamily="18" charset="0"/>
                        </a:rPr>
                        <a:t>讨论纪要缺失或记录不完整</a:t>
                      </a:r>
                    </a:p>
                  </a:txBody>
                  <a:tcPr marL="68580" marR="68580" marT="0" marB="0"/>
                </a:tc>
                <a:extLst>
                  <a:ext uri="{0D108BD9-81ED-4DB2-BD59-A6C34878D82A}">
                    <a16:rowId xmlns:a16="http://schemas.microsoft.com/office/drawing/2014/main" val="10004"/>
                  </a:ext>
                </a:extLst>
              </a:tr>
              <a:tr h="621382">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A5</a:t>
                      </a:r>
                      <a:r>
                        <a:rPr lang="zh-CN" sz="1100" b="0" kern="100">
                          <a:solidFill>
                            <a:schemeClr val="dk1"/>
                          </a:solidFill>
                          <a:effectLst/>
                          <a:latin typeface="Times New Roman" panose="02020603050405020304" pitchFamily="18" charset="0"/>
                          <a:ea typeface="+mn-ea"/>
                          <a:cs typeface="Times New Roman" panose="02020603050405020304" pitchFamily="18" charset="0"/>
                        </a:rPr>
                        <a:t>黑帽发言针对</a:t>
                      </a:r>
                      <a:r>
                        <a:rPr lang="en-US" sz="1100" b="0" kern="100">
                          <a:solidFill>
                            <a:schemeClr val="dk1"/>
                          </a:solidFill>
                          <a:effectLst/>
                          <a:latin typeface="Times New Roman" panose="02020603050405020304" pitchFamily="18" charset="0"/>
                          <a:ea typeface="+mn-ea"/>
                          <a:cs typeface="Times New Roman" panose="02020603050405020304" pitchFamily="18" charset="0"/>
                        </a:rPr>
                        <a:t>SCAMPER</a:t>
                      </a:r>
                      <a:r>
                        <a:rPr lang="zh-CN" sz="1100" b="0" kern="100">
                          <a:solidFill>
                            <a:schemeClr val="dk1"/>
                          </a:solidFill>
                          <a:effectLst/>
                          <a:latin typeface="Times New Roman" panose="02020603050405020304" pitchFamily="18" charset="0"/>
                          <a:ea typeface="+mn-ea"/>
                          <a:cs typeface="Times New Roman" panose="02020603050405020304" pitchFamily="18" charset="0"/>
                        </a:rPr>
                        <a:t>审查发现的薄弱维度进行风险评估，聚焦</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什么条件下会失败</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需要什么证据才能降低风险</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B5</a:t>
                      </a:r>
                      <a:r>
                        <a:rPr lang="zh-CN" sz="1100" b="0" kern="100">
                          <a:solidFill>
                            <a:schemeClr val="dk1"/>
                          </a:solidFill>
                          <a:effectLst/>
                          <a:latin typeface="Times New Roman" panose="02020603050405020304" pitchFamily="18" charset="0"/>
                          <a:ea typeface="+mn-ea"/>
                          <a:cs typeface="Times New Roman" panose="02020603050405020304" pitchFamily="18" charset="0"/>
                        </a:rPr>
                        <a:t>黑帽发言涉及风险评估但不够聚焦</a:t>
                      </a:r>
                      <a:r>
                        <a:rPr lang="en-US" sz="1100" b="0" kern="100">
                          <a:solidFill>
                            <a:schemeClr val="dk1"/>
                          </a:solidFill>
                          <a:effectLst/>
                          <a:latin typeface="Times New Roman" panose="02020603050405020304" pitchFamily="18" charset="0"/>
                          <a:ea typeface="+mn-ea"/>
                          <a:cs typeface="Times New Roman" panose="02020603050405020304" pitchFamily="18" charset="0"/>
                        </a:rPr>
                        <a:t>SCAMPER</a:t>
                      </a:r>
                      <a:r>
                        <a:rPr lang="zh-CN" sz="1100" b="0" kern="100">
                          <a:solidFill>
                            <a:schemeClr val="dk1"/>
                          </a:solidFill>
                          <a:effectLst/>
                          <a:latin typeface="Times New Roman" panose="02020603050405020304" pitchFamily="18" charset="0"/>
                          <a:ea typeface="+mn-ea"/>
                          <a:cs typeface="Times New Roman" panose="02020603050405020304" pitchFamily="18" charset="0"/>
                        </a:rPr>
                        <a:t>发现</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C5</a:t>
                      </a:r>
                      <a:r>
                        <a:rPr lang="zh-CN" sz="1100" b="0" kern="100">
                          <a:solidFill>
                            <a:schemeClr val="dk1"/>
                          </a:solidFill>
                          <a:effectLst/>
                          <a:latin typeface="Times New Roman" panose="02020603050405020304" pitchFamily="18" charset="0"/>
                          <a:ea typeface="+mn-ea"/>
                          <a:cs typeface="Times New Roman" panose="02020603050405020304" pitchFamily="18" charset="0"/>
                        </a:rPr>
                        <a:t>黑帽发言为主观否定而非风险评估</a:t>
                      </a:r>
                    </a:p>
                  </a:txBody>
                  <a:tcPr marL="68580" marR="68580" marT="0" marB="0"/>
                </a:tc>
                <a:extLst>
                  <a:ext uri="{0D108BD9-81ED-4DB2-BD59-A6C34878D82A}">
                    <a16:rowId xmlns:a16="http://schemas.microsoft.com/office/drawing/2014/main" val="3701765048"/>
                  </a:ext>
                </a:extLst>
              </a:tr>
              <a:tr h="470892">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A6</a:t>
                      </a:r>
                      <a:r>
                        <a:rPr lang="zh-CN" sz="1100" b="0" kern="100">
                          <a:solidFill>
                            <a:schemeClr val="dk1"/>
                          </a:solidFill>
                          <a:effectLst/>
                          <a:latin typeface="Times New Roman" panose="02020603050405020304" pitchFamily="18" charset="0"/>
                          <a:ea typeface="+mn-ea"/>
                          <a:cs typeface="Times New Roman" panose="02020603050405020304" pitchFamily="18" charset="0"/>
                        </a:rPr>
                        <a:t>初步决策结论综合六帽视角，说明推进</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调整</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放弃的倾向与理由</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B6</a:t>
                      </a:r>
                      <a:r>
                        <a:rPr lang="zh-CN" sz="1100" b="0" kern="100">
                          <a:solidFill>
                            <a:schemeClr val="dk1"/>
                          </a:solidFill>
                          <a:effectLst/>
                          <a:latin typeface="Times New Roman" panose="02020603050405020304" pitchFamily="18" charset="0"/>
                          <a:ea typeface="+mn-ea"/>
                          <a:cs typeface="Times New Roman" panose="02020603050405020304" pitchFamily="18" charset="0"/>
                        </a:rPr>
                        <a:t>初步决策结论有倾向说明但理由分析较简略</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C6</a:t>
                      </a:r>
                      <a:r>
                        <a:rPr lang="zh-CN" sz="1100" b="0" kern="100">
                          <a:solidFill>
                            <a:schemeClr val="dk1"/>
                          </a:solidFill>
                          <a:effectLst/>
                          <a:latin typeface="Times New Roman" panose="02020603050405020304" pitchFamily="18" charset="0"/>
                          <a:ea typeface="+mn-ea"/>
                          <a:cs typeface="Times New Roman" panose="02020603050405020304" pitchFamily="18" charset="0"/>
                        </a:rPr>
                        <a:t>无初步决策结论或结论无依据</a:t>
                      </a:r>
                    </a:p>
                  </a:txBody>
                  <a:tcPr marL="68580" marR="68580" marT="0" marB="0"/>
                </a:tc>
                <a:extLst>
                  <a:ext uri="{0D108BD9-81ED-4DB2-BD59-A6C34878D82A}">
                    <a16:rowId xmlns:a16="http://schemas.microsoft.com/office/drawing/2014/main" val="10005"/>
                  </a:ext>
                </a:extLst>
              </a:tr>
            </a:tbl>
          </a:graphicData>
        </a:graphic>
      </p:graphicFrame>
      <p:sp>
        <p:nvSpPr>
          <p:cNvPr id="10" name="矩形 9"/>
          <p:cNvSpPr/>
          <p:nvPr/>
        </p:nvSpPr>
        <p:spPr>
          <a:xfrm>
            <a:off x="467544" y="1591346"/>
            <a:ext cx="8280919" cy="261610"/>
          </a:xfrm>
          <a:prstGeom prst="rect">
            <a:avLst/>
          </a:prstGeom>
        </p:spPr>
        <p:txBody>
          <a:bodyPr wrap="square">
            <a:spAutoFit/>
          </a:bodyPr>
          <a:lstStyle/>
          <a:p>
            <a:pPr algn="ctr"/>
            <a:r>
              <a:rPr lang="zh-CN" altLang="zh-CN" sz="1100" b="1" smtClean="0">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创客竞赛选</a:t>
            </a:r>
            <a:r>
              <a:rPr lang="zh-CN" altLang="zh-CN" sz="1100" b="1" smtClean="0">
                <a:latin typeface="微软雅黑" panose="020B0503020204020204" pitchFamily="34" charset="-122"/>
                <a:ea typeface="微软雅黑" panose="020B0503020204020204" pitchFamily="34" charset="-122"/>
              </a:rPr>
              <a:t>题</a:t>
            </a:r>
            <a:r>
              <a:rPr lang="zh-CN" altLang="en-US" sz="1100" b="1">
                <a:latin typeface="微软雅黑" panose="020B0503020204020204" pitchFamily="34" charset="-122"/>
                <a:ea typeface="微软雅黑" panose="020B0503020204020204" pitchFamily="34" charset="-122"/>
              </a:rPr>
              <a:t>验证</a:t>
            </a:r>
            <a:r>
              <a:rPr lang="zh-CN" altLang="zh-CN" sz="1100" b="1" smtClean="0">
                <a:latin typeface="微软雅黑" panose="020B0503020204020204" pitchFamily="34" charset="-122"/>
                <a:ea typeface="微软雅黑" panose="020B0503020204020204" pitchFamily="34" charset="-122"/>
              </a:rPr>
              <a:t>报</a:t>
            </a:r>
            <a:r>
              <a:rPr lang="zh-CN" altLang="zh-CN" sz="1100" b="1">
                <a:latin typeface="微软雅黑" panose="020B0503020204020204" pitchFamily="34" charset="-122"/>
                <a:ea typeface="微软雅黑" panose="020B0503020204020204" pitchFamily="34" charset="-122"/>
              </a:rPr>
              <a:t>告》评价量表（课后教学活动一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82743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73592380"/>
              </p:ext>
            </p:extLst>
          </p:nvPr>
        </p:nvGraphicFramePr>
        <p:xfrm>
          <a:off x="395536" y="1882974"/>
          <a:ext cx="8424936" cy="3162341"/>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469255">
                <a:tc rowSpan="3">
                  <a:txBody>
                    <a:bodyPr/>
                    <a:lstStyle/>
                    <a:p>
                      <a:pPr marL="0" algn="ctr" defTabSz="914400" rtl="0" eaLnBrk="1" latinLnBrk="0" hangingPunct="1">
                        <a:spcAft>
                          <a:spcPts val="0"/>
                        </a:spcAft>
                      </a:pP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MVP</a:t>
                      </a: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验</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证规划质量（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A7</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核心假设提炼完整（核心假设</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次级假设</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验证方式）</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B7</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核心假设提炼基本完整但部分要素不够清晰</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C7</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核心假设提炼不完整（如缺少验证方式）</a:t>
                      </a:r>
                    </a:p>
                  </a:txBody>
                  <a:tcPr marL="68580" marR="68580" marT="0" marB="0"/>
                </a:tc>
                <a:extLst>
                  <a:ext uri="{0D108BD9-81ED-4DB2-BD59-A6C34878D82A}">
                    <a16:rowId xmlns:a16="http://schemas.microsoft.com/office/drawing/2014/main" val="10001"/>
                  </a:ext>
                </a:extLst>
              </a:tr>
              <a:tr h="642147">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A8 MVP</a:t>
                      </a:r>
                      <a:r>
                        <a:rPr lang="zh-CN" sz="1100" b="0" kern="100">
                          <a:solidFill>
                            <a:schemeClr val="dk1"/>
                          </a:solidFill>
                          <a:effectLst/>
                          <a:latin typeface="Times New Roman" panose="02020603050405020304" pitchFamily="18" charset="0"/>
                          <a:ea typeface="+mn-ea"/>
                          <a:cs typeface="Times New Roman" panose="02020603050405020304" pitchFamily="18" charset="0"/>
                        </a:rPr>
                        <a:t>形态设计包含形态、验证目标、测试对象、测试场景、成功标准、失败标准六项要素</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B8 MVP</a:t>
                      </a:r>
                      <a:r>
                        <a:rPr lang="zh-CN" sz="1100" b="0" kern="100">
                          <a:solidFill>
                            <a:schemeClr val="dk1"/>
                          </a:solidFill>
                          <a:effectLst/>
                          <a:latin typeface="Times New Roman" panose="02020603050405020304" pitchFamily="18" charset="0"/>
                          <a:ea typeface="+mn-ea"/>
                          <a:cs typeface="Times New Roman" panose="02020603050405020304" pitchFamily="18" charset="0"/>
                        </a:rPr>
                        <a:t>规划包含主要要素，但部分要素（如测试场景、失败标准）不够具体</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C8 MVP</a:t>
                      </a:r>
                      <a:r>
                        <a:rPr lang="zh-CN" sz="1100" b="0" kern="100">
                          <a:solidFill>
                            <a:schemeClr val="dk1"/>
                          </a:solidFill>
                          <a:effectLst/>
                          <a:latin typeface="Times New Roman" panose="02020603050405020304" pitchFamily="18" charset="0"/>
                          <a:ea typeface="+mn-ea"/>
                          <a:cs typeface="Times New Roman" panose="02020603050405020304" pitchFamily="18" charset="0"/>
                        </a:rPr>
                        <a:t>规划要素缺失</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项</a:t>
                      </a:r>
                      <a:r>
                        <a:rPr lang="en-US" sz="1100" b="0" kern="100">
                          <a:solidFill>
                            <a:schemeClr val="dk1"/>
                          </a:solidFill>
                          <a:effectLst/>
                          <a:latin typeface="Times New Roman" panose="02020603050405020304" pitchFamily="18" charset="0"/>
                          <a:ea typeface="+mn-ea"/>
                          <a:cs typeface="Times New Roman" panose="02020603050405020304" pitchFamily="18" charset="0"/>
                        </a:rPr>
                        <a:t/>
                      </a:r>
                      <a:br>
                        <a:rPr lang="en-US" sz="1100" b="0" kern="100">
                          <a:solidFill>
                            <a:schemeClr val="dk1"/>
                          </a:solidFill>
                          <a:effectLst/>
                          <a:latin typeface="Times New Roman" panose="02020603050405020304" pitchFamily="18" charset="0"/>
                          <a:ea typeface="+mn-ea"/>
                          <a:cs typeface="Times New Roman" panose="02020603050405020304" pitchFamily="18" charset="0"/>
                        </a:rPr>
                      </a:b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78677">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A9 MVP</a:t>
                      </a:r>
                      <a:r>
                        <a:rPr lang="zh-CN" sz="1100" b="0" kern="100">
                          <a:solidFill>
                            <a:schemeClr val="dk1"/>
                          </a:solidFill>
                          <a:effectLst/>
                          <a:latin typeface="Times New Roman" panose="02020603050405020304" pitchFamily="18" charset="0"/>
                          <a:ea typeface="+mn-ea"/>
                          <a:cs typeface="Times New Roman" panose="02020603050405020304" pitchFamily="18" charset="0"/>
                        </a:rPr>
                        <a:t>形态能够用最低成本验证核心假设，体现</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快速试错</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理念</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B9 MVP</a:t>
                      </a:r>
                      <a:r>
                        <a:rPr lang="zh-CN" sz="1100" b="0" kern="100">
                          <a:solidFill>
                            <a:schemeClr val="dk1"/>
                          </a:solidFill>
                          <a:effectLst/>
                          <a:latin typeface="Times New Roman" panose="02020603050405020304" pitchFamily="18" charset="0"/>
                          <a:ea typeface="+mn-ea"/>
                          <a:cs typeface="Times New Roman" panose="02020603050405020304" pitchFamily="18" charset="0"/>
                        </a:rPr>
                        <a:t>形态基本能够验证核心假设，但成本或复杂度仍有优化空间</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C9 MVP</a:t>
                      </a:r>
                      <a:r>
                        <a:rPr lang="zh-CN" sz="1100" b="0" kern="100">
                          <a:solidFill>
                            <a:schemeClr val="dk1"/>
                          </a:solidFill>
                          <a:effectLst/>
                          <a:latin typeface="Times New Roman" panose="02020603050405020304" pitchFamily="18" charset="0"/>
                          <a:ea typeface="+mn-ea"/>
                          <a:cs typeface="Times New Roman" panose="02020603050405020304" pitchFamily="18" charset="0"/>
                        </a:rPr>
                        <a:t>形态过度设计或无法验证核心假设</a:t>
                      </a:r>
                    </a:p>
                  </a:txBody>
                  <a:tcPr marL="68580" marR="68580" marT="0" marB="0"/>
                </a:tc>
                <a:extLst>
                  <a:ext uri="{0D108BD9-81ED-4DB2-BD59-A6C34878D82A}">
                    <a16:rowId xmlns:a16="http://schemas.microsoft.com/office/drawing/2014/main" val="10003"/>
                  </a:ext>
                </a:extLst>
              </a:tr>
              <a:tr h="419617">
                <a:tc rowSpan="3">
                  <a:txBody>
                    <a:bodyPr/>
                    <a:lstStyle/>
                    <a:p>
                      <a:pPr marL="0" algn="ctr" defTabSz="914400" rtl="0" eaLnBrk="1" latinLnBrk="0" hangingPunct="1">
                        <a:spcAft>
                          <a:spcPts val="0"/>
                        </a:spcAft>
                      </a:pP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5W2H</a:t>
                      </a:r>
                    </a:p>
                    <a:p>
                      <a:pPr marL="0" algn="ctr"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实</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施规划（</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A10 7</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个维度完整覆盖，答案具体可执行</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B10</a:t>
                      </a:r>
                      <a:r>
                        <a:rPr lang="zh-CN" sz="1100" b="0" kern="100">
                          <a:solidFill>
                            <a:schemeClr val="dk1"/>
                          </a:solidFill>
                          <a:effectLst/>
                          <a:latin typeface="Times New Roman" panose="02020603050405020304" pitchFamily="18" charset="0"/>
                          <a:ea typeface="+mn-ea"/>
                          <a:cs typeface="Times New Roman" panose="02020603050405020304" pitchFamily="18" charset="0"/>
                        </a:rPr>
                        <a:t>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6-7</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个维度，大部分答案具体</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C10</a:t>
                      </a:r>
                      <a:r>
                        <a:rPr lang="zh-CN" sz="1100" b="0" kern="100">
                          <a:solidFill>
                            <a:schemeClr val="dk1"/>
                          </a:solidFill>
                          <a:effectLst/>
                          <a:latin typeface="Times New Roman" panose="02020603050405020304" pitchFamily="18" charset="0"/>
                          <a:ea typeface="+mn-ea"/>
                          <a:cs typeface="Times New Roman" panose="02020603050405020304" pitchFamily="18" charset="0"/>
                        </a:rPr>
                        <a:t>覆盖维度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&lt;5</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个或答案笼统（如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加强宣传</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68580" marR="68580" marT="0" marB="0"/>
                </a:tc>
                <a:extLst>
                  <a:ext uri="{0D108BD9-81ED-4DB2-BD59-A6C34878D82A}">
                    <a16:rowId xmlns:a16="http://schemas.microsoft.com/office/drawing/2014/main" val="3881963294"/>
                  </a:ext>
                </a:extLst>
              </a:tr>
              <a:tr h="224929">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A11 How</a:t>
                      </a:r>
                      <a:r>
                        <a:rPr lang="zh-CN" sz="1100" b="0" kern="100">
                          <a:solidFill>
                            <a:schemeClr val="dk1"/>
                          </a:solidFill>
                          <a:effectLst/>
                          <a:latin typeface="Times New Roman" panose="02020603050405020304" pitchFamily="18" charset="0"/>
                          <a:ea typeface="+mn-ea"/>
                          <a:cs typeface="Times New Roman" panose="02020603050405020304" pitchFamily="18" charset="0"/>
                        </a:rPr>
                        <a:t>包含至少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个关键步骤</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B11 How</a:t>
                      </a:r>
                      <a:r>
                        <a:rPr lang="zh-CN" sz="1100" b="0" kern="100">
                          <a:solidFill>
                            <a:schemeClr val="dk1"/>
                          </a:solidFill>
                          <a:effectLst/>
                          <a:latin typeface="Times New Roman" panose="02020603050405020304" pitchFamily="18" charset="0"/>
                          <a:ea typeface="+mn-ea"/>
                          <a:cs typeface="Times New Roman" panose="02020603050405020304" pitchFamily="18" charset="0"/>
                        </a:rPr>
                        <a:t>包含至少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个步骤，基本可执行</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C11 How</a:t>
                      </a:r>
                      <a:r>
                        <a:rPr lang="zh-CN" sz="1100" b="0" kern="100">
                          <a:solidFill>
                            <a:schemeClr val="dk1"/>
                          </a:solidFill>
                          <a:effectLst/>
                          <a:latin typeface="Times New Roman" panose="02020603050405020304" pitchFamily="18" charset="0"/>
                          <a:ea typeface="+mn-ea"/>
                          <a:cs typeface="Times New Roman" panose="02020603050405020304" pitchFamily="18" charset="0"/>
                        </a:rPr>
                        <a:t>步骤</a:t>
                      </a:r>
                      <a:r>
                        <a:rPr lang="en-US" sz="1100" b="0" kern="100">
                          <a:solidFill>
                            <a:schemeClr val="dk1"/>
                          </a:solidFill>
                          <a:effectLst/>
                          <a:latin typeface="Times New Roman" panose="02020603050405020304" pitchFamily="18" charset="0"/>
                          <a:ea typeface="+mn-ea"/>
                          <a:cs typeface="Times New Roman" panose="02020603050405020304" pitchFamily="18" charset="0"/>
                        </a:rPr>
                        <a:t>&lt;3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个或步骤笼统</a:t>
                      </a:r>
                    </a:p>
                  </a:txBody>
                  <a:tcPr marL="68580" marR="68580" marT="0" marB="0"/>
                </a:tc>
                <a:extLst>
                  <a:ext uri="{0D108BD9-81ED-4DB2-BD59-A6C34878D82A}">
                    <a16:rowId xmlns:a16="http://schemas.microsoft.com/office/drawing/2014/main" val="706775349"/>
                  </a:ext>
                </a:extLst>
              </a:tr>
              <a:tr h="504056">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A12 How much</a:t>
                      </a:r>
                      <a:r>
                        <a:rPr lang="zh-CN" sz="1100" b="0" kern="100">
                          <a:solidFill>
                            <a:schemeClr val="dk1"/>
                          </a:solidFill>
                          <a:effectLst/>
                          <a:latin typeface="Times New Roman" panose="02020603050405020304" pitchFamily="18" charset="0"/>
                          <a:ea typeface="+mn-ea"/>
                          <a:cs typeface="Times New Roman" panose="02020603050405020304" pitchFamily="18" charset="0"/>
                        </a:rPr>
                        <a:t>包含至少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个量化指标</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B12 How much</a:t>
                      </a:r>
                      <a:r>
                        <a:rPr lang="zh-CN" sz="1100" b="0" kern="100">
                          <a:solidFill>
                            <a:schemeClr val="dk1"/>
                          </a:solidFill>
                          <a:effectLst/>
                          <a:latin typeface="Times New Roman" panose="02020603050405020304" pitchFamily="18" charset="0"/>
                          <a:ea typeface="+mn-ea"/>
                          <a:cs typeface="Times New Roman" panose="02020603050405020304" pitchFamily="18" charset="0"/>
                        </a:rPr>
                        <a:t>有量化指标但不够精确</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C12 How much</a:t>
                      </a:r>
                      <a:r>
                        <a:rPr lang="zh-CN" sz="1100" b="0" kern="100">
                          <a:solidFill>
                            <a:schemeClr val="dk1"/>
                          </a:solidFill>
                          <a:effectLst/>
                          <a:latin typeface="Times New Roman" panose="02020603050405020304" pitchFamily="18" charset="0"/>
                          <a:ea typeface="+mn-ea"/>
                          <a:cs typeface="Times New Roman" panose="02020603050405020304" pitchFamily="18" charset="0"/>
                        </a:rPr>
                        <a:t>无量化的成功标准</a:t>
                      </a:r>
                    </a:p>
                  </a:txBody>
                  <a:tcPr marL="68580" marR="68580" marT="0" marB="0"/>
                </a:tc>
                <a:extLst>
                  <a:ext uri="{0D108BD9-81ED-4DB2-BD59-A6C34878D82A}">
                    <a16:rowId xmlns:a16="http://schemas.microsoft.com/office/drawing/2014/main" val="10004"/>
                  </a:ext>
                </a:extLst>
              </a:tr>
            </a:tbl>
          </a:graphicData>
        </a:graphic>
      </p:graphicFrame>
      <p:sp>
        <p:nvSpPr>
          <p:cNvPr id="10" name="矩形 9"/>
          <p:cNvSpPr/>
          <p:nvPr/>
        </p:nvSpPr>
        <p:spPr>
          <a:xfrm>
            <a:off x="467544" y="1591346"/>
            <a:ext cx="8280919"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a:latin typeface="微软雅黑" panose="020B0503020204020204" pitchFamily="34" charset="-122"/>
                <a:ea typeface="微软雅黑" panose="020B0503020204020204" pitchFamily="34" charset="-122"/>
              </a:rPr>
              <a:t>《创客竞赛选</a:t>
            </a:r>
            <a:r>
              <a:rPr lang="zh-CN" altLang="zh-CN" sz="1100" b="1" smtClean="0">
                <a:latin typeface="微软雅黑" panose="020B0503020204020204" pitchFamily="34" charset="-122"/>
                <a:ea typeface="微软雅黑" panose="020B0503020204020204" pitchFamily="34" charset="-122"/>
              </a:rPr>
              <a:t>题</a:t>
            </a:r>
            <a:r>
              <a:rPr lang="zh-CN" altLang="en-US" sz="1100" b="1" smtClean="0">
                <a:latin typeface="微软雅黑" panose="020B0503020204020204" pitchFamily="34" charset="-122"/>
                <a:ea typeface="微软雅黑" panose="020B0503020204020204" pitchFamily="34" charset="-122"/>
              </a:rPr>
              <a:t>验证</a:t>
            </a:r>
            <a:r>
              <a:rPr lang="zh-CN" altLang="zh-CN" sz="1100" b="1" smtClean="0">
                <a:latin typeface="微软雅黑" panose="020B0503020204020204" pitchFamily="34" charset="-122"/>
                <a:ea typeface="微软雅黑" panose="020B0503020204020204" pitchFamily="34" charset="-122"/>
              </a:rPr>
              <a:t>报</a:t>
            </a:r>
            <a:r>
              <a:rPr lang="zh-CN" altLang="zh-CN" sz="1100" b="1">
                <a:latin typeface="微软雅黑" panose="020B0503020204020204" pitchFamily="34" charset="-122"/>
                <a:ea typeface="微软雅黑" panose="020B0503020204020204" pitchFamily="34" charset="-122"/>
              </a:rPr>
              <a:t>告》</a:t>
            </a:r>
            <a:r>
              <a:rPr lang="zh-CN" altLang="zh-CN" sz="1100" b="1" smtClean="0">
                <a:latin typeface="微软雅黑" panose="020B0503020204020204" pitchFamily="34" charset="-122"/>
                <a:ea typeface="微软雅黑" panose="020B0503020204020204" pitchFamily="34" charset="-122"/>
              </a:rPr>
              <a:t>评</a:t>
            </a:r>
            <a:r>
              <a:rPr lang="zh-CN" altLang="zh-CN" sz="1100" b="1">
                <a:latin typeface="微软雅黑" panose="020B0503020204020204" pitchFamily="34" charset="-122"/>
                <a:ea typeface="微软雅黑" panose="020B0503020204020204" pitchFamily="34" charset="-122"/>
              </a:rPr>
              <a:t>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311703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682995571"/>
              </p:ext>
            </p:extLst>
          </p:nvPr>
        </p:nvGraphicFramePr>
        <p:xfrm>
          <a:off x="539553" y="1923678"/>
          <a:ext cx="8064895" cy="3184740"/>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384375">
                  <a:extLst>
                    <a:ext uri="{9D8B030D-6E8A-4147-A177-3AD203B41FA5}">
                      <a16:colId xmlns:a16="http://schemas.microsoft.com/office/drawing/2014/main" val="20001"/>
                    </a:ext>
                  </a:extLst>
                </a:gridCol>
                <a:gridCol w="2196753">
                  <a:extLst>
                    <a:ext uri="{9D8B030D-6E8A-4147-A177-3AD203B41FA5}">
                      <a16:colId xmlns:a16="http://schemas.microsoft.com/office/drawing/2014/main" val="20002"/>
                    </a:ext>
                  </a:extLst>
                </a:gridCol>
                <a:gridCol w="1763687">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25239">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验证结论</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A13</a:t>
                      </a:r>
                      <a:r>
                        <a:rPr lang="zh-CN" sz="1100" b="0" kern="100">
                          <a:solidFill>
                            <a:schemeClr val="dk1"/>
                          </a:solidFill>
                          <a:effectLst/>
                          <a:latin typeface="Times New Roman" panose="02020603050405020304" pitchFamily="18" charset="0"/>
                          <a:ea typeface="+mn-ea"/>
                          <a:cs typeface="Times New Roman" panose="02020603050405020304" pitchFamily="18" charset="0"/>
                        </a:rPr>
                        <a:t>验证结论三选一（值得推进</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需要调整后推进</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建议放弃）明确</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B13</a:t>
                      </a:r>
                      <a:r>
                        <a:rPr lang="zh-CN" sz="1100" b="0" kern="100">
                          <a:solidFill>
                            <a:schemeClr val="dk1"/>
                          </a:solidFill>
                          <a:effectLst/>
                          <a:latin typeface="Times New Roman" panose="02020603050405020304" pitchFamily="18" charset="0"/>
                          <a:ea typeface="+mn-ea"/>
                          <a:cs typeface="Times New Roman" panose="02020603050405020304" pitchFamily="18" charset="0"/>
                        </a:rPr>
                        <a:t>验证结论明确</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C13</a:t>
                      </a:r>
                      <a:r>
                        <a:rPr lang="zh-CN" sz="1100" b="0" kern="100">
                          <a:solidFill>
                            <a:schemeClr val="dk1"/>
                          </a:solidFill>
                          <a:effectLst/>
                          <a:latin typeface="Times New Roman" panose="02020603050405020304" pitchFamily="18" charset="0"/>
                          <a:ea typeface="+mn-ea"/>
                          <a:cs typeface="Times New Roman" panose="02020603050405020304" pitchFamily="18" charset="0"/>
                        </a:rPr>
                        <a:t>验证结论模糊或未做选择</a:t>
                      </a:r>
                    </a:p>
                  </a:txBody>
                  <a:tcPr marL="68580" marR="68580" marT="0" marB="0"/>
                </a:tc>
                <a:extLst>
                  <a:ext uri="{0D108BD9-81ED-4DB2-BD59-A6C34878D82A}">
                    <a16:rowId xmlns:a16="http://schemas.microsoft.com/office/drawing/2014/main" val="2682069290"/>
                  </a:ext>
                </a:extLst>
              </a:tr>
              <a:tr h="720080">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A14</a:t>
                      </a:r>
                      <a:r>
                        <a:rPr lang="zh-CN" sz="1100" b="0" kern="100">
                          <a:solidFill>
                            <a:schemeClr val="dk1"/>
                          </a:solidFill>
                          <a:effectLst/>
                          <a:latin typeface="Times New Roman" panose="02020603050405020304" pitchFamily="18" charset="0"/>
                          <a:ea typeface="+mn-ea"/>
                          <a:cs typeface="Times New Roman" panose="02020603050405020304" pitchFamily="18" charset="0"/>
                        </a:rPr>
                        <a:t>结论以</a:t>
                      </a:r>
                      <a:r>
                        <a:rPr lang="en-US" sz="1100" b="0" kern="100">
                          <a:solidFill>
                            <a:schemeClr val="dk1"/>
                          </a:solidFill>
                          <a:effectLst/>
                          <a:latin typeface="Times New Roman" panose="02020603050405020304" pitchFamily="18" charset="0"/>
                          <a:ea typeface="+mn-ea"/>
                          <a:cs typeface="Times New Roman" panose="02020603050405020304" pitchFamily="18" charset="0"/>
                        </a:rPr>
                        <a:t>SCAMPER</a:t>
                      </a:r>
                      <a:r>
                        <a:rPr lang="zh-CN" sz="1100" b="0" kern="100">
                          <a:solidFill>
                            <a:schemeClr val="dk1"/>
                          </a:solidFill>
                          <a:effectLst/>
                          <a:latin typeface="Times New Roman" panose="02020603050405020304" pitchFamily="18" charset="0"/>
                          <a:ea typeface="+mn-ea"/>
                          <a:cs typeface="Times New Roman" panose="02020603050405020304" pitchFamily="18" charset="0"/>
                        </a:rPr>
                        <a:t>审查、六帽评估、</a:t>
                      </a:r>
                      <a:r>
                        <a:rPr lang="en-US" sz="1100" b="0" kern="100">
                          <a:solidFill>
                            <a:schemeClr val="dk1"/>
                          </a:solidFill>
                          <a:effectLst/>
                          <a:latin typeface="Times New Roman" panose="02020603050405020304" pitchFamily="18" charset="0"/>
                          <a:ea typeface="+mn-ea"/>
                          <a:cs typeface="Times New Roman" panose="02020603050405020304" pitchFamily="18" charset="0"/>
                        </a:rPr>
                        <a:t>MVP</a:t>
                      </a:r>
                      <a:r>
                        <a:rPr lang="zh-CN" sz="1100" b="0" kern="100">
                          <a:solidFill>
                            <a:schemeClr val="dk1"/>
                          </a:solidFill>
                          <a:effectLst/>
                          <a:latin typeface="Times New Roman" panose="02020603050405020304" pitchFamily="18" charset="0"/>
                          <a:ea typeface="+mn-ea"/>
                          <a:cs typeface="Times New Roman" panose="02020603050405020304" pitchFamily="18" charset="0"/>
                        </a:rPr>
                        <a:t>规划中的具体分析发现为证据支撑，体现三种工具结论在决策中的整合</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B14</a:t>
                      </a:r>
                      <a:r>
                        <a:rPr lang="zh-CN" sz="1100" b="0" kern="100">
                          <a:solidFill>
                            <a:schemeClr val="dk1"/>
                          </a:solidFill>
                          <a:effectLst/>
                          <a:latin typeface="Times New Roman" panose="02020603050405020304" pitchFamily="18" charset="0"/>
                          <a:ea typeface="+mn-ea"/>
                          <a:cs typeface="Times New Roman" panose="02020603050405020304" pitchFamily="18" charset="0"/>
                        </a:rPr>
                        <a:t>结论有分析依据但证据链不够完整或工具间整合不足</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C14</a:t>
                      </a:r>
                      <a:r>
                        <a:rPr lang="zh-CN" sz="1100" b="0" kern="100">
                          <a:solidFill>
                            <a:schemeClr val="dk1"/>
                          </a:solidFill>
                          <a:effectLst/>
                          <a:latin typeface="Times New Roman" panose="02020603050405020304" pitchFamily="18" charset="0"/>
                          <a:ea typeface="+mn-ea"/>
                          <a:cs typeface="Times New Roman" panose="02020603050405020304" pitchFamily="18" charset="0"/>
                        </a:rPr>
                        <a:t>结论为个人偏好而非工具分析支撑</a:t>
                      </a:r>
                    </a:p>
                  </a:txBody>
                  <a:tcPr marL="68580" marR="68580" marT="0" marB="0"/>
                </a:tc>
                <a:extLst>
                  <a:ext uri="{0D108BD9-81ED-4DB2-BD59-A6C34878D82A}">
                    <a16:rowId xmlns:a16="http://schemas.microsoft.com/office/drawing/2014/main" val="193941288"/>
                  </a:ext>
                </a:extLst>
              </a:tr>
              <a:tr h="482203">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A15</a:t>
                      </a:r>
                      <a:r>
                        <a:rPr lang="zh-CN" sz="1100" b="0" kern="100">
                          <a:solidFill>
                            <a:schemeClr val="dk1"/>
                          </a:solidFill>
                          <a:effectLst/>
                          <a:latin typeface="Times New Roman" panose="02020603050405020304" pitchFamily="18" charset="0"/>
                          <a:ea typeface="+mn-ea"/>
                          <a:cs typeface="Times New Roman" panose="02020603050405020304" pitchFamily="18" charset="0"/>
                        </a:rPr>
                        <a:t>下一步行动具体可执行（推进：明确下阶段任务；调整：明确调整方向；放弃：明确备选方向）</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B15</a:t>
                      </a:r>
                      <a:r>
                        <a:rPr lang="zh-CN" sz="1100" b="0" kern="100">
                          <a:solidFill>
                            <a:schemeClr val="dk1"/>
                          </a:solidFill>
                          <a:effectLst/>
                          <a:latin typeface="Times New Roman" panose="02020603050405020304" pitchFamily="18" charset="0"/>
                          <a:ea typeface="+mn-ea"/>
                          <a:cs typeface="Times New Roman" panose="02020603050405020304" pitchFamily="18" charset="0"/>
                        </a:rPr>
                        <a:t>下一步行动基本明确但不够具体</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C15</a:t>
                      </a:r>
                      <a:r>
                        <a:rPr lang="zh-CN" sz="1100" b="0" kern="100">
                          <a:solidFill>
                            <a:schemeClr val="dk1"/>
                          </a:solidFill>
                          <a:effectLst/>
                          <a:latin typeface="Times New Roman" panose="02020603050405020304" pitchFamily="18" charset="0"/>
                          <a:ea typeface="+mn-ea"/>
                          <a:cs typeface="Times New Roman" panose="02020603050405020304" pitchFamily="18" charset="0"/>
                        </a:rPr>
                        <a:t>无下一步行动计划</a:t>
                      </a:r>
                    </a:p>
                  </a:txBody>
                  <a:tcPr marL="68580" marR="68580" marT="0" marB="0"/>
                </a:tc>
                <a:extLst>
                  <a:ext uri="{0D108BD9-81ED-4DB2-BD59-A6C34878D82A}">
                    <a16:rowId xmlns:a16="http://schemas.microsoft.com/office/drawing/2014/main" val="2665961253"/>
                  </a:ext>
                </a:extLst>
              </a:tr>
              <a:tr h="469255">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反思质量</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A16</a:t>
                      </a:r>
                      <a:r>
                        <a:rPr lang="zh-CN" sz="1100" b="0" kern="100">
                          <a:solidFill>
                            <a:schemeClr val="dk1"/>
                          </a:solidFill>
                          <a:effectLst/>
                          <a:latin typeface="Times New Roman" panose="02020603050405020304" pitchFamily="18" charset="0"/>
                          <a:ea typeface="+mn-ea"/>
                          <a:cs typeface="Times New Roman" panose="02020603050405020304" pitchFamily="18" charset="0"/>
                        </a:rPr>
                        <a:t>三个反思问题均有具体回答，每个回答包含具体事例或证据支撑</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B16</a:t>
                      </a:r>
                      <a:r>
                        <a:rPr lang="zh-CN" sz="1100" b="0" kern="100">
                          <a:solidFill>
                            <a:schemeClr val="dk1"/>
                          </a:solidFill>
                          <a:effectLst/>
                          <a:latin typeface="Times New Roman" panose="02020603050405020304" pitchFamily="18" charset="0"/>
                          <a:ea typeface="+mn-ea"/>
                          <a:cs typeface="Times New Roman" panose="02020603050405020304" pitchFamily="18" charset="0"/>
                        </a:rPr>
                        <a:t>三个问题均有回答，部分回答较具体</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C16</a:t>
                      </a:r>
                      <a:r>
                        <a:rPr lang="zh-CN" sz="1100" b="0" kern="100">
                          <a:solidFill>
                            <a:schemeClr val="dk1"/>
                          </a:solidFill>
                          <a:effectLst/>
                          <a:latin typeface="Times New Roman" panose="02020603050405020304" pitchFamily="18" charset="0"/>
                          <a:ea typeface="+mn-ea"/>
                          <a:cs typeface="Times New Roman" panose="02020603050405020304" pitchFamily="18" charset="0"/>
                        </a:rPr>
                        <a:t>反思问题回答缺失</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个，或回答笼统空洞</a:t>
                      </a:r>
                    </a:p>
                  </a:txBody>
                  <a:tcPr marL="68580" marR="68580" marT="0" marB="0"/>
                </a:tc>
                <a:extLst>
                  <a:ext uri="{0D108BD9-81ED-4DB2-BD59-A6C34878D82A}">
                    <a16:rowId xmlns:a16="http://schemas.microsoft.com/office/drawing/2014/main" val="10001"/>
                  </a:ext>
                </a:extLst>
              </a:tr>
              <a:tr h="466849">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A17</a:t>
                      </a:r>
                      <a:r>
                        <a:rPr lang="zh-CN" sz="1100" b="0" kern="100">
                          <a:solidFill>
                            <a:schemeClr val="dk1"/>
                          </a:solidFill>
                          <a:effectLst/>
                          <a:latin typeface="Times New Roman" panose="02020603050405020304" pitchFamily="18" charset="0"/>
                          <a:ea typeface="+mn-ea"/>
                          <a:cs typeface="Times New Roman" panose="02020603050405020304" pitchFamily="18" charset="0"/>
                        </a:rPr>
                        <a:t>能清晰说明</a:t>
                      </a:r>
                      <a:r>
                        <a:rPr lang="en-US" sz="1100" b="0" kern="100">
                          <a:solidFill>
                            <a:schemeClr val="dk1"/>
                          </a:solidFill>
                          <a:effectLst/>
                          <a:latin typeface="Times New Roman" panose="02020603050405020304" pitchFamily="18" charset="0"/>
                          <a:ea typeface="+mn-ea"/>
                          <a:cs typeface="Times New Roman" panose="02020603050405020304" pitchFamily="18" charset="0"/>
                        </a:rPr>
                        <a:t>SCAMPER</a:t>
                      </a:r>
                      <a:r>
                        <a:rPr lang="zh-CN" sz="1100" b="0" kern="100">
                          <a:solidFill>
                            <a:schemeClr val="dk1"/>
                          </a:solidFill>
                          <a:effectLst/>
                          <a:latin typeface="Times New Roman" panose="02020603050405020304" pitchFamily="18" charset="0"/>
                          <a:ea typeface="+mn-ea"/>
                          <a:cs typeface="Times New Roman" panose="02020603050405020304" pitchFamily="18" charset="0"/>
                        </a:rPr>
                        <a:t>与六顶思考帽在选题验证中的互补作用</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B17</a:t>
                      </a:r>
                      <a:r>
                        <a:rPr lang="zh-CN" sz="1100" b="0" kern="100">
                          <a:solidFill>
                            <a:schemeClr val="dk1"/>
                          </a:solidFill>
                          <a:effectLst/>
                          <a:latin typeface="Times New Roman" panose="02020603050405020304" pitchFamily="18" charset="0"/>
                          <a:ea typeface="+mn-ea"/>
                          <a:cs typeface="Times New Roman" panose="02020603050405020304" pitchFamily="18" charset="0"/>
                        </a:rPr>
                        <a:t>能说明两种工具的互补但分析较浅</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C17</a:t>
                      </a:r>
                      <a:r>
                        <a:rPr lang="zh-CN" sz="1100" b="0" kern="100">
                          <a:solidFill>
                            <a:schemeClr val="dk1"/>
                          </a:solidFill>
                          <a:effectLst/>
                          <a:latin typeface="Times New Roman" panose="02020603050405020304" pitchFamily="18" charset="0"/>
                          <a:ea typeface="+mn-ea"/>
                          <a:cs typeface="Times New Roman" panose="02020603050405020304" pitchFamily="18" charset="0"/>
                        </a:rPr>
                        <a:t>未说明两种工具的互补关系</a:t>
                      </a:r>
                    </a:p>
                  </a:txBody>
                  <a:tcPr marL="68580" marR="68580" marT="0" marB="0"/>
                </a:tc>
                <a:extLst>
                  <a:ext uri="{0D108BD9-81ED-4DB2-BD59-A6C34878D82A}">
                    <a16:rowId xmlns:a16="http://schemas.microsoft.com/office/drawing/2014/main" val="10002"/>
                  </a:ext>
                </a:extLst>
              </a:tr>
              <a:tr h="394324">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A18</a:t>
                      </a:r>
                      <a:r>
                        <a:rPr lang="zh-CN" sz="1100" b="0" kern="100">
                          <a:solidFill>
                            <a:schemeClr val="dk1"/>
                          </a:solidFill>
                          <a:effectLst/>
                          <a:latin typeface="Times New Roman" panose="02020603050405020304" pitchFamily="18" charset="0"/>
                          <a:ea typeface="+mn-ea"/>
                          <a:cs typeface="Times New Roman" panose="02020603050405020304" pitchFamily="18" charset="0"/>
                        </a:rPr>
                        <a:t>能清晰对比设计思维</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从</a:t>
                      </a:r>
                      <a:r>
                        <a:rPr lang="en-US" sz="1100" b="0" kern="100">
                          <a:solidFill>
                            <a:schemeClr val="dk1"/>
                          </a:solidFill>
                          <a:effectLst/>
                          <a:latin typeface="Times New Roman" panose="02020603050405020304" pitchFamily="18" charset="0"/>
                          <a:ea typeface="+mn-ea"/>
                          <a:cs typeface="Times New Roman" panose="02020603050405020304" pitchFamily="18" charset="0"/>
                        </a:rPr>
                        <a:t>0</a:t>
                      </a:r>
                      <a:r>
                        <a:rPr lang="zh-CN" sz="1100" b="0" kern="100">
                          <a:solidFill>
                            <a:schemeClr val="dk1"/>
                          </a:solidFill>
                          <a:effectLst/>
                          <a:latin typeface="Times New Roman" panose="02020603050405020304" pitchFamily="18" charset="0"/>
                          <a:ea typeface="+mn-ea"/>
                          <a:cs typeface="Times New Roman" panose="02020603050405020304" pitchFamily="18" charset="0"/>
                        </a:rPr>
                        <a:t>到</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与创新方法验证</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从</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到</a:t>
                      </a:r>
                      <a:r>
                        <a:rPr lang="en-US" sz="1100" b="0" kern="100">
                          <a:solidFill>
                            <a:schemeClr val="dk1"/>
                          </a:solidFill>
                          <a:effectLst/>
                          <a:latin typeface="Times New Roman" panose="02020603050405020304" pitchFamily="18" charset="0"/>
                          <a:ea typeface="+mn-ea"/>
                          <a:cs typeface="Times New Roman" panose="02020603050405020304" pitchFamily="18" charset="0"/>
                        </a:rPr>
                        <a:t>N"</a:t>
                      </a:r>
                      <a:r>
                        <a:rPr lang="zh-CN" sz="1100" b="0" kern="100">
                          <a:solidFill>
                            <a:schemeClr val="dk1"/>
                          </a:solidFill>
                          <a:effectLst/>
                          <a:latin typeface="Times New Roman" panose="02020603050405020304" pitchFamily="18" charset="0"/>
                          <a:ea typeface="+mn-ea"/>
                          <a:cs typeface="Times New Roman" panose="02020603050405020304" pitchFamily="18" charset="0"/>
                        </a:rPr>
                        <a:t>的思维方式差异</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B18</a:t>
                      </a:r>
                      <a:r>
                        <a:rPr lang="zh-CN" sz="1100" b="0" kern="100">
                          <a:solidFill>
                            <a:schemeClr val="dk1"/>
                          </a:solidFill>
                          <a:effectLst/>
                          <a:latin typeface="Times New Roman" panose="02020603050405020304" pitchFamily="18" charset="0"/>
                          <a:ea typeface="+mn-ea"/>
                          <a:cs typeface="Times New Roman" panose="02020603050405020304" pitchFamily="18" charset="0"/>
                        </a:rPr>
                        <a:t>能提及两种思维方式的差异但未深入</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C18</a:t>
                      </a:r>
                      <a:r>
                        <a:rPr lang="zh-CN" sz="1100" b="0" kern="100">
                          <a:solidFill>
                            <a:schemeClr val="dk1"/>
                          </a:solidFill>
                          <a:effectLst/>
                          <a:latin typeface="Times New Roman" panose="02020603050405020304" pitchFamily="18" charset="0"/>
                          <a:ea typeface="+mn-ea"/>
                          <a:cs typeface="Times New Roman" panose="02020603050405020304" pitchFamily="18" charset="0"/>
                        </a:rPr>
                        <a:t>未涉及两种思维方式的对比</a:t>
                      </a:r>
                    </a:p>
                  </a:txBody>
                  <a:tcPr marL="68580" marR="68580" marT="0" marB="0"/>
                </a:tc>
                <a:extLst>
                  <a:ext uri="{0D108BD9-81ED-4DB2-BD59-A6C34878D82A}">
                    <a16:rowId xmlns:a16="http://schemas.microsoft.com/office/drawing/2014/main" val="10003"/>
                  </a:ext>
                </a:extLst>
              </a:tr>
            </a:tbl>
          </a:graphicData>
        </a:graphic>
      </p:graphicFrame>
      <p:sp>
        <p:nvSpPr>
          <p:cNvPr id="10" name="矩形 9"/>
          <p:cNvSpPr/>
          <p:nvPr/>
        </p:nvSpPr>
        <p:spPr>
          <a:xfrm>
            <a:off x="539552" y="1629446"/>
            <a:ext cx="7992887"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a:latin typeface="微软雅黑" panose="020B0503020204020204" pitchFamily="34" charset="-122"/>
                <a:ea typeface="微软雅黑" panose="020B0503020204020204" pitchFamily="34" charset="-122"/>
              </a:rPr>
              <a:t>《创客竞赛选</a:t>
            </a:r>
            <a:r>
              <a:rPr lang="zh-CN" altLang="zh-CN" sz="1100" b="1" smtClean="0">
                <a:latin typeface="微软雅黑" panose="020B0503020204020204" pitchFamily="34" charset="-122"/>
                <a:ea typeface="微软雅黑" panose="020B0503020204020204" pitchFamily="34" charset="-122"/>
              </a:rPr>
              <a:t>题</a:t>
            </a:r>
            <a:r>
              <a:rPr lang="zh-CN" altLang="en-US" sz="1100" b="1" smtClean="0">
                <a:latin typeface="微软雅黑" panose="020B0503020204020204" pitchFamily="34" charset="-122"/>
                <a:ea typeface="微软雅黑" panose="020B0503020204020204" pitchFamily="34" charset="-122"/>
              </a:rPr>
              <a:t>验证</a:t>
            </a:r>
            <a:r>
              <a:rPr lang="zh-CN" altLang="zh-CN" sz="1100" b="1" smtClean="0">
                <a:latin typeface="微软雅黑" panose="020B0503020204020204" pitchFamily="34" charset="-122"/>
                <a:ea typeface="微软雅黑" panose="020B0503020204020204" pitchFamily="34" charset="-122"/>
              </a:rPr>
              <a:t>报</a:t>
            </a:r>
            <a:r>
              <a:rPr lang="zh-CN" altLang="zh-CN" sz="1100" b="1">
                <a:latin typeface="微软雅黑" panose="020B0503020204020204" pitchFamily="34" charset="-122"/>
                <a:ea typeface="微软雅黑" panose="020B0503020204020204" pitchFamily="34" charset="-122"/>
              </a:rPr>
              <a:t>告》</a:t>
            </a:r>
            <a:r>
              <a:rPr lang="zh-CN" altLang="zh-CN" sz="1100" b="1" smtClean="0">
                <a:latin typeface="微软雅黑" panose="020B0503020204020204" pitchFamily="34" charset="-122"/>
                <a:ea typeface="微软雅黑" panose="020B0503020204020204" pitchFamily="34" charset="-122"/>
              </a:rPr>
              <a:t>评</a:t>
            </a:r>
            <a:r>
              <a:rPr lang="zh-CN" altLang="zh-CN" sz="1100" b="1">
                <a:latin typeface="微软雅黑" panose="020B0503020204020204" pitchFamily="34" charset="-122"/>
                <a:ea typeface="微软雅黑" panose="020B0503020204020204" pitchFamily="34" charset="-122"/>
              </a:rPr>
              <a:t>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674647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17334" y="1779662"/>
            <a:ext cx="6624736" cy="3139321"/>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en-US" sz="1400">
                <a:solidFill>
                  <a:srgbClr val="0070C0"/>
                </a:solidFill>
                <a:latin typeface="微软雅黑" panose="020B0503020204020204" pitchFamily="34" charset="-122"/>
                <a:ea typeface="微软雅黑" panose="020B0503020204020204" pitchFamily="34" charset="-122"/>
              </a:rPr>
              <a:t>反</a:t>
            </a:r>
            <a:r>
              <a:rPr lang="zh-CN" altLang="en-US" sz="1400" smtClean="0">
                <a:solidFill>
                  <a:srgbClr val="0070C0"/>
                </a:solidFill>
                <a:latin typeface="微软雅黑" panose="020B0503020204020204" pitchFamily="34" charset="-122"/>
                <a:ea typeface="微软雅黑" panose="020B0503020204020204" pitchFamily="34" charset="-122"/>
              </a:rPr>
              <a:t>馈课后学习活动优秀</a:t>
            </a:r>
            <a:r>
              <a:rPr lang="zh-CN" altLang="en-US" sz="2000" b="1" smtClean="0">
                <a:solidFill>
                  <a:srgbClr val="0070C0"/>
                </a:solidFill>
                <a:latin typeface="微软雅黑" panose="020B0503020204020204" pitchFamily="34" charset="-122"/>
                <a:ea typeface="微软雅黑" panose="020B0503020204020204" pitchFamily="34" charset="-122"/>
              </a:rPr>
              <a:t>学习</a:t>
            </a:r>
            <a:r>
              <a:rPr lang="zh-CN" altLang="en-US" sz="2000" b="1">
                <a:solidFill>
                  <a:srgbClr val="0070C0"/>
                </a:solidFill>
                <a:latin typeface="微软雅黑" panose="020B0503020204020204" pitchFamily="34" charset="-122"/>
                <a:ea typeface="微软雅黑" panose="020B0503020204020204" pitchFamily="34" charset="-122"/>
              </a:rPr>
              <a:t>反思成果</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smtClean="0">
                <a:solidFill>
                  <a:srgbClr val="0070C0"/>
                </a:solidFill>
                <a:latin typeface="微软雅黑" panose="020B0503020204020204" pitchFamily="34" charset="-122"/>
                <a:ea typeface="微软雅黑" panose="020B0503020204020204" pitchFamily="34" charset="-122"/>
              </a:rPr>
              <a:t>分钟</a:t>
            </a:r>
            <a:endParaRPr lang="en-US" altLang="zh-CN" sz="140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smtClean="0">
                <a:solidFill>
                  <a:srgbClr val="0070C0"/>
                </a:solidFill>
                <a:latin typeface="微软雅黑" panose="020B0503020204020204" pitchFamily="34" charset="-122"/>
                <a:ea typeface="微软雅黑" panose="020B0503020204020204" pitchFamily="34" charset="-122"/>
              </a:rPr>
              <a:t>解读</a:t>
            </a:r>
            <a:r>
              <a:rPr lang="zh-CN" altLang="zh-CN" sz="1400" smtClean="0">
                <a:solidFill>
                  <a:srgbClr val="0070C0"/>
                </a:solidFill>
                <a:latin typeface="微软雅黑" panose="020B0503020204020204" pitchFamily="34" charset="-122"/>
                <a:ea typeface="微软雅黑" panose="020B0503020204020204" pitchFamily="34" charset="-122"/>
              </a:rPr>
              <a:t>单元</a:t>
            </a:r>
            <a:r>
              <a:rPr lang="zh-CN" altLang="zh-CN" sz="1400">
                <a:solidFill>
                  <a:srgbClr val="0070C0"/>
                </a:solidFill>
                <a:latin typeface="微软雅黑" panose="020B0503020204020204" pitchFamily="34" charset="-122"/>
                <a:ea typeface="微软雅黑" panose="020B0503020204020204" pitchFamily="34" charset="-122"/>
              </a:rPr>
              <a:t>课</a:t>
            </a:r>
            <a:r>
              <a:rPr lang="zh-CN" altLang="zh-CN" sz="1400" smtClean="0">
                <a:solidFill>
                  <a:srgbClr val="0070C0"/>
                </a:solidFill>
                <a:latin typeface="微软雅黑" panose="020B0503020204020204" pitchFamily="34" charset="-122"/>
                <a:ea typeface="微软雅黑" panose="020B0503020204020204" pitchFamily="34" charset="-122"/>
              </a:rPr>
              <a:t>程</a:t>
            </a:r>
            <a:r>
              <a:rPr lang="zh-CN" altLang="en-US" sz="1400">
                <a:solidFill>
                  <a:srgbClr val="0070C0"/>
                </a:solidFill>
                <a:latin typeface="微软雅黑" panose="020B0503020204020204" pitchFamily="34" charset="-122"/>
                <a:ea typeface="微软雅黑" panose="020B0503020204020204" pitchFamily="34" charset="-122"/>
              </a:rPr>
              <a:t>设计</a:t>
            </a:r>
            <a:r>
              <a:rPr lang="zh-CN" altLang="en-US" sz="1400" smtClean="0">
                <a:solidFill>
                  <a:srgbClr val="0070C0"/>
                </a:solidFill>
                <a:latin typeface="微软雅黑" panose="020B0503020204020204" pitchFamily="34" charset="-122"/>
                <a:ea typeface="微软雅黑" panose="020B0503020204020204" pitchFamily="34" charset="-122"/>
              </a:rPr>
              <a:t>的</a:t>
            </a:r>
            <a:r>
              <a:rPr lang="zh-CN" altLang="en-US" sz="2000" b="1" smtClean="0">
                <a:solidFill>
                  <a:srgbClr val="0070C0"/>
                </a:solidFill>
                <a:latin typeface="微软雅黑" panose="020B0503020204020204" pitchFamily="34" charset="-122"/>
                <a:ea typeface="微软雅黑" panose="020B0503020204020204" pitchFamily="34" charset="-122"/>
              </a:rPr>
              <a:t>情境</a:t>
            </a:r>
            <a:r>
              <a:rPr lang="zh-CN" altLang="en-US" sz="1400" smtClean="0">
                <a:solidFill>
                  <a:srgbClr val="0070C0"/>
                </a:solidFill>
                <a:latin typeface="微软雅黑" panose="020B0503020204020204" pitchFamily="34" charset="-122"/>
                <a:ea typeface="微软雅黑" panose="020B0503020204020204" pitchFamily="34" charset="-122"/>
              </a:rPr>
              <a:t>、</a:t>
            </a:r>
            <a:r>
              <a:rPr lang="zh-CN" altLang="en-US" sz="2000" b="1">
                <a:solidFill>
                  <a:srgbClr val="0070C0"/>
                </a:solidFill>
                <a:latin typeface="微软雅黑" panose="020B0503020204020204" pitchFamily="34" charset="-122"/>
                <a:ea typeface="微软雅黑" panose="020B0503020204020204" pitchFamily="34" charset="-122"/>
              </a:rPr>
              <a:t>目的</a:t>
            </a:r>
            <a:r>
              <a:rPr lang="zh-CN" altLang="en-US" sz="1400" smtClean="0">
                <a:solidFill>
                  <a:srgbClr val="0070C0"/>
                </a:solidFill>
                <a:latin typeface="微软雅黑" panose="020B0503020204020204" pitchFamily="34" charset="-122"/>
                <a:ea typeface="微软雅黑" panose="020B0503020204020204" pitchFamily="34" charset="-122"/>
              </a:rPr>
              <a:t>、</a:t>
            </a:r>
            <a:r>
              <a:rPr lang="zh-CN" altLang="zh-CN" sz="2000" b="1" smtClean="0">
                <a:solidFill>
                  <a:srgbClr val="0070C0"/>
                </a:solidFill>
                <a:latin typeface="微软雅黑" panose="020B0503020204020204" pitchFamily="34" charset="-122"/>
                <a:ea typeface="微软雅黑" panose="020B0503020204020204" pitchFamily="34" charset="-122"/>
              </a:rPr>
              <a:t>目</a:t>
            </a:r>
            <a:r>
              <a:rPr lang="zh-CN" altLang="zh-CN" sz="2000" b="1">
                <a:solidFill>
                  <a:srgbClr val="0070C0"/>
                </a:solidFill>
                <a:latin typeface="微软雅黑" panose="020B0503020204020204" pitchFamily="34" charset="-122"/>
                <a:ea typeface="微软雅黑" panose="020B0503020204020204" pitchFamily="34" charset="-122"/>
              </a:rPr>
              <a:t>标</a:t>
            </a:r>
            <a:r>
              <a:rPr lang="zh-CN" altLang="zh-CN" sz="1400" smtClean="0">
                <a:solidFill>
                  <a:srgbClr val="0070C0"/>
                </a:solidFill>
                <a:latin typeface="微软雅黑" panose="020B0503020204020204" pitchFamily="34" charset="-122"/>
                <a:ea typeface="微软雅黑" panose="020B0503020204020204" pitchFamily="34" charset="-122"/>
              </a:rPr>
              <a:t>、</a:t>
            </a:r>
            <a:r>
              <a:rPr lang="zh-CN" altLang="zh-CN" sz="2000" b="1">
                <a:solidFill>
                  <a:srgbClr val="0070C0"/>
                </a:solidFill>
                <a:latin typeface="微软雅黑" panose="020B0503020204020204" pitchFamily="34" charset="-122"/>
                <a:ea typeface="微软雅黑" panose="020B0503020204020204" pitchFamily="34" charset="-122"/>
              </a:rPr>
              <a:t>评价</a:t>
            </a:r>
            <a:r>
              <a:rPr lang="zh-CN" altLang="zh-CN" sz="1400" smtClean="0">
                <a:solidFill>
                  <a:srgbClr val="0070C0"/>
                </a:solidFill>
                <a:latin typeface="微软雅黑" panose="020B0503020204020204" pitchFamily="34" charset="-122"/>
                <a:ea typeface="微软雅黑" panose="020B0503020204020204" pitchFamily="34" charset="-122"/>
              </a:rPr>
              <a:t>与</a:t>
            </a:r>
            <a:r>
              <a:rPr lang="zh-CN" altLang="en-US" sz="2000" b="1" smtClean="0">
                <a:solidFill>
                  <a:srgbClr val="0070C0"/>
                </a:solidFill>
                <a:latin typeface="微软雅黑" panose="020B0503020204020204" pitchFamily="34" charset="-122"/>
                <a:ea typeface="微软雅黑" panose="020B0503020204020204" pitchFamily="34" charset="-122"/>
              </a:rPr>
              <a:t>活动</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smtClean="0">
                <a:solidFill>
                  <a:srgbClr val="0070C0"/>
                </a:solidFill>
                <a:latin typeface="Arial Black" panose="020B0A04020102020204" pitchFamily="34" charset="0"/>
                <a:ea typeface="微软雅黑" panose="020B0503020204020204" pitchFamily="34" charset="-122"/>
              </a:rPr>
              <a:t>10</a:t>
            </a:r>
            <a:r>
              <a:rPr lang="zh-CN" altLang="en-US" sz="1400" smtClean="0">
                <a:solidFill>
                  <a:srgbClr val="0070C0"/>
                </a:solidFill>
                <a:latin typeface="微软雅黑" panose="020B0503020204020204" pitchFamily="34" charset="-122"/>
                <a:ea typeface="微软雅黑" panose="020B0503020204020204" pitchFamily="34" charset="-122"/>
              </a:rPr>
              <a:t>分</a:t>
            </a:r>
            <a:r>
              <a:rPr lang="zh-CN" altLang="en-US" sz="1400" dirty="0" smtClean="0">
                <a:solidFill>
                  <a:srgbClr val="0070C0"/>
                </a:solidFill>
                <a:latin typeface="微软雅黑" panose="020B0503020204020204" pitchFamily="34" charset="-122"/>
                <a:ea typeface="微软雅黑" panose="020B0503020204020204" pitchFamily="34" charset="-122"/>
              </a:rPr>
              <a:t>钟</a:t>
            </a:r>
            <a:endParaRPr lang="en-US" altLang="zh-CN" sz="1400" dirty="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zh-CN" sz="1400">
                <a:solidFill>
                  <a:srgbClr val="0070C0"/>
                </a:solidFill>
                <a:latin typeface="微软雅黑" panose="020B0503020204020204" pitchFamily="34" charset="-122"/>
                <a:ea typeface="微软雅黑" panose="020B0503020204020204" pitchFamily="34" charset="-122"/>
              </a:rPr>
              <a:t>分</a:t>
            </a:r>
            <a:r>
              <a:rPr lang="zh-CN" altLang="zh-CN" sz="1400" smtClean="0">
                <a:solidFill>
                  <a:srgbClr val="0070C0"/>
                </a:solidFill>
                <a:latin typeface="微软雅黑" panose="020B0503020204020204" pitchFamily="34" charset="-122"/>
                <a:ea typeface="微软雅黑" panose="020B0503020204020204" pitchFamily="34" charset="-122"/>
              </a:rPr>
              <a:t>享课</a:t>
            </a:r>
            <a:r>
              <a:rPr lang="zh-CN" altLang="zh-CN" sz="1400" dirty="0">
                <a:solidFill>
                  <a:srgbClr val="0070C0"/>
                </a:solidFill>
                <a:latin typeface="微软雅黑" panose="020B0503020204020204" pitchFamily="34" charset="-122"/>
                <a:ea typeface="微软雅黑" panose="020B0503020204020204" pitchFamily="34" charset="-122"/>
              </a:rPr>
              <a:t>前学习</a:t>
            </a:r>
            <a:r>
              <a:rPr lang="zh-CN" altLang="zh-CN" sz="1400">
                <a:solidFill>
                  <a:srgbClr val="0070C0"/>
                </a:solidFill>
                <a:latin typeface="微软雅黑" panose="020B0503020204020204" pitchFamily="34" charset="-122"/>
                <a:ea typeface="微软雅黑" panose="020B0503020204020204" pitchFamily="34" charset="-122"/>
              </a:rPr>
              <a:t>活动优秀</a:t>
            </a:r>
            <a:r>
              <a:rPr lang="zh-CN" altLang="zh-CN" sz="2000" b="1">
                <a:solidFill>
                  <a:srgbClr val="0070C0"/>
                </a:solidFill>
                <a:latin typeface="微软雅黑" panose="020B0503020204020204" pitchFamily="34" charset="-122"/>
                <a:ea typeface="微软雅黑" panose="020B0503020204020204" pitchFamily="34" charset="-122"/>
              </a:rPr>
              <a:t>学</a:t>
            </a:r>
            <a:r>
              <a:rPr lang="zh-CN" altLang="zh-CN" sz="2000" b="1" dirty="0">
                <a:solidFill>
                  <a:srgbClr val="0070C0"/>
                </a:solidFill>
                <a:latin typeface="微软雅黑" panose="020B0503020204020204" pitchFamily="34" charset="-122"/>
                <a:ea typeface="微软雅黑" panose="020B0503020204020204" pitchFamily="34" charset="-122"/>
              </a:rPr>
              <a:t>习成</a:t>
            </a:r>
            <a:r>
              <a:rPr lang="zh-CN" altLang="zh-CN" sz="2000" b="1">
                <a:solidFill>
                  <a:srgbClr val="0070C0"/>
                </a:solidFill>
                <a:latin typeface="微软雅黑" panose="020B0503020204020204" pitchFamily="34" charset="-122"/>
                <a:ea typeface="微软雅黑" panose="020B0503020204020204" pitchFamily="34" charset="-122"/>
              </a:rPr>
              <a:t>果</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smtClean="0">
                <a:solidFill>
                  <a:srgbClr val="0070C0"/>
                </a:solidFill>
                <a:latin typeface="微软雅黑" panose="020B0503020204020204" pitchFamily="34" charset="-122"/>
                <a:ea typeface="微软雅黑" panose="020B0503020204020204" pitchFamily="34" charset="-122"/>
              </a:rPr>
              <a:t>分钟</a:t>
            </a:r>
            <a:endParaRPr lang="en-US" altLang="zh-CN" sz="140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zh-CN" sz="1400">
                <a:solidFill>
                  <a:srgbClr val="0070C0"/>
                </a:solidFill>
                <a:latin typeface="微软雅黑" panose="020B0503020204020204" pitchFamily="34" charset="-122"/>
                <a:ea typeface="微软雅黑" panose="020B0503020204020204" pitchFamily="34" charset="-122"/>
              </a:rPr>
              <a:t>展示与讲</a:t>
            </a:r>
            <a:r>
              <a:rPr lang="zh-CN" altLang="zh-CN" sz="1400" smtClean="0">
                <a:solidFill>
                  <a:srgbClr val="0070C0"/>
                </a:solidFill>
                <a:latin typeface="微软雅黑" panose="020B0503020204020204" pitchFamily="34" charset="-122"/>
                <a:ea typeface="微软雅黑" panose="020B0503020204020204" pitchFamily="34" charset="-122"/>
              </a:rPr>
              <a:t>评</a:t>
            </a:r>
            <a:r>
              <a:rPr lang="zh-CN" altLang="en-US" sz="1400" smtClean="0">
                <a:solidFill>
                  <a:srgbClr val="0070C0"/>
                </a:solidFill>
                <a:latin typeface="微软雅黑" panose="020B0503020204020204" pitchFamily="34" charset="-122"/>
                <a:ea typeface="微软雅黑" panose="020B0503020204020204" pitchFamily="34" charset="-122"/>
              </a:rPr>
              <a:t>创新方法应用</a:t>
            </a:r>
            <a:r>
              <a:rPr lang="zh-CN" altLang="zh-CN" sz="2000" b="1" smtClean="0">
                <a:solidFill>
                  <a:srgbClr val="0070C0"/>
                </a:solidFill>
                <a:latin typeface="微软雅黑" panose="020B0503020204020204" pitchFamily="34" charset="-122"/>
                <a:ea typeface="微软雅黑" panose="020B0503020204020204" pitchFamily="34" charset="-122"/>
              </a:rPr>
              <a:t>成</a:t>
            </a:r>
            <a:r>
              <a:rPr lang="zh-CN" altLang="zh-CN" sz="2000" b="1">
                <a:solidFill>
                  <a:srgbClr val="0070C0"/>
                </a:solidFill>
                <a:latin typeface="微软雅黑" panose="020B0503020204020204" pitchFamily="34" charset="-122"/>
                <a:ea typeface="微软雅黑" panose="020B0503020204020204" pitchFamily="34" charset="-122"/>
              </a:rPr>
              <a:t>果</a:t>
            </a:r>
            <a:r>
              <a:rPr lang="zh-CN" altLang="en-US" sz="1400">
                <a:solidFill>
                  <a:srgbClr val="0070C0"/>
                </a:solidFill>
                <a:latin typeface="微软雅黑" panose="020B0503020204020204" pitchFamily="34" charset="-122"/>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35</a:t>
            </a:r>
            <a:r>
              <a:rPr lang="zh-CN" altLang="en-US" sz="1400" b="1" smtClean="0">
                <a:solidFill>
                  <a:srgbClr val="0070C0"/>
                </a:solidFill>
                <a:latin typeface="微软雅黑" panose="020B0503020204020204" pitchFamily="34" charset="-122"/>
                <a:ea typeface="微软雅黑" panose="020B0503020204020204" pitchFamily="34" charset="-122"/>
              </a:rPr>
              <a:t>分</a:t>
            </a:r>
            <a:r>
              <a:rPr lang="zh-CN" altLang="en-US" sz="1400" b="1">
                <a:solidFill>
                  <a:srgbClr val="0070C0"/>
                </a:solidFill>
                <a:latin typeface="微软雅黑" panose="020B0503020204020204" pitchFamily="34" charset="-122"/>
                <a:ea typeface="微软雅黑" panose="020B0503020204020204" pitchFamily="34" charset="-122"/>
              </a:rPr>
              <a:t>钟；</a:t>
            </a:r>
            <a:endParaRPr lang="en-US" altLang="zh-CN" sz="140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smtClean="0">
                <a:solidFill>
                  <a:srgbClr val="0070C0"/>
                </a:solidFill>
                <a:ea typeface="微软雅黑" panose="020B0503020204020204" pitchFamily="34" charset="-122"/>
              </a:rPr>
              <a:t>体验</a:t>
            </a:r>
            <a:r>
              <a:rPr lang="zh-CN" altLang="en-US" sz="1400" smtClean="0">
                <a:solidFill>
                  <a:srgbClr val="0070C0"/>
                </a:solidFill>
                <a:latin typeface="微软雅黑" panose="020B0503020204020204" pitchFamily="34" charset="-122"/>
                <a:ea typeface="微软雅黑" panose="020B0503020204020204" pitchFamily="34" charset="-122"/>
              </a:rPr>
              <a:t>创新方法</a:t>
            </a:r>
            <a:r>
              <a:rPr lang="en-US" altLang="zh-CN" sz="1400" smtClean="0">
                <a:solidFill>
                  <a:srgbClr val="0070C0"/>
                </a:solidFill>
                <a:latin typeface="微软雅黑" panose="020B0503020204020204" pitchFamily="34" charset="-122"/>
                <a:ea typeface="微软雅黑" panose="020B0503020204020204" pitchFamily="34" charset="-122"/>
              </a:rPr>
              <a:t>——"</a:t>
            </a:r>
            <a:r>
              <a:rPr lang="zh-CN" altLang="zh-CN" sz="1400" smtClean="0">
                <a:solidFill>
                  <a:srgbClr val="0070C0"/>
                </a:solidFill>
                <a:latin typeface="微软雅黑" panose="020B0503020204020204" pitchFamily="34" charset="-122"/>
                <a:ea typeface="微软雅黑" panose="020B0503020204020204" pitchFamily="34" charset="-122"/>
              </a:rPr>
              <a:t>食</a:t>
            </a:r>
            <a:r>
              <a:rPr lang="zh-CN" altLang="zh-CN" sz="1400">
                <a:solidFill>
                  <a:srgbClr val="0070C0"/>
                </a:solidFill>
                <a:latin typeface="微软雅黑" panose="020B0503020204020204" pitchFamily="34" charset="-122"/>
                <a:ea typeface="微软雅黑" panose="020B0503020204020204" pitchFamily="34" charset="-122"/>
              </a:rPr>
              <a:t>堂就餐体验</a:t>
            </a:r>
            <a:r>
              <a:rPr lang="zh-CN" altLang="zh-CN" sz="1400">
                <a:solidFill>
                  <a:srgbClr val="0070C0"/>
                </a:solidFill>
                <a:latin typeface="微软雅黑" panose="020B0503020204020204" pitchFamily="34" charset="-122"/>
                <a:ea typeface="微软雅黑" panose="020B0503020204020204" pitchFamily="34" charset="-122"/>
              </a:rPr>
              <a:t>优</a:t>
            </a:r>
            <a:r>
              <a:rPr lang="zh-CN" altLang="zh-CN" sz="1400" smtClean="0">
                <a:solidFill>
                  <a:srgbClr val="0070C0"/>
                </a:solidFill>
                <a:latin typeface="微软雅黑" panose="020B0503020204020204" pitchFamily="34" charset="-122"/>
                <a:ea typeface="微软雅黑" panose="020B0503020204020204" pitchFamily="34" charset="-122"/>
              </a:rPr>
              <a:t>化</a:t>
            </a:r>
            <a:r>
              <a:rPr lang="en-US" altLang="zh-CN" sz="1400" smtClean="0">
                <a:solidFill>
                  <a:srgbClr val="0070C0"/>
                </a:solidFill>
                <a:latin typeface="微软雅黑" panose="020B0503020204020204" pitchFamily="34" charset="-122"/>
                <a:ea typeface="微软雅黑" panose="020B0503020204020204" pitchFamily="34" charset="-122"/>
              </a:rPr>
              <a:t>"</a:t>
            </a:r>
            <a:r>
              <a:rPr lang="zh-CN" altLang="zh-CN" sz="2000" b="1">
                <a:solidFill>
                  <a:srgbClr val="0070C0"/>
                </a:solidFill>
                <a:latin typeface="微软雅黑" panose="020B0503020204020204" pitchFamily="34" charset="-122"/>
                <a:ea typeface="微软雅黑" panose="020B0503020204020204" pitchFamily="34" charset="-122"/>
              </a:rPr>
              <a:t>挑</a:t>
            </a:r>
            <a:r>
              <a:rPr lang="zh-CN" altLang="zh-CN" sz="2000" b="1" smtClean="0">
                <a:solidFill>
                  <a:srgbClr val="0070C0"/>
                </a:solidFill>
                <a:latin typeface="微软雅黑" panose="020B0503020204020204" pitchFamily="34" charset="-122"/>
                <a:ea typeface="微软雅黑" panose="020B0503020204020204" pitchFamily="34" charset="-122"/>
              </a:rPr>
              <a:t>战</a:t>
            </a:r>
            <a:r>
              <a:rPr lang="zh-CN" altLang="en-US" smtClean="0">
                <a:solidFill>
                  <a:srgbClr val="0070C0"/>
                </a:solidFill>
                <a:ea typeface="微软雅黑" panose="020B0503020204020204" pitchFamily="34" charset="-122"/>
              </a:rPr>
              <a:t>：</a:t>
            </a:r>
            <a:r>
              <a:rPr lang="en-US" altLang="zh-CN" smtClean="0">
                <a:solidFill>
                  <a:srgbClr val="0070C0"/>
                </a:solidFill>
                <a:latin typeface="Arial Black" panose="020B0A04020102020204" pitchFamily="34" charset="0"/>
                <a:ea typeface="微软雅黑" panose="020B0503020204020204" pitchFamily="34" charset="-122"/>
              </a:rPr>
              <a:t>145</a:t>
            </a:r>
            <a:r>
              <a:rPr lang="zh-CN" altLang="en-US" sz="1400" smtClean="0">
                <a:solidFill>
                  <a:srgbClr val="0070C0"/>
                </a:solidFill>
                <a:latin typeface="微软雅黑" panose="020B0503020204020204" pitchFamily="34" charset="-122"/>
                <a:ea typeface="微软雅黑" panose="020B0503020204020204" pitchFamily="34" charset="-122"/>
              </a:rPr>
              <a:t>分</a:t>
            </a:r>
            <a:r>
              <a:rPr lang="zh-CN" altLang="en-US" sz="1400">
                <a:solidFill>
                  <a:srgbClr val="0070C0"/>
                </a:solidFill>
                <a:latin typeface="微软雅黑" panose="020B0503020204020204" pitchFamily="34" charset="-122"/>
                <a:ea typeface="微软雅黑" panose="020B0503020204020204" pitchFamily="34" charset="-122"/>
              </a:rPr>
              <a:t>钟</a:t>
            </a:r>
            <a:r>
              <a:rPr lang="zh-CN" altLang="en-US" sz="1400" smtClean="0">
                <a:solidFill>
                  <a:srgbClr val="0070C0"/>
                </a:solidFill>
                <a:latin typeface="微软雅黑" panose="020B0503020204020204" pitchFamily="34" charset="-122"/>
                <a:ea typeface="微软雅黑" panose="020B0503020204020204" pitchFamily="34" charset="-122"/>
              </a:rPr>
              <a:t>；</a:t>
            </a:r>
            <a:endParaRPr lang="en-US" altLang="zh-CN" sz="140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smtClean="0">
                <a:solidFill>
                  <a:srgbClr val="0070C0"/>
                </a:solidFill>
                <a:ea typeface="微软雅黑" panose="020B0503020204020204" pitchFamily="34" charset="-122"/>
              </a:rPr>
              <a:t>解</a:t>
            </a:r>
            <a:r>
              <a:rPr lang="zh-CN" altLang="en-US" sz="1400">
                <a:solidFill>
                  <a:srgbClr val="0070C0"/>
                </a:solidFill>
                <a:ea typeface="微软雅黑" panose="020B0503020204020204" pitchFamily="34" charset="-122"/>
              </a:rPr>
              <a:t>读“创新方法工作坊”单元</a:t>
            </a:r>
            <a:r>
              <a:rPr lang="zh-CN" altLang="en-US" sz="2000" b="1">
                <a:solidFill>
                  <a:srgbClr val="0070C0"/>
                </a:solidFill>
                <a:latin typeface="微软雅黑" panose="020B0503020204020204" pitchFamily="34" charset="-122"/>
                <a:ea typeface="微软雅黑" panose="020B0503020204020204" pitchFamily="34" charset="-122"/>
              </a:rPr>
              <a:t>课后</a:t>
            </a:r>
            <a:r>
              <a:rPr lang="zh-CN" altLang="en-US" sz="1400">
                <a:solidFill>
                  <a:srgbClr val="0070C0"/>
                </a:solidFill>
                <a:ea typeface="微软雅黑" panose="020B0503020204020204" pitchFamily="34" charset="-122"/>
              </a:rPr>
              <a:t>学习任务：</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a:solidFill>
                  <a:srgbClr val="0070C0"/>
                </a:solidFill>
                <a:ea typeface="微软雅黑" panose="020B0503020204020204" pitchFamily="34" charset="-122"/>
              </a:rPr>
              <a:t>分钟。</a:t>
            </a:r>
            <a:endParaRPr lang="en-US" altLang="zh-CN" sz="1400">
              <a:solidFill>
                <a:srgbClr val="0070C0"/>
              </a:solidFill>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a:solidFill>
                  <a:srgbClr val="0070C0"/>
                </a:solidFill>
                <a:ea typeface="微软雅黑" panose="020B0503020204020204" pitchFamily="34" charset="-122"/>
              </a:rPr>
              <a:t>解读</a:t>
            </a:r>
            <a:r>
              <a:rPr lang="zh-CN" altLang="en-US" sz="1400" smtClean="0">
                <a:solidFill>
                  <a:srgbClr val="0070C0"/>
                </a:solidFill>
                <a:ea typeface="微软雅黑" panose="020B0503020204020204" pitchFamily="34" charset="-122"/>
              </a:rPr>
              <a:t>“项目管理工</a:t>
            </a:r>
            <a:r>
              <a:rPr lang="zh-CN" altLang="en-US" sz="1400">
                <a:solidFill>
                  <a:srgbClr val="0070C0"/>
                </a:solidFill>
                <a:ea typeface="微软雅黑" panose="020B0503020204020204" pitchFamily="34" charset="-122"/>
              </a:rPr>
              <a:t>作坊”单</a:t>
            </a:r>
            <a:r>
              <a:rPr lang="zh-CN" altLang="en-US" sz="1400" smtClean="0">
                <a:solidFill>
                  <a:srgbClr val="0070C0"/>
                </a:solidFill>
                <a:ea typeface="微软雅黑" panose="020B0503020204020204" pitchFamily="34" charset="-122"/>
              </a:rPr>
              <a:t>元课前</a:t>
            </a:r>
            <a:r>
              <a:rPr lang="zh-CN" altLang="en-US" sz="2000" b="1" smtClean="0">
                <a:solidFill>
                  <a:srgbClr val="0070C0"/>
                </a:solidFill>
                <a:latin typeface="微软雅黑" panose="020B0503020204020204" pitchFamily="34" charset="-122"/>
                <a:ea typeface="微软雅黑" panose="020B0503020204020204" pitchFamily="34" charset="-122"/>
              </a:rPr>
              <a:t>教学</a:t>
            </a:r>
            <a:r>
              <a:rPr lang="zh-CN" altLang="en-US" sz="2000" b="1">
                <a:solidFill>
                  <a:srgbClr val="0070C0"/>
                </a:solidFill>
                <a:latin typeface="微软雅黑" panose="020B0503020204020204" pitchFamily="34" charset="-122"/>
                <a:ea typeface="微软雅黑" panose="020B0503020204020204" pitchFamily="34" charset="-122"/>
              </a:rPr>
              <a:t>活动</a:t>
            </a:r>
            <a:r>
              <a:rPr lang="zh-CN" altLang="en-US" sz="1400">
                <a:solidFill>
                  <a:srgbClr val="0070C0"/>
                </a:solidFill>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a:solidFill>
                  <a:srgbClr val="0070C0"/>
                </a:solidFill>
                <a:ea typeface="微软雅黑" panose="020B0503020204020204" pitchFamily="34" charset="-122"/>
              </a:rPr>
              <a:t>分</a:t>
            </a:r>
            <a:r>
              <a:rPr lang="zh-CN" altLang="en-US" sz="1400" smtClean="0">
                <a:solidFill>
                  <a:srgbClr val="0070C0"/>
                </a:solidFill>
                <a:ea typeface="微软雅黑" panose="020B0503020204020204" pitchFamily="34" charset="-122"/>
              </a:rPr>
              <a:t>钟</a:t>
            </a:r>
            <a:r>
              <a:rPr lang="zh-CN" altLang="en-US" sz="1400" smtClean="0">
                <a:solidFill>
                  <a:srgbClr val="0070C0"/>
                </a:solidFill>
                <a:latin typeface="微软雅黑" panose="020B0503020204020204" pitchFamily="34" charset="-122"/>
                <a:ea typeface="微软雅黑" panose="020B0503020204020204" pitchFamily="34" charset="-122"/>
              </a:rPr>
              <a:t>。</a:t>
            </a:r>
            <a:endParaRPr lang="en-US" altLang="zh-CN" sz="1400" dirty="0" smtClean="0">
              <a:solidFill>
                <a:srgbClr val="0070C0"/>
              </a:solidFill>
              <a:latin typeface="微软雅黑" panose="020B0503020204020204" pitchFamily="34" charset="-122"/>
              <a:ea typeface="微软雅黑" panose="020B0503020204020204" pitchFamily="34" charset="-122"/>
            </a:endParaRP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四</a:t>
            </a: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、教育教学活动</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131570"/>
            <a:ext cx="4032448"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教学活动及时间规</a:t>
            </a:r>
            <a:r>
              <a:rPr lang="zh-CN" altLang="en-US" sz="2400" b="1" smtClean="0">
                <a:solidFill>
                  <a:schemeClr val="bg1"/>
                </a:solidFill>
                <a:latin typeface="微软雅黑" panose="020B0503020204020204" pitchFamily="34" charset="-122"/>
                <a:ea typeface="微软雅黑" panose="020B0503020204020204" pitchFamily="34" charset="-122"/>
              </a:rPr>
              <a:t>划</a:t>
            </a:r>
            <a:endParaRPr lang="zh-CN" altLang="en-US" sz="2400" b="1">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67998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4624" y="2175123"/>
            <a:ext cx="3019304" cy="1874359"/>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新方法核心认知框架的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立</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新方法工具的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差异化应用能力</a:t>
            </a:r>
            <a:endPar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优化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四阶段递进流程</a:t>
            </a:r>
            <a:endPar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新方法工具向真实决策场景的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迁移应用</a:t>
            </a: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四</a:t>
            </a: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、教育教学活动</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131570"/>
            <a:ext cx="4032448"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教学活</a:t>
            </a:r>
            <a:r>
              <a:rPr lang="zh-CN" altLang="en-US" sz="2400" b="1" smtClean="0">
                <a:solidFill>
                  <a:schemeClr val="bg1"/>
                </a:solidFill>
                <a:latin typeface="微软雅黑" panose="020B0503020204020204" pitchFamily="34" charset="-122"/>
                <a:ea typeface="微软雅黑" panose="020B0503020204020204" pitchFamily="34" charset="-122"/>
              </a:rPr>
              <a:t>动重点与难点</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矩形 6"/>
          <p:cNvSpPr/>
          <p:nvPr/>
        </p:nvSpPr>
        <p:spPr>
          <a:xfrm>
            <a:off x="4355976" y="2175122"/>
            <a:ext cx="3528392" cy="2132892"/>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改进方案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审查方案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认知转换</a:t>
            </a:r>
            <a:endPar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顶思考帽中黑帽角色从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主观否定</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客观风险评估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角色转换</a:t>
            </a:r>
            <a:endPar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验证方案中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足够验证</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边界判断</a:t>
            </a:r>
            <a:endPar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多</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工具分析结论整合为统一决策的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逻辑衔</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接</a:t>
            </a:r>
            <a:endParaRPr lang="en-US" altLang="zh-CN" sz="1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899592" y="1763215"/>
            <a:ext cx="1728192" cy="369332"/>
          </a:xfrm>
          <a:prstGeom prst="rect">
            <a:avLst/>
          </a:prstGeom>
        </p:spPr>
        <p:txBody>
          <a:bodyPr wrap="square">
            <a:spAutoFit/>
          </a:bodyPr>
          <a:lstStyle/>
          <a:p>
            <a:r>
              <a:rPr lang="zh-CN" altLang="en-US"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教学活动重点：</a:t>
            </a:r>
            <a:endParaRPr lang="zh-CN" altLang="en-US" b="1"/>
          </a:p>
        </p:txBody>
      </p:sp>
      <p:sp>
        <p:nvSpPr>
          <p:cNvPr id="9" name="矩形 8"/>
          <p:cNvSpPr/>
          <p:nvPr/>
        </p:nvSpPr>
        <p:spPr>
          <a:xfrm>
            <a:off x="4355976" y="1763215"/>
            <a:ext cx="1728192" cy="369332"/>
          </a:xfrm>
          <a:prstGeom prst="rect">
            <a:avLst/>
          </a:prstGeom>
        </p:spPr>
        <p:txBody>
          <a:bodyPr wrap="square">
            <a:spAutoFit/>
          </a:bodyPr>
          <a:lstStyle/>
          <a:p>
            <a:r>
              <a:rPr lang="zh-CN" altLang="en-US"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endParaRPr lang="zh-CN" altLang="en-US" b="1"/>
          </a:p>
        </p:txBody>
      </p:sp>
    </p:spTree>
    <p:extLst>
      <p:ext uri="{BB962C8B-B14F-4D97-AF65-F5344CB8AC3E}">
        <p14:creationId xmlns:p14="http://schemas.microsoft.com/office/powerpoint/2010/main" val="28248502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71600" y="1131591"/>
            <a:ext cx="5400600" cy="46037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a:t>
            </a:r>
            <a:r>
              <a:rPr lang="zh-CN" altLang="zh-CN" sz="2400" b="1" dirty="0">
                <a:solidFill>
                  <a:schemeClr val="bg1"/>
                </a:solidFill>
                <a:latin typeface="微软雅黑" panose="020B0503020204020204" pitchFamily="34" charset="-122"/>
                <a:ea typeface="微软雅黑" panose="020B0503020204020204" pitchFamily="34" charset="-122"/>
              </a:rPr>
              <a:t>分享</a:t>
            </a:r>
            <a:r>
              <a:rPr lang="zh-CN" altLang="en-US" sz="2400" b="1" dirty="0">
                <a:solidFill>
                  <a:schemeClr val="bg1"/>
                </a:solidFill>
                <a:latin typeface="微软雅黑" panose="020B0503020204020204" pitchFamily="34" charset="-122"/>
                <a:ea typeface="微软雅黑" panose="020B0503020204020204" pitchFamily="34" charset="-122"/>
              </a:rPr>
              <a:t>课前学习活动优秀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791532946"/>
      </p:ext>
    </p:extLst>
  </p:cSld>
  <p:clrMapOvr>
    <a:masterClrMapping/>
  </p:clrMapOvr>
  <p:transition advTm="31939">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99592" y="1136745"/>
            <a:ext cx="5328592"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评创</a:t>
            </a:r>
            <a:r>
              <a:rPr lang="zh-CN" altLang="zh-CN" sz="2400" b="1">
                <a:solidFill>
                  <a:schemeClr val="bg1"/>
                </a:solidFill>
                <a:latin typeface="微软雅黑" panose="020B0503020204020204" pitchFamily="34" charset="-122"/>
                <a:ea typeface="微软雅黑" panose="020B0503020204020204" pitchFamily="34" charset="-122"/>
              </a:rPr>
              <a:t>新方法应用成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44904"/>
            <a:ext cx="7416824" cy="3425553"/>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教学活动名称</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新方法应用成果</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展示与讲</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评</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奥斯本检核表法组合应用的质量判断标准，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系统化改进的方法论共识；同时以各团队竞赛选题为分析对象，在真实应用场景中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检验</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方法工具的适配性与有效性，并</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反思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两种创新思维方式的分工与衔接</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各参赛团队以</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号图纸为载体</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展示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对竞赛选题的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与奥斯本优化分析成果，全班通过投票推荐与教师讲评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对方法组合应用质量的集体判断共识，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获得</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修订优化分析的明确方向</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35</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30015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99592" y="1136745"/>
            <a:ext cx="5328592"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评创</a:t>
            </a:r>
            <a:r>
              <a:rPr lang="zh-CN" altLang="zh-CN" sz="2400" b="1">
                <a:solidFill>
                  <a:schemeClr val="bg1"/>
                </a:solidFill>
                <a:latin typeface="微软雅黑" panose="020B0503020204020204" pitchFamily="34" charset="-122"/>
                <a:ea typeface="微软雅黑" panose="020B0503020204020204" pitchFamily="34" charset="-122"/>
              </a:rPr>
              <a:t>新方法应用成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44904"/>
            <a:ext cx="7416824" cy="3444020"/>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一阶段：小组内部遴选与图纸整合（</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步骤一：组内成果展示与互评（</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各参赛团队（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人）围坐，每位成员依次展示自己在课前任务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中完成的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纸版本，约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人），简要说明：</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选题名称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你们团队的竞赛选题是什么？</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覆盖维度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覆盖了哪几个维度？最有价值的改进点是哪一个？</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奥斯本补充方向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提出了哪些简化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放大方向？如何与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形成互补？</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组合反思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在创新流程中分别扮演什么角色？</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全体成员依据以下标准进行互评遴选：</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维度覆盖面与具体性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是否覆盖至少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维度？改进点子是否具体、可操作？是否说明回应用户的什么需求？</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增量价值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奥斯本补充是否与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不重复？是否真正覆盖了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未触及的简化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放大方向</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99592" y="1136745"/>
            <a:ext cx="5328592"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评创</a:t>
            </a:r>
            <a:r>
              <a:rPr lang="zh-CN" altLang="zh-CN" sz="2400" b="1">
                <a:solidFill>
                  <a:schemeClr val="bg1"/>
                </a:solidFill>
                <a:latin typeface="微软雅黑" panose="020B0503020204020204" pitchFamily="34" charset="-122"/>
                <a:ea typeface="微软雅黑" panose="020B0503020204020204" pitchFamily="34" charset="-122"/>
              </a:rPr>
              <a:t>新方法应用成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44904"/>
            <a:ext cx="7416824" cy="1729704"/>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选题关联度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分析是否紧密围绕本团队竞赛选题？优化方向是否与选题的核心价值主张一致？</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得票最高的一份分析表即为本团队代表作品。</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步骤二：团队共同绘制展示图纸（</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以遴选出的最优分析表为蓝本，全体成员共同参与，将其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分析结果（至少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个维度）、奥斯本补充方向（至少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个）及组合应用反思要点整合绘制到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号图纸上。</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图纸须包含以下结构：</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042881096"/>
              </p:ext>
            </p:extLst>
          </p:nvPr>
        </p:nvGraphicFramePr>
        <p:xfrm>
          <a:off x="935596" y="3374608"/>
          <a:ext cx="4932548" cy="1645414"/>
        </p:xfrm>
        <a:graphic>
          <a:graphicData uri="http://schemas.openxmlformats.org/drawingml/2006/table">
            <a:tbl>
              <a:tblPr firstRow="1" firstCol="1" bandRow="1">
                <a:tableStyleId>{5C22544A-7EE6-4342-B048-85BDC9FD1C3A}</a:tableStyleId>
              </a:tblPr>
              <a:tblGrid>
                <a:gridCol w="1404156">
                  <a:extLst>
                    <a:ext uri="{9D8B030D-6E8A-4147-A177-3AD203B41FA5}">
                      <a16:colId xmlns:a16="http://schemas.microsoft.com/office/drawing/2014/main" val="2024947764"/>
                    </a:ext>
                  </a:extLst>
                </a:gridCol>
                <a:gridCol w="3528392">
                  <a:extLst>
                    <a:ext uri="{9D8B030D-6E8A-4147-A177-3AD203B41FA5}">
                      <a16:colId xmlns:a16="http://schemas.microsoft.com/office/drawing/2014/main" val="1441002764"/>
                    </a:ext>
                  </a:extLst>
                </a:gridCol>
              </a:tblGrid>
              <a:tr h="290578">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图纸区域</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内容要求</a:t>
                      </a:r>
                    </a:p>
                  </a:txBody>
                  <a:tcPr marL="68580" marR="68580" marT="0" marB="0" anchor="ctr"/>
                </a:tc>
                <a:extLst>
                  <a:ext uri="{0D108BD9-81ED-4DB2-BD59-A6C34878D82A}">
                    <a16:rowId xmlns:a16="http://schemas.microsoft.com/office/drawing/2014/main" val="3781870590"/>
                  </a:ext>
                </a:extLst>
              </a:tr>
              <a:tr h="3467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标题区</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团队竞赛选题名称</a:t>
                      </a:r>
                    </a:p>
                  </a:txBody>
                  <a:tcPr marL="68580" marR="68580" marT="0" marB="0" anchor="ctr"/>
                </a:tc>
                <a:extLst>
                  <a:ext uri="{0D108BD9-81ED-4DB2-BD59-A6C34878D82A}">
                    <a16:rowId xmlns:a16="http://schemas.microsoft.com/office/drawing/2014/main" val="503505425"/>
                  </a:ext>
                </a:extLst>
              </a:tr>
              <a:tr h="360040">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SCAMPER</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分析区</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至少</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个维度的改进点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回应用户需求说明</a:t>
                      </a:r>
                    </a:p>
                  </a:txBody>
                  <a:tcPr marL="68580" marR="68580" marT="0" marB="0" anchor="ctr"/>
                </a:tc>
                <a:extLst>
                  <a:ext uri="{0D108BD9-81ED-4DB2-BD59-A6C34878D82A}">
                    <a16:rowId xmlns:a16="http://schemas.microsoft.com/office/drawing/2014/main" val="417936061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奥斯本补充区</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至少</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个简化</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放大方向</a:t>
                      </a:r>
                    </a:p>
                  </a:txBody>
                  <a:tcPr marL="68580" marR="68580" marT="0" marB="0" anchor="ctr"/>
                </a:tc>
                <a:extLst>
                  <a:ext uri="{0D108BD9-81ED-4DB2-BD59-A6C34878D82A}">
                    <a16:rowId xmlns:a16="http://schemas.microsoft.com/office/drawing/2014/main" val="3512167709"/>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反思区</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两种方法互补关系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两种思维方式对比（不超过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字）</a:t>
                      </a:r>
                    </a:p>
                  </a:txBody>
                  <a:tcPr marL="68580" marR="68580" marT="0" marB="0" anchor="ctr"/>
                </a:tc>
                <a:extLst>
                  <a:ext uri="{0D108BD9-81ED-4DB2-BD59-A6C34878D82A}">
                    <a16:rowId xmlns:a16="http://schemas.microsoft.com/office/drawing/2014/main" val="15968062"/>
                  </a:ext>
                </a:extLst>
              </a:tr>
            </a:tbl>
          </a:graphicData>
        </a:graphic>
      </p:graphicFrame>
      <p:sp>
        <p:nvSpPr>
          <p:cNvPr id="2" name="矩形 1"/>
          <p:cNvSpPr/>
          <p:nvPr/>
        </p:nvSpPr>
        <p:spPr>
          <a:xfrm>
            <a:off x="6084168" y="3827868"/>
            <a:ext cx="2304256" cy="757130"/>
          </a:xfrm>
          <a:prstGeom prst="rect">
            <a:avLst/>
          </a:prstGeom>
        </p:spPr>
        <p:txBody>
          <a:bodyPr wrap="square">
            <a:spAutoFit/>
          </a:bodyPr>
          <a:lstStyle/>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绘制完成后，图纸须经全体成员口头确认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无异议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，由一名成员张贴至教室指定墙面区域。</a:t>
            </a:r>
          </a:p>
        </p:txBody>
      </p:sp>
    </p:spTree>
    <p:extLst>
      <p:ext uri="{BB962C8B-B14F-4D97-AF65-F5344CB8AC3E}">
        <p14:creationId xmlns:p14="http://schemas.microsoft.com/office/powerpoint/2010/main" val="3496489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99592" y="1136745"/>
            <a:ext cx="5328592"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评创</a:t>
            </a:r>
            <a:r>
              <a:rPr lang="zh-CN" altLang="zh-CN" sz="2400" b="1">
                <a:solidFill>
                  <a:schemeClr val="bg1"/>
                </a:solidFill>
                <a:latin typeface="微软雅黑" panose="020B0503020204020204" pitchFamily="34" charset="-122"/>
                <a:ea typeface="微软雅黑" panose="020B0503020204020204" pitchFamily="34" charset="-122"/>
              </a:rPr>
              <a:t>新方法应用成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44904"/>
            <a:ext cx="7560840" cy="3444020"/>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二阶段：图纸参观与投票推荐（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步骤一：图纸参观与投票推荐（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全体学生自由参观所有张贴的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分析图纸。参观过程中，每支团队持有一张推荐贴纸（或印章），将其贴在自己认为分析质量最高的那张图纸上（不得投给自己所在团队）。若认为本团队图纸最优，可弃权不投。</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推荐依据：</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SCAMPER</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维度覆盖面与具体性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是否覆盖至少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个维度？改进点子是否具体、可操作？是否说明了回应用户的什么需求？</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奥斯本补充的增量价值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简化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放大方向是否与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不重复？是否真正有增量价值？</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选题关联度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优化分析是否紧密结合团队竞赛选题？改进方向是否与选题的核心价值主张一致？</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反思质量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两种方法的互补关系分析是否清晰？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的思维对比是否准确</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步骤二：团队分享与教师讲评（</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en-US"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教师依据得票情况，从得票最高的图纸中依次确认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支团队进行分享与讲评</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10041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99592" y="1136745"/>
            <a:ext cx="5328592"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评创</a:t>
            </a:r>
            <a:r>
              <a:rPr lang="zh-CN" altLang="zh-CN" sz="2400" b="1">
                <a:solidFill>
                  <a:schemeClr val="bg1"/>
                </a:solidFill>
                <a:latin typeface="微软雅黑" panose="020B0503020204020204" pitchFamily="34" charset="-122"/>
                <a:ea typeface="微软雅黑" panose="020B0503020204020204" pitchFamily="34" charset="-122"/>
              </a:rPr>
              <a:t>新方法应用成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09734"/>
            <a:ext cx="7560840" cy="1614288"/>
          </a:xfrm>
          <a:prstGeom prst="rect">
            <a:avLst/>
          </a:prstGeom>
          <a:ln w="25400">
            <a:noFill/>
          </a:ln>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被</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选中团队选派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名代表，结合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号图纸进行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分钟分享，重点说明：</a:t>
            </a:r>
          </a:p>
          <a:p>
            <a:pPr>
              <a:lnSpc>
                <a:spcPct val="120000"/>
              </a:lnSpc>
              <a:spcBef>
                <a:spcPts val="3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选题简介：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你们的竞赛选题是什么？核心用户是谁？核心价值主张是什么？</a:t>
            </a:r>
          </a:p>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SCAMPER</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优化：</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选用了哪几个维度？最关键的改进点是哪一个？回应用户的什么需求？</a:t>
            </a:r>
          </a:p>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奥斯本补充：</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提出了哪些简化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放大方向？与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如何形成互补？</a:t>
            </a:r>
          </a:p>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组合反思：</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你们如何理解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（设计思维）与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（方法工具）在创新流程中的不同角色？</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每组分享后，教师进行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分钟讲评，聚焦三个维度</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127353591"/>
              </p:ext>
            </p:extLst>
          </p:nvPr>
        </p:nvGraphicFramePr>
        <p:xfrm>
          <a:off x="395536" y="3224022"/>
          <a:ext cx="8424936" cy="1879331"/>
        </p:xfrm>
        <a:graphic>
          <a:graphicData uri="http://schemas.openxmlformats.org/drawingml/2006/table">
            <a:tbl>
              <a:tblPr firstRow="1" firstCol="1" bandRow="1">
                <a:tableStyleId>{5C22544A-7EE6-4342-B048-85BDC9FD1C3A}</a:tableStyleId>
              </a:tblPr>
              <a:tblGrid>
                <a:gridCol w="1356244">
                  <a:extLst>
                    <a:ext uri="{9D8B030D-6E8A-4147-A177-3AD203B41FA5}">
                      <a16:colId xmlns:a16="http://schemas.microsoft.com/office/drawing/2014/main" val="1277088294"/>
                    </a:ext>
                  </a:extLst>
                </a:gridCol>
                <a:gridCol w="1884116">
                  <a:extLst>
                    <a:ext uri="{9D8B030D-6E8A-4147-A177-3AD203B41FA5}">
                      <a16:colId xmlns:a16="http://schemas.microsoft.com/office/drawing/2014/main" val="2313742588"/>
                    </a:ext>
                  </a:extLst>
                </a:gridCol>
                <a:gridCol w="2736304">
                  <a:extLst>
                    <a:ext uri="{9D8B030D-6E8A-4147-A177-3AD203B41FA5}">
                      <a16:colId xmlns:a16="http://schemas.microsoft.com/office/drawing/2014/main" val="2505089529"/>
                    </a:ext>
                  </a:extLst>
                </a:gridCol>
                <a:gridCol w="2448272">
                  <a:extLst>
                    <a:ext uri="{9D8B030D-6E8A-4147-A177-3AD203B41FA5}">
                      <a16:colId xmlns:a16="http://schemas.microsoft.com/office/drawing/2014/main" val="1454978042"/>
                    </a:ext>
                  </a:extLst>
                </a:gridCol>
              </a:tblGrid>
              <a:tr h="297443">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讲评维度</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核心问题</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优秀表现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常见问题</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06593724"/>
                  </a:ext>
                </a:extLst>
              </a:tr>
              <a:tr h="566653">
                <a:tc>
                  <a:txBody>
                    <a:bodyPr/>
                    <a:lstStyle/>
                    <a:p>
                      <a:pPr algn="ctr">
                        <a:spcAft>
                          <a:spcPts val="0"/>
                        </a:spcAft>
                      </a:pP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SCAMPER</a:t>
                      </a: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维度覆盖面与具体性</a:t>
                      </a: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是否覆盖至少</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个维度？改进点是否具体可操作？是否紧扣选题？</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覆盖</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个维度，每个改进点包含</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改什么</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怎么改</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为什么改</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三要素，且改进方向与选题核心功能直接相关</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覆盖面不足</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个维度；改进点笼统抽象（如</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增加智能功能</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而未说明具体内容）；改进方向与选题关联松散</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909920351"/>
                  </a:ext>
                </a:extLst>
              </a:tr>
              <a:tr h="432048">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奥斯本补充的增量价值</a:t>
                      </a: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补充方向是否与</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不重复？是否真正有增量？</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简化</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放大方向与</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无重复，且能说明</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为什么没覆盖这个角度</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与</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维度高度重叠；仅为</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SCAMPER</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的简单换种说法</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408307963"/>
                  </a:ext>
                </a:extLst>
              </a:tr>
              <a:tr h="0">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选题关联度与反思质量</a:t>
                      </a: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优化是否紧密围绕选题？两种思维方式的对比是否准确？</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能清晰说明每个改进点与选题核心价值主张的关联；能准确区分</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发现需求</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与</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系统改进</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两种思维</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优化方向脱离选题实际；混淆</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定义问题</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与</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优化方案</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的思维差异</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09597835"/>
                  </a:ext>
                </a:extLst>
              </a:tr>
            </a:tbl>
          </a:graphicData>
        </a:graphic>
      </p:graphicFrame>
    </p:spTree>
    <p:extLst>
      <p:ext uri="{BB962C8B-B14F-4D97-AF65-F5344CB8AC3E}">
        <p14:creationId xmlns:p14="http://schemas.microsoft.com/office/powerpoint/2010/main" val="13506195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99592" y="1136745"/>
            <a:ext cx="5328592"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评创</a:t>
            </a:r>
            <a:r>
              <a:rPr lang="zh-CN" altLang="zh-CN" sz="2400" b="1">
                <a:solidFill>
                  <a:schemeClr val="bg1"/>
                </a:solidFill>
                <a:latin typeface="微软雅黑" panose="020B0503020204020204" pitchFamily="34" charset="-122"/>
                <a:ea typeface="微软雅黑" panose="020B0503020204020204" pitchFamily="34" charset="-122"/>
              </a:rPr>
              <a:t>新方法应用成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44904"/>
            <a:ext cx="7560840" cy="3191964"/>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第三阶段：总结与归档（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教师总结（</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方法工具的意义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奥斯本组合让你不是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想到哪改到哪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，而是有结构地、系统化地对方案进行改进。</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的分工：</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设计思维帮助你们通过用户洞察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发现一个值得解决的问题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（做正确的事）；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与奥斯本帮助你们在已有方案上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系统化地把它改得更好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（把事做正确）。完整的创新流程需要两种能力：定义问题的能力和优化方案的能力。</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迁移的价值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你们今天展示的，不只是对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课上例题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的分析，而是对自己竞赛选题的优化。这说明工具不是用来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交作业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的，而是可以用来推动真实项目进展的。</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成果归档（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各团队将展示图纸（含选题名称、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分析、奥斯本补充、反思要点）提交至教师处（实物留作课程档案）。教师据此记录各团队的选题优化方向，作为后续项目评审的参考依据。</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886278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99592" y="1136745"/>
            <a:ext cx="5328592"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评创</a:t>
            </a:r>
            <a:r>
              <a:rPr lang="zh-CN" altLang="zh-CN" sz="2400" b="1">
                <a:solidFill>
                  <a:schemeClr val="bg1"/>
                </a:solidFill>
                <a:latin typeface="微软雅黑" panose="020B0503020204020204" pitchFamily="34" charset="-122"/>
                <a:ea typeface="微软雅黑" panose="020B0503020204020204" pitchFamily="34" charset="-122"/>
              </a:rPr>
              <a:t>新方法应用成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44904"/>
            <a:ext cx="7416824" cy="2385268"/>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奥斯本检核表法组合应用的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质量判断标准</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；改进点从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笼统想法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具体可操作</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深化方法</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；以真实竞赛选题为对象的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工具迁移应用能力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；从设计思维</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到方法工具</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创新流程衔接认知</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区分</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与奥斯本检核表法的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不同适用场景</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；识别奥斯本补充是否具有真正的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增量价值</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；确保改进方向与选题核心价值主张的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一致性</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的用户洞察思维与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的系统优化思维的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切换与整合</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53445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899591" y="1615204"/>
            <a:ext cx="7403577" cy="3056221"/>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创新方法实践</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食堂就餐体验优化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挑战</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学生在真实项目情境中完整</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体验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优化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的创新方法递进应用流程；在阶段切换中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根据不同阶段需求选择合适方法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的策略意识</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《创新方法实践档案袋》，该档案袋包含四阶段的过程记录与核心交付物</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（构思阶段：头脑风暴创意集与方案筛选记录；优化阶段：</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分析记录与方案优化版本；决策阶段：六顶思考帽讨论纪要与最终方案决策书；规划阶段：</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实施规划表）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；各组能够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说明</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各阶段的方法选择逻辑，</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方法选择</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的元认知能力</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145</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808310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200801" cy="3434786"/>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请大家回忆一下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你有没有经历过中午下课冲向食堂，却看到每个窗口前都排着长队的场景？好不容易排到你，却发现想吃的菜已经卖完了；或者打到的菜油腻腻的，想吃点清淡健康的却没什么选择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有同学抱怨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食堂的菜太咸了，饭太硬了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，有同学为了减脂只能自己网购鸡胸肉加餐，有同学反映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高峰期保洁不及时、特色窗口不足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今天你们的任务就是：</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优化校园食堂的就餐体验</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。你们将依次使用四种不同的创新方法工具来完成这个任务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从构思到优化到决策到规划，体验一个完整的创新方法组合应用流程。</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为什么选这个场景？</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你们是真实用户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每天都在食堂吃饭，痛点在哪里一清二楚；</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验证机会真实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各组在方案设计后，可以在食堂实地观察，用简单的道具（如流程图、模拟标识、问卷）测试你们的优化方案是否真的能改善就餐体验；</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边界灵活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你们可以选择聚焦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排队优化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菜品健康化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信息透明化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等不同方向，适合在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145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分钟内完成从构思到规划的全流程</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14339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403577" cy="3394775"/>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提醒：</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请聚焦于</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用户端可感知的流程优化</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（如排队动线、菜品信息展示、健康选项标识等），而非食堂运营体制变革。你们不一定要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发明新设备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，而是用创新方法重新审视已有流程，找到低成本的改进机会</a:t>
            </a:r>
            <a:endParaRPr lang="zh-CN" altLang="zh-CN" sz="1200"/>
          </a:p>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阶段一：方案构思</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结构化头脑风暴法（</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教师讲解结构化头脑风暴法的核心规则：</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延迟评判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禁止在创意生成阶段说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做不到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不现实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数量优先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目标是最少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个想法，越多越好</a:t>
            </a:r>
          </a:p>
          <a:p>
            <a:pPr>
              <a:lnSpc>
                <a:spcPct val="120000"/>
              </a:lnSpc>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自由联想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欢迎任何想法，哪怕听起来很疯狂</a:t>
            </a:r>
          </a:p>
          <a:p>
            <a:pPr>
              <a:lnSpc>
                <a:spcPct val="120000"/>
              </a:lnSpc>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记录全部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所有想法写在不同颜色的便签纸上，每人每张便签写一个想法</a:t>
            </a:r>
          </a:p>
          <a:p>
            <a:pPr>
              <a:lnSpc>
                <a:spcPct val="120000"/>
              </a:lnSpc>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⑤</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联想激发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鼓励在他人想法基础上继续发散</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团队操作（</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人学习小组为单位，围绕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如何改善食堂就餐体验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进行头脑风暴。每人在彩色便签上写下自己的想法（一张便签一个想法），贴在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号图纸上。过程中鼓励相互激发和联想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若在他人便签基础上产生新想法，另取新便签书写并标注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XX</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启发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，与原便签并排张贴。</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469954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403577" cy="3222421"/>
          </a:xfrm>
          <a:prstGeom prst="rect">
            <a:avLst/>
          </a:prstGeom>
          <a:ln w="25400">
            <a:noFill/>
          </a:ln>
        </p:spPr>
        <p:txBody>
          <a:bodyPr wrap="square">
            <a:spAutoFit/>
          </a:bodyPr>
          <a:lstStyle/>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教师巡视引导（嵌入团队操作中，即时进行）：</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教师巡视期间，重点关注：</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是否出现隐性评价（如讨论中出现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这个不行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这太离谱了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等语言或表情）</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是否存在冷场或个别成员沉默</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 便签张贴是否有序、便于后续整理</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若发现规则被违反，教师可即时引导：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暂停一下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这句话已经是评判了，记得我们还在生成阶段，保留所有判断。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产出要求：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每组不少于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个创意方向（人均至少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个），须围绕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就餐体验优化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这一核心场景展开。</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方案筛选（</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全体成员共同浏览本组所有便签，合并相似创意。</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依据以下标准进行投票筛选</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288775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403577" cy="2960811"/>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可</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行性：</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是否能在现有条件下实现？</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有效性：</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是否直接回应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就餐体验差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的核心痛点？</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创新性：</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是否超出常规思路？</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 每位成员手持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票，投给自己认为综合评分最高的创意。得票最高者确定为进入阶段二的优化方向。</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④ 统计票数后，将得票最高的方案用红笔圈出，移贴至图纸中央醒目位置。记录员同步在图纸空白处填写《方案筛选记录》，须包含：筛选标准（可行性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有效性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创新性）、投票结果、最终选定方案名称及得票数。</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阶段一成果归档：《头脑风暴创意集》（全部便签）</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《方案筛选记录》（投票选出</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个方向）</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b="1"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阶段二：方案优化</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技法（</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35</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方法导入（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各组从阶段一筛选出的方向出发，运用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七维度进行系统化改造</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98705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403577" cy="292709"/>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颜</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色</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维度对应表：</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3977361817"/>
              </p:ext>
            </p:extLst>
          </p:nvPr>
        </p:nvGraphicFramePr>
        <p:xfrm>
          <a:off x="971600" y="1923678"/>
          <a:ext cx="5904656" cy="1820019"/>
        </p:xfrm>
        <a:graphic>
          <a:graphicData uri="http://schemas.openxmlformats.org/drawingml/2006/table">
            <a:tbl>
              <a:tblPr firstRow="1" firstCol="1" bandRow="1">
                <a:tableStyleId>{5C22544A-7EE6-4342-B048-85BDC9FD1C3A}</a:tableStyleId>
              </a:tblPr>
              <a:tblGrid>
                <a:gridCol w="555913">
                  <a:extLst>
                    <a:ext uri="{9D8B030D-6E8A-4147-A177-3AD203B41FA5}">
                      <a16:colId xmlns:a16="http://schemas.microsoft.com/office/drawing/2014/main" val="438002318"/>
                    </a:ext>
                  </a:extLst>
                </a:gridCol>
                <a:gridCol w="1100271">
                  <a:extLst>
                    <a:ext uri="{9D8B030D-6E8A-4147-A177-3AD203B41FA5}">
                      <a16:colId xmlns:a16="http://schemas.microsoft.com/office/drawing/2014/main" val="1395417610"/>
                    </a:ext>
                  </a:extLst>
                </a:gridCol>
                <a:gridCol w="4248472">
                  <a:extLst>
                    <a:ext uri="{9D8B030D-6E8A-4147-A177-3AD203B41FA5}">
                      <a16:colId xmlns:a16="http://schemas.microsoft.com/office/drawing/2014/main" val="422190823"/>
                    </a:ext>
                  </a:extLst>
                </a:gridCol>
              </a:tblGrid>
              <a:tr h="28014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颜色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tc>
                <a:extLst>
                  <a:ext uri="{0D108BD9-81ED-4DB2-BD59-A6C34878D82A}">
                    <a16:rowId xmlns:a16="http://schemas.microsoft.com/office/drawing/2014/main" val="4057941253"/>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红色</a:t>
                      </a:r>
                    </a:p>
                  </a:txBody>
                  <a:tcPr marL="68580" marR="68580" marT="0" marB="0" anchor="ctr"/>
                </a:tc>
                <a:tc>
                  <a:txBody>
                    <a:bodyPr/>
                    <a:lstStyle/>
                    <a:p>
                      <a:pPr marL="0" algn="just"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（替代）</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用什么替代现有方式？</a:t>
                      </a:r>
                    </a:p>
                  </a:txBody>
                  <a:tcPr marL="68580" marR="68580" marT="0" marB="0" anchor="ctr"/>
                </a:tc>
                <a:extLst>
                  <a:ext uri="{0D108BD9-81ED-4DB2-BD59-A6C34878D82A}">
                    <a16:rowId xmlns:a16="http://schemas.microsoft.com/office/drawing/2014/main" val="2391355958"/>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橙色</a:t>
                      </a:r>
                    </a:p>
                  </a:txBody>
                  <a:tcPr marL="68580" marR="68580" marT="0" marB="0" anchor="ctr"/>
                </a:tc>
                <a:tc>
                  <a:txBody>
                    <a:bodyPr/>
                    <a:lstStyle/>
                    <a:p>
                      <a:pPr marL="0" algn="just"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C</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（合并）</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能否与其他功能或流程合并？</a:t>
                      </a:r>
                    </a:p>
                  </a:txBody>
                  <a:tcPr marL="68580" marR="68580" marT="0" marB="0" anchor="ctr"/>
                </a:tc>
                <a:extLst>
                  <a:ext uri="{0D108BD9-81ED-4DB2-BD59-A6C34878D82A}">
                    <a16:rowId xmlns:a16="http://schemas.microsoft.com/office/drawing/2014/main" val="245194084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黄色</a:t>
                      </a:r>
                    </a:p>
                  </a:txBody>
                  <a:tcPr marL="68580" marR="68580" marT="0" marB="0" anchor="ctr"/>
                </a:tc>
                <a:tc>
                  <a:txBody>
                    <a:bodyPr/>
                    <a:lstStyle/>
                    <a:p>
                      <a:pPr marL="0" algn="just"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（适应）</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能否借鉴其他场景的已有做法？</a:t>
                      </a:r>
                    </a:p>
                  </a:txBody>
                  <a:tcPr marL="68580" marR="68580" marT="0" marB="0" anchor="ctr"/>
                </a:tc>
                <a:extLst>
                  <a:ext uri="{0D108BD9-81ED-4DB2-BD59-A6C34878D82A}">
                    <a16:rowId xmlns:a16="http://schemas.microsoft.com/office/drawing/2014/main" val="2683710407"/>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绿色</a:t>
                      </a:r>
                    </a:p>
                  </a:txBody>
                  <a:tcPr marL="68580" marR="68580" marT="0" marB="0" anchor="ctr"/>
                </a:tc>
                <a:tc>
                  <a:txBody>
                    <a:bodyPr/>
                    <a:lstStyle/>
                    <a:p>
                      <a:pPr marL="0" algn="just"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M</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（调整）</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能否放大、缩小、强化或弱化某部分？</a:t>
                      </a:r>
                    </a:p>
                  </a:txBody>
                  <a:tcPr marL="68580" marR="68580" marT="0" marB="0" anchor="ctr"/>
                </a:tc>
                <a:extLst>
                  <a:ext uri="{0D108BD9-81ED-4DB2-BD59-A6C34878D82A}">
                    <a16:rowId xmlns:a16="http://schemas.microsoft.com/office/drawing/2014/main" val="3236129408"/>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蓝色</a:t>
                      </a:r>
                    </a:p>
                  </a:txBody>
                  <a:tcPr marL="68580" marR="68580" marT="0" marB="0" anchor="ctr"/>
                </a:tc>
                <a:tc>
                  <a:txBody>
                    <a:bodyPr/>
                    <a:lstStyle/>
                    <a:p>
                      <a:pPr marL="0" algn="just"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P</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（改变用途）</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除了现有用法，还能做什么？</a:t>
                      </a:r>
                    </a:p>
                  </a:txBody>
                  <a:tcPr marL="68580" marR="68580" marT="0" marB="0" anchor="ctr"/>
                </a:tc>
                <a:extLst>
                  <a:ext uri="{0D108BD9-81ED-4DB2-BD59-A6C34878D82A}">
                    <a16:rowId xmlns:a16="http://schemas.microsoft.com/office/drawing/2014/main" val="1848056311"/>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紫色</a:t>
                      </a:r>
                    </a:p>
                  </a:txBody>
                  <a:tcPr marL="68580" marR="68580" marT="0" marB="0" anchor="ctr"/>
                </a:tc>
                <a:tc>
                  <a:txBody>
                    <a:bodyPr/>
                    <a:lstStyle/>
                    <a:p>
                      <a:pPr marL="0" algn="just"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E</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（消除）</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能否简化或去掉不必要的部分？</a:t>
                      </a:r>
                    </a:p>
                  </a:txBody>
                  <a:tcPr marL="68580" marR="68580" marT="0" marB="0" anchor="ctr"/>
                </a:tc>
                <a:extLst>
                  <a:ext uri="{0D108BD9-81ED-4DB2-BD59-A6C34878D82A}">
                    <a16:rowId xmlns:a16="http://schemas.microsoft.com/office/drawing/2014/main" val="4133562470"/>
                  </a:ext>
                </a:extLst>
              </a:tr>
              <a:tr h="2437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灰色</a:t>
                      </a:r>
                    </a:p>
                  </a:txBody>
                  <a:tcPr marL="68580" marR="68580" marT="0" marB="0" anchor="ctr"/>
                </a:tc>
                <a:tc>
                  <a:txBody>
                    <a:bodyPr/>
                    <a:lstStyle/>
                    <a:p>
                      <a:pPr marL="0" algn="just"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R</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（重组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逆向）</a:t>
                      </a:r>
                    </a:p>
                  </a:txBody>
                  <a:tcPr marL="68580" marR="68580" marT="0" marB="0" anchor="ctr"/>
                </a:tc>
                <a:tc>
                  <a:txBody>
                    <a:bodyPr/>
                    <a:lstStyle/>
                    <a:p>
                      <a:pPr marL="0" algn="just"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能否重组顺序或结构？或反向思考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如果完全反过来会怎样？</a:t>
                      </a:r>
                    </a:p>
                  </a:txBody>
                  <a:tcPr marL="68580" marR="68580" marT="0" marB="0" anchor="ctr"/>
                </a:tc>
                <a:extLst>
                  <a:ext uri="{0D108BD9-81ED-4DB2-BD59-A6C34878D82A}">
                    <a16:rowId xmlns:a16="http://schemas.microsoft.com/office/drawing/2014/main" val="854087367"/>
                  </a:ext>
                </a:extLst>
              </a:tr>
            </a:tbl>
          </a:graphicData>
        </a:graphic>
      </p:graphicFrame>
      <p:sp>
        <p:nvSpPr>
          <p:cNvPr id="2" name="矩形 1"/>
          <p:cNvSpPr/>
          <p:nvPr/>
        </p:nvSpPr>
        <p:spPr>
          <a:xfrm>
            <a:off x="971600" y="3793715"/>
            <a:ext cx="7200800" cy="1277273"/>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团队操作（</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各小组对选定的方案方向进行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系统化改造。每位成员负责至少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个维度，用对应颜色便签写下具体改进点并贴在图纸上。各维度分析完成后，小组在图纸下方（或背面）用红笔归纳形成《方案优化版本》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即基于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各维度改进点的整合后的完整方案描述（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100-200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字），须说明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改了什么、为什么改、优化后有何不同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200"/>
          </a:p>
        </p:txBody>
      </p:sp>
      <p:sp>
        <p:nvSpPr>
          <p:cNvPr id="7" name="矩形 6"/>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3948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403577" cy="2548390"/>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产</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出要求：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覆盖至少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个维度，每个维度至少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个具体的改进点。</a:t>
            </a:r>
            <a:endParaRPr lang="zh-CN" altLang="en-US" sz="1200"/>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教</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师巡视期间，重点关注：</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是否有的维度讨论走形式（如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这个维度我们想不出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教师追问：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如果必须从这个角度想一个呢？哪怕不完美也没关系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改进点是否具体可执行（如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增加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LED</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需追问：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增加在哪？什么情况下亮？对用户有什么实际帮助？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③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是否脱离了用户需求（如改进方案仅从技术角度出发而忽略了食堂就餐场景下用户的真实处境</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若发现某组在某维度上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卡住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，教师可提供激发性问题：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如果必须改变它的用途，除了现在的用法还能做什么？哪怕听起来奇怪也没关系</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阶段二成果归档：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分析记录》（各维度改进点）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《方案优化版本》。</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391455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403577" cy="572464"/>
          </a:xfrm>
          <a:prstGeom prst="rect">
            <a:avLst/>
          </a:prstGeom>
          <a:ln w="25400">
            <a:noFill/>
          </a:ln>
        </p:spPr>
        <p:txBody>
          <a:bodyPr wrap="square">
            <a:spAutoFit/>
          </a:bodyPr>
          <a:lstStyle/>
          <a:p>
            <a:pPr>
              <a:lnSpc>
                <a:spcPct val="120000"/>
              </a:lnSpc>
              <a:spcBef>
                <a:spcPts val="600"/>
              </a:spcBef>
            </a:pPr>
            <a:r>
              <a:rPr lang="zh-CN" altLang="zh-CN" sz="1400" b="1" smtClean="0">
                <a:latin typeface="Times New Roman" panose="02020603050405020304" pitchFamily="18" charset="0"/>
                <a:ea typeface="仿宋" panose="02010609060101010101" pitchFamily="49" charset="-122"/>
                <a:cs typeface="Times New Roman" panose="02020603050405020304" pitchFamily="18" charset="0"/>
              </a:rPr>
              <a:t>阶</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段三：方案决策</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六顶思考帽（</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30</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方法导入（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各</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小组分配六顶思考帽角色，蓝帽主持讨论。</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3805022803"/>
              </p:ext>
            </p:extLst>
          </p:nvPr>
        </p:nvGraphicFramePr>
        <p:xfrm>
          <a:off x="971600" y="2204462"/>
          <a:ext cx="7560840" cy="2791505"/>
        </p:xfrm>
        <a:graphic>
          <a:graphicData uri="http://schemas.openxmlformats.org/drawingml/2006/table">
            <a:tbl>
              <a:tblPr firstRow="1" firstCol="1" bandRow="1">
                <a:tableStyleId>{5C22544A-7EE6-4342-B048-85BDC9FD1C3A}</a:tableStyleId>
              </a:tblPr>
              <a:tblGrid>
                <a:gridCol w="555913">
                  <a:extLst>
                    <a:ext uri="{9D8B030D-6E8A-4147-A177-3AD203B41FA5}">
                      <a16:colId xmlns:a16="http://schemas.microsoft.com/office/drawing/2014/main" val="438002318"/>
                    </a:ext>
                  </a:extLst>
                </a:gridCol>
                <a:gridCol w="1820351">
                  <a:extLst>
                    <a:ext uri="{9D8B030D-6E8A-4147-A177-3AD203B41FA5}">
                      <a16:colId xmlns:a16="http://schemas.microsoft.com/office/drawing/2014/main" val="1395417610"/>
                    </a:ext>
                  </a:extLst>
                </a:gridCol>
                <a:gridCol w="5184576">
                  <a:extLst>
                    <a:ext uri="{9D8B030D-6E8A-4147-A177-3AD203B41FA5}">
                      <a16:colId xmlns:a16="http://schemas.microsoft.com/office/drawing/2014/main" val="422190823"/>
                    </a:ext>
                  </a:extLst>
                </a:gridCol>
              </a:tblGrid>
              <a:tr h="28014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帽子</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a:t>
                      </a:r>
                    </a:p>
                  </a:txBody>
                  <a:tcPr marL="72000" marR="72000" marT="36000" marB="36000" anchor="ctr"/>
                </a:tc>
                <a:extLst>
                  <a:ext uri="{0D108BD9-81ED-4DB2-BD59-A6C34878D82A}">
                    <a16:rowId xmlns:a16="http://schemas.microsoft.com/office/drawing/2014/main" val="4057941253"/>
                  </a:ext>
                </a:extLst>
              </a:tr>
              <a:tr h="37340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白帽</a:t>
                      </a:r>
                    </a:p>
                  </a:txBody>
                  <a:tcPr marL="72000" marR="72000" marT="36000" marB="3600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事实帽：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聚焦客观信息，避免主观评价</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聚焦客观信息，避免主观评价。列举与选题相关的已知事实、数据和研究现状。如，食堂高峰期排队时长、学生对菜品口味的普遍反馈、现有窗口数量与供应能力</a:t>
                      </a:r>
                    </a:p>
                  </a:txBody>
                  <a:tcPr marL="72000" marR="72000" marT="36000" marB="36000" anchor="ctr"/>
                </a:tc>
                <a:extLst>
                  <a:ext uri="{0D108BD9-81ED-4DB2-BD59-A6C34878D82A}">
                    <a16:rowId xmlns:a16="http://schemas.microsoft.com/office/drawing/2014/main" val="2391355958"/>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红帽</a:t>
                      </a:r>
                    </a:p>
                  </a:txBody>
                  <a:tcPr marL="72000" marR="72000" marT="36000" marB="3600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情感帽：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表达直觉与情绪</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表达直觉与情绪。无需解释，直接表达对方案的直觉感受</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喜欢什么、担心什么、哪里让你觉得不踏实。如：</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我直觉上觉得这个方案会增加食堂运营负担</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我担心学生对新的标识系统不买账</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451940842"/>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黄帽</a:t>
                      </a:r>
                    </a:p>
                  </a:txBody>
                  <a:tcPr marL="72000" marR="72000" marT="36000" marB="3600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乐观帽：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积极视角分析，鼓励积极思考</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挖掘选题的潜在优势、机会和社会价值，提出可行性支持依据。如，方案最大的优势是什么？能带来什么正面效果？</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683710407"/>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黑帽</a:t>
                      </a:r>
                    </a:p>
                  </a:txBody>
                  <a:tcPr marL="72000" marR="72000" marT="36000" marB="3600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悲观帽：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基于风险提出质疑</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指出技术瓶颈、资源限制或市场风险，需提供具体依据。如，方案最脆弱的地方在哪？什么情况下会失败？</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236129408"/>
                  </a:ext>
                </a:extLst>
              </a:tr>
              <a:tr h="42657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绿帽</a:t>
                      </a:r>
                    </a:p>
                  </a:txBody>
                  <a:tcPr marL="72000" marR="72000" marT="36000" marB="3600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创造帽：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自由创新提议</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提出改进建议或替代方案，鼓励天马行空但需关联主题。如，在黑帽指出的风险点上，有什么替代方案？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848056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蓝帽</a:t>
                      </a:r>
                    </a:p>
                  </a:txBody>
                  <a:tcPr marL="72000" marR="72000" marT="36000" marB="3600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管理帽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：负责流程控制</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负责流程控制，明确讨论目标、分配时间、总结结论，确保讨论不偏离主题</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133562470"/>
                  </a:ext>
                </a:extLst>
              </a:tr>
            </a:tbl>
          </a:graphicData>
        </a:graphic>
      </p:graphicFrame>
      <p:sp>
        <p:nvSpPr>
          <p:cNvPr id="7" name="矩形 6"/>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566144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403577" cy="3367076"/>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团队操作（</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蓝帽主持讨论流程，每人按帽子角色发言，形成最终决策结论。</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参考时间分配（蓝帽可根据实际讨论状态灵活调整）：</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白帽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红帽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黄帽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黑帽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绿帽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综合讨论与决策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综合讨论与决策环节，蓝帽须引导团队达成最终决策结论，并同步形成《最终方案决策书》，须包含：① 最终选定方案名称；② 决策理由（须综合六帽视角，说明该方案在事实、情感、优势、风险、替代方案五方面的综合评估结论）；③ 决策结论（通过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修改后通过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暂缓）。决策书可书写在图纸预留区域或另附纸张。</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教师巡视期间，重点关注：</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黑帽成员是否陷入了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主观否定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客观风险评估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我觉得没用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应引导为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现有研究表明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根据用户行为分析，可能存在</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风险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蓝帽是否仅管控流程，而非介入内容讨论</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 黄帽与黑帽之间的平衡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是否因为黑帽过于强势导致团队放弃了好方</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05732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1" y="1615204"/>
            <a:ext cx="7403577" cy="1055674"/>
          </a:xfrm>
          <a:prstGeom prst="rect">
            <a:avLst/>
          </a:prstGeom>
          <a:ln w="25400">
            <a:noFill/>
          </a:ln>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若</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发现黑帽讨论过度，教师可提醒：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黑帽的任务是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识别风险</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，不是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否定方案</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。请把每个风险点具体化，绿帽会针对这些风险提出应对方案。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阶段三成果归档：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《六顶思考帽讨论纪要》（各帽子发言摘要）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《最终方案决策书》。会议纪要由蓝帽整理，须注明各组在六顶思考帽讨论中达成的核心共识与分歧</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2749948365"/>
              </p:ext>
            </p:extLst>
          </p:nvPr>
        </p:nvGraphicFramePr>
        <p:xfrm>
          <a:off x="3347864" y="2697285"/>
          <a:ext cx="5068478" cy="2206320"/>
        </p:xfrm>
        <a:graphic>
          <a:graphicData uri="http://schemas.openxmlformats.org/drawingml/2006/table">
            <a:tbl>
              <a:tblPr firstRow="1" firstCol="1" bandRow="1">
                <a:tableStyleId>{5C22544A-7EE6-4342-B048-85BDC9FD1C3A}</a:tableStyleId>
              </a:tblPr>
              <a:tblGrid>
                <a:gridCol w="555913">
                  <a:extLst>
                    <a:ext uri="{9D8B030D-6E8A-4147-A177-3AD203B41FA5}">
                      <a16:colId xmlns:a16="http://schemas.microsoft.com/office/drawing/2014/main" val="438002318"/>
                    </a:ext>
                  </a:extLst>
                </a:gridCol>
                <a:gridCol w="2640357">
                  <a:extLst>
                    <a:ext uri="{9D8B030D-6E8A-4147-A177-3AD203B41FA5}">
                      <a16:colId xmlns:a16="http://schemas.microsoft.com/office/drawing/2014/main" val="1395417610"/>
                    </a:ext>
                  </a:extLst>
                </a:gridCol>
                <a:gridCol w="1872208">
                  <a:extLst>
                    <a:ext uri="{9D8B030D-6E8A-4147-A177-3AD203B41FA5}">
                      <a16:colId xmlns:a16="http://schemas.microsoft.com/office/drawing/2014/main" val="422190823"/>
                    </a:ext>
                  </a:extLst>
                </a:gridCol>
              </a:tblGrid>
              <a:tr h="24555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引导问题</a:t>
                      </a:r>
                    </a:p>
                  </a:txBody>
                  <a:tcPr marL="72000" marR="72000" marT="36000" marB="36000" anchor="ctr" anchorCtr="1"/>
                </a:tc>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产出要求</a:t>
                      </a:r>
                    </a:p>
                  </a:txBody>
                  <a:tcPr marL="72000" marR="72000" marT="36000" marB="36000" anchor="ctr" anchorCtr="1"/>
                </a:tc>
                <a:extLst>
                  <a:ext uri="{0D108BD9-81ED-4DB2-BD59-A6C34878D82A}">
                    <a16:rowId xmlns:a16="http://schemas.microsoft.com/office/drawing/2014/main" val="4057941253"/>
                  </a:ext>
                </a:extLst>
              </a:tr>
              <a:tr h="258504">
                <a:tc>
                  <a:txBody>
                    <a:bodyPr/>
                    <a:lstStyle/>
                    <a:p>
                      <a:pPr marL="0" algn="ctr" defTabSz="914400" rtl="0" eaLnBrk="1" latinLnBrk="0" hangingPunct="1">
                        <a:lnSpc>
                          <a:spcPct val="100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Why</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为什么做这个方案？解决什么核心问题？</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句话概括核心价值</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391355958"/>
                  </a:ext>
                </a:extLst>
              </a:tr>
              <a:tr h="288032">
                <a:tc>
                  <a:txBody>
                    <a:bodyPr/>
                    <a:lstStyle/>
                    <a:p>
                      <a:pPr marL="0" algn="ctr" defTabSz="914400" rtl="0" eaLnBrk="1" latinLnBrk="0" hangingPunct="1">
                        <a:lnSpc>
                          <a:spcPct val="100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具体做什么？核心内容是什么？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具体可描述的行动内容</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451940842"/>
                  </a:ext>
                </a:extLst>
              </a:tr>
              <a:tr h="288032">
                <a:tc>
                  <a:txBody>
                    <a:bodyPr/>
                    <a:lstStyle/>
                    <a:p>
                      <a:pPr marL="0" algn="ctr" defTabSz="914400" rtl="0" eaLnBrk="1" latinLnBrk="0" hangingPunct="1">
                        <a:lnSpc>
                          <a:spcPct val="100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Who</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谁来负责？目标用户是谁？</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执行者</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目标用户均需明确</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683710407"/>
                  </a:ext>
                </a:extLst>
              </a:tr>
              <a:tr h="216024">
                <a:tc>
                  <a:txBody>
                    <a:bodyPr/>
                    <a:lstStyle/>
                    <a:p>
                      <a:pPr marL="0" algn="ctr" defTabSz="914400" rtl="0" eaLnBrk="1" latinLnBrk="0" hangingPunct="1">
                        <a:lnSpc>
                          <a:spcPct val="100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When</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什么时候做？时间节点是什么？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具体的时间节点或阶段</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236129408"/>
                  </a:ext>
                </a:extLst>
              </a:tr>
              <a:tr h="216024">
                <a:tc>
                  <a:txBody>
                    <a:bodyPr/>
                    <a:lstStyle/>
                    <a:p>
                      <a:pPr marL="0" algn="ctr" defTabSz="914400" rtl="0" eaLnBrk="1" latinLnBrk="0" hangingPunct="1">
                        <a:lnSpc>
                          <a:spcPct val="100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Where</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在哪实施？应用场景是什么？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具体的物理或场景位置</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848056311"/>
                  </a:ext>
                </a:extLst>
              </a:tr>
              <a:tr h="216024">
                <a:tc>
                  <a:txBody>
                    <a:bodyPr/>
                    <a:lstStyle/>
                    <a:p>
                      <a:pPr marL="0" algn="ctr" defTabSz="914400" rtl="0" eaLnBrk="1" latinLnBrk="0" hangingPunct="1">
                        <a:lnSpc>
                          <a:spcPct val="100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How</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怎么实现？关键步骤是什么？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分步骤的操作流程</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133562470"/>
                  </a:ext>
                </a:extLst>
              </a:tr>
              <a:tr h="243732">
                <a:tc>
                  <a:txBody>
                    <a:bodyPr/>
                    <a:lstStyle/>
                    <a:p>
                      <a:pPr marL="0" algn="ctr" defTabSz="914400" rtl="0" eaLnBrk="1" latinLnBrk="0" hangingPunct="1">
                        <a:lnSpc>
                          <a:spcPct val="100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How much</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投入多少？预期效果如何衡量？</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量化指标（如成本、时间节省、用户覆盖率等）</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854087367"/>
                  </a:ext>
                </a:extLst>
              </a:tr>
            </a:tbl>
          </a:graphicData>
        </a:graphic>
      </p:graphicFrame>
      <p:sp>
        <p:nvSpPr>
          <p:cNvPr id="7" name="矩形 6"/>
          <p:cNvSpPr/>
          <p:nvPr/>
        </p:nvSpPr>
        <p:spPr>
          <a:xfrm>
            <a:off x="899591" y="2687672"/>
            <a:ext cx="2304257" cy="2225546"/>
          </a:xfrm>
          <a:prstGeom prst="rect">
            <a:avLst/>
          </a:prstGeom>
          <a:ln w="25400">
            <a:noFill/>
          </a:ln>
        </p:spPr>
        <p:txBody>
          <a:bodyPr wrap="square">
            <a:spAutoFit/>
          </a:bodyPr>
          <a:lstStyle/>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阶段四：实施规划</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分析法（</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方</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法导入（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框架将最终方案转化为可执行的实施计划。</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团队操作（</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框架将方案转化为实施计划：</a:t>
            </a:r>
          </a:p>
        </p:txBody>
      </p:sp>
      <p:sp>
        <p:nvSpPr>
          <p:cNvPr id="9" name="矩形 8"/>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249041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709986"/>
            <a:ext cx="7403577" cy="1034450"/>
          </a:xfrm>
          <a:prstGeom prst="rect">
            <a:avLst/>
          </a:prstGeom>
          <a:ln w="25400">
            <a:noFill/>
          </a:ln>
        </p:spPr>
        <p:txBody>
          <a:bodyPr wrap="square">
            <a:spAutoFit/>
          </a:bodyPr>
          <a:lstStyle/>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各小组使用《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实施规划表》（模板如下），将七个维度的答案逐一填入。表格填写须遵循：① 每个维度的答案须具体、可执行，避免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加强宣传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优化流程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等笼统表述；②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“How”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须包含至少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个关键步骤；③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“How much”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须包含至少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个量化指标。</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实施规划表》模板：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2970175219"/>
              </p:ext>
            </p:extLst>
          </p:nvPr>
        </p:nvGraphicFramePr>
        <p:xfrm>
          <a:off x="683568" y="2765558"/>
          <a:ext cx="3744416" cy="2265632"/>
        </p:xfrm>
        <a:graphic>
          <a:graphicData uri="http://schemas.openxmlformats.org/drawingml/2006/table">
            <a:tbl>
              <a:tblPr firstRow="1" firstCol="1" bandRow="1">
                <a:tableStyleId>{5C22544A-7EE6-4342-B048-85BDC9FD1C3A}</a:tableStyleId>
              </a:tblPr>
              <a:tblGrid>
                <a:gridCol w="1941836">
                  <a:extLst>
                    <a:ext uri="{9D8B030D-6E8A-4147-A177-3AD203B41FA5}">
                      <a16:colId xmlns:a16="http://schemas.microsoft.com/office/drawing/2014/main" val="438002318"/>
                    </a:ext>
                  </a:extLst>
                </a:gridCol>
                <a:gridCol w="1802580">
                  <a:extLst>
                    <a:ext uri="{9D8B030D-6E8A-4147-A177-3AD203B41FA5}">
                      <a16:colId xmlns:a16="http://schemas.microsoft.com/office/drawing/2014/main" val="1395417610"/>
                    </a:ext>
                  </a:extLst>
                </a:gridCol>
              </a:tblGrid>
              <a:tr h="28014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具体内容</a:t>
                      </a:r>
                    </a:p>
                  </a:txBody>
                  <a:tcPr marL="68580" marR="68580" marT="0" marB="0" anchor="ctr"/>
                </a:tc>
                <a:extLst>
                  <a:ext uri="{0D108BD9-81ED-4DB2-BD59-A6C34878D82A}">
                    <a16:rowId xmlns:a16="http://schemas.microsoft.com/office/drawing/2014/main" val="4057941253"/>
                  </a:ext>
                </a:extLst>
              </a:tr>
              <a:tr h="258504">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Why</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（目的）</a:t>
                      </a:r>
                    </a:p>
                  </a:txBody>
                  <a:tcPr marL="68580" marR="68580" marT="0" marB="0" anchor="ctr"/>
                </a:tc>
                <a:tc>
                  <a:txBody>
                    <a:bodyPr/>
                    <a:lstStyle/>
                    <a:p>
                      <a:pPr algn="l">
                        <a:spcAft>
                          <a:spcPts val="0"/>
                        </a:spcAft>
                      </a:pPr>
                      <a:r>
                        <a:rPr lang="en-US" sz="90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91355958"/>
                  </a:ext>
                </a:extLst>
              </a:tr>
              <a:tr h="28803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a:t>
                      </a:r>
                    </a:p>
                  </a:txBody>
                  <a:tcPr marL="68580" marR="68580" marT="0" marB="0" anchor="ctr"/>
                </a:tc>
                <a:tc>
                  <a:txBody>
                    <a:bodyPr/>
                    <a:lstStyle/>
                    <a:p>
                      <a:pPr algn="l">
                        <a:spcAft>
                          <a:spcPts val="0"/>
                        </a:spcAft>
                      </a:pPr>
                      <a:r>
                        <a:rPr lang="en-US" sz="90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51940842"/>
                  </a:ext>
                </a:extLst>
              </a:tr>
              <a:tr h="28803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Who</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（人员）</a:t>
                      </a:r>
                    </a:p>
                  </a:txBody>
                  <a:tcPr marL="68580" marR="68580" marT="0" marB="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执行者：</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目标用户：</a:t>
                      </a:r>
                    </a:p>
                  </a:txBody>
                  <a:tcPr marL="68580" marR="68580" marT="0" marB="0" anchor="ctr"/>
                </a:tc>
                <a:extLst>
                  <a:ext uri="{0D108BD9-81ED-4DB2-BD59-A6C34878D82A}">
                    <a16:rowId xmlns:a16="http://schemas.microsoft.com/office/drawing/2014/main" val="2683710407"/>
                  </a:ext>
                </a:extLst>
              </a:tr>
              <a:tr h="286825">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When</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a:t>
                      </a:r>
                    </a:p>
                  </a:txBody>
                  <a:tcPr marL="68580" marR="68580" marT="0" marB="0" anchor="ctr"/>
                </a:tc>
                <a:tc>
                  <a:txBody>
                    <a:bodyPr/>
                    <a:lstStyle/>
                    <a:p>
                      <a:pPr marL="0" algn="l" defTabSz="914400" rtl="0" eaLnBrk="1" latinLnBrk="0" hangingPunct="1">
                        <a:spcAft>
                          <a:spcPts val="0"/>
                        </a:spcAft>
                      </a:pP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36129408"/>
                  </a:ext>
                </a:extLst>
              </a:tr>
              <a:tr h="28803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Where</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（地点）</a:t>
                      </a:r>
                    </a:p>
                  </a:txBody>
                  <a:tcPr marL="68580" marR="68580" marT="0" marB="0" anchor="ctr"/>
                </a:tc>
                <a:tc>
                  <a:txBody>
                    <a:bodyPr/>
                    <a:lstStyle/>
                    <a:p>
                      <a:pPr marL="0" algn="l" defTabSz="914400" rtl="0" eaLnBrk="1" latinLnBrk="0" hangingPunct="1">
                        <a:spcAft>
                          <a:spcPts val="0"/>
                        </a:spcAft>
                      </a:pP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48056311"/>
                  </a:ext>
                </a:extLst>
              </a:tr>
              <a:tr h="28803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How</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（方法）</a:t>
                      </a:r>
                    </a:p>
                  </a:txBody>
                  <a:tcPr marL="68580" marR="68580" marT="0" marB="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步骤</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步骤</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步骤</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4133562470"/>
                  </a:ext>
                </a:extLst>
              </a:tr>
              <a:tr h="28803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How much</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（投入与衡量）</a:t>
                      </a:r>
                    </a:p>
                  </a:txBody>
                  <a:tcPr marL="68580" marR="68580" marT="0" marB="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投入：</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预期效果：</a:t>
                      </a:r>
                    </a:p>
                  </a:txBody>
                  <a:tcPr marL="68580" marR="68580" marT="0" marB="0" anchor="ctr"/>
                </a:tc>
                <a:extLst>
                  <a:ext uri="{0D108BD9-81ED-4DB2-BD59-A6C34878D82A}">
                    <a16:rowId xmlns:a16="http://schemas.microsoft.com/office/drawing/2014/main" val="854087367"/>
                  </a:ext>
                </a:extLst>
              </a:tr>
            </a:tbl>
          </a:graphicData>
        </a:graphic>
      </p:graphicFrame>
      <p:sp>
        <p:nvSpPr>
          <p:cNvPr id="2" name="矩形 1"/>
          <p:cNvSpPr/>
          <p:nvPr/>
        </p:nvSpPr>
        <p:spPr>
          <a:xfrm>
            <a:off x="4486745" y="2495835"/>
            <a:ext cx="3816424" cy="2582245"/>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产出要求：</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个维度完整覆盖，每个维度至少有一个明确的条目，</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其中</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"How much"</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须包含至少</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个量化指标</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教师巡视期间，重点关注：</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How</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How much</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是否足够具体（如</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加强宣传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需追问：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怎么宣传？通过什么渠道？预期覆盖多少人？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Who</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是否同时覆盖了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执行者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目标用户</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两个层面</a:t>
            </a:r>
          </a:p>
          <a:p>
            <a:pPr algn="just">
              <a:lnSpc>
                <a:spcPct val="120000"/>
              </a:lnSpc>
              <a:spcBef>
                <a:spcPts val="600"/>
              </a:spcBef>
              <a:spcAft>
                <a:spcPts val="0"/>
              </a:spcAft>
            </a:pP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 When</a:t>
            </a:r>
            <a:r>
              <a:rPr lang="zh-CN" altLang="en-US" sz="1200" kern="100">
                <a:latin typeface="Times New Roman" panose="02020603050405020304" pitchFamily="18" charset="0"/>
                <a:ea typeface="仿宋" panose="02010609060101010101" pitchFamily="49" charset="-122"/>
                <a:cs typeface="Times New Roman" panose="02020603050405020304" pitchFamily="18" charset="0"/>
              </a:rPr>
              <a:t>是否考虑到了实际约束（如实施时间不能与学生就餐高峰期冲突，或需提前与食堂管理部门协调）</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阶段四成果归档：</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实施规划表》</a:t>
            </a:r>
            <a:r>
              <a:rPr lang="zh-CN" altLang="zh-CN" kern="100">
                <a:latin typeface="Times New Roman" panose="02020603050405020304" pitchFamily="18" charset="0"/>
                <a:cs typeface="Times New Roman" panose="02020603050405020304" pitchFamily="18" charset="0"/>
              </a:rPr>
              <a:t>。</a:t>
            </a:r>
            <a:endParaRPr lang="zh-CN" altLang="zh-CN" kern="100">
              <a:latin typeface="等线" panose="02010600030101010101" pitchFamily="2" charset="-122"/>
              <a:ea typeface="等线" panose="02010600030101010101" pitchFamily="2" charset="-122"/>
              <a:cs typeface="Times New Roman" panose="02020603050405020304" pitchFamily="18" charset="0"/>
            </a:endParaRPr>
          </a:p>
        </p:txBody>
      </p:sp>
      <p:sp>
        <p:nvSpPr>
          <p:cNvPr id="7" name="矩形 6"/>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30363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709986"/>
            <a:ext cx="7403577" cy="3222421"/>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阶段五：成果展示与评审（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小组展示（</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各组选派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名代表进行</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汇报，</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确保各阶段成果与方法选择逻辑均能清晰呈现</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汇报内容聚焦于</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方法选择逻辑与组合策略</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，重点回答以下问题：</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你们在构思阶段用的是头脑风暴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为什么在这个阶段选择头脑风暴而不是其他方法？</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优化中，哪个维度贡献最大？哪个维度最困难？为什么？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 六顶思考帽中，哪个帽子揭示的问题最有价值？如果缺少这个帽子，决策可能会遗漏什么？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④ 四个方法中，如果让你们放弃一个，最不愿意放弃哪个？为什么？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⑤ 整个流程中，哪个阶段切换最</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丝滑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？哪个最</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卡顿</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？你们是如何处理的？</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展示形式：</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每组须结合</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号图纸</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（含四阶段成果：头脑风暴创意集、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分析记录、六顶思考帽讨论纪要、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规划表）进行汇报，教师计时，严格控制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分钟。展示顺序可采用自愿报名或抽签方式决定</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852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35078" y="1614768"/>
            <a:ext cx="7403577" cy="1720471"/>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汇报要求：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各组在汇报中须说明</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本方案将如何在食堂场景中进行验证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即你的方案能否被检验。例如：优化后的排队动线设计，能否真的缩短排队时间？改进的菜品标识方式，能否真的帮助学生更快做出选择？你们计划用什么方式进行验证（如实地观察、模拟测试、问卷调研等）？</a:t>
            </a:r>
          </a:p>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2</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提问与评审（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同伴提问（</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采用循环点评规则：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组提问，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组提问，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D</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组提问，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D</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E</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组提问，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E</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F</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组提问，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F</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组提问，形成闭环</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511667262"/>
              </p:ext>
            </p:extLst>
          </p:nvPr>
        </p:nvGraphicFramePr>
        <p:xfrm>
          <a:off x="3408651" y="3351597"/>
          <a:ext cx="5699853" cy="1732743"/>
        </p:xfrm>
        <a:graphic>
          <a:graphicData uri="http://schemas.openxmlformats.org/drawingml/2006/table">
            <a:tbl>
              <a:tblPr firstRow="1" firstCol="1" bandRow="1">
                <a:tableStyleId>{5C22544A-7EE6-4342-B048-85BDC9FD1C3A}</a:tableStyleId>
              </a:tblPr>
              <a:tblGrid>
                <a:gridCol w="1307365">
                  <a:extLst>
                    <a:ext uri="{9D8B030D-6E8A-4147-A177-3AD203B41FA5}">
                      <a16:colId xmlns:a16="http://schemas.microsoft.com/office/drawing/2014/main" val="438002318"/>
                    </a:ext>
                  </a:extLst>
                </a:gridCol>
                <a:gridCol w="4392488">
                  <a:extLst>
                    <a:ext uri="{9D8B030D-6E8A-4147-A177-3AD203B41FA5}">
                      <a16:colId xmlns:a16="http://schemas.microsoft.com/office/drawing/2014/main" val="1395417610"/>
                    </a:ext>
                  </a:extLst>
                </a:gridCol>
              </a:tblGrid>
              <a:tr h="285901">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核心问题</a:t>
                      </a:r>
                    </a:p>
                  </a:txBody>
                  <a:tcPr marL="68580" marR="68580" marT="0" marB="0" anchor="ctr"/>
                </a:tc>
                <a:extLst>
                  <a:ext uri="{0D108BD9-81ED-4DB2-BD59-A6C34878D82A}">
                    <a16:rowId xmlns:a16="http://schemas.microsoft.com/office/drawing/2014/main" val="4057941253"/>
                  </a:ext>
                </a:extLst>
              </a:tr>
              <a:tr h="295921">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工具使用的恰当性</a:t>
                      </a:r>
                    </a:p>
                  </a:txBody>
                  <a:tcPr marL="68580" marR="68580" marT="0" marB="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每个阶段选择的方法是否与阶段目标匹配？</a:t>
                      </a:r>
                    </a:p>
                  </a:txBody>
                  <a:tcPr marL="68580" marR="68580" marT="0" marB="0" anchor="ctr"/>
                </a:tc>
                <a:extLst>
                  <a:ext uri="{0D108BD9-81ED-4DB2-BD59-A6C34878D82A}">
                    <a16:rowId xmlns:a16="http://schemas.microsoft.com/office/drawing/2014/main" val="23913559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方案的可验证性</a:t>
                      </a:r>
                    </a:p>
                  </a:txBody>
                  <a:tcPr marL="68580" marR="68580" marT="0" marB="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最终方案是否可以在食堂场景中进行验证？验证方式是否具体可操作？</a:t>
                      </a:r>
                    </a:p>
                  </a:txBody>
                  <a:tcPr marL="68580" marR="68580" marT="0" marB="0" anchor="ctr"/>
                </a:tc>
                <a:extLst>
                  <a:ext uri="{0D108BD9-81ED-4DB2-BD59-A6C34878D82A}">
                    <a16:rowId xmlns:a16="http://schemas.microsoft.com/office/drawing/2014/main" val="2122164946"/>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工具使用的深度</a:t>
                      </a:r>
                    </a:p>
                  </a:txBody>
                  <a:tcPr marL="68580" marR="68580" marT="0" marB="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是否只是</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走完流程</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，还是真正用方法驱动了思考？</a:t>
                      </a:r>
                    </a:p>
                  </a:txBody>
                  <a:tcPr marL="68580" marR="68580" marT="0" marB="0" anchor="ctr"/>
                </a:tc>
                <a:extLst>
                  <a:ext uri="{0D108BD9-81ED-4DB2-BD59-A6C34878D82A}">
                    <a16:rowId xmlns:a16="http://schemas.microsoft.com/office/drawing/2014/main" val="245194084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工具转换的逻辑</a:t>
                      </a:r>
                    </a:p>
                  </a:txBody>
                  <a:tcPr marL="68580" marR="68580" marT="0" marB="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阶段之间的切换依据是否清晰？</a:t>
                      </a:r>
                    </a:p>
                  </a:txBody>
                  <a:tcPr marL="68580" marR="68580" marT="0" marB="0" anchor="ctr"/>
                </a:tc>
                <a:extLst>
                  <a:ext uri="{0D108BD9-81ED-4DB2-BD59-A6C34878D82A}">
                    <a16:rowId xmlns:a16="http://schemas.microsoft.com/office/drawing/2014/main" val="2683710407"/>
                  </a:ext>
                </a:extLst>
              </a:tr>
              <a:tr h="28682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工具组合的效果</a:t>
                      </a:r>
                    </a:p>
                  </a:txBody>
                  <a:tcPr marL="68580" marR="68580" marT="0" marB="0" anchor="ctr"/>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四个工具是否形成了</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“1+1&gt;2”</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的协同效应？</a:t>
                      </a:r>
                    </a:p>
                  </a:txBody>
                  <a:tcPr marL="68580" marR="68580" marT="0" marB="0" anchor="ctr"/>
                </a:tc>
                <a:extLst>
                  <a:ext uri="{0D108BD9-81ED-4DB2-BD59-A6C34878D82A}">
                    <a16:rowId xmlns:a16="http://schemas.microsoft.com/office/drawing/2014/main" val="3236129408"/>
                  </a:ext>
                </a:extLst>
              </a:tr>
            </a:tbl>
          </a:graphicData>
        </a:graphic>
      </p:graphicFrame>
      <p:sp>
        <p:nvSpPr>
          <p:cNvPr id="2" name="矩形 1"/>
          <p:cNvSpPr/>
          <p:nvPr/>
        </p:nvSpPr>
        <p:spPr>
          <a:xfrm>
            <a:off x="923857" y="3291830"/>
            <a:ext cx="2484794" cy="1797415"/>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提问格式：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在你们的流程中，如果用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方法代替</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，会有什么不同？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可以进入下一阶段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的依据是什么？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教</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师综合评审（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教师从以下维度进行综合点评：</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7" name="矩形 6"/>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811155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3" y="1690055"/>
            <a:ext cx="7272808" cy="2693045"/>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评审总结（</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教师提炼本堂课的核心认知：</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创新方法的本质不是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规定动作</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思维支架</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当你不知道该往哪个方向想时，方法给你方向。</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不同方法有不同</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性格</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：头脑风暴是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打开</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（发散），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深挖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（结构化改造），六顶思考帽是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旋转视角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（多维度评估），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落地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（执行规划）。好的创新者知道什么时候打开、什么时候深挖、什么时候旋转视角、什么时候落地。</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设计思维（前序单元）</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给你们的是一套完整的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流程框架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共情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构思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原型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测试，解决的是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的问题；</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本单元</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给你们的是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方法工具箱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可拆解、可组合的工具，解决的是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的问题。真实世界中，创新不是每次都要走完五阶段，而是根据需求灵活组合工具。</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阶段五成果归档：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全部阶段成果归档至各组《创新方法组合应用档案袋》</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618387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707654"/>
            <a:ext cx="7344816" cy="2754600"/>
          </a:xfrm>
          <a:prstGeom prst="rect">
            <a:avLst/>
          </a:prstGeom>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结构化头脑风暴法的规范化流程与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延迟评判</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原则的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技法多维度系统化改造的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应用能力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；六顶思考帽多角色并行思维模式与决策机制的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分析法全要素项目规划的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实践能力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优化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递进关系与方法组合策略的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头脑风暴中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延迟评判</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规则的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持续遵守</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讨论中从表层覆盖到深度挖掘的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跨越</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；六顶思考帽中黑帽角色客观风险评估与主观否定的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区分</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；不同方法切换时的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思维惯性转换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；从方法步骤记忆到方法策略选择的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认知跃迁</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899592" y="1136745"/>
            <a:ext cx="5976664"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a:t>
            </a:r>
            <a:r>
              <a:rPr lang="zh-CN" altLang="zh-CN" sz="2400" b="1" smtClean="0">
                <a:solidFill>
                  <a:schemeClr val="bg1"/>
                </a:solidFill>
                <a:latin typeface="微软雅黑" panose="020B0503020204020204" pitchFamily="34" charset="-122"/>
                <a:ea typeface="微软雅黑" panose="020B0503020204020204" pitchFamily="34" charset="-122"/>
              </a:rPr>
              <a:t>创新方法</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食堂</a:t>
            </a:r>
            <a:r>
              <a:rPr lang="zh-CN" altLang="zh-CN" sz="2400" b="1" smtClean="0">
                <a:solidFill>
                  <a:schemeClr val="bg1"/>
                </a:solidFill>
                <a:latin typeface="微软雅黑" panose="020B0503020204020204" pitchFamily="34" charset="-122"/>
                <a:ea typeface="微软雅黑" panose="020B0503020204020204" pitchFamily="34" charset="-122"/>
              </a:rPr>
              <a:t>就餐</a:t>
            </a:r>
            <a:r>
              <a:rPr lang="zh-CN" altLang="en-US" sz="2400" b="1" smtClean="0">
                <a:solidFill>
                  <a:schemeClr val="bg1"/>
                </a:solidFill>
                <a:latin typeface="微软雅黑" panose="020B0503020204020204" pitchFamily="34" charset="-122"/>
                <a:ea typeface="微软雅黑" panose="020B0503020204020204" pitchFamily="34" charset="-122"/>
              </a:rPr>
              <a:t>的</a:t>
            </a:r>
            <a:r>
              <a:rPr lang="zh-CN" altLang="zh-CN" sz="2400" b="1" smtClean="0">
                <a:solidFill>
                  <a:schemeClr val="bg1"/>
                </a:solidFill>
                <a:latin typeface="微软雅黑" panose="020B0503020204020204" pitchFamily="34" charset="-122"/>
                <a:ea typeface="微软雅黑" panose="020B0503020204020204" pitchFamily="34" charset="-122"/>
              </a:rPr>
              <a:t>挑战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98015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704856" cy="3200876"/>
          </a:xfrm>
          <a:prstGeom prst="rect">
            <a:avLst/>
          </a:prstGeom>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新方法应用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选题验</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证</a:t>
            </a:r>
            <a:endParaRPr lang="en-US"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各参赛团队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将</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课堂所学的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技法、六顶思考帽、</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验证方法迁移至本团队竞赛选题的真实决策场景，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创意构思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的完整分析过程，并</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《创客竞赛选题验证报告》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各参赛团队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《创客竞赛选题验证报告》。该报告</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呈现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审查</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六帽评估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验证结论</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的完整分析链条，其中：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覆盖</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个维度，</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输出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待验证假设清单；六顶思考帽讨论纪要</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包含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各帽发言摘要及初步决策倾向；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验证方案</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包含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核心假设、验证方式、成功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失败标准三项要素</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5388740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704856" cy="1938992"/>
          </a:xfrm>
          <a:prstGeom prst="rect">
            <a:avLst/>
          </a:prstGeom>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各团队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依据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单元已完成的练习经验</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“20</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分钟课间转场</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挑战中的构思</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优化</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决策</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规划四阶段流程）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，将创新方法工具</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至真实的竞赛选题验证场景。活动</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四个阶段，各阶段产出由团队负责人统筹整理，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完整的《创客竞赛选题验证报告》。核心任务是回答两个问题：①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这个创意是否值得做</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？②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用什么证据证明它值得</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（或不值得）</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560410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488832" cy="3068532"/>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第一阶段：方案审查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系统化检验</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运用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技法对团队选题方案进行多维度系统审查，识别方案的潜在漏洞、改进空间与结构性缺陷，回答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这个方案本身是否经得起系统推敲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选题确定</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各团队首先确定本次验证的对象选题。该选题可以是：</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延续选题：</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设计思维工作坊课后已完成的《创客竞赛选题设计报告》中的选题方向，本阶段对其进行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的系统化检验与验证；</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新选题：</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团队根据竞赛主题重新确定的选题，需先完成简要的选题定义（含用户、场景、价值主张）。</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SCAMPER</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审查</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团队成员依据课堂所学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技法，对选题方案进行七维度系统审查。每位成员认领至少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个维度，围绕选题方案提出审查性问题与改进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风险判断</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3145751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272808" cy="3145476"/>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审</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查要求：</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S</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（替代）：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方案中哪些要素可以被替代？（材料、技术、用户群体、使用场景）若替代，风险与收益分别是什么？</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（合并）：</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方案功能是否可以与其他产品或服务合并？合并后是否降低成本或提升体验？</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（适应）：</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方案是否借鉴了其他领域的成熟做法？现有技术方案是否可直接迁移？</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M</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（调整）：</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方案中哪些部分可以被放大或缩小？（功能强度、覆盖范围、目标用户规模）</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（改变用途）：</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方案除了当前设想的用途，还能服务什么用户或场景？</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E</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（消除）：</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方案中哪些功能或环节可以被简化或去除？去除后是否影响核心价值？</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R</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（重组</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逆向）：</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方案的流程或结构是否可以重组？如果逆向思考，方案是否依然成立？</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产出要求：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每个维度至少产出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个审查判断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该维度揭示了方案的什么问题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风险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机会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。团队须标注：哪些审查发现属于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需要进一步验证的假设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，哪些属于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可直接采纳的改进点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44016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632848" cy="2625334"/>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3</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审查结论归纳</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团队汇总所有维度的审查发现，形成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审查结论：</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方案的优势维度：</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哪些维度审查通过了考验，证明方案在这些方面逻辑自洽；</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方案的薄弱维度：</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哪些维度审查暴露了问题，需要进一步验证或调整；</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待验证假设清单：</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将薄弱维度中的问题转化为可验证的假设（格式：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我们假设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条件下能够成立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审查记录》（含至少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《待验证假设清单》</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第二阶段：决策验证</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六顶思考帽交叉评估</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运用六顶思考帽对选题方案及第一阶段的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审查结论进行多角色、多视角的综合评估，避免团队决策中的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群体迷思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自我确认偏误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，回答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这个方案从不同角度看，是否仍然值得做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5229346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632848" cy="612475"/>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六帽角色分配</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团队按以下角色分配六顶思考帽</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657793906"/>
              </p:ext>
            </p:extLst>
          </p:nvPr>
        </p:nvGraphicFramePr>
        <p:xfrm>
          <a:off x="906851" y="2315559"/>
          <a:ext cx="7560840" cy="2520280"/>
        </p:xfrm>
        <a:graphic>
          <a:graphicData uri="http://schemas.openxmlformats.org/drawingml/2006/table">
            <a:tbl>
              <a:tblPr firstRow="1" firstCol="1" bandRow="1">
                <a:tableStyleId>{5C22544A-7EE6-4342-B048-85BDC9FD1C3A}</a:tableStyleId>
              </a:tblPr>
              <a:tblGrid>
                <a:gridCol w="555913">
                  <a:extLst>
                    <a:ext uri="{9D8B030D-6E8A-4147-A177-3AD203B41FA5}">
                      <a16:colId xmlns:a16="http://schemas.microsoft.com/office/drawing/2014/main" val="438002318"/>
                    </a:ext>
                  </a:extLst>
                </a:gridCol>
                <a:gridCol w="1820351">
                  <a:extLst>
                    <a:ext uri="{9D8B030D-6E8A-4147-A177-3AD203B41FA5}">
                      <a16:colId xmlns:a16="http://schemas.microsoft.com/office/drawing/2014/main" val="1395417610"/>
                    </a:ext>
                  </a:extLst>
                </a:gridCol>
                <a:gridCol w="5184576">
                  <a:extLst>
                    <a:ext uri="{9D8B030D-6E8A-4147-A177-3AD203B41FA5}">
                      <a16:colId xmlns:a16="http://schemas.microsoft.com/office/drawing/2014/main" val="422190823"/>
                    </a:ext>
                  </a:extLst>
                </a:gridCol>
              </a:tblGrid>
              <a:tr h="28014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帽子</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a:t>
                      </a:r>
                    </a:p>
                  </a:txBody>
                  <a:tcPr marL="68580" marR="68580" marT="0" marB="0" anchor="ctr"/>
                </a:tc>
                <a:extLst>
                  <a:ext uri="{0D108BD9-81ED-4DB2-BD59-A6C34878D82A}">
                    <a16:rowId xmlns:a16="http://schemas.microsoft.com/office/drawing/2014/main" val="4057941253"/>
                  </a:ext>
                </a:extLst>
              </a:tr>
              <a:tr h="37340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白帽</a:t>
                      </a:r>
                    </a:p>
                  </a:txBody>
                  <a:tcPr marL="68580" marR="68580" marT="0" marB="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事实帽：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聚焦客观信息，避免主观评价</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列举与选题相关的已知事实、数据和研究现状。如，课间转场的客观数据（距离</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2.5</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公里、时间</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20</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分钟、人流密度）、现有设施条件</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91355958"/>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红帽</a:t>
                      </a:r>
                    </a:p>
                  </a:txBody>
                  <a:tcPr marL="68580" marR="68580" marT="0" marB="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情感帽：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表达直觉与情绪</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无需解释，直接表达对方案的直觉感受</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喜欢什么、担心什么、哪里让你觉得不踏实。如：“我直觉上觉得这个方案用户会嫌麻烦”“我担心它看起来不够显眼”</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51940842"/>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黄帽</a:t>
                      </a:r>
                    </a:p>
                  </a:txBody>
                  <a:tcPr marL="68580" marR="68580" marT="0" marB="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乐观帽：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积极视角分析，鼓励积极思考</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挖掘选题的潜在优势、机会和社会价值，提出可行性支持依据。如，方案最大的优势是什么？能带来什么正面效果？</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83710407"/>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黑帽</a:t>
                      </a:r>
                    </a:p>
                  </a:txBody>
                  <a:tcPr marL="68580" marR="68580" marT="0" marB="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悲观帽：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基于风险提出质疑</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指出技术瓶颈、资源限制或市场风险，需提供具体依据。如，方案最脆弱的地方在哪？什么情况下会失败？</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36129408"/>
                  </a:ext>
                </a:extLst>
              </a:tr>
              <a:tr h="42657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绿帽</a:t>
                      </a:r>
                    </a:p>
                  </a:txBody>
                  <a:tcPr marL="68580" marR="68580" marT="0" marB="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创造帽：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自由创新提议</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提出改进建议或替代方案，鼓励天马行空但需关联主题。如，在黑帽指出的风险点上，有什么替代方案？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48056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蓝帽</a:t>
                      </a:r>
                    </a:p>
                  </a:txBody>
                  <a:tcPr marL="68580" marR="68580" marT="0" marB="0" anchor="ctr"/>
                </a:tc>
                <a:tc>
                  <a:txBody>
                    <a:bodyPr/>
                    <a:lstStyle/>
                    <a:p>
                      <a:pPr algn="l">
                        <a:spcAft>
                          <a:spcPts val="0"/>
                        </a:spcAft>
                      </a:pPr>
                      <a:r>
                        <a:rPr lang="zh-CN" sz="1100" b="1"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管理帽</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：负责流程控制</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负责流程控制，明确讨论目标、分配时间、总结结论，确保讨论不偏离主题</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33562470"/>
                  </a:ext>
                </a:extLst>
              </a:tr>
            </a:tbl>
          </a:graphicData>
        </a:graphic>
      </p:graphicFrame>
    </p:spTree>
    <p:extLst>
      <p:ext uri="{BB962C8B-B14F-4D97-AF65-F5344CB8AC3E}">
        <p14:creationId xmlns:p14="http://schemas.microsoft.com/office/powerpoint/2010/main" val="14666466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272808" cy="3222421"/>
          </a:xfrm>
          <a:prstGeom prst="rect">
            <a:avLst/>
          </a:prstGeom>
        </p:spPr>
        <p:txBody>
          <a:bodyPr wrap="square">
            <a:spAutoFit/>
          </a:bodyPr>
          <a:lstStyle/>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六帽讨论</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蓝帽主持讨论流程，按以下节奏推进：</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白帽</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陈述选题相关的客观事实（用户调研数据、技术现状、竞赛评审标准等）</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红帽</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每位成员用一句话表达直觉感受，不做解释</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黄帽</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充分挖掘方案的优势与正面价值</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黑帽</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重点针对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审查中发现的薄弱维度进行风险评估，须指出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什么条件下会失败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需要什么证据才能降低风险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绿帽</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针对黑帽提出的风险，提出替代方案或验证方案</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综合讨论</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蓝帽主持总结，形成初步决策倾向</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决策结论</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蓝帽汇总讨论结果，形成团队的初步决策结论。结论须体现六帽的综合评估</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6959472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560840" cy="3367076"/>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如</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果倾向于推进：</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须说明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理由是什么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（黄帽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白帽的依据），同时明确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还需要验证什么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才能消除黑帽的顾虑；</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如果倾向于调整：</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须说明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需要调整什么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为什么调整后更可行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如果倾向于放弃：</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须说明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为什么在当前条件下不值得推进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《六顶思考帽讨论纪要》（含各帽发言摘要）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《初步决策结论》</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第三阶段：验证规划</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实施设计</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基于前两阶段的审查与决策结论，为仍然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值得推进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的选题设计方案设计最小可行产品（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）验证规划，明确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如何用最低成本验证核心假设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。回答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如果这个方案要做，怎么用最小代价证明它成立（或不成立）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核心假设提炼</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团队须回答以下问题：</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这个选题方案最核心的假设是什么？</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如果这个假设不成立，整个方案就失败。（示例：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我们假设大学生愿意为校园自习室预约服务付费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6122403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272808" cy="3367076"/>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如</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果核心假设成立，下一个需要验证的假设是什么？</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（示例：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我们假设有至少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的用户会持续使用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验证这些假设的最低成本方式是什么？</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是否需要完整产品？还是可以用纸面原型、视频演示、服务蓝图、无代码工具等方式验证？</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形态设计</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各团队基于核心假设，设计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验证方案：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形态：</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用什么形式呈现？（纸面原型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可交互界面草图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物理装置模型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视频演示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服务流程图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问卷验证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无代码工具搭建的简易页面等）</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要验证的核心假设是什么？</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测试对象：</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谁作为测试用户？（须与实际目标用户画像一致）</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测试场景：</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在什么场景下测试？如何模拟真实使用环境？</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成功标准：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什么结果可以判断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假设成立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？需量化（如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位用户表示愿意使用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用户完成核心操作的时间不超过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3968679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632848" cy="91101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失</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败标准：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什么结果可以判断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假设不成立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？也需明确。</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 5W2H</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实施规划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运用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分析法将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验证方案转化为可执行的实施计划：</a:t>
            </a: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832888265"/>
              </p:ext>
            </p:extLst>
          </p:nvPr>
        </p:nvGraphicFramePr>
        <p:xfrm>
          <a:off x="971600" y="2590202"/>
          <a:ext cx="5112568" cy="2006515"/>
        </p:xfrm>
        <a:graphic>
          <a:graphicData uri="http://schemas.openxmlformats.org/drawingml/2006/table">
            <a:tbl>
              <a:tblPr firstRow="1" firstCol="1" bandRow="1">
                <a:tableStyleId>{5C22544A-7EE6-4342-B048-85BDC9FD1C3A}</a:tableStyleId>
              </a:tblPr>
              <a:tblGrid>
                <a:gridCol w="936104">
                  <a:extLst>
                    <a:ext uri="{9D8B030D-6E8A-4147-A177-3AD203B41FA5}">
                      <a16:colId xmlns:a16="http://schemas.microsoft.com/office/drawing/2014/main" val="438002318"/>
                    </a:ext>
                  </a:extLst>
                </a:gridCol>
                <a:gridCol w="2664296">
                  <a:extLst>
                    <a:ext uri="{9D8B030D-6E8A-4147-A177-3AD203B41FA5}">
                      <a16:colId xmlns:a16="http://schemas.microsoft.com/office/drawing/2014/main" val="1395417610"/>
                    </a:ext>
                  </a:extLst>
                </a:gridCol>
                <a:gridCol w="1512168">
                  <a:extLst>
                    <a:ext uri="{9D8B030D-6E8A-4147-A177-3AD203B41FA5}">
                      <a16:colId xmlns:a16="http://schemas.microsoft.com/office/drawing/2014/main" val="422190823"/>
                    </a:ext>
                  </a:extLst>
                </a:gridCol>
              </a:tblGrid>
              <a:tr h="28014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引导问题</a:t>
                      </a:r>
                    </a:p>
                  </a:txBody>
                  <a:tcPr marL="68580" marR="68580" marT="0" marB="0" anchor="ctr" anchorCtr="1"/>
                </a:tc>
                <a:tc>
                  <a:txBody>
                    <a:bodyPr/>
                    <a:lstStyle/>
                    <a:p>
                      <a:pPr marL="0" algn="ctr" defTabSz="914400" rtl="0" eaLnBrk="1" latinLnBrk="0" hangingPunct="1">
                        <a:spcAft>
                          <a:spcPts val="0"/>
                        </a:spcAft>
                      </a:pP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具体内容</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nchorCtr="1"/>
                </a:tc>
                <a:extLst>
                  <a:ext uri="{0D108BD9-81ED-4DB2-BD59-A6C34878D82A}">
                    <a16:rowId xmlns:a16="http://schemas.microsoft.com/office/drawing/2014/main" val="4057941253"/>
                  </a:ext>
                </a:extLst>
              </a:tr>
              <a:tr h="258504">
                <a:tc>
                  <a:txBody>
                    <a:bodyPr/>
                    <a:lstStyle/>
                    <a:p>
                      <a:pPr marL="0" algn="ctr" defTabSz="914400" rtl="0" eaLnBrk="1" latinLnBrk="0" hangingPunct="1">
                        <a:lnSpc>
                          <a:spcPct val="125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Why</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为什么做这个方案？解决什么核心问题？</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91355958"/>
                  </a:ext>
                </a:extLst>
              </a:tr>
              <a:tr h="288032">
                <a:tc>
                  <a:txBody>
                    <a:bodyPr/>
                    <a:lstStyle/>
                    <a:p>
                      <a:pPr marL="0" algn="ctr" defTabSz="914400" rtl="0" eaLnBrk="1" latinLnBrk="0" hangingPunct="1">
                        <a:lnSpc>
                          <a:spcPct val="125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具体做什么？核心内容是什么？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51940842"/>
                  </a:ext>
                </a:extLst>
              </a:tr>
              <a:tr h="288032">
                <a:tc>
                  <a:txBody>
                    <a:bodyPr/>
                    <a:lstStyle/>
                    <a:p>
                      <a:pPr marL="0" algn="ctr" defTabSz="914400" rtl="0" eaLnBrk="1" latinLnBrk="0" hangingPunct="1">
                        <a:lnSpc>
                          <a:spcPct val="125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Who</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谁来负责？目标用户是谁？</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83710407"/>
                  </a:ext>
                </a:extLst>
              </a:tr>
              <a:tr h="216024">
                <a:tc>
                  <a:txBody>
                    <a:bodyPr/>
                    <a:lstStyle/>
                    <a:p>
                      <a:pPr marL="0" algn="ctr" defTabSz="914400" rtl="0" eaLnBrk="1" latinLnBrk="0" hangingPunct="1">
                        <a:lnSpc>
                          <a:spcPct val="125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When</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什么时候做？时间节点是什么？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36129408"/>
                  </a:ext>
                </a:extLst>
              </a:tr>
              <a:tr h="216024">
                <a:tc>
                  <a:txBody>
                    <a:bodyPr/>
                    <a:lstStyle/>
                    <a:p>
                      <a:pPr marL="0" algn="ctr" defTabSz="914400" rtl="0" eaLnBrk="1" latinLnBrk="0" hangingPunct="1">
                        <a:lnSpc>
                          <a:spcPct val="125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Where</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在哪实施？应用场景是什么？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48056311"/>
                  </a:ext>
                </a:extLst>
              </a:tr>
              <a:tr h="216024">
                <a:tc>
                  <a:txBody>
                    <a:bodyPr/>
                    <a:lstStyle/>
                    <a:p>
                      <a:pPr marL="0" algn="ctr" defTabSz="914400" rtl="0" eaLnBrk="1" latinLnBrk="0" hangingPunct="1">
                        <a:lnSpc>
                          <a:spcPct val="125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How</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怎么实现？关键步骤是什么？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33562470"/>
                  </a:ext>
                </a:extLst>
              </a:tr>
              <a:tr h="243732">
                <a:tc>
                  <a:txBody>
                    <a:bodyPr/>
                    <a:lstStyle/>
                    <a:p>
                      <a:pPr marL="0" algn="ctr" defTabSz="914400" rtl="0" eaLnBrk="1" latinLnBrk="0" hangingPunct="1">
                        <a:lnSpc>
                          <a:spcPct val="1250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How much</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投入多少？预期效果如何衡量？</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54087367"/>
                  </a:ext>
                </a:extLst>
              </a:tr>
            </a:tbl>
          </a:graphicData>
        </a:graphic>
      </p:graphicFrame>
      <p:sp>
        <p:nvSpPr>
          <p:cNvPr id="3" name="矩形 2"/>
          <p:cNvSpPr/>
          <p:nvPr/>
        </p:nvSpPr>
        <p:spPr>
          <a:xfrm>
            <a:off x="6300192" y="2665475"/>
            <a:ext cx="2160240" cy="2015936"/>
          </a:xfrm>
          <a:prstGeom prst="rect">
            <a:avLst/>
          </a:prstGeom>
        </p:spPr>
        <p:txBody>
          <a:bodyPr wrap="square">
            <a:spAutoFit/>
          </a:bodyPr>
          <a:lstStyle/>
          <a:p>
            <a:pPr algn="just">
              <a:lnSpc>
                <a:spcPct val="125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产出要求：</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个维度完整覆盖；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How</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须包含至少</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个关键步骤；</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How much</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须包含至少</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个量化指标（如成本预算、时间投入、预期样本量等）。</a:t>
            </a:r>
          </a:p>
          <a:p>
            <a:pPr algn="just">
              <a:lnSpc>
                <a:spcPct val="125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第三阶段成果归档：</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《核心假设清单》</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验证设计方案》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实施规划表》</a:t>
            </a:r>
          </a:p>
        </p:txBody>
      </p:sp>
    </p:spTree>
    <p:extLst>
      <p:ext uri="{BB962C8B-B14F-4D97-AF65-F5344CB8AC3E}">
        <p14:creationId xmlns:p14="http://schemas.microsoft.com/office/powerpoint/2010/main" val="34773164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909339" y="2432484"/>
            <a:ext cx="3446637" cy="2702278"/>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验证报告撰写</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各团队按照以下结构撰写选题验证报告：</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一、选题概述</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选题名称与核心定义（用户、场景、价值主张）</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选题来源（延续自设计思维工作坊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新选题）</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“AI+OPC”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竞赛主题的关联说明</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二、</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系统审查结论</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各维度审查发现摘要（至少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方案的优势维度与薄弱维</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度</a:t>
            </a:r>
            <a:endParaRPr lang="zh-CN" altLang="zh-CN"/>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8120" y="1598410"/>
            <a:ext cx="7130264" cy="834074"/>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第四阶段：组合验证总结</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创新方法迁移反思</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整合前三阶段的分析成果，形成完整的《创客竞赛选题验证报告》，并对团队应用创新方法工具的过程进行系统反思，回答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用方法验证创意的过程本身，教会了我们什么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矩形 3"/>
          <p:cNvSpPr/>
          <p:nvPr/>
        </p:nvSpPr>
        <p:spPr>
          <a:xfrm>
            <a:off x="4549560" y="2432484"/>
            <a:ext cx="2974768" cy="2702278"/>
          </a:xfrm>
          <a:prstGeom prst="rect">
            <a:avLst/>
          </a:prstGeom>
        </p:spPr>
        <p:txBody>
          <a:bodyPr wrap="square">
            <a:spAutoFit/>
          </a:bodyPr>
          <a:lstStyle/>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待验证假设清单</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三、六顶思考帽综合评估结论</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各帽视角的评估摘要</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最终决策倾向与理由（推进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调整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放弃）</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四、</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验证规划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核心假设</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形态与验证设计</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成功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失败标准</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实施计</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1622480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200800" cy="3290131"/>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五</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、最终验证结论</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验证结论（三选一）：</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值得推进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需要调整后推进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建议放弃</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结论依据：</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、六帽、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规划中的具体分析作为证据，说明为什么得出此结论</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下一步行动：</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如果推进，下一步做什么？如果需要调整，如何调整？如果放弃，备选方向是什么？</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创新方法应用反思</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团队围绕以下问题进行反思并记录（不超过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字）：</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在本次选题验证中，</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六顶思考帽</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各自发现了什么类型的问题？两种工具之间形成了什么互补？（示例：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帮我们发现了方案结构上的缺陷，而六帽中的黑帽让我们意识到这些缺陷在现实中的风险权重不同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对比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设计思维工作坊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的选题发现过程，与本次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的验证过程，</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思维方式最大的不同是什么？</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（示例：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设计思维要求我们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相信用户的痛点是真实的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，创新方法验证要求我们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怀疑自己的解决方案是否真的能解决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前者是开放，后者是批判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3384553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赛选题验证</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1259632" y="1666092"/>
            <a:ext cx="6912768" cy="723275"/>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③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如果重来一次，</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你们会在哪个环节使用不同的方法或投入更多时间？为什么？</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《创客竞赛选题验证报告》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《创新方法应用反思记录</a:t>
            </a:r>
            <a:r>
              <a:rPr lang="zh-CN" altLang="zh-CN"/>
              <a:t>》</a:t>
            </a: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矩形 5"/>
          <p:cNvSpPr/>
          <p:nvPr/>
        </p:nvSpPr>
        <p:spPr>
          <a:xfrm>
            <a:off x="899592" y="2389367"/>
            <a:ext cx="7704856" cy="2385268"/>
          </a:xfrm>
          <a:prstGeom prst="rect">
            <a:avLst/>
          </a:prstGeom>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改进方案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审查方案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认知转换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；六顶思考帽在团队决策中破除主观偏误的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作用机制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核心假设提炼与低成本验证的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操作框架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；三种工具分析结论之间的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逻辑递进与整合</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审查中从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找改进点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找漏洞</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思维逆转</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；六顶思考帽中黑帽角色从主观否定向风险判断的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角色转换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验证方案中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足够验证</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边界的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把握</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；三种工具的分析结论整合为统一决策时的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逻辑衔接</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6910204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7416824"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任务清单及成果提交要</a:t>
            </a:r>
            <a:r>
              <a:rPr lang="zh-CN" altLang="en-US" sz="2400" b="1" smtClean="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求</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971600" y="2139702"/>
            <a:ext cx="7344816" cy="461665"/>
          </a:xfrm>
          <a:prstGeom prst="rect">
            <a:avLst/>
          </a:prstGeom>
          <a:ln w="25400">
            <a:noFill/>
          </a:ln>
        </p:spPr>
        <p:txBody>
          <a:bodyPr wrap="square">
            <a:spAutoFit/>
          </a:bodyPr>
          <a:lstStyle/>
          <a:p>
            <a:pPr>
              <a:lnSpc>
                <a:spcPct val="120000"/>
              </a:lnSpc>
              <a:buClr>
                <a:srgbClr val="0070C0"/>
              </a:buClr>
            </a:pPr>
            <a:r>
              <a:rPr lang="en-US" altLang="zh-CN" sz="1400" smtClean="0">
                <a:solidFill>
                  <a:srgbClr val="0070C0"/>
                </a:solidFill>
                <a:latin typeface="微软雅黑" panose="020B0503020204020204" pitchFamily="34" charset="-122"/>
                <a:ea typeface="微软雅黑" panose="020B0503020204020204" pitchFamily="34" charset="-122"/>
              </a:rPr>
              <a:t>1. </a:t>
            </a:r>
            <a:r>
              <a:rPr lang="zh-CN" altLang="en-US" sz="1400" smtClean="0">
                <a:solidFill>
                  <a:srgbClr val="0070C0"/>
                </a:solidFill>
                <a:latin typeface="微软雅黑" panose="020B0503020204020204" pitchFamily="34" charset="-122"/>
                <a:ea typeface="微软雅黑" panose="020B0503020204020204" pitchFamily="34" charset="-122"/>
              </a:rPr>
              <a:t>“创客</a:t>
            </a:r>
            <a:r>
              <a:rPr lang="zh-CN" altLang="en-US" sz="1400">
                <a:solidFill>
                  <a:srgbClr val="0070C0"/>
                </a:solidFill>
                <a:latin typeface="微软雅黑" panose="020B0503020204020204" pitchFamily="34" charset="-122"/>
                <a:ea typeface="微软雅黑" panose="020B0503020204020204" pitchFamily="34" charset="-122"/>
              </a:rPr>
              <a:t>竞</a:t>
            </a:r>
            <a:r>
              <a:rPr lang="zh-CN" altLang="en-US" sz="1400" smtClean="0">
                <a:solidFill>
                  <a:srgbClr val="0070C0"/>
                </a:solidFill>
                <a:latin typeface="微软雅黑" panose="020B0503020204020204" pitchFamily="34" charset="-122"/>
                <a:ea typeface="微软雅黑" panose="020B0503020204020204" pitchFamily="34" charset="-122"/>
              </a:rPr>
              <a:t>赛选题设计报告”</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sz="2000" b="1">
                <a:solidFill>
                  <a:srgbClr val="0070C0"/>
                </a:solidFill>
                <a:latin typeface="微软雅黑" panose="020B0503020204020204" pitchFamily="34" charset="-122"/>
                <a:ea typeface="微软雅黑" panose="020B0503020204020204" pitchFamily="34" charset="-122"/>
              </a:rPr>
              <a:t>1</a:t>
            </a:r>
            <a:r>
              <a:rPr lang="zh-CN" altLang="en-US" sz="1400" smtClean="0">
                <a:solidFill>
                  <a:srgbClr val="0070C0"/>
                </a:solidFill>
                <a:latin typeface="微软雅黑" panose="020B0503020204020204" pitchFamily="34" charset="-122"/>
                <a:ea typeface="微软雅黑" panose="020B0503020204020204" pitchFamily="34" charset="-122"/>
              </a:rPr>
              <a:t>份</a:t>
            </a:r>
            <a:r>
              <a:rPr lang="zh-CN" altLang="en-US" sz="1100" smtClean="0">
                <a:solidFill>
                  <a:srgbClr val="7030A0"/>
                </a:solidFill>
                <a:latin typeface="微软雅黑" panose="020B0503020204020204" pitchFamily="34" charset="-122"/>
                <a:ea typeface="微软雅黑" panose="020B0503020204020204" pitchFamily="34" charset="-122"/>
              </a:rPr>
              <a:t>（电子版，</a:t>
            </a:r>
            <a:r>
              <a:rPr lang="en-US" altLang="zh-CN" sz="1100" smtClean="0">
                <a:solidFill>
                  <a:srgbClr val="7030A0"/>
                </a:solidFill>
                <a:latin typeface="微软雅黑" panose="020B0503020204020204" pitchFamily="34" charset="-122"/>
                <a:ea typeface="微软雅黑" panose="020B0503020204020204" pitchFamily="34" charset="-122"/>
              </a:rPr>
              <a:t>3</a:t>
            </a:r>
            <a:r>
              <a:rPr lang="zh-CN" altLang="en-US" sz="1100" smtClean="0">
                <a:solidFill>
                  <a:srgbClr val="7030A0"/>
                </a:solidFill>
                <a:latin typeface="微软雅黑" panose="020B0503020204020204" pitchFamily="34" charset="-122"/>
                <a:ea typeface="微软雅黑" panose="020B0503020204020204" pitchFamily="34" charset="-122"/>
              </a:rPr>
              <a:t>人团体）</a:t>
            </a:r>
            <a:endParaRPr lang="en-US" altLang="zh-CN" sz="1400" smtClean="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894656" y="1707828"/>
            <a:ext cx="7421760" cy="369332"/>
          </a:xfrm>
          <a:prstGeom prst="rect">
            <a:avLst/>
          </a:prstGeom>
        </p:spPr>
        <p:txBody>
          <a:bodyPr wrap="square">
            <a:spAutoFit/>
          </a:bodyPr>
          <a:lstStyle/>
          <a:p>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“创新方法工作坊”课后</a:t>
            </a:r>
            <a:r>
              <a:rPr lang="zh-CN" altLang="zh-CN"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任务</a:t>
            </a:r>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清单及</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成果提交要求</a:t>
            </a:r>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a:p>
        </p:txBody>
      </p:sp>
      <p:sp>
        <p:nvSpPr>
          <p:cNvPr id="10" name="矩形 9"/>
          <p:cNvSpPr/>
          <p:nvPr/>
        </p:nvSpPr>
        <p:spPr>
          <a:xfrm>
            <a:off x="894656" y="3108905"/>
            <a:ext cx="7637784" cy="830997"/>
          </a:xfrm>
          <a:prstGeom prst="rect">
            <a:avLst/>
          </a:prstGeom>
        </p:spPr>
        <p:txBody>
          <a:bodyPr wrap="square">
            <a:spAutoFit/>
          </a:bodyPr>
          <a:lstStyle/>
          <a:p>
            <a:pPr>
              <a:lnSpc>
                <a:spcPct val="120000"/>
              </a:lnSpc>
              <a:spcBef>
                <a:spcPts val="600"/>
              </a:spcBef>
              <a:buClr>
                <a:srgbClr val="0070C0"/>
              </a:buClr>
            </a:pP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请同学们于</a:t>
            </a:r>
            <a:r>
              <a:rPr lang="en-US" altLang="zh-CN" sz="2000" b="1">
                <a:solidFill>
                  <a:srgbClr val="0070C0"/>
                </a:solidFill>
                <a:latin typeface="微软雅黑" panose="020B0503020204020204" pitchFamily="34" charset="-122"/>
                <a:ea typeface="微软雅黑" panose="020B0503020204020204" pitchFamily="34" charset="-122"/>
              </a:rPr>
              <a:t>2026</a:t>
            </a:r>
            <a:r>
              <a:rPr lang="zh-CN" altLang="zh-CN" sz="2000" b="1">
                <a:solidFill>
                  <a:srgbClr val="0070C0"/>
                </a:solidFill>
                <a:latin typeface="微软雅黑" panose="020B0503020204020204" pitchFamily="34" charset="-122"/>
                <a:ea typeface="微软雅黑" panose="020B0503020204020204" pitchFamily="34" charset="-122"/>
              </a:rPr>
              <a:t>年</a:t>
            </a:r>
            <a:r>
              <a:rPr lang="en-US" altLang="zh-CN" sz="2000" b="1" smtClean="0">
                <a:solidFill>
                  <a:srgbClr val="0070C0"/>
                </a:solidFill>
                <a:latin typeface="微软雅黑" panose="020B0503020204020204" pitchFamily="34" charset="-122"/>
                <a:ea typeface="微软雅黑" panose="020B0503020204020204" pitchFamily="34" charset="-122"/>
              </a:rPr>
              <a:t>07</a:t>
            </a:r>
            <a:r>
              <a:rPr lang="zh-CN" altLang="zh-CN" sz="2000" b="1" smtClean="0">
                <a:solidFill>
                  <a:srgbClr val="0070C0"/>
                </a:solidFill>
                <a:latin typeface="微软雅黑" panose="020B0503020204020204" pitchFamily="34" charset="-122"/>
                <a:ea typeface="微软雅黑" panose="020B0503020204020204" pitchFamily="34" charset="-122"/>
              </a:rPr>
              <a:t>月</a:t>
            </a:r>
            <a:r>
              <a:rPr lang="en-US" altLang="zh-CN" sz="2000" b="1" smtClean="0">
                <a:solidFill>
                  <a:srgbClr val="0070C0"/>
                </a:solidFill>
                <a:latin typeface="微软雅黑" panose="020B0503020204020204" pitchFamily="34" charset="-122"/>
                <a:ea typeface="微软雅黑" panose="020B0503020204020204" pitchFamily="34" charset="-122"/>
              </a:rPr>
              <a:t>15</a:t>
            </a:r>
            <a:r>
              <a:rPr lang="zh-CN" altLang="zh-CN" sz="2000" b="1" smtClean="0">
                <a:solidFill>
                  <a:srgbClr val="0070C0"/>
                </a:solidFill>
                <a:latin typeface="微软雅黑" panose="020B0503020204020204" pitchFamily="34" charset="-122"/>
                <a:ea typeface="微软雅黑" panose="020B0503020204020204" pitchFamily="34" charset="-122"/>
              </a:rPr>
              <a:t>日</a:t>
            </a:r>
            <a:r>
              <a:rPr lang="en-US" altLang="zh-CN" sz="2000" b="1" smtClean="0">
                <a:solidFill>
                  <a:srgbClr val="0070C0"/>
                </a:solidFill>
                <a:latin typeface="微软雅黑" panose="020B0503020204020204" pitchFamily="34" charset="-122"/>
                <a:ea typeface="微软雅黑" panose="020B0503020204020204" pitchFamily="34" charset="-122"/>
              </a:rPr>
              <a:t>12</a:t>
            </a:r>
            <a:r>
              <a:rPr lang="zh-CN" altLang="zh-CN" sz="2000" b="1" smtClean="0">
                <a:solidFill>
                  <a:srgbClr val="0070C0"/>
                </a:solidFill>
                <a:latin typeface="微软雅黑" panose="020B0503020204020204" pitchFamily="34" charset="-122"/>
                <a:ea typeface="微软雅黑" panose="020B0503020204020204" pitchFamily="34" charset="-122"/>
              </a:rPr>
              <a:t>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登录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实验教学和实验室综合管理系统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http://ugee.hust.edu.cn/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交</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smtClean="0">
                <a:solidFill>
                  <a:srgbClr val="0070C0"/>
                </a:solidFill>
                <a:latin typeface="微软雅黑" panose="020B0503020204020204" pitchFamily="34" charset="-122"/>
                <a:ea typeface="微软雅黑" panose="020B0503020204020204" pitchFamily="34" charset="-122"/>
              </a:rPr>
              <a:t>创新方法工作坊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全部</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课后</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学习成果。</a:t>
            </a:r>
            <a:endParaRPr lang="zh-CN" altLang="en-US" sz="14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633131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923662" y="1635646"/>
            <a:ext cx="7464761" cy="3507854"/>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288290" indent="-288290" algn="l">
              <a:lnSpc>
                <a:spcPct val="120000"/>
              </a:lnSpc>
              <a:spcBef>
                <a:spcPts val="600"/>
              </a:spcBef>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初级认知任</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务</a:t>
            </a:r>
            <a:endParaRPr lang="en-US"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起</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单元的初级认知框架，</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从前序协作经验向项目管理专业话语体系的认知转换能力</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能够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项目管理核心概念识别、命名并归类前序协作中的真实管理问题，</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范围管理思维对竞赛项目的工作范围进行初步界定与阶段划分</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学生个体</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对项目管理核心概念</a:t>
            </a:r>
            <a:r>
              <a:rPr lang="zh-CN" altLang="zh-CN" sz="105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（三大特征、五大过程组、十大知识领域）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的整体性认知框架；从前序协作经历中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、命名并归类真实管理问题，</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从感性经验到概念框架的认知成果；</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范围管理思维对竞赛项目的工作范围进行初步界定与阶段划分，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项目范围的初步界定成果。</a:t>
            </a:r>
          </a:p>
        </p:txBody>
      </p:sp>
    </p:spTree>
    <p:extLst>
      <p:ext uri="{BB962C8B-B14F-4D97-AF65-F5344CB8AC3E}">
        <p14:creationId xmlns:p14="http://schemas.microsoft.com/office/powerpoint/2010/main" val="12972731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35646"/>
            <a:ext cx="7128792" cy="2736304"/>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288290" indent="-288290" algn="l">
              <a:lnSpc>
                <a:spcPct val="120000"/>
              </a:lnSpc>
              <a:spcBef>
                <a:spcPts val="600"/>
              </a:spcBef>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学活动描述</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阅</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本单元的教育教学设计与要求，各学生个体需独立完成以下任务，并按课前学习成果提交要求提交成果文档。本活动包含</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三个</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任务</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：任务一引导学生以个体形式完成项目管理核心概念自测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对本单元核心概念体系的整体性把握，为课堂教学的深化提供认知起点；</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任务二引导学生以个体形式完成前序协作痛点回顾与项目管理知识领域映射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，从真实经历中识别、命名并归类协作问题，</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感性经验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概念框架</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的认知跃迁；</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任务三引导学生以个体形式运用范围管理思维</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，对竞赛项目的工作范围进行初步</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界定</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与阶段划分，为课堂项目管理演练奠定认知基础。</a:t>
            </a:r>
          </a:p>
          <a:p>
            <a:pPr marL="288290" indent="-288290" algn="l">
              <a:lnSpc>
                <a:spcPct val="120000"/>
              </a:lnSpc>
              <a:spcBef>
                <a:spcPts val="600"/>
              </a:spcBef>
              <a:buFont typeface="Wingdings" panose="05000000000000000000" pitchFamily="2" charset="2"/>
              <a:buChar char="u"/>
            </a:pPr>
            <a:endPar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endPar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0713535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87218" y="1635646"/>
            <a:ext cx="7645222" cy="3444020"/>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任务一：项目管理核心概念自测（个体任务，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本任务旨在帮助学生建立对本单元核心概念体系的整体性把握。请首先阅读本单元学习资料《项目管理基础知识》（含项目与项目管理、项目范围管理、项目进度管理三部分），在此基础上独立完成以下自测题目。自测结果将作为课堂教学的认知起点，帮助教师了解学生的先验知识水平。</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概念辨析（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请判断以下说法的正误，并在括号内填写</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）项目的三大本质特征是临时性、独特性和渐进明细性。</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）项目管理五大过程组按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启动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规划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执行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收尾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监控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的顺序线性推进。</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渐进明细性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意味着项目规划可以等到项目启动后再逐步细化，不需要在启动前做任何规划。</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PMBOK</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的十大知识领域中，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范围管理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的核心任务是确保项目包含所有必要的工作，且仅包含必要的工作。</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关键路径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是指项目中最需要投入资金的路径</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290466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87218" y="1635646"/>
            <a:ext cx="7429198" cy="1209562"/>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2</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知识领域匹配（</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请将以下场景与对应的项目管理知识领域进行匹配，将知识领域前的字母填入场景后的括号中。</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知识领域选项：</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范围管理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B.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进度管理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C.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成本管理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D.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质量管</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理</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 E</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资源管理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F.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沟通管理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G.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风险管理</a:t>
            </a:r>
          </a:p>
        </p:txBody>
      </p:sp>
      <p:graphicFrame>
        <p:nvGraphicFramePr>
          <p:cNvPr id="6" name="表格 5"/>
          <p:cNvGraphicFramePr>
            <a:graphicFrameLocks noGrp="1"/>
          </p:cNvGraphicFramePr>
          <p:nvPr>
            <p:extLst>
              <p:ext uri="{D42A27DB-BD31-4B8C-83A1-F6EECF244321}">
                <p14:modId xmlns:p14="http://schemas.microsoft.com/office/powerpoint/2010/main" val="2150840100"/>
              </p:ext>
            </p:extLst>
          </p:nvPr>
        </p:nvGraphicFramePr>
        <p:xfrm>
          <a:off x="899592" y="2830798"/>
          <a:ext cx="6565102" cy="1977485"/>
        </p:xfrm>
        <a:graphic>
          <a:graphicData uri="http://schemas.openxmlformats.org/drawingml/2006/table">
            <a:tbl>
              <a:tblPr firstRow="1" firstCol="1" bandRow="1">
                <a:tableStyleId>{5C22544A-7EE6-4342-B048-85BDC9FD1C3A}</a:tableStyleId>
              </a:tblPr>
              <a:tblGrid>
                <a:gridCol w="5052934">
                  <a:extLst>
                    <a:ext uri="{9D8B030D-6E8A-4147-A177-3AD203B41FA5}">
                      <a16:colId xmlns:a16="http://schemas.microsoft.com/office/drawing/2014/main" val="2532624447"/>
                    </a:ext>
                  </a:extLst>
                </a:gridCol>
                <a:gridCol w="1512168">
                  <a:extLst>
                    <a:ext uri="{9D8B030D-6E8A-4147-A177-3AD203B41FA5}">
                      <a16:colId xmlns:a16="http://schemas.microsoft.com/office/drawing/2014/main" val="3906738442"/>
                    </a:ext>
                  </a:extLst>
                </a:gridCol>
              </a:tblGrid>
              <a:tr h="249293">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场景</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对应知识领域</a:t>
                      </a:r>
                    </a:p>
                  </a:txBody>
                  <a:tcPr marL="72000" marR="72000" marT="36000" marB="36000" anchor="ctr"/>
                </a:tc>
                <a:extLst>
                  <a:ext uri="{0D108BD9-81ED-4DB2-BD59-A6C34878D82A}">
                    <a16:rowId xmlns:a16="http://schemas.microsoft.com/office/drawing/2014/main" val="981322211"/>
                  </a:ext>
                </a:extLst>
              </a:tr>
              <a:tr h="288032">
                <a:tc>
                  <a:txBody>
                    <a:bodyPr/>
                    <a:lstStyle/>
                    <a:p>
                      <a:pPr marL="0" algn="l" defTabSz="914400" rtl="0" eaLnBrk="1" latinLnBrk="0" hangingPunct="1">
                        <a:lnSpc>
                          <a:spcPct val="100000"/>
                        </a:lnSpc>
                        <a:spcAft>
                          <a:spcPts val="0"/>
                        </a:spcAft>
                      </a:pP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① 团队成员对</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原型制作需要达到什么标准</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存在不同理解</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p>
                  </a:txBody>
                  <a:tcPr marL="72000" marR="72000" marT="36000" marB="36000" anchor="ctr"/>
                </a:tc>
                <a:extLst>
                  <a:ext uri="{0D108BD9-81ED-4DB2-BD59-A6C34878D82A}">
                    <a16:rowId xmlns:a16="http://schemas.microsoft.com/office/drawing/2014/main" val="1102959528"/>
                  </a:ext>
                </a:extLst>
              </a:tr>
              <a:tr h="288032">
                <a:tc>
                  <a:txBody>
                    <a:bodyPr/>
                    <a:lstStyle/>
                    <a:p>
                      <a:pPr marL="0" algn="l" defTabSz="914400" rtl="0" eaLnBrk="1" latinLnBrk="0" hangingPunct="1">
                        <a:lnSpc>
                          <a:spcPct val="100000"/>
                        </a:lnSpc>
                        <a:spcAft>
                          <a:spcPts val="0"/>
                        </a:spcAft>
                      </a:pP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② 项目进行到第</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周，实际进度落后计划</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周</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p>
                  </a:txBody>
                  <a:tcPr marL="72000" marR="72000" marT="36000" marB="36000" anchor="ctr"/>
                </a:tc>
                <a:extLst>
                  <a:ext uri="{0D108BD9-81ED-4DB2-BD59-A6C34878D82A}">
                    <a16:rowId xmlns:a16="http://schemas.microsoft.com/office/drawing/2014/main" val="3108517825"/>
                  </a:ext>
                </a:extLst>
              </a:tr>
              <a:tr h="288032">
                <a:tc>
                  <a:txBody>
                    <a:bodyPr/>
                    <a:lstStyle/>
                    <a:p>
                      <a:pPr marL="0" algn="l" defTabSz="914400" rtl="0" eaLnBrk="1" latinLnBrk="0" hangingPunct="1">
                        <a:lnSpc>
                          <a:spcPct val="100000"/>
                        </a:lnSpc>
                        <a:spcAft>
                          <a:spcPts val="0"/>
                        </a:spcAft>
                      </a:pP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③用户测试时发现原型功能与用户需求不匹配，团队重新审视了项目范围定义</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p>
                  </a:txBody>
                  <a:tcPr marL="72000" marR="72000" marT="36000" marB="36000" anchor="ctr"/>
                </a:tc>
                <a:extLst>
                  <a:ext uri="{0D108BD9-81ED-4DB2-BD59-A6C34878D82A}">
                    <a16:rowId xmlns:a16="http://schemas.microsoft.com/office/drawing/2014/main" val="871004219"/>
                  </a:ext>
                </a:extLst>
              </a:tr>
              <a:tr h="288032">
                <a:tc>
                  <a:txBody>
                    <a:bodyPr/>
                    <a:lstStyle/>
                    <a:p>
                      <a:pPr marL="0" algn="l" defTabSz="914400" rtl="0" eaLnBrk="1" latinLnBrk="0" hangingPunct="1">
                        <a:lnSpc>
                          <a:spcPct val="100000"/>
                        </a:lnSpc>
                        <a:spcAft>
                          <a:spcPts val="0"/>
                        </a:spcAft>
                      </a:pP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④ 两名成员都以为对方负责采购，结果没人带材料</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p>
                  </a:txBody>
                  <a:tcPr marL="72000" marR="72000" marT="36000" marB="36000" anchor="ctr"/>
                </a:tc>
                <a:extLst>
                  <a:ext uri="{0D108BD9-81ED-4DB2-BD59-A6C34878D82A}">
                    <a16:rowId xmlns:a16="http://schemas.microsoft.com/office/drawing/2014/main" val="1473138946"/>
                  </a:ext>
                </a:extLst>
              </a:tr>
              <a:tr h="288032">
                <a:tc>
                  <a:txBody>
                    <a:bodyPr/>
                    <a:lstStyle/>
                    <a:p>
                      <a:pPr marL="0" algn="l" defTabSz="914400" rtl="0" eaLnBrk="1" latinLnBrk="0" hangingPunct="1">
                        <a:lnSpc>
                          <a:spcPct val="100000"/>
                        </a:lnSpc>
                        <a:spcAft>
                          <a:spcPts val="0"/>
                        </a:spcAft>
                      </a:pP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⑤ 竞赛前一周发现展示设备可能无法兼容</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p>
                  </a:txBody>
                  <a:tcPr marL="72000" marR="72000" marT="36000" marB="36000" anchor="ctr"/>
                </a:tc>
                <a:extLst>
                  <a:ext uri="{0D108BD9-81ED-4DB2-BD59-A6C34878D82A}">
                    <a16:rowId xmlns:a16="http://schemas.microsoft.com/office/drawing/2014/main" val="3674406902"/>
                  </a:ext>
                </a:extLst>
              </a:tr>
              <a:tr h="288032">
                <a:tc>
                  <a:txBody>
                    <a:bodyPr/>
                    <a:lstStyle/>
                    <a:p>
                      <a:pPr marL="0" algn="l" defTabSz="914400" rtl="0" eaLnBrk="1" latinLnBrk="0" hangingPunct="1">
                        <a:lnSpc>
                          <a:spcPct val="100000"/>
                        </a:lnSpc>
                        <a:spcAft>
                          <a:spcPts val="0"/>
                        </a:spcAft>
                      </a:pP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⑥ 团队内部信息不同步，成员</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A</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做了成员</a:t>
                      </a:r>
                      <a:r>
                        <a:rPr lang="en-US"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B</a:t>
                      </a:r>
                      <a:r>
                        <a:rPr lang="zh-CN" sz="1100" kern="0">
                          <a:solidFill>
                            <a:schemeClr val="bg1"/>
                          </a:solidFill>
                          <a:effectLst/>
                          <a:latin typeface="Times New Roman" panose="02020603050405020304" pitchFamily="18" charset="0"/>
                          <a:ea typeface="仿宋" panose="02010609060101010101" pitchFamily="49" charset="-122"/>
                          <a:cs typeface="Times New Roman" panose="02020603050405020304" pitchFamily="18" charset="0"/>
                        </a:rPr>
                        <a:t>已经完成的工作</a:t>
                      </a:r>
                    </a:p>
                  </a:txBody>
                  <a:tcPr marL="72000" marR="72000" marT="36000" marB="36000" anchor="ctr"/>
                </a:tc>
                <a:tc>
                  <a:txBody>
                    <a:bodyPr/>
                    <a:lstStyle/>
                    <a:p>
                      <a:pPr marL="0" algn="ctr"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p>
                  </a:txBody>
                  <a:tcPr marL="72000" marR="72000" marT="36000" marB="36000" anchor="ctr"/>
                </a:tc>
                <a:extLst>
                  <a:ext uri="{0D108BD9-81ED-4DB2-BD59-A6C34878D82A}">
                    <a16:rowId xmlns:a16="http://schemas.microsoft.com/office/drawing/2014/main" val="3328161680"/>
                  </a:ext>
                </a:extLst>
              </a:tr>
            </a:tbl>
          </a:graphicData>
        </a:graphic>
      </p:graphicFrame>
      <p:sp>
        <p:nvSpPr>
          <p:cNvPr id="2" name="矩形 1"/>
          <p:cNvSpPr/>
          <p:nvPr/>
        </p:nvSpPr>
        <p:spPr>
          <a:xfrm>
            <a:off x="899592" y="4808283"/>
            <a:ext cx="3132348" cy="292709"/>
          </a:xfrm>
          <a:prstGeom prst="rect">
            <a:avLst/>
          </a:prstGeom>
        </p:spPr>
        <p:txBody>
          <a:bodyPr wrap="square">
            <a:spAutoFit/>
          </a:bodyPr>
          <a:lstStyle/>
          <a:p>
            <a:pPr>
              <a:lnSpc>
                <a:spcPct val="120000"/>
              </a:lnSpc>
              <a:spcBef>
                <a:spcPts val="600"/>
              </a:spcBef>
              <a:spcAft>
                <a:spcPts val="0"/>
              </a:spcAft>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评分标准：每项匹配正确得</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分，共</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p>
        </p:txBody>
      </p:sp>
    </p:spTree>
    <p:extLst>
      <p:ext uri="{BB962C8B-B14F-4D97-AF65-F5344CB8AC3E}">
        <p14:creationId xmlns:p14="http://schemas.microsoft.com/office/powerpoint/2010/main" val="4160127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87218" y="1635646"/>
            <a:ext cx="7429198" cy="2846933"/>
          </a:xfrm>
          <a:prstGeom prst="rect">
            <a:avLst/>
          </a:prstGeom>
        </p:spPr>
        <p:txBody>
          <a:bodyPr wrap="square">
            <a:spAutoFit/>
          </a:bodyPr>
          <a:lstStyle/>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场景判断（</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请阅读以下场景，回答后续问题。</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场景：</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某创客竞赛团队在项目启动时制定了详细计划。进入原型制作阶段后，一位成员提出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我们可以增加一个功能，让作品更吸引评委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。团队讨论后接受了这个建议。到第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周（共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周）时，团队发现原型尚未完成，而新增功能还远未实现。</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问题：</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）该团队遇到了项目管理中的什么问题？（请写出对应的项目管理术语）</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回答：</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）如果提前使用本单元将学到的某个管理工具，这个问题可以在哪个阶段被预防？请说明该工具的作用。</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回答</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435187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87218" y="1635646"/>
            <a:ext cx="7429198" cy="29270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分标准：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2017767113"/>
              </p:ext>
            </p:extLst>
          </p:nvPr>
        </p:nvGraphicFramePr>
        <p:xfrm>
          <a:off x="893405" y="1958877"/>
          <a:ext cx="7278995" cy="1344700"/>
        </p:xfrm>
        <a:graphic>
          <a:graphicData uri="http://schemas.openxmlformats.org/drawingml/2006/table">
            <a:tbl>
              <a:tblPr firstRow="1" firstCol="1" bandRow="1">
                <a:tableStyleId>{5C22544A-7EE6-4342-B048-85BDC9FD1C3A}</a:tableStyleId>
              </a:tblPr>
              <a:tblGrid>
                <a:gridCol w="2088232">
                  <a:extLst>
                    <a:ext uri="{9D8B030D-6E8A-4147-A177-3AD203B41FA5}">
                      <a16:colId xmlns:a16="http://schemas.microsoft.com/office/drawing/2014/main" val="2532624447"/>
                    </a:ext>
                  </a:extLst>
                </a:gridCol>
                <a:gridCol w="438235">
                  <a:extLst>
                    <a:ext uri="{9D8B030D-6E8A-4147-A177-3AD203B41FA5}">
                      <a16:colId xmlns:a16="http://schemas.microsoft.com/office/drawing/2014/main" val="3906738442"/>
                    </a:ext>
                  </a:extLst>
                </a:gridCol>
                <a:gridCol w="4752528">
                  <a:extLst>
                    <a:ext uri="{9D8B030D-6E8A-4147-A177-3AD203B41FA5}">
                      <a16:colId xmlns:a16="http://schemas.microsoft.com/office/drawing/2014/main" val="3842580991"/>
                    </a:ext>
                  </a:extLst>
                </a:gridCol>
              </a:tblGrid>
              <a:tr h="240964">
                <a:tc>
                  <a:txBody>
                    <a:bodyPr/>
                    <a:lstStyle/>
                    <a:p>
                      <a:pPr algn="ctr">
                        <a:lnSpc>
                          <a:spcPct val="100000"/>
                        </a:lnSpc>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评分项</a:t>
                      </a: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分值</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评分标准</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extLst>
                  <a:ext uri="{0D108BD9-81ED-4DB2-BD59-A6C34878D82A}">
                    <a16:rowId xmlns:a16="http://schemas.microsoft.com/office/drawing/2014/main" val="981322211"/>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问题（</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）术语准确性</a:t>
                      </a:r>
                    </a:p>
                  </a:txBody>
                  <a:tcPr marL="72000" marR="72000" marT="36000" marB="3600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术语准确得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范围蔓延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范围失控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范围变更失控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均视为正确）</a:t>
                      </a:r>
                    </a:p>
                  </a:txBody>
                  <a:tcPr marL="72000" marR="72000" marT="36000" marB="36000" anchor="ctr"/>
                </a:tc>
                <a:extLst>
                  <a:ext uri="{0D108BD9-81ED-4DB2-BD59-A6C34878D82A}">
                    <a16:rowId xmlns:a16="http://schemas.microsoft.com/office/drawing/2014/main" val="1102959528"/>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问题（</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）预防阶段识别</a:t>
                      </a:r>
                    </a:p>
                  </a:txBody>
                  <a:tcPr marL="72000" marR="72000" marT="36000" marB="3600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指出规划阶段或启动阶段得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extLst>
                  <a:ext uri="{0D108BD9-81ED-4DB2-BD59-A6C34878D82A}">
                    <a16:rowId xmlns:a16="http://schemas.microsoft.com/office/drawing/2014/main" val="3108517825"/>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问题（</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）工具选择与作用说明</a:t>
                      </a:r>
                    </a:p>
                  </a:txBody>
                  <a:tcPr marL="72000" marR="72000" marT="36000" marB="3600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工具选择合理（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或范围界定）得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分；作用说明具体、有针对性得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extLst>
                  <a:ext uri="{0D108BD9-81ED-4DB2-BD59-A6C34878D82A}">
                    <a16:rowId xmlns:a16="http://schemas.microsoft.com/office/drawing/2014/main" val="871004219"/>
                  </a:ext>
                </a:extLst>
              </a:tr>
              <a:tr h="0">
                <a:tc>
                  <a:txBody>
                    <a:bodyPr/>
                    <a:lstStyle/>
                    <a:p>
                      <a:pPr marL="0" algn="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p>
                  </a:txBody>
                  <a:tcPr marL="72000" marR="72000" marT="36000" marB="36000"/>
                </a:tc>
                <a:tc gridSpan="2">
                  <a:txBody>
                    <a:bodyPr/>
                    <a:lstStyle/>
                    <a:p>
                      <a:pPr algn="l">
                        <a:lnSpc>
                          <a:spcPct val="100000"/>
                        </a:lnSpc>
                        <a:spcAft>
                          <a:spcPts val="0"/>
                        </a:spcAft>
                      </a:pPr>
                      <a:r>
                        <a:rPr lang="en-US" sz="1100" kern="0" smtClean="0">
                          <a:effectLst/>
                          <a:latin typeface="Times New Roman" panose="02020603050405020304" pitchFamily="18" charset="0"/>
                          <a:ea typeface="仿宋" panose="02010609060101010101" pitchFamily="49" charset="-122"/>
                          <a:cs typeface="Times New Roman" panose="02020603050405020304" pitchFamily="18" charset="0"/>
                        </a:rPr>
                        <a:t>8</a:t>
                      </a:r>
                      <a:r>
                        <a:rPr lang="zh-CN" sz="1100" kern="0" smtClean="0">
                          <a:effectLst/>
                          <a:latin typeface="Times New Roman" panose="02020603050405020304" pitchFamily="18" charset="0"/>
                          <a:ea typeface="仿宋" panose="02010609060101010101" pitchFamily="49" charset="-122"/>
                          <a:cs typeface="Times New Roman" panose="02020603050405020304" pitchFamily="18" charset="0"/>
                        </a:rPr>
                        <a:t>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hMerge="1">
                  <a:txBody>
                    <a:bodyPr/>
                    <a:lstStyle/>
                    <a:p>
                      <a:endParaRPr lang="zh-CN" altLang="en-US"/>
                    </a:p>
                  </a:txBody>
                  <a:tcPr/>
                </a:tc>
                <a:extLst>
                  <a:ext uri="{0D108BD9-81ED-4DB2-BD59-A6C34878D82A}">
                    <a16:rowId xmlns:a16="http://schemas.microsoft.com/office/drawing/2014/main" val="3803446398"/>
                  </a:ext>
                </a:extLst>
              </a:tr>
            </a:tbl>
          </a:graphicData>
        </a:graphic>
      </p:graphicFrame>
      <p:sp>
        <p:nvSpPr>
          <p:cNvPr id="2" name="矩形 1"/>
          <p:cNvSpPr/>
          <p:nvPr/>
        </p:nvSpPr>
        <p:spPr>
          <a:xfrm>
            <a:off x="887218" y="3363838"/>
            <a:ext cx="7429198" cy="1729704"/>
          </a:xfrm>
          <a:prstGeom prst="rect">
            <a:avLst/>
          </a:prstGeom>
        </p:spPr>
        <p:txBody>
          <a:bodyPr wrap="square">
            <a:spAutoFit/>
          </a:bodyPr>
          <a:lstStyle/>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4.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概念应用</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为痛点</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命名</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阅读以下三个场景，每个场景描述了一个真实的协作困境。请从下方项目管理知识领域中选择最匹配的一项，用一句话说明该场景属于哪个知识领域的问题，并给出判断理由。</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知识领域选项</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范围管理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  B.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进度管理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  C.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成本管理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  D.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质量管理</a:t>
            </a: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E.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资源管理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  F.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沟通管理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  G.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风险管</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228524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899592" y="1635646"/>
            <a:ext cx="7429198" cy="3588675"/>
          </a:xfrm>
          <a:prstGeom prst="rect">
            <a:avLst/>
          </a:prstGeom>
        </p:spPr>
        <p:txBody>
          <a:bodyPr wrap="square">
            <a:spAutoFit/>
          </a:bodyPr>
          <a:lstStyle/>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场景一：</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在设计思维工作坊的</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原型制作</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阶段，团队分工时，成员</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和成员</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都以为对方会负责采购材料，结果上课前发现没人带材料，无法按计划开始原型制作。</a:t>
            </a:r>
          </a:p>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回答：</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对应知识领域：</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______</a:t>
            </a:r>
            <a:endPar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判断理由：</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___________________________________________________________________</a:t>
            </a:r>
            <a:endPar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场景二：</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在创新方法工作坊的</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六顶思考帽</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讨论中，蓝帽（管理帽）没有控制好时间，白帽和红帽各用了</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分钟，导致后面的黑帽、黄帽、绿帽只能在</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分钟内草草收场，讨论质量大打折扣。</a:t>
            </a:r>
          </a:p>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回答：</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对应知识领域：</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______</a:t>
            </a:r>
            <a:endPar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判断理由</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___________________________________________________________________</a:t>
            </a:r>
            <a:endPar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场景三：</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在跨组互测环节，团队展示原型时，用户提出了一个之前从未想到的使用场景，成员</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当场表示</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这个功能我们可以加上</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，其他成员也附和赞同。但团队成员并未讨论这个新增功能对原有方案的影响，也未评估是否在竞赛周期内能够完成。</a:t>
            </a:r>
          </a:p>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回答：</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对应知识领域：</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______</a:t>
            </a:r>
            <a:endPar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5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判</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断理由</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___________________________________________________________________</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1398441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899592" y="1635646"/>
            <a:ext cx="7429198" cy="292709"/>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分标准：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598562468"/>
              </p:ext>
            </p:extLst>
          </p:nvPr>
        </p:nvGraphicFramePr>
        <p:xfrm>
          <a:off x="899592" y="1970746"/>
          <a:ext cx="4752528" cy="1056668"/>
        </p:xfrm>
        <a:graphic>
          <a:graphicData uri="http://schemas.openxmlformats.org/drawingml/2006/table">
            <a:tbl>
              <a:tblPr firstRow="1" firstCol="1" bandRow="1">
                <a:tableStyleId>{5C22544A-7EE6-4342-B048-85BDC9FD1C3A}</a:tableStyleId>
              </a:tblPr>
              <a:tblGrid>
                <a:gridCol w="2304256">
                  <a:extLst>
                    <a:ext uri="{9D8B030D-6E8A-4147-A177-3AD203B41FA5}">
                      <a16:colId xmlns:a16="http://schemas.microsoft.com/office/drawing/2014/main" val="2532624447"/>
                    </a:ext>
                  </a:extLst>
                </a:gridCol>
                <a:gridCol w="504056">
                  <a:extLst>
                    <a:ext uri="{9D8B030D-6E8A-4147-A177-3AD203B41FA5}">
                      <a16:colId xmlns:a16="http://schemas.microsoft.com/office/drawing/2014/main" val="3906738442"/>
                    </a:ext>
                  </a:extLst>
                </a:gridCol>
                <a:gridCol w="1944216">
                  <a:extLst>
                    <a:ext uri="{9D8B030D-6E8A-4147-A177-3AD203B41FA5}">
                      <a16:colId xmlns:a16="http://schemas.microsoft.com/office/drawing/2014/main" val="3842580991"/>
                    </a:ext>
                  </a:extLst>
                </a:gridCol>
              </a:tblGrid>
              <a:tr h="240964">
                <a:tc>
                  <a:txBody>
                    <a:bodyPr/>
                    <a:lstStyle/>
                    <a:p>
                      <a:pPr algn="ctr">
                        <a:lnSpc>
                          <a:spcPct val="100000"/>
                        </a:lnSpc>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评分项</a:t>
                      </a: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分值</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评分标准</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extLst>
                  <a:ext uri="{0D108BD9-81ED-4DB2-BD59-A6C34878D82A}">
                    <a16:rowId xmlns:a16="http://schemas.microsoft.com/office/drawing/2014/main" val="981322211"/>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知识领域选择准确</a:t>
                      </a:r>
                    </a:p>
                  </a:txBody>
                  <a:tcPr marL="72000" marR="72000" marT="36000" marB="3600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每个场景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extLst>
                  <a:ext uri="{0D108BD9-81ED-4DB2-BD59-A6C34878D82A}">
                    <a16:rowId xmlns:a16="http://schemas.microsoft.com/office/drawing/2014/main" val="1102959528"/>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判断理由合理、能与场景描述对应</a:t>
                      </a:r>
                    </a:p>
                  </a:txBody>
                  <a:tcPr marL="72000" marR="72000" marT="36000" marB="3600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每个场景约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0.7</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分，酌情给分</a:t>
                      </a:r>
                    </a:p>
                  </a:txBody>
                  <a:tcPr marL="72000" marR="72000" marT="36000" marB="36000" anchor="ctr"/>
                </a:tc>
                <a:extLst>
                  <a:ext uri="{0D108BD9-81ED-4DB2-BD59-A6C34878D82A}">
                    <a16:rowId xmlns:a16="http://schemas.microsoft.com/office/drawing/2014/main" val="3108517825"/>
                  </a:ext>
                </a:extLst>
              </a:tr>
              <a:tr h="0">
                <a:tc>
                  <a:txBody>
                    <a:bodyPr/>
                    <a:lstStyle/>
                    <a:p>
                      <a:pPr marL="0" algn="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p>
                  </a:txBody>
                  <a:tcPr marL="72000" marR="72000" marT="36000" marB="36000"/>
                </a:tc>
                <a:tc gridSpan="2">
                  <a:txBody>
                    <a:bodyPr/>
                    <a:lstStyle/>
                    <a:p>
                      <a:pPr algn="l">
                        <a:lnSpc>
                          <a:spcPct val="100000"/>
                        </a:lnSpc>
                        <a:spcAft>
                          <a:spcPts val="0"/>
                        </a:spcAft>
                      </a:pPr>
                      <a:r>
                        <a:rPr lang="en-US" sz="1100" kern="0" smtClean="0">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smtClean="0">
                          <a:effectLst/>
                          <a:latin typeface="Times New Roman" panose="02020603050405020304" pitchFamily="18" charset="0"/>
                          <a:ea typeface="仿宋" panose="02010609060101010101" pitchFamily="49" charset="-122"/>
                          <a:cs typeface="Times New Roman" panose="02020603050405020304" pitchFamily="18" charset="0"/>
                        </a:rPr>
                        <a:t>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hMerge="1">
                  <a:txBody>
                    <a:bodyPr/>
                    <a:lstStyle/>
                    <a:p>
                      <a:endParaRPr lang="zh-CN" altLang="en-US"/>
                    </a:p>
                  </a:txBody>
                  <a:tcPr/>
                </a:tc>
                <a:extLst>
                  <a:ext uri="{0D108BD9-81ED-4DB2-BD59-A6C34878D82A}">
                    <a16:rowId xmlns:a16="http://schemas.microsoft.com/office/drawing/2014/main" val="3803446398"/>
                  </a:ext>
                </a:extLst>
              </a:tr>
            </a:tbl>
          </a:graphicData>
        </a:graphic>
      </p:graphicFrame>
      <p:sp>
        <p:nvSpPr>
          <p:cNvPr id="3" name="矩形 2"/>
          <p:cNvSpPr/>
          <p:nvPr/>
        </p:nvSpPr>
        <p:spPr>
          <a:xfrm>
            <a:off x="899592" y="3069805"/>
            <a:ext cx="6984776" cy="1652760"/>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任务二：协作痛点回顾与项目管理知识领域映射（个体任务，</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任务说明：</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本任务旨在帮助学生以课前个人反思为基础，将前序工作坊中真实遭遇的协作问题识别出来，并用项目管理的专业话语对其进行命名与归类，完成从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感性经验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概念框架</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的认知跃迁。</a:t>
            </a:r>
          </a:p>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前序协作痛点盘点（</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请每位同学独立思考以下问题，将答案填写在《前序项目经历复盘表》中。请务必以设计思维工作坊和创新方法工作坊中的真实经历为依据，而非抽象地谈论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一般来说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782451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899592" y="1635646"/>
            <a:ext cx="6969461" cy="3444020"/>
          </a:xfrm>
          <a:prstGeom prst="rect">
            <a:avLst/>
          </a:prstGeom>
        </p:spPr>
        <p:txBody>
          <a:bodyPr wrap="square">
            <a:spAutoFit/>
          </a:bodyPr>
          <a:lstStyle/>
          <a:p>
            <a:pPr algn="just">
              <a:lnSpc>
                <a:spcPct val="120000"/>
              </a:lnSpc>
              <a:spcBef>
                <a:spcPts val="600"/>
              </a:spcBef>
              <a:spcAft>
                <a:spcPts val="0"/>
              </a:spcAft>
            </a:pP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前序项目经历复盘表》模板</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姓名：</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__________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所在竞赛团队名称：</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__________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日期：</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__________</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第一部分：分工相关（对应项目管理知识领域：资源管理、沟通管理）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1.1 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在设计思维工作坊的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原型制作</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阶段（第四阶段），你们团队是如何分工的？有没有出现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有人没事做</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有人做不过来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的情况？请描述一个具体场景。</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1.2 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在创新方法工作坊的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优化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阶段，七个维度你们是如何分配的？有没有出现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这个维度没人认领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两个人做了同一个维度</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的情况？</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1.3 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你觉得前序协作中</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分工不清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分工不合理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的根本原因是什么？</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第二部分：时间相关（对应项目管理知识领域：进度管理</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315403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899592" y="1635646"/>
            <a:ext cx="6969461" cy="3290131"/>
          </a:xfrm>
          <a:prstGeom prst="rect">
            <a:avLst/>
          </a:prstGeom>
        </p:spPr>
        <p:txBody>
          <a:bodyPr wrap="square">
            <a:spAutoFit/>
          </a:bodyPr>
          <a:lstStyle/>
          <a:p>
            <a:pPr algn="just">
              <a:lnSpc>
                <a:spcPct val="120000"/>
              </a:lnSpc>
              <a:spcBef>
                <a:spcPts val="600"/>
              </a:spcBef>
              <a:spcAft>
                <a:spcPts val="0"/>
              </a:spcAft>
            </a:pP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2.1</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在设计思维工作坊的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五阶段完整体验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中（共情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定义</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构思</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测试），哪个阶段你们感觉</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时间不够用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？哪个阶段</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时间用不完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浪费了时间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？请描述具体是哪个阶段、发生了什么。</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2.2 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在创新方法工作坊的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六顶思考帽</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讨论中，蓝帽（管理帽）是如何控制时间的？有没有出现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某顶帽子讨论太久、后面草草收场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的情况？</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2.3 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在跨组互测或成果展示环节，你们是否遇到过</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临近截止时间才匆忙收尾</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的情况？如果有，你认为提前可以做什么来避免？</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第三部分：目标与范围相关（对应项目管理知识领域：范围管理）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3.1 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在设计思维工作坊中，你们团队在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定义阶段</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提问）是否出现过</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不知道聚焦哪个问题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的争论？最后是怎么决定的？这个决定过程顺利吗</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487388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899592" y="1635646"/>
            <a:ext cx="6969461" cy="3367076"/>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我</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的回答</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3.2 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在创新方法工作坊中，你们在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优化时，有没有出现过</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改着改着，发现已经偏离了原来的目标</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的情况？或者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不断新增想法，导致方案越来越庞大</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3.3 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你们团队在处理这类问题时，有明确的决策规则吗？（如</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谁说了算</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投票怎么投</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第四部分：质量相关（对应项目管理知识领域：质量管理）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4.1 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在设计思维工作坊的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原型测试</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阶段，你们的原型在跨组互测中收到了什么样的反馈？有没有</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用户觉得不好用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用户完全没理解你们的设计意图</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的情况？你们当时是如何回应的？</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4.2 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在创新方法工作坊的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方案决策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（六顶思考帽）阶段，黑帽提出了哪些风险或质疑？你们是否因此修改了方案</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068087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899592" y="1635646"/>
            <a:ext cx="6969461" cy="3444020"/>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我</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4.3 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你觉得前序协作中，团队是否有</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把关人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角色？还是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差不多就行了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第五部分：风险相关（对应项目管理知识领域：风险管理）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5.1 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在设计思维工作坊中，你们是否遇到过</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计划之外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的情况？（如：访谈对象临时放鸽子、材料不够用、原型制作中发现材料不匹配等）你们是如何应对的？</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5.2 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在创新方法工作坊的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验证中，你们是否发现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原来的假设不成立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？如果是，你们是怎么处理的？</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5.3 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整体来看，你们团队在应对意外情况时，是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有预案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还是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随机应变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？哪种方式效果更好？</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963877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899592" y="1635646"/>
            <a:ext cx="6969461" cy="3145476"/>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六部分：整体复盘</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6.1 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如果用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1-10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分为最高）评价前序两个工作坊中你们团队的协作效率，你会打几分？为什么？</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6.2 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如果让现在的你回到设计思维工作坊的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原型制作</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阶段，你会对团队提出哪</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条关于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管理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的建议？（不是关于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方案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的建议，而是关于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怎么做事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的建议）</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我的回答：</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痛点分析与价值提炼（</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请基于你在子任务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中完成的全部回答，按以下步骤完成个人分析：</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第一步：个人痛点聚焦与后果分析（</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回顾你在前序所有回答中提到的协作困境，选出你认为最迫切需要解决的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个痛点，填写《个人痛点分析表》</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936012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899592" y="1635646"/>
            <a:ext cx="6969461" cy="292709"/>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个人痛点分析表》模板</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672241907"/>
              </p:ext>
            </p:extLst>
          </p:nvPr>
        </p:nvGraphicFramePr>
        <p:xfrm>
          <a:off x="899592" y="1928355"/>
          <a:ext cx="5616624" cy="1056668"/>
        </p:xfrm>
        <a:graphic>
          <a:graphicData uri="http://schemas.openxmlformats.org/drawingml/2006/table">
            <a:tbl>
              <a:tblPr firstRow="1" firstCol="1" bandRow="1">
                <a:tableStyleId>{5C22544A-7EE6-4342-B048-85BDC9FD1C3A}</a:tableStyleId>
              </a:tblPr>
              <a:tblGrid>
                <a:gridCol w="1944216">
                  <a:extLst>
                    <a:ext uri="{9D8B030D-6E8A-4147-A177-3AD203B41FA5}">
                      <a16:colId xmlns:a16="http://schemas.microsoft.com/office/drawing/2014/main" val="2532624447"/>
                    </a:ext>
                  </a:extLst>
                </a:gridCol>
                <a:gridCol w="3672408">
                  <a:extLst>
                    <a:ext uri="{9D8B030D-6E8A-4147-A177-3AD203B41FA5}">
                      <a16:colId xmlns:a16="http://schemas.microsoft.com/office/drawing/2014/main" val="3842580991"/>
                    </a:ext>
                  </a:extLst>
                </a:gridCol>
              </a:tblGrid>
              <a:tr h="240964">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问题</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我的回答</a:t>
                      </a:r>
                    </a:p>
                  </a:txBody>
                  <a:tcPr marL="72000" marR="72000" marT="36000" marB="36000" anchor="ctr"/>
                </a:tc>
                <a:extLst>
                  <a:ext uri="{0D108BD9-81ED-4DB2-BD59-A6C34878D82A}">
                    <a16:rowId xmlns:a16="http://schemas.microsoft.com/office/drawing/2014/main" val="981322211"/>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最迫切需要解决的痛点</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句话描述该痛点发生的具体场景）</a:t>
                      </a:r>
                    </a:p>
                  </a:txBody>
                  <a:tcPr marL="72000" marR="72000" marT="36000" marB="36000" anchor="ctr"/>
                </a:tc>
                <a:extLst>
                  <a:ext uri="{0D108BD9-81ED-4DB2-BD59-A6C34878D82A}">
                    <a16:rowId xmlns:a16="http://schemas.microsoft.com/office/drawing/2014/main" val="1102959528"/>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不解决的最严重后果是什么？</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（描述若不解决将如何影响团队协作或项目推进）</a:t>
                      </a:r>
                    </a:p>
                  </a:txBody>
                  <a:tcPr marL="72000" marR="72000" marT="36000" marB="36000" anchor="ctr"/>
                </a:tc>
                <a:extLst>
                  <a:ext uri="{0D108BD9-81ED-4DB2-BD59-A6C34878D82A}">
                    <a16:rowId xmlns:a16="http://schemas.microsoft.com/office/drawing/2014/main" val="3108517825"/>
                  </a:ext>
                </a:extLst>
              </a:tr>
              <a:tr h="0">
                <a:tc>
                  <a:txBody>
                    <a:bodyPr/>
                    <a:lstStyle/>
                    <a:p>
                      <a:pPr marL="0" algn="l"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提前做什么可以避免？</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条具体、可操作的建议）</a:t>
                      </a:r>
                    </a:p>
                  </a:txBody>
                  <a:tcPr marL="72000" marR="72000" marT="36000" marB="36000" anchor="ctr"/>
                </a:tc>
                <a:extLst>
                  <a:ext uri="{0D108BD9-81ED-4DB2-BD59-A6C34878D82A}">
                    <a16:rowId xmlns:a16="http://schemas.microsoft.com/office/drawing/2014/main" val="3803446398"/>
                  </a:ext>
                </a:extLst>
              </a:tr>
            </a:tbl>
          </a:graphicData>
        </a:graphic>
      </p:graphicFrame>
      <p:sp>
        <p:nvSpPr>
          <p:cNvPr id="6" name="矩形 5"/>
          <p:cNvSpPr/>
          <p:nvPr/>
        </p:nvSpPr>
        <p:spPr>
          <a:xfrm>
            <a:off x="903958" y="3012956"/>
            <a:ext cx="6260330" cy="313932"/>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分标准：</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664541280"/>
              </p:ext>
            </p:extLst>
          </p:nvPr>
        </p:nvGraphicFramePr>
        <p:xfrm>
          <a:off x="899592" y="3350088"/>
          <a:ext cx="8064896" cy="1344700"/>
        </p:xfrm>
        <a:graphic>
          <a:graphicData uri="http://schemas.openxmlformats.org/drawingml/2006/table">
            <a:tbl>
              <a:tblPr firstRow="1" firstCol="1" bandRow="1">
                <a:tableStyleId>{5C22544A-7EE6-4342-B048-85BDC9FD1C3A}</a:tableStyleId>
              </a:tblPr>
              <a:tblGrid>
                <a:gridCol w="2304256">
                  <a:extLst>
                    <a:ext uri="{9D8B030D-6E8A-4147-A177-3AD203B41FA5}">
                      <a16:colId xmlns:a16="http://schemas.microsoft.com/office/drawing/2014/main" val="2532624447"/>
                    </a:ext>
                  </a:extLst>
                </a:gridCol>
                <a:gridCol w="504056">
                  <a:extLst>
                    <a:ext uri="{9D8B030D-6E8A-4147-A177-3AD203B41FA5}">
                      <a16:colId xmlns:a16="http://schemas.microsoft.com/office/drawing/2014/main" val="3906738442"/>
                    </a:ext>
                  </a:extLst>
                </a:gridCol>
                <a:gridCol w="5256584">
                  <a:extLst>
                    <a:ext uri="{9D8B030D-6E8A-4147-A177-3AD203B41FA5}">
                      <a16:colId xmlns:a16="http://schemas.microsoft.com/office/drawing/2014/main" val="3842580991"/>
                    </a:ext>
                  </a:extLst>
                </a:gridCol>
              </a:tblGrid>
              <a:tr h="240964">
                <a:tc>
                  <a:txBody>
                    <a:bodyPr/>
                    <a:lstStyle/>
                    <a:p>
                      <a:pPr algn="ctr">
                        <a:lnSpc>
                          <a:spcPct val="100000"/>
                        </a:lnSpc>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评分项</a:t>
                      </a: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分值</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评分标准</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extLst>
                  <a:ext uri="{0D108BD9-81ED-4DB2-BD59-A6C34878D82A}">
                    <a16:rowId xmlns:a16="http://schemas.microsoft.com/office/drawing/2014/main" val="981322211"/>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痛点描述具体、基于真实经历</a:t>
                      </a:r>
                    </a:p>
                  </a:txBody>
                  <a:tcPr marL="68580" marR="68580" marT="0" marB="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68580" marR="68580" marT="0" marB="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有具体场景描述</a:t>
                      </a:r>
                    </a:p>
                  </a:txBody>
                  <a:tcPr marL="68580" marR="68580" marT="0" marB="0" anchor="ctr"/>
                </a:tc>
                <a:extLst>
                  <a:ext uri="{0D108BD9-81ED-4DB2-BD59-A6C34878D82A}">
                    <a16:rowId xmlns:a16="http://schemas.microsoft.com/office/drawing/2014/main" val="1102959528"/>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后果分析有深度、与痛点直接相关</a:t>
                      </a:r>
                    </a:p>
                  </a:txBody>
                  <a:tcPr marL="68580" marR="68580" marT="0" marB="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68580" marR="68580" marT="0" marB="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分析具体，能体现对团队或项目的影响</a:t>
                      </a:r>
                    </a:p>
                  </a:txBody>
                  <a:tcPr marL="68580" marR="68580" marT="0" marB="0" anchor="ctr"/>
                </a:tc>
                <a:extLst>
                  <a:ext uri="{0D108BD9-81ED-4DB2-BD59-A6C34878D82A}">
                    <a16:rowId xmlns:a16="http://schemas.microsoft.com/office/drawing/2014/main" val="2573135686"/>
                  </a:ext>
                </a:extLst>
              </a:tr>
              <a:tr h="288032">
                <a:tc>
                  <a:txBody>
                    <a:bodyPr/>
                    <a:lstStyle/>
                    <a:p>
                      <a:pPr marL="0" algn="l" defTabSz="914400" rtl="0" eaLnBrk="1" latinLnBrk="0" hangingPunct="1">
                        <a:lnSpc>
                          <a:spcPct val="10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建议具体可操作、针对性强</a:t>
                      </a:r>
                    </a:p>
                  </a:txBody>
                  <a:tcPr marL="68580" marR="68580" marT="0" marB="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68580" marR="68580" marT="0" marB="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建议具体可执行（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分）；较笼统如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加强沟通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分）；无建议或与痛点无关（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68580" marR="68580" marT="0" marB="0" anchor="ctr"/>
                </a:tc>
                <a:extLst>
                  <a:ext uri="{0D108BD9-81ED-4DB2-BD59-A6C34878D82A}">
                    <a16:rowId xmlns:a16="http://schemas.microsoft.com/office/drawing/2014/main" val="3108517825"/>
                  </a:ext>
                </a:extLst>
              </a:tr>
              <a:tr h="0">
                <a:tc>
                  <a:txBody>
                    <a:bodyPr/>
                    <a:lstStyle/>
                    <a:p>
                      <a:pPr marL="0" algn="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p>
                  </a:txBody>
                  <a:tcPr marL="72000" marR="72000" marT="36000" marB="36000"/>
                </a:tc>
                <a:tc gridSpan="2">
                  <a:txBody>
                    <a:bodyPr/>
                    <a:lstStyle/>
                    <a:p>
                      <a:pPr algn="l">
                        <a:lnSpc>
                          <a:spcPct val="100000"/>
                        </a:lnSpc>
                        <a:spcAft>
                          <a:spcPts val="0"/>
                        </a:spcAft>
                      </a:pPr>
                      <a:r>
                        <a:rPr lang="en-US" sz="1100" kern="0" smtClean="0">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smtClean="0">
                          <a:effectLst/>
                          <a:latin typeface="Times New Roman" panose="02020603050405020304" pitchFamily="18" charset="0"/>
                          <a:ea typeface="仿宋" panose="02010609060101010101" pitchFamily="49" charset="-122"/>
                          <a:cs typeface="Times New Roman" panose="02020603050405020304" pitchFamily="18" charset="0"/>
                        </a:rPr>
                        <a:t>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hMerge="1">
                  <a:txBody>
                    <a:bodyPr/>
                    <a:lstStyle/>
                    <a:p>
                      <a:endParaRPr lang="zh-CN" altLang="en-US"/>
                    </a:p>
                  </a:txBody>
                  <a:tcPr/>
                </a:tc>
                <a:extLst>
                  <a:ext uri="{0D108BD9-81ED-4DB2-BD59-A6C34878D82A}">
                    <a16:rowId xmlns:a16="http://schemas.microsoft.com/office/drawing/2014/main" val="3803446398"/>
                  </a:ext>
                </a:extLst>
              </a:tr>
            </a:tbl>
          </a:graphicData>
        </a:graphic>
      </p:graphicFrame>
    </p:spTree>
    <p:extLst>
      <p:ext uri="{BB962C8B-B14F-4D97-AF65-F5344CB8AC3E}">
        <p14:creationId xmlns:p14="http://schemas.microsoft.com/office/powerpoint/2010/main" val="32311702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899592" y="1635646"/>
            <a:ext cx="7429198" cy="1729704"/>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第二步：一句话总结</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项目管理的核心价值（</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请用一句话回答以下问题：</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如果用一句话告诉还没有学过项目管理的同学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项目管理能帮我们解决什么问题？它最核心的价值是什么？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要求：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这句话须同时体现项目管理的作用对象（解决什么问题）与核心价值（为什么重要）。</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p>
        </p:txBody>
      </p:sp>
      <p:graphicFrame>
        <p:nvGraphicFramePr>
          <p:cNvPr id="9" name="表格 8"/>
          <p:cNvGraphicFramePr>
            <a:graphicFrameLocks noGrp="1"/>
          </p:cNvGraphicFramePr>
          <p:nvPr>
            <p:extLst>
              <p:ext uri="{D42A27DB-BD31-4B8C-83A1-F6EECF244321}">
                <p14:modId xmlns:p14="http://schemas.microsoft.com/office/powerpoint/2010/main" val="1842485966"/>
              </p:ext>
            </p:extLst>
          </p:nvPr>
        </p:nvGraphicFramePr>
        <p:xfrm>
          <a:off x="899592" y="3350088"/>
          <a:ext cx="7416824" cy="1344700"/>
        </p:xfrm>
        <a:graphic>
          <a:graphicData uri="http://schemas.openxmlformats.org/drawingml/2006/table">
            <a:tbl>
              <a:tblPr firstRow="1" firstCol="1" bandRow="1">
                <a:tableStyleId>{5C22544A-7EE6-4342-B048-85BDC9FD1C3A}</a:tableStyleId>
              </a:tblPr>
              <a:tblGrid>
                <a:gridCol w="792088">
                  <a:extLst>
                    <a:ext uri="{9D8B030D-6E8A-4147-A177-3AD203B41FA5}">
                      <a16:colId xmlns:a16="http://schemas.microsoft.com/office/drawing/2014/main" val="2532624447"/>
                    </a:ext>
                  </a:extLst>
                </a:gridCol>
                <a:gridCol w="504056">
                  <a:extLst>
                    <a:ext uri="{9D8B030D-6E8A-4147-A177-3AD203B41FA5}">
                      <a16:colId xmlns:a16="http://schemas.microsoft.com/office/drawing/2014/main" val="3906738442"/>
                    </a:ext>
                  </a:extLst>
                </a:gridCol>
                <a:gridCol w="6120680">
                  <a:extLst>
                    <a:ext uri="{9D8B030D-6E8A-4147-A177-3AD203B41FA5}">
                      <a16:colId xmlns:a16="http://schemas.microsoft.com/office/drawing/2014/main" val="3842580991"/>
                    </a:ext>
                  </a:extLst>
                </a:gridCol>
              </a:tblGrid>
              <a:tr h="240964">
                <a:tc>
                  <a:txBody>
                    <a:bodyPr/>
                    <a:lstStyle/>
                    <a:p>
                      <a:pPr algn="ctr">
                        <a:lnSpc>
                          <a:spcPct val="100000"/>
                        </a:lnSpc>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评分项</a:t>
                      </a: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分值</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评分标准</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extLst>
                  <a:ext uri="{0D108BD9-81ED-4DB2-BD59-A6C34878D82A}">
                    <a16:rowId xmlns:a16="http://schemas.microsoft.com/office/drawing/2014/main" val="981322211"/>
                  </a:ext>
                </a:extLst>
              </a:tr>
              <a:tr h="28803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精炼度</a:t>
                      </a:r>
                    </a:p>
                  </a:txBody>
                  <a:tcPr marL="72000" marR="72000" marT="36000" marB="3600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一句话完成，不超过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分）；超过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extLst>
                  <a:ext uri="{0D108BD9-81ED-4DB2-BD59-A6C34878D82A}">
                    <a16:rowId xmlns:a16="http://schemas.microsoft.com/office/drawing/2014/main" val="1102959528"/>
                  </a:ext>
                </a:extLst>
              </a:tr>
              <a:tr h="28803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作用对象</a:t>
                      </a:r>
                    </a:p>
                  </a:txBody>
                  <a:tcPr marL="72000" marR="72000" marT="36000" marB="3600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清晰说明项目管理解决什么问题（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分）；表述笼统（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分）；未涉及（</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extLst>
                  <a:ext uri="{0D108BD9-81ED-4DB2-BD59-A6C34878D82A}">
                    <a16:rowId xmlns:a16="http://schemas.microsoft.com/office/drawing/2014/main" val="2573135686"/>
                  </a:ext>
                </a:extLst>
              </a:tr>
              <a:tr h="28803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核心价值</a:t>
                      </a:r>
                    </a:p>
                  </a:txBody>
                  <a:tcPr marL="72000" marR="72000" marT="36000" marB="36000" anchor="ctr"/>
                </a:tc>
                <a:tc>
                  <a:txBody>
                    <a:bodyPr/>
                    <a:lstStyle/>
                    <a:p>
                      <a:pPr marL="0" algn="ctr"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精准概括项目管理的本质价值（</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分）；表述笼统如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让项目成功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分）；未涉及（</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72000" marR="72000" marT="36000" marB="36000" anchor="ctr"/>
                </a:tc>
                <a:extLst>
                  <a:ext uri="{0D108BD9-81ED-4DB2-BD59-A6C34878D82A}">
                    <a16:rowId xmlns:a16="http://schemas.microsoft.com/office/drawing/2014/main" val="3108517825"/>
                  </a:ext>
                </a:extLst>
              </a:tr>
              <a:tr h="0">
                <a:tc>
                  <a:txBody>
                    <a:bodyPr/>
                    <a:lstStyle/>
                    <a:p>
                      <a:pPr marL="0" algn="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p>
                  </a:txBody>
                  <a:tcPr marL="72000" marR="72000" marT="36000" marB="36000"/>
                </a:tc>
                <a:tc gridSpan="2">
                  <a:txBody>
                    <a:bodyPr/>
                    <a:lstStyle/>
                    <a:p>
                      <a:pPr algn="l">
                        <a:lnSpc>
                          <a:spcPct val="100000"/>
                        </a:lnSpc>
                        <a:spcAft>
                          <a:spcPts val="0"/>
                        </a:spcAft>
                      </a:pPr>
                      <a:r>
                        <a:rPr lang="en-US" sz="1100" kern="0" smtClean="0">
                          <a:effectLst/>
                          <a:latin typeface="Times New Roman" panose="02020603050405020304" pitchFamily="18" charset="0"/>
                          <a:ea typeface="仿宋" panose="02010609060101010101" pitchFamily="49" charset="-122"/>
                          <a:cs typeface="Times New Roman" panose="02020603050405020304" pitchFamily="18" charset="0"/>
                        </a:rPr>
                        <a:t>  5</a:t>
                      </a:r>
                      <a:r>
                        <a:rPr lang="zh-CN" sz="1100" kern="0" smtClean="0">
                          <a:effectLst/>
                          <a:latin typeface="Times New Roman" panose="02020603050405020304" pitchFamily="18" charset="0"/>
                          <a:ea typeface="仿宋" panose="02010609060101010101" pitchFamily="49" charset="-122"/>
                          <a:cs typeface="Times New Roman" panose="02020603050405020304" pitchFamily="18" charset="0"/>
                        </a:rPr>
                        <a:t>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hMerge="1">
                  <a:txBody>
                    <a:bodyPr/>
                    <a:lstStyle/>
                    <a:p>
                      <a:endParaRPr lang="zh-CN" altLang="en-US"/>
                    </a:p>
                  </a:txBody>
                  <a:tcPr/>
                </a:tc>
                <a:extLst>
                  <a:ext uri="{0D108BD9-81ED-4DB2-BD59-A6C34878D82A}">
                    <a16:rowId xmlns:a16="http://schemas.microsoft.com/office/drawing/2014/main" val="3803446398"/>
                  </a:ext>
                </a:extLst>
              </a:tr>
            </a:tbl>
          </a:graphicData>
        </a:graphic>
      </p:graphicFrame>
    </p:spTree>
    <p:extLst>
      <p:ext uri="{BB962C8B-B14F-4D97-AF65-F5344CB8AC3E}">
        <p14:creationId xmlns:p14="http://schemas.microsoft.com/office/powerpoint/2010/main" val="28861461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87218" y="1635646"/>
            <a:ext cx="7429198" cy="1933543"/>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任务三：项目范围界定与任务分解初探（个体任务，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前序讨论中，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项目启动时的系统性迷茫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是学生普遍面临的核心挑战之一</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有了选题方向，却不知如何将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一个项目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拆解为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一系列可执行的任务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。本任务引导你运用范围管理思维，对竞赛项目的工作范围进行初步界定与分解，为课堂项目管理演练奠定认知基础。</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请以你所在竞赛团队已确定的竞赛选题方向为对象，独立完成以下工作：</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范围界定（</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请区分以下两类内容，分别列出至少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a:t>
            </a:r>
          </a:p>
        </p:txBody>
      </p:sp>
      <p:graphicFrame>
        <p:nvGraphicFramePr>
          <p:cNvPr id="2" name="表格 1"/>
          <p:cNvGraphicFramePr>
            <a:graphicFrameLocks noGrp="1"/>
          </p:cNvGraphicFramePr>
          <p:nvPr>
            <p:extLst>
              <p:ext uri="{D42A27DB-BD31-4B8C-83A1-F6EECF244321}">
                <p14:modId xmlns:p14="http://schemas.microsoft.com/office/powerpoint/2010/main" val="483428718"/>
              </p:ext>
            </p:extLst>
          </p:nvPr>
        </p:nvGraphicFramePr>
        <p:xfrm>
          <a:off x="899592" y="3642414"/>
          <a:ext cx="4608512" cy="817028"/>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val="1599501455"/>
                    </a:ext>
                  </a:extLst>
                </a:gridCol>
                <a:gridCol w="2952328">
                  <a:extLst>
                    <a:ext uri="{9D8B030D-6E8A-4147-A177-3AD203B41FA5}">
                      <a16:colId xmlns:a16="http://schemas.microsoft.com/office/drawing/2014/main" val="2468794707"/>
                    </a:ext>
                  </a:extLst>
                </a:gridCol>
              </a:tblGrid>
              <a:tr h="240964">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类别</a:t>
                      </a:r>
                    </a:p>
                  </a:txBody>
                  <a:tcPr marL="68580" marR="68580" marT="0" marB="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a:t>
                      </a:r>
                    </a:p>
                  </a:txBody>
                  <a:tcPr marL="68580" marR="68580" marT="0" marB="0" anchor="ctr"/>
                </a:tc>
                <a:extLst>
                  <a:ext uri="{0D108BD9-81ED-4DB2-BD59-A6C34878D82A}">
                    <a16:rowId xmlns:a16="http://schemas.microsoft.com/office/drawing/2014/main" val="2879864133"/>
                  </a:ext>
                </a:extLst>
              </a:tr>
              <a:tr h="28803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范围内（必须完成）</a:t>
                      </a:r>
                    </a:p>
                  </a:txBody>
                  <a:tcPr marL="68580" marR="68580" marT="0" marB="0" anchor="ctr"/>
                </a:tc>
                <a:tc>
                  <a:txBody>
                    <a:bodyPr/>
                    <a:lstStyle/>
                    <a:p>
                      <a:pPr algn="l">
                        <a:spcAft>
                          <a:spcPts val="0"/>
                        </a:spcAft>
                      </a:pPr>
                      <a:r>
                        <a:rPr lang="zh-CN"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列出为完成竞赛项目必须做的工作（不少于</a:t>
                      </a: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项）</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7844717"/>
                  </a:ext>
                </a:extLst>
              </a:tr>
              <a:tr h="28803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范围外（明确不做的）</a:t>
                      </a:r>
                    </a:p>
                  </a:txBody>
                  <a:tcPr marL="68580" marR="68580" marT="0" marB="0" anchor="ctr"/>
                </a:tc>
                <a:tc>
                  <a:txBody>
                    <a:bodyPr/>
                    <a:lstStyle/>
                    <a:p>
                      <a:pPr algn="l">
                        <a:spcAft>
                          <a:spcPts val="0"/>
                        </a:spcAft>
                      </a:pPr>
                      <a:r>
                        <a:rPr lang="zh-CN"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列出虽有关联但本次竞赛暂不做的工作（不少于</a:t>
                      </a: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项）</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63726440"/>
                  </a:ext>
                </a:extLst>
              </a:tr>
            </a:tbl>
          </a:graphicData>
        </a:graphic>
      </p:graphicFrame>
      <p:sp>
        <p:nvSpPr>
          <p:cNvPr id="3" name="矩形 2"/>
          <p:cNvSpPr/>
          <p:nvPr/>
        </p:nvSpPr>
        <p:spPr>
          <a:xfrm>
            <a:off x="899592" y="4541424"/>
            <a:ext cx="7560840" cy="313932"/>
          </a:xfrm>
          <a:prstGeom prst="rect">
            <a:avLst/>
          </a:prstGeom>
        </p:spPr>
        <p:txBody>
          <a:bodyPr wrap="square">
            <a:spAutoFit/>
          </a:bodyPr>
          <a:lstStyle/>
          <a:p>
            <a:pPr algn="just">
              <a:lnSpc>
                <a:spcPct val="120000"/>
              </a:lnSpc>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范围内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外各列</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项且界定清晰（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分）；每列每缺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项扣</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分，扣完为止；某列不足</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项该列得</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a:t>
            </a:r>
          </a:p>
        </p:txBody>
      </p:sp>
    </p:spTree>
    <p:extLst>
      <p:ext uri="{BB962C8B-B14F-4D97-AF65-F5344CB8AC3E}">
        <p14:creationId xmlns:p14="http://schemas.microsoft.com/office/powerpoint/2010/main" val="28582236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99592" y="1635646"/>
            <a:ext cx="7272808" cy="612475"/>
          </a:xfrm>
          <a:prstGeom prst="rect">
            <a:avLst/>
          </a:prstGeom>
        </p:spPr>
        <p:txBody>
          <a:bodyPr wrap="square">
            <a:spAutoFit/>
          </a:bodyPr>
          <a:lstStyle/>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第一级任务分解（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请将项目划分为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个主要阶段，并为每个阶段命名，注明该阶段的核心交付物。</a:t>
            </a:r>
          </a:p>
        </p:txBody>
      </p:sp>
      <p:graphicFrame>
        <p:nvGraphicFramePr>
          <p:cNvPr id="6" name="表格 5"/>
          <p:cNvGraphicFramePr>
            <a:graphicFrameLocks noGrp="1"/>
          </p:cNvGraphicFramePr>
          <p:nvPr>
            <p:extLst>
              <p:ext uri="{D42A27DB-BD31-4B8C-83A1-F6EECF244321}">
                <p14:modId xmlns:p14="http://schemas.microsoft.com/office/powerpoint/2010/main" val="1557691502"/>
              </p:ext>
            </p:extLst>
          </p:nvPr>
        </p:nvGraphicFramePr>
        <p:xfrm>
          <a:off x="899592" y="2290512"/>
          <a:ext cx="7416824" cy="1681124"/>
        </p:xfrm>
        <a:graphic>
          <a:graphicData uri="http://schemas.openxmlformats.org/drawingml/2006/table">
            <a:tbl>
              <a:tblPr firstRow="1" firstCol="1" bandRow="1">
                <a:tableStyleId>{5C22544A-7EE6-4342-B048-85BDC9FD1C3A}</a:tableStyleId>
              </a:tblPr>
              <a:tblGrid>
                <a:gridCol w="792088">
                  <a:extLst>
                    <a:ext uri="{9D8B030D-6E8A-4147-A177-3AD203B41FA5}">
                      <a16:colId xmlns:a16="http://schemas.microsoft.com/office/drawing/2014/main" val="2532624447"/>
                    </a:ext>
                  </a:extLst>
                </a:gridCol>
                <a:gridCol w="1800200">
                  <a:extLst>
                    <a:ext uri="{9D8B030D-6E8A-4147-A177-3AD203B41FA5}">
                      <a16:colId xmlns:a16="http://schemas.microsoft.com/office/drawing/2014/main" val="3906738442"/>
                    </a:ext>
                  </a:extLst>
                </a:gridCol>
                <a:gridCol w="4824536">
                  <a:extLst>
                    <a:ext uri="{9D8B030D-6E8A-4147-A177-3AD203B41FA5}">
                      <a16:colId xmlns:a16="http://schemas.microsoft.com/office/drawing/2014/main" val="3842580991"/>
                    </a:ext>
                  </a:extLst>
                </a:gridCol>
              </a:tblGrid>
              <a:tr h="240964">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阶段</a:t>
                      </a:r>
                    </a:p>
                  </a:txBody>
                  <a:tcPr marL="68580" marR="68580" marT="0" marB="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阶段名称</a:t>
                      </a:r>
                    </a:p>
                  </a:txBody>
                  <a:tcPr marL="68580" marR="68580" marT="0" marB="0" anchor="ctr"/>
                </a:tc>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核心交付物</a:t>
                      </a:r>
                    </a:p>
                  </a:txBody>
                  <a:tcPr marL="68580" marR="68580" marT="0" marB="0" anchor="ctr"/>
                </a:tc>
                <a:extLst>
                  <a:ext uri="{0D108BD9-81ED-4DB2-BD59-A6C34878D82A}">
                    <a16:rowId xmlns:a16="http://schemas.microsoft.com/office/drawing/2014/main" val="981322211"/>
                  </a:ext>
                </a:extLst>
              </a:tr>
              <a:tr h="288032">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rPr>
                        <a:t>1</a:t>
                      </a:r>
                      <a:endParaRPr lang="zh-CN"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0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02959528"/>
                  </a:ext>
                </a:extLst>
              </a:tr>
              <a:tr h="288032">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rPr>
                        <a:t>2</a:t>
                      </a:r>
                      <a:endParaRPr lang="zh-CN"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0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73135686"/>
                  </a:ext>
                </a:extLst>
              </a:tr>
              <a:tr h="288032">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rPr>
                        <a:t>3</a:t>
                      </a:r>
                      <a:endParaRPr lang="zh-CN"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0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8437023"/>
                  </a:ext>
                </a:extLst>
              </a:tr>
              <a:tr h="288032">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rPr>
                        <a:t>4</a:t>
                      </a:r>
                      <a:endParaRPr lang="zh-CN"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0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10208110"/>
                  </a:ext>
                </a:extLst>
              </a:tr>
              <a:tr h="288032">
                <a:tc>
                  <a:txBody>
                    <a:bodyPr/>
                    <a:lstStyle/>
                    <a:p>
                      <a:pPr marL="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rPr>
                        <a:t>5</a:t>
                      </a:r>
                      <a:endParaRPr lang="zh-CN"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0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08517825"/>
                  </a:ext>
                </a:extLst>
              </a:tr>
            </a:tbl>
          </a:graphicData>
        </a:graphic>
      </p:graphicFrame>
      <p:sp>
        <p:nvSpPr>
          <p:cNvPr id="2" name="矩形 1"/>
          <p:cNvSpPr/>
          <p:nvPr/>
        </p:nvSpPr>
        <p:spPr>
          <a:xfrm>
            <a:off x="899592" y="4027108"/>
            <a:ext cx="7356570" cy="535531"/>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阶段划分合理（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个阶段），核心交付物明确（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分）；阶段数不足</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个或超过</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个酌情扣分；核心交付物与阶段名称不对应酌情扣分。</a:t>
            </a:r>
          </a:p>
        </p:txBody>
      </p:sp>
    </p:spTree>
    <p:extLst>
      <p:ext uri="{BB962C8B-B14F-4D97-AF65-F5344CB8AC3E}">
        <p14:creationId xmlns:p14="http://schemas.microsoft.com/office/powerpoint/2010/main" val="14820421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87218" y="1635646"/>
            <a:ext cx="7069158" cy="1933543"/>
          </a:xfrm>
          <a:prstGeom prst="rect">
            <a:avLst/>
          </a:prstGeom>
        </p:spPr>
        <p:txBody>
          <a:bodyPr wrap="square">
            <a:spAutoFit/>
          </a:bodyPr>
          <a:lstStyle/>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个人痛点预判（</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基于上述范围界定与阶段划分，回答以下问题：</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你认为在上述工作中，哪个阶段最容易出现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范围蔓延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（即做了不该做的事，或不断新增需求）？为什么？（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如果让你选择，你希望在课堂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泡茶项目管理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演练中重点体验哪个项目管理工具（如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分解、甘特图与关键路径、风险登记册等）？为什么？（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2006714414"/>
              </p:ext>
            </p:extLst>
          </p:nvPr>
        </p:nvGraphicFramePr>
        <p:xfrm>
          <a:off x="971600" y="3580826"/>
          <a:ext cx="7416824" cy="1151164"/>
        </p:xfrm>
        <a:graphic>
          <a:graphicData uri="http://schemas.openxmlformats.org/drawingml/2006/table">
            <a:tbl>
              <a:tblPr firstRow="1" firstCol="1" bandRow="1">
                <a:tableStyleId>{5C22544A-7EE6-4342-B048-85BDC9FD1C3A}</a:tableStyleId>
              </a:tblPr>
              <a:tblGrid>
                <a:gridCol w="1800200">
                  <a:extLst>
                    <a:ext uri="{9D8B030D-6E8A-4147-A177-3AD203B41FA5}">
                      <a16:colId xmlns:a16="http://schemas.microsoft.com/office/drawing/2014/main" val="2532624447"/>
                    </a:ext>
                  </a:extLst>
                </a:gridCol>
                <a:gridCol w="504056">
                  <a:extLst>
                    <a:ext uri="{9D8B030D-6E8A-4147-A177-3AD203B41FA5}">
                      <a16:colId xmlns:a16="http://schemas.microsoft.com/office/drawing/2014/main" val="3906738442"/>
                    </a:ext>
                  </a:extLst>
                </a:gridCol>
                <a:gridCol w="5112568">
                  <a:extLst>
                    <a:ext uri="{9D8B030D-6E8A-4147-A177-3AD203B41FA5}">
                      <a16:colId xmlns:a16="http://schemas.microsoft.com/office/drawing/2014/main" val="3842580991"/>
                    </a:ext>
                  </a:extLst>
                </a:gridCol>
              </a:tblGrid>
              <a:tr h="240964">
                <a:tc>
                  <a:txBody>
                    <a:bodyPr/>
                    <a:lstStyle/>
                    <a:p>
                      <a:pPr algn="ctr">
                        <a:lnSpc>
                          <a:spcPct val="100000"/>
                        </a:lnSpc>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评分项</a:t>
                      </a: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分值</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tc>
                  <a:txBody>
                    <a:bodyPr/>
                    <a:lstStyle/>
                    <a:p>
                      <a:pPr algn="ctr">
                        <a:lnSpc>
                          <a:spcPct val="100000"/>
                        </a:lnSpc>
                        <a:spcAft>
                          <a:spcPts val="0"/>
                        </a:spcAft>
                      </a:pPr>
                      <a:r>
                        <a:rPr lang="zh-CN" sz="1100" kern="100">
                          <a:effectLst/>
                          <a:latin typeface="微软雅黑" panose="020B0503020204020204" pitchFamily="34" charset="-122"/>
                          <a:ea typeface="微软雅黑" panose="020B0503020204020204" pitchFamily="34" charset="-122"/>
                        </a:rPr>
                        <a:t>评分标准</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nchorCtr="1"/>
                </a:tc>
                <a:extLst>
                  <a:ext uri="{0D108BD9-81ED-4DB2-BD59-A6C34878D82A}">
                    <a16:rowId xmlns:a16="http://schemas.microsoft.com/office/drawing/2014/main" val="981322211"/>
                  </a:ext>
                </a:extLst>
              </a:tr>
              <a:tr h="28803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问题①：阶段判断与理由</a:t>
                      </a:r>
                    </a:p>
                  </a:txBody>
                  <a:tcPr marL="68580" marR="68580" marT="0" marB="0" anchor="ctr"/>
                </a:tc>
                <a:tc>
                  <a:txBody>
                    <a:bodyPr/>
                    <a:lstStyle/>
                    <a:p>
                      <a:pPr marL="0" algn="l"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7</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68580" marR="68580" marT="0" marB="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有明确的阶段选择且有具体理由（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7</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分）；有选择但理由笼统（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分）；无选择或理由与问题无关（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68580" marR="68580" marT="0" marB="0" anchor="ctr"/>
                </a:tc>
                <a:extLst>
                  <a:ext uri="{0D108BD9-81ED-4DB2-BD59-A6C34878D82A}">
                    <a16:rowId xmlns:a16="http://schemas.microsoft.com/office/drawing/2014/main" val="1102959528"/>
                  </a:ext>
                </a:extLst>
              </a:tr>
              <a:tr h="28803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问题②：工具选择与理由</a:t>
                      </a:r>
                    </a:p>
                  </a:txBody>
                  <a:tcPr marL="68580" marR="68580" marT="0" marB="0" anchor="ctr"/>
                </a:tc>
                <a:tc>
                  <a:txBody>
                    <a:bodyPr/>
                    <a:lstStyle/>
                    <a:p>
                      <a:pPr marL="0" algn="l" defTabSz="914400" rtl="0" eaLnBrk="1" latinLnBrk="0" hangingPunct="1">
                        <a:lnSpc>
                          <a:spcPct val="10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68580" marR="68580" marT="0" marB="0" anchor="ctr"/>
                </a:tc>
                <a:tc>
                  <a:txBody>
                    <a:bodyPr/>
                    <a:lstStyle/>
                    <a:p>
                      <a:pPr marL="0" algn="l" defTabSz="914400" rtl="0" eaLnBrk="1" latinLnBrk="0" hangingPunct="1">
                        <a:lnSpc>
                          <a:spcPct val="10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有明确的工具选择且有具体理由（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分）；有选择但理由笼统（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分）；无选择或理由与问题无关（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p>
                  </a:txBody>
                  <a:tcPr marL="68580" marR="68580" marT="0" marB="0" anchor="ctr"/>
                </a:tc>
                <a:extLst>
                  <a:ext uri="{0D108BD9-81ED-4DB2-BD59-A6C34878D82A}">
                    <a16:rowId xmlns:a16="http://schemas.microsoft.com/office/drawing/2014/main" val="2573135686"/>
                  </a:ext>
                </a:extLst>
              </a:tr>
              <a:tr h="0">
                <a:tc>
                  <a:txBody>
                    <a:bodyPr/>
                    <a:lstStyle/>
                    <a:p>
                      <a:pPr marL="0" algn="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p>
                  </a:txBody>
                  <a:tcPr marL="72000" marR="72000" marT="36000" marB="36000"/>
                </a:tc>
                <a:tc gridSpan="2">
                  <a:txBody>
                    <a:bodyPr/>
                    <a:lstStyle/>
                    <a:p>
                      <a:pPr algn="l">
                        <a:lnSpc>
                          <a:spcPct val="100000"/>
                        </a:lnSpc>
                        <a:spcAft>
                          <a:spcPts val="0"/>
                        </a:spcAft>
                      </a:pPr>
                      <a:r>
                        <a:rPr lang="en-US" sz="1100" kern="0" smtClean="0">
                          <a:effectLst/>
                          <a:latin typeface="Times New Roman" panose="02020603050405020304" pitchFamily="18" charset="0"/>
                          <a:ea typeface="仿宋" panose="02010609060101010101" pitchFamily="49" charset="-122"/>
                          <a:cs typeface="Times New Roman" panose="02020603050405020304" pitchFamily="18" charset="0"/>
                        </a:rPr>
                        <a:t>  15</a:t>
                      </a:r>
                      <a:r>
                        <a:rPr lang="zh-CN" sz="1100" kern="0" smtClean="0">
                          <a:effectLst/>
                          <a:latin typeface="Times New Roman" panose="02020603050405020304" pitchFamily="18" charset="0"/>
                          <a:ea typeface="仿宋" panose="02010609060101010101" pitchFamily="49" charset="-122"/>
                          <a:cs typeface="Times New Roman" panose="02020603050405020304" pitchFamily="18" charset="0"/>
                        </a:rPr>
                        <a:t>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tc>
                <a:tc hMerge="1">
                  <a:txBody>
                    <a:bodyPr/>
                    <a:lstStyle/>
                    <a:p>
                      <a:endParaRPr lang="zh-CN" altLang="en-US"/>
                    </a:p>
                  </a:txBody>
                  <a:tcPr/>
                </a:tc>
                <a:extLst>
                  <a:ext uri="{0D108BD9-81ED-4DB2-BD59-A6C34878D82A}">
                    <a16:rowId xmlns:a16="http://schemas.microsoft.com/office/drawing/2014/main" val="3803446398"/>
                  </a:ext>
                </a:extLst>
              </a:tr>
            </a:tbl>
          </a:graphicData>
        </a:graphic>
      </p:graphicFrame>
    </p:spTree>
    <p:extLst>
      <p:ext uri="{BB962C8B-B14F-4D97-AF65-F5344CB8AC3E}">
        <p14:creationId xmlns:p14="http://schemas.microsoft.com/office/powerpoint/2010/main" val="20430122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923662" y="1635646"/>
            <a:ext cx="7464761" cy="2592288"/>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288290" indent="-288290" algn="l">
              <a:lnSpc>
                <a:spcPct val="120000"/>
              </a:lnSpc>
              <a:spcBef>
                <a:spcPts val="600"/>
              </a:spcBef>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项目管理核心概念</a:t>
            </a:r>
            <a:r>
              <a:rPr lang="zh-CN" altLang="zh-CN" sz="11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（三大特征、五大过程组、十大知识领域）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初步认知</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；前序痛点与项目管理知识领域的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映射关系建立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感性经验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概念框架</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认知跃迁</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；项目范围界定与第一级任务分解的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初步实践</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方案内容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讨论向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过程管理</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反思的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视角转换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临时性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独特性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渐进明细性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三者内涵的区分与关联</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理解</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；将真实协作困境准确归类至对应的项目管理知识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领域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；项目范围界定中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范围内</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范围外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边界的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判断标准</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endPar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8570573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99591" y="2253817"/>
            <a:ext cx="6989177" cy="461665"/>
          </a:xfrm>
          <a:prstGeom prst="rect">
            <a:avLst/>
          </a:prstGeom>
          <a:ln w="25400">
            <a:noFill/>
          </a:ln>
        </p:spPr>
        <p:txBody>
          <a:bodyPr wrap="square">
            <a:spAutoFit/>
          </a:bodyPr>
          <a:lstStyle/>
          <a:p>
            <a:pPr>
              <a:lnSpc>
                <a:spcPct val="120000"/>
              </a:lnSpc>
              <a:spcBef>
                <a:spcPts val="600"/>
              </a:spcBef>
              <a:buClr>
                <a:srgbClr val="0070C0"/>
              </a:buClr>
            </a:pPr>
            <a:r>
              <a:rPr lang="en-US" altLang="zh-CN" sz="1400">
                <a:solidFill>
                  <a:srgbClr val="0070C0"/>
                </a:solidFill>
                <a:latin typeface="微软雅黑" panose="020B0503020204020204" pitchFamily="34" charset="-122"/>
                <a:ea typeface="微软雅黑" panose="020B0503020204020204" pitchFamily="34" charset="-122"/>
              </a:rPr>
              <a:t>1.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项目管理工作坊</a:t>
            </a: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单元初级认知任务》</a:t>
            </a:r>
            <a:r>
              <a:rPr lang="zh-CN" altLang="zh-CN"/>
              <a:t> </a:t>
            </a:r>
            <a:r>
              <a:rPr lang="zh-CN" altLang="en-US" sz="1400">
                <a:solidFill>
                  <a:srgbClr val="0070C0"/>
                </a:solidFill>
                <a:latin typeface="微软雅黑" panose="020B0503020204020204" pitchFamily="34" charset="-122"/>
                <a:ea typeface="微软雅黑" panose="020B0503020204020204" pitchFamily="34" charset="-122"/>
              </a:rPr>
              <a:t>：</a:t>
            </a:r>
            <a:r>
              <a:rPr lang="en-US" altLang="zh-CN" sz="2000" b="1">
                <a:solidFill>
                  <a:srgbClr val="0070C0"/>
                </a:solidFill>
                <a:latin typeface="微软雅黑" panose="020B0503020204020204" pitchFamily="34" charset="-122"/>
                <a:ea typeface="微软雅黑" panose="020B0503020204020204" pitchFamily="34" charset="-122"/>
              </a:rPr>
              <a:t>1</a:t>
            </a:r>
            <a:r>
              <a:rPr lang="zh-CN" altLang="en-US" sz="1400">
                <a:solidFill>
                  <a:srgbClr val="0070C0"/>
                </a:solidFill>
                <a:latin typeface="微软雅黑" panose="020B0503020204020204" pitchFamily="34" charset="-122"/>
                <a:ea typeface="微软雅黑" panose="020B0503020204020204" pitchFamily="34" charset="-122"/>
              </a:rPr>
              <a:t>份</a:t>
            </a:r>
            <a:r>
              <a:rPr lang="zh-CN" altLang="en-US" sz="1100">
                <a:solidFill>
                  <a:srgbClr val="7030A0"/>
                </a:solidFill>
                <a:latin typeface="微软雅黑" panose="020B0503020204020204" pitchFamily="34" charset="-122"/>
                <a:ea typeface="微软雅黑" panose="020B0503020204020204" pitchFamily="34" charset="-122"/>
              </a:rPr>
              <a:t>（电子版，个体</a:t>
            </a:r>
            <a:r>
              <a:rPr lang="zh-CN" altLang="en-US" sz="1100" smtClean="0">
                <a:solidFill>
                  <a:srgbClr val="7030A0"/>
                </a:solidFill>
                <a:latin typeface="微软雅黑" panose="020B0503020204020204" pitchFamily="34" charset="-122"/>
                <a:ea typeface="微软雅黑" panose="020B0503020204020204" pitchFamily="34" charset="-122"/>
              </a:rPr>
              <a:t>）</a:t>
            </a:r>
            <a:endPar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899590" y="2892881"/>
            <a:ext cx="6994649" cy="830997"/>
          </a:xfrm>
          <a:prstGeom prst="rect">
            <a:avLst/>
          </a:prstGeom>
          <a:ln w="25400">
            <a:noFill/>
          </a:ln>
        </p:spPr>
        <p:txBody>
          <a:bodyPr wrap="square">
            <a:spAutoFit/>
          </a:bodyPr>
          <a:lstStyle/>
          <a:p>
            <a:pPr>
              <a:lnSpc>
                <a:spcPct val="120000"/>
              </a:lnSpc>
              <a:spcBef>
                <a:spcPts val="600"/>
              </a:spcBef>
            </a:pP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请同学们于</a:t>
            </a:r>
            <a:r>
              <a:rPr lang="en-US" altLang="zh-CN" sz="2000" b="1">
                <a:solidFill>
                  <a:srgbClr val="0070C0"/>
                </a:solidFill>
                <a:latin typeface="微软雅黑" panose="020B0503020204020204" pitchFamily="34" charset="-122"/>
                <a:ea typeface="微软雅黑" panose="020B0503020204020204" pitchFamily="34" charset="-122"/>
              </a:rPr>
              <a:t>2026</a:t>
            </a:r>
            <a:r>
              <a:rPr lang="zh-CN" altLang="zh-CN" sz="2000" b="1">
                <a:solidFill>
                  <a:srgbClr val="0070C0"/>
                </a:solidFill>
                <a:latin typeface="微软雅黑" panose="020B0503020204020204" pitchFamily="34" charset="-122"/>
                <a:ea typeface="微软雅黑" panose="020B0503020204020204" pitchFamily="34" charset="-122"/>
              </a:rPr>
              <a:t>年</a:t>
            </a:r>
            <a:r>
              <a:rPr lang="en-US" altLang="zh-CN" sz="2000" b="1" smtClean="0">
                <a:solidFill>
                  <a:srgbClr val="0070C0"/>
                </a:solidFill>
                <a:latin typeface="微软雅黑" panose="020B0503020204020204" pitchFamily="34" charset="-122"/>
                <a:ea typeface="微软雅黑" panose="020B0503020204020204" pitchFamily="34" charset="-122"/>
              </a:rPr>
              <a:t>08</a:t>
            </a:r>
            <a:r>
              <a:rPr lang="zh-CN" altLang="zh-CN" sz="2000" b="1" smtClean="0">
                <a:solidFill>
                  <a:srgbClr val="0070C0"/>
                </a:solidFill>
                <a:latin typeface="微软雅黑" panose="020B0503020204020204" pitchFamily="34" charset="-122"/>
                <a:ea typeface="微软雅黑" panose="020B0503020204020204" pitchFamily="34" charset="-122"/>
              </a:rPr>
              <a:t>月</a:t>
            </a:r>
            <a:r>
              <a:rPr lang="en-US" altLang="zh-CN" sz="2000" b="1" smtClean="0">
                <a:solidFill>
                  <a:srgbClr val="0070C0"/>
                </a:solidFill>
                <a:latin typeface="微软雅黑" panose="020B0503020204020204" pitchFamily="34" charset="-122"/>
                <a:ea typeface="微软雅黑" panose="020B0503020204020204" pitchFamily="34" charset="-122"/>
              </a:rPr>
              <a:t>24</a:t>
            </a:r>
            <a:r>
              <a:rPr lang="zh-CN" altLang="zh-CN" sz="2000" b="1" smtClean="0">
                <a:solidFill>
                  <a:srgbClr val="0070C0"/>
                </a:solidFill>
                <a:latin typeface="微软雅黑" panose="020B0503020204020204" pitchFamily="34" charset="-122"/>
                <a:ea typeface="微软雅黑" panose="020B0503020204020204" pitchFamily="34" charset="-122"/>
              </a:rPr>
              <a:t>日</a:t>
            </a:r>
            <a:r>
              <a:rPr lang="en-US" altLang="zh-CN" sz="2000" b="1" smtClean="0">
                <a:solidFill>
                  <a:srgbClr val="0070C0"/>
                </a:solidFill>
                <a:latin typeface="微软雅黑" panose="020B0503020204020204" pitchFamily="34" charset="-122"/>
                <a:ea typeface="微软雅黑" panose="020B0503020204020204" pitchFamily="34" charset="-122"/>
              </a:rPr>
              <a:t>16</a:t>
            </a:r>
            <a:r>
              <a:rPr lang="zh-CN" altLang="zh-CN" sz="2000" b="1" smtClean="0">
                <a:solidFill>
                  <a:srgbClr val="0070C0"/>
                </a:solidFill>
                <a:latin typeface="微软雅黑" panose="020B0503020204020204" pitchFamily="34" charset="-122"/>
                <a:ea typeface="微软雅黑" panose="020B0503020204020204" pitchFamily="34" charset="-122"/>
              </a:rPr>
              <a:t>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登录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实验教学和实验室综合管理系统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http://ugee.hust.edu.cn/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提交</a:t>
            </a: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项目管理工</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作坊</a:t>
            </a: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单元的全部</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课前</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学习成果。</a:t>
            </a:r>
          </a:p>
        </p:txBody>
      </p:sp>
      <p:sp>
        <p:nvSpPr>
          <p:cNvPr id="9" name="矩形 8"/>
          <p:cNvSpPr/>
          <p:nvPr/>
        </p:nvSpPr>
        <p:spPr>
          <a:xfrm>
            <a:off x="899592" y="1793844"/>
            <a:ext cx="7416824" cy="369332"/>
          </a:xfrm>
          <a:prstGeom prst="rect">
            <a:avLst/>
          </a:prstGeom>
        </p:spPr>
        <p:txBody>
          <a:bodyPr wrap="square">
            <a:spAutoFit/>
          </a:bodyPr>
          <a:lstStyle/>
          <a:p>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mtClean="0">
                <a:solidFill>
                  <a:srgbClr val="0070C0"/>
                </a:solidFill>
                <a:latin typeface="微软雅黑" panose="020B0503020204020204" charset="-122"/>
                <a:ea typeface="微软雅黑" panose="020B0503020204020204" charset="-122"/>
              </a:rPr>
              <a:t>项目管理工作坊</a:t>
            </a:r>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课前</a:t>
            </a:r>
            <a:r>
              <a:rPr lang="zh-CN" altLang="zh-C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任务</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清单及</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成果提交要求</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a:p>
        </p:txBody>
      </p:sp>
    </p:spTree>
    <p:extLst>
      <p:ext uri="{BB962C8B-B14F-4D97-AF65-F5344CB8AC3E}">
        <p14:creationId xmlns:p14="http://schemas.microsoft.com/office/powerpoint/2010/main" val="42662738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p:cNvSpPr txBox="1">
            <a:spLocks noChangeArrowheads="1"/>
          </p:cNvSpPr>
          <p:nvPr/>
        </p:nvSpPr>
        <p:spPr>
          <a:xfrm>
            <a:off x="1979712" y="915566"/>
            <a:ext cx="4464496" cy="1296144"/>
          </a:xfrm>
          <a:prstGeom prst="rect">
            <a:avLst/>
          </a:prstGeom>
          <a:noFill/>
          <a:ln w="9525">
            <a:noFill/>
          </a:ln>
        </p:spPr>
        <p:txBody>
          <a:bodyPr lIns="69056" tIns="34528" rIns="69056" bIns="34528" anchor="t"/>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kumimoji="1" sz="24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a:lstStyle>
          <a:p>
            <a:pPr marL="0" indent="0" algn="ctr" eaLnBrk="1" hangingPunct="1">
              <a:lnSpc>
                <a:spcPct val="114000"/>
              </a:lnSpc>
              <a:spcBef>
                <a:spcPts val="600"/>
              </a:spcBef>
              <a:buNone/>
            </a:pPr>
            <a:r>
              <a:rPr lang="zh-CN" altLang="en-US" sz="3600" smtClean="0">
                <a:solidFill>
                  <a:srgbClr val="0070C0"/>
                </a:solidFill>
                <a:latin typeface="微软雅黑" panose="020B0503020204020204" pitchFamily="34" charset="-122"/>
                <a:ea typeface="微软雅黑" panose="020B0503020204020204" pitchFamily="34" charset="-122"/>
              </a:rPr>
              <a:t>目标导向</a:t>
            </a:r>
            <a:endParaRPr lang="en-US" altLang="zh-CN" sz="3600" smtClean="0">
              <a:solidFill>
                <a:srgbClr val="0070C0"/>
              </a:solidFill>
              <a:latin typeface="微软雅黑" panose="020B0503020204020204" pitchFamily="34" charset="-122"/>
              <a:ea typeface="微软雅黑" panose="020B0503020204020204" pitchFamily="34" charset="-122"/>
            </a:endParaRPr>
          </a:p>
          <a:p>
            <a:pPr marL="0" indent="0" algn="ctr" eaLnBrk="1" hangingPunct="1">
              <a:lnSpc>
                <a:spcPct val="114000"/>
              </a:lnSpc>
              <a:spcBef>
                <a:spcPts val="600"/>
              </a:spcBef>
              <a:buNone/>
            </a:pPr>
            <a:r>
              <a:rPr lang="zh-CN" altLang="en-US" sz="3600" smtClean="0">
                <a:solidFill>
                  <a:srgbClr val="0070C0"/>
                </a:solidFill>
                <a:latin typeface="微软雅黑" panose="020B0503020204020204" pitchFamily="34" charset="-122"/>
                <a:ea typeface="微软雅黑" panose="020B0503020204020204" pitchFamily="34" charset="-122"/>
              </a:rPr>
              <a:t>法</a:t>
            </a:r>
            <a:r>
              <a:rPr lang="zh-CN" altLang="en-US" sz="3600" dirty="0">
                <a:solidFill>
                  <a:srgbClr val="0070C0"/>
                </a:solidFill>
                <a:latin typeface="微软雅黑" panose="020B0503020204020204" pitchFamily="34" charset="-122"/>
                <a:ea typeface="微软雅黑" panose="020B0503020204020204" pitchFamily="34" charset="-122"/>
              </a:rPr>
              <a:t>无</a:t>
            </a:r>
            <a:r>
              <a:rPr lang="zh-CN" altLang="en-US" sz="3600">
                <a:solidFill>
                  <a:srgbClr val="0070C0"/>
                </a:solidFill>
                <a:latin typeface="微软雅黑" panose="020B0503020204020204" pitchFamily="34" charset="-122"/>
                <a:ea typeface="微软雅黑" panose="020B0503020204020204" pitchFamily="34" charset="-122"/>
              </a:rPr>
              <a:t>定</a:t>
            </a:r>
            <a:r>
              <a:rPr lang="zh-CN" altLang="en-US" sz="3600" smtClean="0">
                <a:solidFill>
                  <a:srgbClr val="0070C0"/>
                </a:solidFill>
                <a:latin typeface="微软雅黑" panose="020B0503020204020204" pitchFamily="34" charset="-122"/>
                <a:ea typeface="微软雅黑" panose="020B0503020204020204" pitchFamily="34" charset="-122"/>
              </a:rPr>
              <a:t>法，万</a:t>
            </a:r>
            <a:r>
              <a:rPr lang="zh-CN" altLang="en-US" sz="3600" dirty="0">
                <a:solidFill>
                  <a:srgbClr val="0070C0"/>
                </a:solidFill>
                <a:latin typeface="微软雅黑" panose="020B0503020204020204" pitchFamily="34" charset="-122"/>
                <a:ea typeface="微软雅黑" panose="020B0503020204020204" pitchFamily="34" charset="-122"/>
              </a:rPr>
              <a:t>法</a:t>
            </a:r>
            <a:r>
              <a:rPr lang="zh-CN" altLang="en-US" sz="3600">
                <a:solidFill>
                  <a:srgbClr val="0070C0"/>
                </a:solidFill>
                <a:latin typeface="微软雅黑" panose="020B0503020204020204" pitchFamily="34" charset="-122"/>
                <a:ea typeface="微软雅黑" panose="020B0503020204020204" pitchFamily="34" charset="-122"/>
              </a:rPr>
              <a:t>归</a:t>
            </a:r>
            <a:r>
              <a:rPr lang="zh-CN" altLang="en-US" sz="3600" smtClean="0">
                <a:solidFill>
                  <a:srgbClr val="0070C0"/>
                </a:solidFill>
                <a:latin typeface="微软雅黑" panose="020B0503020204020204" pitchFamily="34" charset="-122"/>
                <a:ea typeface="微软雅黑" panose="020B0503020204020204" pitchFamily="34" charset="-122"/>
              </a:rPr>
              <a:t>宗</a:t>
            </a:r>
            <a:endParaRPr lang="zh-CN" altLang="en-US" sz="3600" kern="0" dirty="0">
              <a:solidFill>
                <a:srgbClr val="0070C0"/>
              </a:solidFill>
              <a:latin typeface="微软雅黑" panose="020B0503020204020204" pitchFamily="34" charset="-122"/>
              <a:ea typeface="微软雅黑" panose="020B0503020204020204" pitchFamily="34" charset="-122"/>
            </a:endParaRPr>
          </a:p>
        </p:txBody>
      </p:sp>
      <p:sp>
        <p:nvSpPr>
          <p:cNvPr id="8" name="标题 1"/>
          <p:cNvSpPr txBox="1">
            <a:spLocks/>
          </p:cNvSpPr>
          <p:nvPr/>
        </p:nvSpPr>
        <p:spPr>
          <a:xfrm>
            <a:off x="6804248" y="4443958"/>
            <a:ext cx="2064334" cy="556268"/>
          </a:xfrm>
          <a:prstGeom prst="rect">
            <a:avLst/>
          </a:prstGeom>
          <a:ln w="25400">
            <a:noFill/>
          </a:ln>
        </p:spPr>
        <p:txBody>
          <a:bodyPr lIns="91430" tIns="45715" rIns="91430"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914296">
              <a:lnSpc>
                <a:spcPct val="120000"/>
              </a:lnSpc>
              <a:spcBef>
                <a:spcPts val="600"/>
              </a:spcBef>
              <a:defRPr/>
            </a:pPr>
            <a:r>
              <a:rPr lang="zh-CN" altLang="en-US" sz="12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课件中的未标明出处的图片均</a:t>
            </a:r>
            <a:r>
              <a:rPr lang="zh-CN" altLang="en-US" sz="1200" b="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来</a:t>
            </a:r>
            <a:r>
              <a:rPr lang="zh-CN" altLang="en-US" sz="1200" b="1" smtClean="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自</a:t>
            </a:r>
            <a:r>
              <a:rPr lang="zh-CN" altLang="en-US" sz="1200" b="1" smtClean="0">
                <a:solidFill>
                  <a:srgbClr val="0070C0"/>
                </a:solidFill>
                <a:latin typeface="Times New Roman" panose="02020603050405020304" pitchFamily="18" charset="0"/>
                <a:ea typeface="微软雅黑" panose="020B0503020204020204" pitchFamily="34" charset="-122"/>
              </a:rPr>
              <a:t>网</a:t>
            </a:r>
            <a:r>
              <a:rPr lang="zh-CN" altLang="en-US" sz="1200" b="1">
                <a:solidFill>
                  <a:srgbClr val="0070C0"/>
                </a:solidFill>
                <a:latin typeface="Times New Roman" panose="02020603050405020304" pitchFamily="18" charset="0"/>
                <a:ea typeface="微软雅黑" panose="020B0503020204020204" pitchFamily="34" charset="-122"/>
              </a:rPr>
              <a:t>络，仅供教学使用</a:t>
            </a:r>
            <a:endParaRPr lang="zh-CN" altLang="en-US" sz="12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1259632" y="2715766"/>
            <a:ext cx="6624736" cy="1277273"/>
          </a:xfrm>
          <a:prstGeom prst="rect">
            <a:avLst/>
          </a:prstGeom>
        </p:spPr>
        <p:txBody>
          <a:bodyPr wrap="square">
            <a:spAutoFit/>
          </a:bodyPr>
          <a:lstStyle/>
          <a:p>
            <a:pPr>
              <a:spcBef>
                <a:spcPts val="600"/>
              </a:spcBef>
            </a:pPr>
            <a:r>
              <a:rPr kumimoji="1" lang="zh-CN" altLang="en-US" sz="3600" b="1">
                <a:solidFill>
                  <a:srgbClr val="0070C0"/>
                </a:solidFill>
                <a:latin typeface="微软雅黑" panose="020B0503020204020204" pitchFamily="34" charset="-122"/>
                <a:ea typeface="微软雅黑" panose="020B0503020204020204" pitchFamily="34" charset="-122"/>
              </a:rPr>
              <a:t>方法没有对错，只有使用的</a:t>
            </a:r>
            <a:r>
              <a:rPr kumimoji="1" lang="zh-CN" altLang="en-US" sz="3600" b="1">
                <a:solidFill>
                  <a:srgbClr val="0070C0"/>
                </a:solidFill>
                <a:latin typeface="微软雅黑" panose="020B0503020204020204" pitchFamily="34" charset="-122"/>
                <a:ea typeface="微软雅黑" panose="020B0503020204020204" pitchFamily="34" charset="-122"/>
              </a:rPr>
              <a:t>对</a:t>
            </a:r>
            <a:r>
              <a:rPr kumimoji="1" lang="zh-CN" altLang="en-US" sz="3600" b="1" smtClean="0">
                <a:solidFill>
                  <a:srgbClr val="0070C0"/>
                </a:solidFill>
                <a:latin typeface="微软雅黑" panose="020B0503020204020204" pitchFamily="34" charset="-122"/>
                <a:ea typeface="微软雅黑" panose="020B0503020204020204" pitchFamily="34" charset="-122"/>
              </a:rPr>
              <a:t>错</a:t>
            </a:r>
            <a:endParaRPr kumimoji="1" lang="en-US" altLang="zh-CN" sz="3600" b="1" smtClean="0">
              <a:solidFill>
                <a:srgbClr val="0070C0"/>
              </a:solidFill>
              <a:latin typeface="微软雅黑" panose="020B0503020204020204" pitchFamily="34" charset="-122"/>
              <a:ea typeface="微软雅黑" panose="020B0503020204020204" pitchFamily="34" charset="-122"/>
            </a:endParaRPr>
          </a:p>
          <a:p>
            <a:pPr>
              <a:spcBef>
                <a:spcPts val="600"/>
              </a:spcBef>
            </a:pPr>
            <a:r>
              <a:rPr kumimoji="1" lang="zh-CN" altLang="en-US" sz="3600" b="1" smtClean="0">
                <a:solidFill>
                  <a:srgbClr val="0070C0"/>
                </a:solidFill>
                <a:latin typeface="微软雅黑" panose="020B0503020204020204" pitchFamily="34" charset="-122"/>
                <a:ea typeface="微软雅黑" panose="020B0503020204020204" pitchFamily="34" charset="-122"/>
              </a:rPr>
              <a:t>工</a:t>
            </a:r>
            <a:r>
              <a:rPr kumimoji="1" lang="zh-CN" altLang="en-US" sz="3600" b="1">
                <a:solidFill>
                  <a:srgbClr val="0070C0"/>
                </a:solidFill>
                <a:latin typeface="微软雅黑" panose="020B0503020204020204" pitchFamily="34" charset="-122"/>
                <a:ea typeface="微软雅黑" panose="020B0503020204020204" pitchFamily="34" charset="-122"/>
              </a:rPr>
              <a:t>具没有高下，只有深度的</a:t>
            </a:r>
            <a:r>
              <a:rPr kumimoji="1" lang="zh-CN" altLang="en-US" sz="3600" b="1">
                <a:solidFill>
                  <a:srgbClr val="0070C0"/>
                </a:solidFill>
                <a:latin typeface="微软雅黑" panose="020B0503020204020204" pitchFamily="34" charset="-122"/>
                <a:ea typeface="微软雅黑" panose="020B0503020204020204" pitchFamily="34" charset="-122"/>
              </a:rPr>
              <a:t>差</a:t>
            </a:r>
            <a:r>
              <a:rPr kumimoji="1" lang="zh-CN" altLang="en-US" sz="3600" b="1" smtClean="0">
                <a:solidFill>
                  <a:srgbClr val="0070C0"/>
                </a:solidFill>
                <a:latin typeface="微软雅黑" panose="020B0503020204020204" pitchFamily="34" charset="-122"/>
                <a:ea typeface="微软雅黑" panose="020B0503020204020204" pitchFamily="34" charset="-122"/>
              </a:rPr>
              <a:t>别</a:t>
            </a:r>
            <a:endParaRPr kumimoji="1" lang="zh-CN" altLang="en-US" sz="3600" b="1">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2806</TotalTime>
  <Words>25487</Words>
  <Application>Microsoft Office PowerPoint</Application>
  <PresentationFormat>全屏显示(16:9)</PresentationFormat>
  <Paragraphs>1373</Paragraphs>
  <Slides>95</Slides>
  <Notes>22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95</vt:i4>
      </vt:variant>
    </vt:vector>
  </HeadingPairs>
  <TitlesOfParts>
    <vt:vector size="107" baseType="lpstr">
      <vt:lpstr>等线</vt:lpstr>
      <vt:lpstr>仿宋</vt:lpstr>
      <vt:lpstr>华文仿宋</vt:lpstr>
      <vt:lpstr>宋体</vt:lpstr>
      <vt:lpstr>微软雅黑</vt:lpstr>
      <vt:lpstr>Arial</vt:lpstr>
      <vt:lpstr>Arial Black</vt:lpstr>
      <vt:lpstr>Calibri</vt:lpstr>
      <vt:lpstr>Segoe UI</vt:lpstr>
      <vt:lpstr>Times New Roman</vt:lpstr>
      <vt:lpstr>Wingdings</vt:lpstr>
      <vt:lpstr>Office 主题​​</vt:lpstr>
      <vt:lpstr>PowerPoint 演示文稿</vt:lpstr>
      <vt:lpstr>PowerPoint 演示文稿</vt:lpstr>
      <vt:lpstr>PowerPoint 演示文稿</vt:lpstr>
      <vt:lpstr>一、教育教学情境 二、教育教学目标 三、教育教学评价 四、教育教学活动 五、教育教学组织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AutoBVT</dc:creator>
  <cp:lastModifiedBy>hp</cp:lastModifiedBy>
  <cp:revision>902</cp:revision>
  <cp:lastPrinted>2026-08-23T03:06:47Z</cp:lastPrinted>
  <dcterms:created xsi:type="dcterms:W3CDTF">2019-05-29T09:53:00Z</dcterms:created>
  <dcterms:modified xsi:type="dcterms:W3CDTF">2026-08-23T11:26:07Z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74056BF3DB784B7D86A94AA710C50B74_12</vt:lpwstr>
  </property>
</Properties>
</file>