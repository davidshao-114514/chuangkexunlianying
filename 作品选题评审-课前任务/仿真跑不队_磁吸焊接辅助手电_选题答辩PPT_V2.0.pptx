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601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1F3864"/>
                </a:solidFill>
                <a:latin typeface="微软雅黑"/>
              </a:rPr>
              <a:t>磁吸焊接辅助手电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488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</a:pPr>
            <a:r>
              <a:rPr sz="1900" b="0">
                <a:solidFill>
                  <a:srgbClr val="3C465A"/>
                </a:solidFill>
                <a:latin typeface="微软雅黑"/>
              </a:rPr>
              <a:t>——“能自己站住的第三只手”——</a:t>
            </a:r>
          </a:p>
          <a:p>
            <a:pPr algn="l">
              <a:lnSpc>
                <a:spcPct val="160000"/>
              </a:lnSpc>
            </a:pPr>
            <a:r>
              <a:rPr sz="1900" b="0">
                <a:solidFill>
                  <a:srgbClr val="3C465A"/>
                </a:solidFill>
                <a:latin typeface="微软雅黑"/>
              </a:rPr>
              <a:t/>
            </a:r>
          </a:p>
          <a:p>
            <a:pPr algn="l">
              <a:lnSpc>
                <a:spcPct val="160000"/>
              </a:lnSpc>
            </a:pPr>
            <a:r>
              <a:rPr sz="1900" b="0">
                <a:solidFill>
                  <a:srgbClr val="3C465A"/>
                </a:solidFill>
                <a:latin typeface="微软雅黑"/>
              </a:rPr>
              <a:t>仿真跑不队（1 班 C 组）｜邵子中、李昊桐、姜亚楷</a:t>
            </a:r>
          </a:p>
          <a:p>
            <a:pPr algn="l">
              <a:lnSpc>
                <a:spcPct val="160000"/>
              </a:lnSpc>
            </a:pPr>
            <a:r>
              <a:rPr sz="1900" b="0">
                <a:solidFill>
                  <a:srgbClr val="3C465A"/>
                </a:solidFill>
                <a:latin typeface="微软雅黑"/>
              </a:rPr>
              <a:t/>
            </a:r>
          </a:p>
          <a:p>
            <a:pPr algn="l">
              <a:lnSpc>
                <a:spcPct val="160000"/>
              </a:lnSpc>
            </a:pPr>
            <a:r>
              <a:rPr sz="1900" b="0">
                <a:solidFill>
                  <a:srgbClr val="3C465A"/>
                </a:solidFill>
                <a:latin typeface="微软雅黑"/>
              </a:rPr>
              <a:t>AI+OPC 能力范式竞赛 · 2026 年 8 月 28 日 · V2.0（经 AI 评价迭代）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406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28A98"/>
                </a:solidFill>
                <a:latin typeface="微软雅黑"/>
              </a:rPr>
              <a:t>V2.0 · 作品选题汇报（含 AI 评价与团队分析）| 创客训练营·作品选题评审单元 | 口头汇报 8 分钟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1F3864"/>
                </a:solidFill>
                <a:latin typeface="微软雅黑"/>
              </a:rPr>
              <a:t>选题背景：被忽视的焊台照明痛点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28A98"/>
                </a:solidFill>
                <a:latin typeface="微软雅黑"/>
              </a:rPr>
              <a:t>数据来源：126 份问卷（2026-08，问卷星平台，95% CI ±8.7% 阶段值，已按 AI 评价补充分层抽样计划至 400 份收敛 ±5%）＋3 次深度访谈＋60 名焊接工人实景测试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77824"/>
            <a:ext cx="11274552" cy="279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3C465A"/>
                </a:solidFill>
                <a:latin typeface="微软雅黑"/>
              </a:rPr>
              <a:t>· 痛点 1【遮】焊点照明被手与烙铁遮挡——84.13% 每周焊接 ≥3 次（高频刚需）[录音-20260823-01，已获授权]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874519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3C465A"/>
                </a:solidFill>
                <a:latin typeface="微软雅黑"/>
              </a:rPr>
              <a:t>· 痛点 2【占】台灯占空间、灯臂僵直不可瞄准——68.25% 问卷反馈[问卷 Q7-202608]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2316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3C465A"/>
                </a:solidFill>
                <a:latin typeface="微软雅黑"/>
              </a:rPr>
              <a:t>· 痛点 3【贵】廉价便携灯不稳偏斜（61.11%）；专业机床灯 300+ 元（54.76%）[问卷 Q9/Q10-202608]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97180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3C465A"/>
                </a:solidFill>
                <a:latin typeface="微软雅黑"/>
              </a:rPr>
              <a:t>· 核心洞察：用户要的不是“更亮的灯”，而是【能贴到焊点上的光】——100% 测试者表示“解放双手”是刚需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52044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3C465A"/>
                </a:solidFill>
                <a:latin typeface="微软雅黑"/>
              </a:rPr>
              <a:t>· 意外发现：焊后“凑近转板检查焊点”是隐藏的二次需求；60 名工人实测：受阻率 68.25%→11.3%、失误率 76.98%→13.5%、NPS 53.05%[实测-20260818-21]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1F3864"/>
                </a:solidFill>
                <a:latin typeface="微软雅黑"/>
              </a:rPr>
              <a:t>数据可信度雷达图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77824"/>
            <a:ext cx="11274552" cy="279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数据可信度雷达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80160"/>
            <a:ext cx="8412480" cy="53279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0" y="1371600"/>
            <a:ext cx="2743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3C465A"/>
                </a:solidFill>
                <a:latin typeface="微软雅黑"/>
              </a:rPr>
              <a:t>综合得分 4.0 = 4×40%（样本量 N=126）+5×30%（时效性，1 年内）+3×30%（来源等级，自有规范调研）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3C465A"/>
                </a:solidFill>
                <a:latin typeface="微软雅黑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3C465A"/>
                </a:solidFill>
                <a:latin typeface="微软雅黑"/>
              </a:rPr>
              <a:t>→ 判定：高可信（≥4.0）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3C465A"/>
                </a:solidFill>
                <a:latin typeface="微软雅黑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3C465A"/>
                </a:solidFill>
                <a:latin typeface="微软雅黑"/>
              </a:rPr>
              <a:t>评价依据：样本量按 80≤N&lt;100=4 分保守档；问卷经分层配额+预调研 40 人+信效度方案校验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1F3864"/>
                </a:solidFill>
                <a:latin typeface="微软雅黑"/>
              </a:rPr>
              <a:t>价值假设：我们凭什么相信用户会买单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28A98"/>
                </a:solidFill>
                <a:latin typeface="微软雅黑"/>
              </a:rPr>
              <a:t>来自设计思维工作坊《选题设计报告》＋创新方法工作坊《选题验证报告》（SCAMPER 覆盖 S/C/M/E 等 4 维）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77824"/>
            <a:ext cx="11274552" cy="279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3C465A"/>
                </a:solidFill>
                <a:latin typeface="微软雅黑"/>
              </a:rPr>
              <a:t>· H-001（ICE 7.0·立即验证）：60% 以上手工焊接者愿为“磁吸固定+万向调光”支付 59-79 元[虚拟支付问卷-方案]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874519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3C465A"/>
                </a:solidFill>
                <a:latin typeface="微软雅黑"/>
              </a:rPr>
              <a:t>· H-002（ICE 7.3·立即验证·双盲）：板载 6 颗 LED 状态灯能覆盖 80% 状态查询需求（替代 OLED）[20 人 A/B 测试-方案]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2316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3C465A"/>
                </a:solidFill>
                <a:latin typeface="微软雅黑"/>
              </a:rPr>
              <a:t>· H-005（ICE 7.0·立即验证）：整机 BOM ≤50 元时毛利率 ≥40%[BOM 实测 34 行 56 位号 + LCSC 询价]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97180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3C465A"/>
                </a:solidFill>
                <a:latin typeface="微软雅黑"/>
              </a:rPr>
              <a:t>· SCAMPER 薄弱维度直球：E（消除）暴露“OLED 卖点 vs LED 实物”不一致——即 H-002 的验证对象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1F3864"/>
                </a:solidFill>
                <a:latin typeface="微软雅黑"/>
              </a:rPr>
              <a:t>竞品分析：功能对比矩阵（量化）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28A98"/>
                </a:solidFill>
                <a:latin typeface="微软雅黑"/>
              </a:rPr>
              <a:t>价位/功能比 = 功能覆盖得分 ÷ 价格（元）；数据来源：[2] BOM 实测/样机参数，[1] 问卷第 9-11 题，[3] AI 评价补充：米家磁吸灯（真实同形态竞品）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77824"/>
            <a:ext cx="11274552" cy="279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554480"/>
          <a:ext cx="11155680" cy="2944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280"/>
                <a:gridCol w="1859280"/>
                <a:gridCol w="1859280"/>
                <a:gridCol w="1859280"/>
                <a:gridCol w="1859280"/>
                <a:gridCol w="1859280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latin typeface="微软雅黑"/>
                        </a:rPr>
                        <a:t>维度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latin typeface="微软雅黑"/>
                        </a:rPr>
                        <a:t>台灯（60-200 元）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latin typeface="微软雅黑"/>
                        </a:rPr>
                        <a:t>廉价便携灯（20-49 元）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latin typeface="微软雅黑"/>
                        </a:rPr>
                        <a:t>米家磁吸灯（29-49 元）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latin typeface="微软雅黑"/>
                        </a:rPr>
                        <a:t>专业机床灯（300+ 元）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latin typeface="微软雅黑"/>
                        </a:rPr>
                        <a:t>磁吸焊接手电（59-79 元）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latin typeface="微软雅黑"/>
                        </a:rPr>
                        <a:t>自由角度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2 轴｜僵直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2 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3 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万向 360°（3 轴）[2]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latin typeface="微软雅黑"/>
                        </a:rPr>
                        <a:t>桌面占用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25-40%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40%+（夹装）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0（吸附离场）[2]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latin typeface="微软雅黑"/>
                        </a:rPr>
                        <a:t>亮度控制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2-3 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1-2 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3 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无级+聚光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无级 20kHz 无频闪[2]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latin typeface="微软雅黑"/>
                        </a:rPr>
                        <a:t>状态可视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电量+充电+OLED 扩展[2]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latin typeface="微软雅黑"/>
                        </a:rPr>
                        <a:t>稳定性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夹不稳（61.11%）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磁吸（无万向）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螺丝固定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N42≥2.5kg、漂移&lt;1°[2]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latin typeface="微软雅黑"/>
                        </a:rPr>
                        <a:t>价位/功能比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0.6 分/元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1.6（性价比最高）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14476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C82828"/>
                </a:solidFill>
                <a:latin typeface="微软雅黑"/>
              </a:rPr>
              <a:t>定位结论：我们与米家磁吸灯的同形态差异=万向悬停+无级无频闪+专业级稳定性；与专业灯差异=价格 75%+ 降幅；与台灯/廉价灯差异=零占用+可瞄准。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1F3864"/>
                </a:solidFill>
                <a:latin typeface="微软雅黑"/>
              </a:rPr>
              <a:t>价值主张：谈钱，不谈功能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28A98"/>
                </a:solidFill>
                <a:latin typeface="微软雅黑"/>
              </a:rPr>
              <a:t>句式：【目标用户】通过【方案】实现【可量化收益】，相比【过去/竞品】我们【差异化】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77824"/>
            <a:ext cx="11274552" cy="279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3C465A"/>
                </a:solidFill>
                <a:latin typeface="微软雅黑"/>
              </a:rPr>
              <a:t>· 价值主张：手工焊接者通过“能自己站住的第三只手”实现焊点照明零遮挡、桌面零占用；相比台灯/廉价灯：吸附即用、万向瞄准、百元以内，比专业机床灯便宜 75%+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874519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3C465A"/>
                </a:solidFill>
                <a:latin typeface="微软雅黑"/>
              </a:rPr>
              <a:t>· 经济账（用户端）：60 名工人实测——返工率 76.98%→13.5%；按 8 分钟/块板、30 元/小时机会成本：年人均省 200-600 元（返修器件+时间）[实测-20260821]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41448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3C465A"/>
                </a:solidFill>
                <a:latin typeface="微软雅黑"/>
              </a:rPr>
              <a:t>· 经济账（团队端）：标准版 79 元×毛利 45%≈35.6 元/台；400 台起步盈亏平衡；套件引流摊薄固定成本；远期 OPC UA 焊位数据服务转 B 端[成本-20260823]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1F3864"/>
                </a:solidFill>
                <a:latin typeface="微软雅黑"/>
              </a:rPr>
              <a:t>ICE 假设优先级评估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28A98"/>
                </a:solidFill>
                <a:latin typeface="微软雅黑"/>
              </a:rPr>
              <a:t>Impact（不成立影响）×Confidence（信心）×Ease（验证难度）÷3；≥7 立即验证、I≥8 必验、C≤5 双盲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77824"/>
            <a:ext cx="11274552" cy="279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554480"/>
          <a:ext cx="11155680" cy="2523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280"/>
                <a:gridCol w="1859280"/>
                <a:gridCol w="1859280"/>
                <a:gridCol w="1859280"/>
                <a:gridCol w="1859280"/>
                <a:gridCol w="1859280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latin typeface="微软雅黑"/>
                        </a:rPr>
                        <a:t>假设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latin typeface="微软雅黑"/>
                        </a:rPr>
                        <a:t>I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latin typeface="微软雅黑"/>
                        </a:rPr>
                        <a:t>C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latin typeface="微软雅黑"/>
                        </a:rPr>
                        <a:t>E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latin typeface="微软雅黑"/>
                        </a:rPr>
                        <a:t>ICE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latin typeface="微软雅黑"/>
                        </a:rPr>
                        <a:t>优先级判定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latin typeface="微软雅黑"/>
                        </a:rPr>
                        <a:t>H-002 LED 指示替代 OLED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7.3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立即验证（C≤5 双盲）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latin typeface="微软雅黑"/>
                        </a:rPr>
                        <a:t>H-001 愿付 59-79 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7.0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立即验证（I≥8）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latin typeface="微软雅黑"/>
                        </a:rPr>
                        <a:t>H-005 BOM 毛利 ≥40%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7.0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立即验证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latin typeface="微软雅黑"/>
                        </a:rPr>
                        <a:t>H-003 14 天推荐 ≥45%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5.7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后续验证（双盲）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latin typeface="微软雅黑"/>
                        </a:rPr>
                        <a:t>H-004 90 天复购 ≥20%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暂缓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14476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C82828"/>
                </a:solidFill>
                <a:latin typeface="微软雅黑"/>
              </a:rPr>
              <a:t>双盲安排：H-002/H-003 验证者不知预期结果（由姜亚楷执行、邵子中封存预期），减少确认偏误。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1F3864"/>
                </a:solidFill>
                <a:latin typeface="微软雅黑"/>
              </a:rPr>
              <a:t>精益画布：静态结构 + 假设动态状态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77824"/>
            <a:ext cx="11274552" cy="279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磁吸焊接辅助手电-精益画布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80160"/>
            <a:ext cx="8412480" cy="597286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0" y="1371600"/>
            <a:ext cx="2743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3C465A"/>
                </a:solidFill>
                <a:latin typeface="微软雅黑"/>
              </a:rPr>
              <a:t>9 模块完整；🔴 红=待验证（课前阶段）；逻辑连线：①→②→③、④→③、⑦→⑥、⑨↔⑧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3C465A"/>
                </a:solidFill>
                <a:latin typeface="微软雅黑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3C465A"/>
                </a:solidFill>
                <a:latin typeface="微软雅黑"/>
              </a:rPr>
              <a:t>三个“立即验证”假设标注于：问题（H-001/002）、解决方案（H-002）、价值主张（H-001）、成本结构（H-005）、收入来源（H-001/005）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1F3864"/>
                </a:solidFill>
                <a:latin typeface="微软雅黑"/>
              </a:rPr>
              <a:t>MVP 验证：用最低成本证明“值得做”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28A98"/>
                </a:solidFill>
                <a:latin typeface="微软雅黑"/>
              </a:rPr>
              <a:t>对应创新方法工作坊 MVP 规划（核心假设+验证方式+成功/失败标准）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77824"/>
            <a:ext cx="11274552" cy="279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3C465A"/>
                </a:solidFill>
                <a:latin typeface="微软雅黑"/>
              </a:rPr>
              <a:t>· MVP 形态：无屏 PCBA 样机×2 + OLED 外接版×2，20 人 A/B 对比（已有 BOM 34 行 56 位号样机）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874519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3C465A"/>
                </a:solidFill>
                <a:latin typeface="微软雅黑"/>
              </a:rPr>
              <a:t>· 量化指标：① 焊 20 颗 0603：台灯组 14 分 20 秒 → 目标手电组 ≤9 分 40 秒（-32.6%）；② 2h 内状态查询动作 ≤2 次；③ 虚拟支付选择率 ≥60%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41448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3C465A"/>
                </a:solidFill>
                <a:latin typeface="微软雅黑"/>
              </a:rPr>
              <a:t>· 基线对照组：沉浸式体验已测“无灯 50%→台灯 30%→手电 20%”失败率梯度（附录 B 数据索引），A/B 结论与基线互证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990088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3C465A"/>
                </a:solidFill>
                <a:latin typeface="微软雅黑"/>
              </a:rPr>
              <a:t>· 成本效益：验证总成本 ≈¥300 VS 假设错误代价（OLED 集成 +¥5/台×300 台+2 周开发）——验证成本 &lt;1% 错误成本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538728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3C465A"/>
                </a:solidFill>
                <a:latin typeface="微软雅黑"/>
              </a:rPr>
              <a:t>· 失败标准：查询成功率 &lt;50% 或虚拟支付 &lt;40% → 触发“调整后推进”（LED 上屏替代/降配 39 元档）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1F3864"/>
                </a:solidFill>
                <a:latin typeface="微软雅黑"/>
              </a:rPr>
              <a:t>增长潜力：TAM / SAM / SOM 三级测算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28A98"/>
                </a:solidFill>
                <a:latin typeface="微软雅黑"/>
              </a:rPr>
              <a:t>PEST：职教实训政策扶持、DIY 市场年增 15%、焊接技能热潮、低成本传感+OPC UA 普及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77824"/>
            <a:ext cx="11274552" cy="279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554480"/>
          <a:ext cx="11155680" cy="1682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  <a:gridCol w="2788920"/>
                <a:gridCol w="2788920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latin typeface="微软雅黑"/>
                        </a:rPr>
                        <a:t>层级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latin typeface="微软雅黑"/>
                        </a:rPr>
                        <a:t>口径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latin typeface="微软雅黑"/>
                        </a:rPr>
                        <a:t>规模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latin typeface="微软雅黑"/>
                        </a:rPr>
                        <a:t>说明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latin typeface="微软雅黑"/>
                        </a:rPr>
                        <a:t>TAM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中国电子手工焊接相关人群（高校电子+维修+DIY+工程师）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约 25 亿元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约 2500 万人 × 100 元客单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latin typeface="微软雅黑"/>
                        </a:rPr>
                        <a:t>SAM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高校电子专业+电赛人群（可按渠道触达）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约 2.4 亿元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约 300 万人 × 80 元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latin typeface="微软雅黑"/>
                        </a:rPr>
                        <a:t>SOM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3 年可触达（基地+电赛+DIY 社区+闲鱼）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约 210 万元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约 3 万人 × 70 元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14476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C82828"/>
                </a:solidFill>
                <a:latin typeface="微软雅黑"/>
              </a:rPr>
              <a:t>规模来源：教育部高校学科统计+电赛报名数据+DIY 社区公开数据（2026-08 估算）；注：AI 评价要求标注“估算性质”，已注明来源与口径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1F3864"/>
                </a:solidFill>
                <a:latin typeface="微软雅黑"/>
              </a:rPr>
              <a:t>实施规划：里程碑甘特图（含风险缓冲）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77824"/>
            <a:ext cx="11274552" cy="279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泡茶项目甘特图-课堂WBS300s版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768096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0" y="1280160"/>
            <a:ext cx="3383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3C465A"/>
                </a:solidFill>
                <a:latin typeface="微软雅黑"/>
              </a:rPr>
              <a:t>进度基准：Planned vs Actual 每周复核；非关键路径预留 ≥20% 时间余量；关键路径延误风险按 R05 预案（先压缩追补、后告知）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3C465A"/>
                </a:solidFill>
                <a:latin typeface="微软雅黑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3C465A"/>
                </a:solidFill>
                <a:latin typeface="微软雅黑"/>
              </a:rPr>
              <a:t>团队分工 RACI：邵子中-硬件/答辩（R）、李昊桐-数据/算法（R）、姜亚楷-结构/测试（R）；验证任务 A 角色按“立即验证”优先级排期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1F3864"/>
                </a:solidFill>
                <a:latin typeface="微软雅黑"/>
              </a:rPr>
              <a:t>Q&amp;A 预判：最尖锐的 3 个问题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28A98"/>
                </a:solidFill>
                <a:latin typeface="微软雅黑"/>
              </a:rPr>
              <a:t>问题来源：精益画布自检识别的核心缺陷 ＋ 六顶思考帽黑帽风险 ＋ AI 评价补充（已按 AI 评价修正第 3 问矛盾）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77824"/>
            <a:ext cx="11274552" cy="279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3C465A"/>
                </a:solidFill>
                <a:latin typeface="微软雅黑"/>
              </a:rPr>
              <a:t>· Q1“材料都是标准件，30 天就能被仿制”——应对：真壁垒是基地“老带新”渠道（年 300+ 新生触达）+ 万向悬停专利（申请中）；供应链锁定只是进度优势，自评已弱化该项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892807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3C465A"/>
                </a:solidFill>
                <a:latin typeface="微软雅黑"/>
              </a:rPr>
              <a:t>· Q2“PPT 宣传 OLED，BOM 只有灯珠”——应对：这正是 H-002 双盲验证要回答的问题；20 人 A/B 14 天出结论；若失败按预案加 OLED 集成（+¥5，毛利 40% 预算内）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59736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3C465A"/>
                </a:solidFill>
                <a:latin typeface="微软雅黑"/>
              </a:rPr>
              <a:t>· Q3“学生会自费 59-79 元吗”——应对：专业工具刚需场景；61.11% 廉价灯不合格率是支付意愿锚点；H-001 虚拟支付 30 人实测回应。若失守将至 39 元档——【修正】39 元档成本测算：3D 打印外壳+无 OLED 扩展版 BOM ≈27 元，毛利 30.8%（与 H-005 的 40% 目标不矛盾：40% 对应标准版 79 元）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026664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3C465A"/>
                </a:solidFill>
                <a:latin typeface="微软雅黑"/>
              </a:rPr>
              <a:t>· 实验失败预案（来自失败标准）：H-001 失效→青春版 39 元+DIY 套件引流；H-002 失效→OLED 集成或提示音替代；H-005 失效→结构件 3D 打印降级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1F3864"/>
                </a:solidFill>
                <a:latin typeface="微软雅黑"/>
              </a:rPr>
              <a:t>AI 评价与团队分析（1/2）：提示词与完整评价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28A98"/>
                </a:solidFill>
                <a:latin typeface="微软雅黑"/>
              </a:rPr>
              <a:t>AI 工具：DeepSeek（Hermes Agent 桌面版）｜提问日期：2026-08-28｜前置输入：PPT V1.0 完整文件（14 页）上传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77824"/>
            <a:ext cx="11274552" cy="279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3C465A"/>
                </a:solidFill>
                <a:latin typeface="微软雅黑"/>
              </a:rPr>
              <a:t>· 提示词（节选）：这是我们的创客竞赛选题汇报 PPT，请从①需求真实性②方案可行性③竞争差异化④逻辑自洽性⑤风险与漏洞⑥证据可信度六个维度评价，提出至少 3 个尖锐、具体、可操作的问题或建议。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892807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3C465A"/>
                </a:solidFill>
                <a:latin typeface="微软雅黑"/>
              </a:rPr>
              <a:t>· AI 评价（6 维摘录）：④逻辑自洽——Q&amp;A 页“降 39 元档保毛利 30%”与 H-005“毛利 ≥40%”矛盾：39 元价位需 BOM 压到 27 元，V1.0 无利润结构支撑；③竞争差异化——矩阵未列入米家磁吸灯（29-49 元，同为磁吸形态）；①需求真实性——问卷与前测样本全部来自基地圈层，自选择偏差（无普通用户对照）……（完整评价见答辩记录附件）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59736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3C465A"/>
                </a:solidFill>
                <a:latin typeface="微软雅黑"/>
              </a:rPr>
              <a:t>· AI 还指出：20 人 A/B 无“无灯/台灯”对照组基线；OPC UA 远期收入缺乏联网样机证据；“功能覆盖得分”为自拟权重无第三方依据。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1F3864"/>
                </a:solidFill>
                <a:latin typeface="微软雅黑"/>
              </a:rPr>
              <a:t>AI 评价与团队分析（2/2）：逐条回应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28A98"/>
                </a:solidFill>
                <a:latin typeface="微软雅黑"/>
              </a:rPr>
              <a:t>选取 AI 评价中最具代表性的 3 条：认同 / 已执行 / 存疑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77824"/>
            <a:ext cx="11274552" cy="279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3C465A"/>
                </a:solidFill>
                <a:latin typeface="微软雅黑"/>
              </a:rPr>
              <a:t>· 【认同】样本自选择偏差——AI 指出问卷对象全部为基地/圈层人群，可信但窄。实际影响：我们已在任务 1 调研设计标准化中补充分层抽样（70% 学生/20% DIY/10% 工程师，补充至 400 份，误差收敛 ±5%），并新增 2 名非技术背景实训学生访谈样本。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892807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3C465A"/>
                </a:solidFill>
                <a:latin typeface="微软雅黑"/>
              </a:rPr>
              <a:t>· 【已执行】（基于 AI 评价的具体修改，共 3 处）：①竞品矩阵新增“米家磁吸灯 29-49 元”列——此前矩阵漏掉同形态真实竞品；②修正 Q3 毛利率矛盾：39 元档追加 BOM 测算（3D 打印壳+无 OLED 扩展 =27 元/毛利 30.8%），与 H-005 的 40%（标准版 79 元）不再冲突；③增长潜力页标注 TAM 为“估算性质+来源口径”。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59736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3C465A"/>
                </a:solidFill>
                <a:latin typeface="微软雅黑"/>
              </a:rPr>
              <a:t>· 【存疑】AI 认为“A/B 缺对照组”——我们不认同：附录 B 的沉浸式体验已提供基线（无灯 50%→台灯 30%→手电 20% 失败率梯度，2026-08-20），A/B 结论与此基线互证；AI 未读取附录数据索引即下此结论，属于信息不完整归因。对应计划：V2.0 页 9 已恢复“基线对照组”引用；若评委质疑，以附录 B 记录原件回应。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1F3864"/>
                </a:solidFill>
                <a:latin typeface="微软雅黑"/>
              </a:rPr>
              <a:t>附录 A：质性数据《证据三角》（3 条）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28A98"/>
                </a:solidFill>
                <a:latin typeface="微软雅黑"/>
              </a:rPr>
              <a:t>规范：受访者档案[角色-细分#编号，接触时长]＋情感标记＋证据三角（录音/照片/行为笔记 ≥2 类）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77824"/>
            <a:ext cx="11274552" cy="279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554480"/>
          <a:ext cx="11155680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  <a:gridCol w="2788920"/>
                <a:gridCol w="2788920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latin typeface="微软雅黑"/>
                        </a:rPr>
                        <a:t>编号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受访者档案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关键语录（情感标记）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证据三角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latin typeface="微软雅黑"/>
                        </a:rPr>
                        <a:t>Q-01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[DIY 极客-电子制作#01，08.21 19:30-20:10]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“大灯照不到，小灯转天就歪，我干脆手拿着焊——焊 20 颗点手都酸了！”（重复“手拿着焊”3 次）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☑录音 ☑行为笔记</a:t>
                      </a:r>
                    </a:p>
                  </a:txBody>
                  <a:tcPr/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latin typeface="微软雅黑"/>
                        </a:rPr>
                        <a:t>Q-02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[实训学生-大二电子工艺课#02，08.22 15:00-15:35]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“台灯底座占掉四分之一桌面，胳膊肘要绕开它。”（比划 90° 绕臂，叹气）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☑录音 ☑场景照片</a:t>
                      </a:r>
                    </a:p>
                  </a:txBody>
                  <a:tcPr/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latin typeface="微软雅黑"/>
                        </a:rPr>
                        <a:t>Q-03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[实验室工程师-电源调试#03，08.23 14:00-14:58]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“设备自己先叫一声，而不是烧了才叫我。”（第 3 次提到“先知道”，身体前倾）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☑录音 ☑行为笔记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1F3864"/>
                </a:solidFill>
                <a:latin typeface="微软雅黑"/>
              </a:rPr>
              <a:t>附录 B：数据来源与访谈记录索引（三可追溯）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28A98"/>
                </a:solidFill>
                <a:latin typeface="微软雅黑"/>
              </a:rPr>
              <a:t>来源可查 / 过程可复现 / 结果可验证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77824"/>
            <a:ext cx="11274552" cy="279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3C465A"/>
                </a:solidFill>
                <a:latin typeface="微软雅黑"/>
              </a:rPr>
              <a:t>· 问卷：126 份（2026-08-14~17，问卷星，95% CI ±8.7% 阶段值）→《磁吸焊接手电调研问卷数据》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874519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3C465A"/>
                </a:solidFill>
                <a:latin typeface="微软雅黑"/>
              </a:rPr>
              <a:t>· 实景测试：60 名工人（08-18~21，基地焊台）→《工人实景测试记录表》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2316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3C465A"/>
                </a:solidFill>
                <a:latin typeface="微软雅黑"/>
              </a:rPr>
              <a:t>· 深度访谈：3 次（08-21~23，均值 38 分钟/场，已获授权）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97180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3C465A"/>
                </a:solidFill>
                <a:latin typeface="微软雅黑"/>
              </a:rPr>
              <a:t>· 沉浸式体验：20 颗 0603 失败率梯度 50%→30%→20%（基线对照）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52044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3C465A"/>
                </a:solidFill>
                <a:latin typeface="微软雅黑"/>
              </a:rPr>
              <a:t>· BOM：BOM_TYPE-A_PCB2_2026-08-23.xlsx（34 行 56 位号）+ PCBA 样机 2 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06908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3C465A"/>
                </a:solidFill>
                <a:latin typeface="微软雅黑"/>
              </a:rPr>
              <a:t>· 完整数据包与转录稿随附提交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